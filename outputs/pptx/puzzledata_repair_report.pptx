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18ABB448-22C8-4251-AE8D-EBC404E69187}">
          <p14:sldIdLst>
            <p14:sldId id="256"/>
            <p14:sldId id="257"/>
            <p14:sldId id="258"/>
          </p14:sldIdLst>
        </p14:section>
        <p14:section name="Part 01 · 데이터 진단" id="{29154553-E35B-41BE-9ADF-592B38AC20D6}">
          <p14:sldIdLst>
            <p14:sldId id="259"/>
            <p14:sldId id="260"/>
            <p14:sldId id="261"/>
          </p14:sldIdLst>
        </p14:section>
        <p14:section name="Part 02 · 병목 규명" id="{13668B20-F5C2-4C46-8DF6-61E2932CEDAD}">
          <p14:sldIdLst>
            <p14:sldId id="262"/>
            <p14:sldId id="263"/>
            <p14:sldId id="264"/>
            <p14:sldId id="265"/>
            <p14:sldId id="266"/>
            <p14:sldId id="267"/>
            <p14:sldId id="268"/>
            <p14:sldId id="269"/>
            <p14:sldId id="270"/>
          </p14:sldIdLst>
        </p14:section>
        <p14:section name="Part 03 · 개선 전략" id="{4827C861-3A70-4C32-8D06-43593853BC69}">
          <p14:sldIdLst>
            <p14:sldId id="271"/>
            <p14:sldId id="272"/>
            <p14:sldId id="273"/>
          </p14:sldIdLst>
        </p14:section>
        <p14:section name="Part 04 · Q&amp;A" id="{AB6E1429-F0E1-4BF1-A2C8-19CBDF0F7828}">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후속 수리가 없어 생긴 정상 결측입니다. 반면 필수 속성이 비어 있는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754건의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접수 사전 필터 고도화(Direct</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Booking)</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가정과 파일럿</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검증 설계</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인과로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754건(75.4%)으로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줄을 2갈래로 세우는 전략 — 즉시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수리 365건을 별도 줄로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실사 대기</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20% 단축 −15.4h</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단축률은 가정, 파일럿으로 검증</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에러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'시스템 에러'로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에러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후속 공정이 없는 값, 대체 없이 보존</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시스템 에러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진공 구간 · 판별 객관성</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구간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이봉 분포라 정상/비정상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인과로 결측을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 20행에 더해 날짜 오기입 866건·더미 시각 15건까지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cases-card"/>
          <p:cNvSpPr/>
          <p:nvPr/>
        </p:nvSpPr>
        <p:spPr>
          <a:xfrm>
            <a:off x="502920" y="1554480"/>
            <a:ext cx="11185855" cy="319684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cases-h"/>
          <p:cNvSpPr txBox="1"/>
          <p:nvPr/>
        </p:nvSpPr>
        <p:spPr>
          <a:xfrm>
            <a:off x="758952" y="1755648"/>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1" name="label:L1:cases-h"/>
          <p:cNvSpPr txBox="1"/>
          <p:nvPr/>
        </p:nvSpPr>
        <p:spPr>
          <a:xfrm>
            <a:off x="1510567" y="1755648"/>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2" name="label:L1:cases-h"/>
          <p:cNvSpPr txBox="1"/>
          <p:nvPr/>
        </p:nvSpPr>
        <p:spPr>
          <a:xfrm>
            <a:off x="4015953" y="1755648"/>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3" name="label:L1:cases-h"/>
          <p:cNvSpPr txBox="1"/>
          <p:nvPr/>
        </p:nvSpPr>
        <p:spPr>
          <a:xfrm>
            <a:off x="7607006" y="1755648"/>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4" name="rule"/>
          <p:cNvCxnSpPr/>
          <p:nvPr/>
        </p:nvCxnSpPr>
        <p:spPr>
          <a:xfrm>
            <a:off x="667512" y="1993392"/>
            <a:ext cx="10856671" cy="0"/>
          </a:xfrm>
          <a:prstGeom prst="line">
            <a:avLst/>
          </a:prstGeom>
          <a:ln w="9525">
            <a:solidFill>
              <a:srgbClr val="E2E8F0"/>
            </a:solidFill>
          </a:ln>
        </p:spPr>
      </p:cxnSp>
      <p:sp>
        <p:nvSpPr>
          <p:cNvPr id="15" name="label:L1:t"/>
          <p:cNvSpPr txBox="1"/>
          <p:nvPr/>
        </p:nvSpPr>
        <p:spPr>
          <a:xfrm>
            <a:off x="758952" y="204825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6" name="body:L2:t"/>
          <p:cNvSpPr txBox="1"/>
          <p:nvPr/>
        </p:nvSpPr>
        <p:spPr>
          <a:xfrm>
            <a:off x="1510567" y="204825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17" name="body:L2:t"/>
          <p:cNvSpPr txBox="1"/>
          <p:nvPr/>
        </p:nvSpPr>
        <p:spPr>
          <a:xfrm>
            <a:off x="4015953" y="2048256"/>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8" name="body:L1:t"/>
          <p:cNvSpPr txBox="1"/>
          <p:nvPr/>
        </p:nvSpPr>
        <p:spPr>
          <a:xfrm>
            <a:off x="7607006" y="204825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19" name="rule"/>
          <p:cNvCxnSpPr/>
          <p:nvPr/>
        </p:nvCxnSpPr>
        <p:spPr>
          <a:xfrm>
            <a:off x="667512" y="2512060"/>
            <a:ext cx="10856671" cy="0"/>
          </a:xfrm>
          <a:prstGeom prst="line">
            <a:avLst/>
          </a:prstGeom>
          <a:ln w="9525">
            <a:solidFill>
              <a:srgbClr val="E2E8F0"/>
            </a:solidFill>
          </a:ln>
        </p:spPr>
      </p:cxnSp>
      <p:sp>
        <p:nvSpPr>
          <p:cNvPr id="20" name="label:L1:t"/>
          <p:cNvSpPr txBox="1"/>
          <p:nvPr/>
        </p:nvSpPr>
        <p:spPr>
          <a:xfrm>
            <a:off x="758952" y="256692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1" name="body:L2:t"/>
          <p:cNvSpPr txBox="1"/>
          <p:nvPr/>
        </p:nvSpPr>
        <p:spPr>
          <a:xfrm>
            <a:off x="1510567" y="256692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22" name="body:L1:t"/>
          <p:cNvSpPr txBox="1"/>
          <p:nvPr/>
        </p:nvSpPr>
        <p:spPr>
          <a:xfrm>
            <a:off x="4015953" y="256692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3" name="body:L1:t"/>
          <p:cNvSpPr txBox="1"/>
          <p:nvPr/>
        </p:nvSpPr>
        <p:spPr>
          <a:xfrm>
            <a:off x="7607006" y="256692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4" name="rule"/>
          <p:cNvCxnSpPr/>
          <p:nvPr/>
        </p:nvCxnSpPr>
        <p:spPr>
          <a:xfrm>
            <a:off x="667512" y="3030728"/>
            <a:ext cx="10856671" cy="0"/>
          </a:xfrm>
          <a:prstGeom prst="line">
            <a:avLst/>
          </a:prstGeom>
          <a:ln w="9525">
            <a:solidFill>
              <a:srgbClr val="E2E8F0"/>
            </a:solidFill>
          </a:ln>
        </p:spPr>
      </p:cxnSp>
      <p:sp>
        <p:nvSpPr>
          <p:cNvPr id="25" name="label:L1:t"/>
          <p:cNvSpPr txBox="1"/>
          <p:nvPr/>
        </p:nvSpPr>
        <p:spPr>
          <a:xfrm>
            <a:off x="758952" y="308559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6" name="body:L2:t"/>
          <p:cNvSpPr txBox="1"/>
          <p:nvPr/>
        </p:nvSpPr>
        <p:spPr>
          <a:xfrm>
            <a:off x="1510567" y="308559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5건</a:t>
            </a:r>
          </a:p>
        </p:txBody>
      </p:sp>
      <p:sp>
        <p:nvSpPr>
          <p:cNvPr id="27" name="body:L1:t"/>
          <p:cNvSpPr txBox="1"/>
          <p:nvPr/>
        </p:nvSpPr>
        <p:spPr>
          <a:xfrm>
            <a:off x="4015953" y="3085592"/>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3건 + 마일스톤 단독 2건</a:t>
            </a:r>
          </a:p>
        </p:txBody>
      </p:sp>
      <p:sp>
        <p:nvSpPr>
          <p:cNvPr id="28" name="body:L1:t"/>
          <p:cNvSpPr txBox="1"/>
          <p:nvPr/>
        </p:nvSpPr>
        <p:spPr>
          <a:xfrm>
            <a:off x="7607006" y="308559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5건 전수 복원</a:t>
            </a:r>
          </a:p>
        </p:txBody>
      </p:sp>
      <p:cxnSp>
        <p:nvCxnSpPr>
          <p:cNvPr id="29" name="rule"/>
          <p:cNvCxnSpPr/>
          <p:nvPr/>
        </p:nvCxnSpPr>
        <p:spPr>
          <a:xfrm>
            <a:off x="667512" y="3549396"/>
            <a:ext cx="10856671" cy="0"/>
          </a:xfrm>
          <a:prstGeom prst="line">
            <a:avLst/>
          </a:prstGeom>
          <a:ln w="9525">
            <a:solidFill>
              <a:srgbClr val="E2E8F0"/>
            </a:solidFill>
          </a:ln>
        </p:spPr>
      </p:cxnSp>
      <p:sp>
        <p:nvSpPr>
          <p:cNvPr id="30" name="label:L1:t"/>
          <p:cNvSpPr txBox="1"/>
          <p:nvPr/>
        </p:nvSpPr>
        <p:spPr>
          <a:xfrm>
            <a:off x="758952" y="360426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1" name="body:L2:t"/>
          <p:cNvSpPr txBox="1"/>
          <p:nvPr/>
        </p:nvSpPr>
        <p:spPr>
          <a:xfrm>
            <a:off x="1510567" y="360426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879건 (결측 13 + 오기입 866)</a:t>
            </a:r>
          </a:p>
        </p:txBody>
      </p:sp>
      <p:sp>
        <p:nvSpPr>
          <p:cNvPr id="32" name="body:L2:t"/>
          <p:cNvSpPr txBox="1"/>
          <p:nvPr/>
        </p:nvSpPr>
        <p:spPr>
          <a:xfrm>
            <a:off x="4015953" y="360426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3" name="body:L1:t"/>
          <p:cNvSpPr txBox="1"/>
          <p:nvPr/>
        </p:nvSpPr>
        <p:spPr>
          <a:xfrm>
            <a:off x="7607006" y="360426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 + 앵커 최근접 219 (1970년 통일)</a:t>
            </a:r>
          </a:p>
        </p:txBody>
      </p:sp>
      <p:cxnSp>
        <p:nvCxnSpPr>
          <p:cNvPr id="34" name="rule"/>
          <p:cNvCxnSpPr/>
          <p:nvPr/>
        </p:nvCxnSpPr>
        <p:spPr>
          <a:xfrm>
            <a:off x="667512" y="4068064"/>
            <a:ext cx="10856671" cy="0"/>
          </a:xfrm>
          <a:prstGeom prst="line">
            <a:avLst/>
          </a:prstGeom>
          <a:ln w="9525">
            <a:solidFill>
              <a:srgbClr val="E2E8F0"/>
            </a:solidFill>
          </a:ln>
        </p:spPr>
      </p:cxnSp>
      <p:sp>
        <p:nvSpPr>
          <p:cNvPr id="35" name="label:L1:t"/>
          <p:cNvSpPr txBox="1"/>
          <p:nvPr/>
        </p:nvSpPr>
        <p:spPr>
          <a:xfrm>
            <a:off x="758952" y="4122927"/>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6" name="body:L2:t"/>
          <p:cNvSpPr txBox="1"/>
          <p:nvPr/>
        </p:nvSpPr>
        <p:spPr>
          <a:xfrm>
            <a:off x="1510567" y="4122927"/>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28건 (결측 13 + 더미 15)</a:t>
            </a:r>
          </a:p>
        </p:txBody>
      </p:sp>
      <p:sp>
        <p:nvSpPr>
          <p:cNvPr id="37" name="body:L2:t"/>
          <p:cNvSpPr txBox="1"/>
          <p:nvPr/>
        </p:nvSpPr>
        <p:spPr>
          <a:xfrm>
            <a:off x="4015953" y="4122927"/>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754건의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8" name="body:L1:t"/>
          <p:cNvSpPr txBox="1"/>
          <p:nvPr/>
        </p:nvSpPr>
        <p:spPr>
          <a:xfrm>
            <a:off x="7607006" y="4122927"/>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7건 보존 + 역산 추정 21건</a:t>
            </a:r>
          </a:p>
        </p:txBody>
      </p:sp>
      <p:sp>
        <p:nvSpPr>
          <p:cNvPr id="39" name="bd1"/>
          <p:cNvSpPr/>
          <p:nvPr/>
        </p:nvSpPr>
        <p:spPr>
          <a:xfrm>
            <a:off x="502920"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1:t"/>
          <p:cNvSpPr txBox="1"/>
          <p:nvPr/>
        </p:nvSpPr>
        <p:spPr>
          <a:xfrm>
            <a:off x="685800"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1" name="body:L1:b1"/>
          <p:cNvSpPr txBox="1"/>
          <p:nvPr/>
        </p:nvSpPr>
        <p:spPr>
          <a:xfrm>
            <a:off x="685800"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2" name="body:L1:t"/>
          <p:cNvSpPr txBox="1"/>
          <p:nvPr/>
        </p:nvSpPr>
        <p:spPr>
          <a:xfrm>
            <a:off x="685800"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3" name="bd2"/>
          <p:cNvSpPr/>
          <p:nvPr/>
        </p:nvSpPr>
        <p:spPr>
          <a:xfrm>
            <a:off x="4292498"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4475378"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5" name="body:L1:b2"/>
          <p:cNvSpPr txBox="1"/>
          <p:nvPr/>
        </p:nvSpPr>
        <p:spPr>
          <a:xfrm>
            <a:off x="4475378"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6" name="body:L1:t"/>
          <p:cNvSpPr txBox="1"/>
          <p:nvPr/>
        </p:nvSpPr>
        <p:spPr>
          <a:xfrm>
            <a:off x="4475378"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7" name="bd3"/>
          <p:cNvSpPr/>
          <p:nvPr/>
        </p:nvSpPr>
        <p:spPr>
          <a:xfrm>
            <a:off x="8082076"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label:L1:t"/>
          <p:cNvSpPr txBox="1"/>
          <p:nvPr/>
        </p:nvSpPr>
        <p:spPr>
          <a:xfrm>
            <a:off x="8264956"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49" name="body:L1:b3"/>
          <p:cNvSpPr txBox="1"/>
          <p:nvPr/>
        </p:nvSpPr>
        <p:spPr>
          <a:xfrm>
            <a:off x="8264956"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건</a:t>
            </a:r>
          </a:p>
        </p:txBody>
      </p:sp>
      <p:sp>
        <p:nvSpPr>
          <p:cNvPr id="50" name="body:L1:t"/>
          <p:cNvSpPr txBox="1"/>
          <p:nvPr/>
        </p:nvSpPr>
        <p:spPr>
          <a:xfrm>
            <a:off x="8264956"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인과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866건</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사전 필터를 높이는 Direct Booking</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줄을 2갈래로 세우는 전략 · 단축률 가정 + 파일럿 검증</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