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A61B80BD-90E6-433F-9D43-43FE56B17982}">
          <p14:sldIdLst>
            <p14:sldId id="256"/>
            <p14:sldId id="257"/>
            <p14:sldId id="258"/>
          </p14:sldIdLst>
        </p14:section>
        <p14:section name="Part 01 · 데이터 진단" id="{8230E63B-9ED8-4FE4-B64D-B4903261E8A6}">
          <p14:sldIdLst>
            <p14:sldId id="259"/>
            <p14:sldId id="260"/>
            <p14:sldId id="261"/>
          </p14:sldIdLst>
        </p14:section>
        <p14:section name="Part 02 · 병목 규명" id="{823FB230-6B2F-4492-9723-EB4EEDCF6F5E}">
          <p14:sldIdLst>
            <p14:sldId id="262"/>
            <p14:sldId id="263"/>
            <p14:sldId id="264"/>
            <p14:sldId id="265"/>
            <p14:sldId id="266"/>
            <p14:sldId id="267"/>
            <p14:sldId id="268"/>
            <p14:sldId id="269"/>
            <p14:sldId id="270"/>
          </p14:sldIdLst>
        </p14:section>
        <p14:section name="Part 03 · 개선 전략" id="{C069E015-9E27-493C-859A-F678255D398C}">
          <p14:sldIdLst>
            <p14:sldId id="271"/>
            <p14:sldId id="272"/>
            <p14:sldId id="273"/>
          </p14:sldIdLst>
        </p14:section>
        <p14:section name="Part 04 · Q&amp;A" id="{7C197D7F-E718-4B45-B07A-9830F6ED98E6}">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앵커타임 기준으로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8831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1:thesis"/>
          <p:cNvSpPr txBox="1"/>
          <p:nvPr/>
        </p:nvSpPr>
        <p:spPr>
          <a:xfrm>
            <a:off x="704088" y="1960118"/>
            <a:ext cx="10783519"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 E2E 리드타임 105.9h 중 순수 대기가 95.8h.</a:t>
            </a:r>
          </a:p>
        </p:txBody>
      </p:sp>
      <p:sp>
        <p:nvSpPr>
          <p:cNvPr id="11" name="step1"/>
          <p:cNvSpPr/>
          <p:nvPr/>
        </p:nvSpPr>
        <p:spPr>
          <a:xfrm>
            <a:off x="502920"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 · 앵커타임 기준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process_map_deck.png"/>
          <p:cNvPicPr>
            <a:picLocks noChangeAspect="1"/>
          </p:cNvPicPr>
          <p:nvPr/>
        </p:nvPicPr>
        <p:blipFill>
          <a:blip r:embed="rId2"/>
          <a:stretch>
            <a:fillRect/>
          </a:stretch>
        </p:blipFill>
        <p:spPr>
          <a:xfrm>
            <a:off x="964266" y="1868678"/>
            <a:ext cx="10263163"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843092" y="1896110"/>
            <a:ext cx="4577454"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8986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859591" y="1896110"/>
            <a:ext cx="7104776" cy="3429000"/>
          </a:xfrm>
          <a:prstGeom prst="rect">
            <a:avLst/>
          </a:prstGeom>
        </p:spPr>
      </p:pic>
      <p:sp>
        <p:nvSpPr>
          <p:cNvPr id="12" name="m1"/>
          <p:cNvSpPr/>
          <p:nvPr/>
        </p:nvSpPr>
        <p:spPr>
          <a:xfrm>
            <a:off x="8503920" y="1554480"/>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90604"/>
            <a:ext cx="3184855" cy="1226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73484"/>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87098"/>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83592"/>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226729"/>
            <a:ext cx="3184855" cy="122639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409609"/>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623223"/>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5019717"/>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590286"/>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73166"/>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