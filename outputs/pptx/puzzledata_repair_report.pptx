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F6D565A2-DC20-4CE9-A67C-5A1552C26772}">
          <p14:sldIdLst>
            <p14:sldId id="256"/>
            <p14:sldId id="257"/>
            <p14:sldId id="258"/>
          </p14:sldIdLst>
        </p14:section>
        <p14:section name="Part 01 · 데이터 진단" id="{224331BD-D628-4349-8550-0FA3E2431B6A}">
          <p14:sldIdLst>
            <p14:sldId id="259"/>
            <p14:sldId id="260"/>
            <p14:sldId id="261"/>
          </p14:sldIdLst>
        </p14:section>
        <p14:section name="Part 02 · 병목 규명" id="{FB71BE5D-89FD-44EE-B852-DC1893B1F66A}">
          <p14:sldIdLst>
            <p14:sldId id="262"/>
            <p14:sldId id="263"/>
            <p14:sldId id="264"/>
            <p14:sldId id="265"/>
            <p14:sldId id="266"/>
            <p14:sldId id="267"/>
            <p14:sldId id="268"/>
            <p14:sldId id="269"/>
            <p14:sldId id="270"/>
          </p14:sldIdLst>
        </p14:section>
        <p14:section name="Part 03 · 개선 전략" id="{8A20A2C8-4C56-4320-913F-ED1870C90B65}">
          <p14:sldIdLst>
            <p14:sldId id="271"/>
            <p14:sldId id="272"/>
            <p14:sldId id="273"/>
          </p14:sldIdLst>
        </p14:section>
        <p14:section name="Part 04 · Q&amp;A" id="{F42A4F57-B2F6-43FF-A670-E806F47CBCF3}">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접수·실사·수리 완료 등 특정 이벤트에서만 기록되는 속성이라 구조적으로 비는 정상 결측입니다. 반면 필수 속성이 비어 있는 비정상 결측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754건의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비중도 46.9:53.1로 수렴해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코호트가 됩니다. 현장은 단방향 에스컬레이션입니다. 즉시수리에서 사내수리로 23건, 즉시수리에서 외주로 38건, 사내수리에서 외주로 35건, 총 96회 올라가기만 하고 외주 이후 되돌아간 전이는 0건입니다. 정산은 고객 통보 469건 : 재무 전송 456건(50.6% : 49.2%)으로 대칭 선행하는 병렬 구조이며, 티켓 마감은 늦게 끝난 작업과 99.8%(925건) 일치합니다.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다만 상관은 변수 간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하자로 재방문한 26건은 부품을 다시 조달하느라 평균 32.9시간, 최대 241.6시간(10.1일)을 더 기다렸고, 이 케이스들의 평균 총 리드타임은 171.6시간입니다. 재방문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[정정] 87.3%는 E+P 전체를 포함한 낙관 상한이고, 외주 전환 위험 P-4(38건)를 뺀 보수 기준은 83.2%입니다.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즉시 건만 별도 줄로 운영하는 파일럿을 제안하고, 나머지 줄의 대기와 직행 적중률, 재방문 건수로 판정합니다. 자재 사전 확보, 재방문 방지, 접수 인계 제거는 근거가 부족해 효과에서 제외했고 상방 요인으로 남깁니다.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PREVIEW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5:t"/>
          <p:cNvSpPr txBox="1"/>
          <p:nvPr/>
        </p:nvSpPr>
        <p:spPr>
          <a:xfrm>
            <a:off x="6406743"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적중률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전략: 하나의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 줄을 두 갈래로</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 시 감축 효과</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핵심 요약</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순서로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754건(75.4%)으로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하자 재방문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하나의</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병목 줄을 두 갈래로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감소</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가정 단축률(실사 대기 20% 감소)</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적용 시 −15.4h</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비정상 결측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'비정상 결측'으로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비정상 결측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특정 이벤트에서만 기록되는 값</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비정상 결측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결측률 분포 · 판별 기준</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사이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결측률이 양극단이라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업무 순서로 결측과 오기입을 교정 복원했다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비정상 결측 20행에 더해 날짜 오기입 866건·더미 시각 15건까지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cases-card"/>
          <p:cNvSpPr/>
          <p:nvPr/>
        </p:nvSpPr>
        <p:spPr>
          <a:xfrm>
            <a:off x="502920" y="1554480"/>
            <a:ext cx="11185855" cy="319684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cases-h"/>
          <p:cNvSpPr txBox="1"/>
          <p:nvPr/>
        </p:nvSpPr>
        <p:spPr>
          <a:xfrm>
            <a:off x="758952" y="1755648"/>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1" name="label:L1:cases-h"/>
          <p:cNvSpPr txBox="1"/>
          <p:nvPr/>
        </p:nvSpPr>
        <p:spPr>
          <a:xfrm>
            <a:off x="1510567" y="1755648"/>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2" name="label:L1:cases-h"/>
          <p:cNvSpPr txBox="1"/>
          <p:nvPr/>
        </p:nvSpPr>
        <p:spPr>
          <a:xfrm>
            <a:off x="4015953" y="1755648"/>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3" name="label:L1:cases-h"/>
          <p:cNvSpPr txBox="1"/>
          <p:nvPr/>
        </p:nvSpPr>
        <p:spPr>
          <a:xfrm>
            <a:off x="7607006" y="1755648"/>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4" name="rule"/>
          <p:cNvCxnSpPr/>
          <p:nvPr/>
        </p:nvCxnSpPr>
        <p:spPr>
          <a:xfrm>
            <a:off x="667512" y="1993392"/>
            <a:ext cx="10856671" cy="0"/>
          </a:xfrm>
          <a:prstGeom prst="line">
            <a:avLst/>
          </a:prstGeom>
          <a:ln w="9525">
            <a:solidFill>
              <a:srgbClr val="E2E8F0"/>
            </a:solidFill>
          </a:ln>
        </p:spPr>
      </p:cxnSp>
      <p:sp>
        <p:nvSpPr>
          <p:cNvPr id="15" name="label:L1:t"/>
          <p:cNvSpPr txBox="1"/>
          <p:nvPr/>
        </p:nvSpPr>
        <p:spPr>
          <a:xfrm>
            <a:off x="758952" y="204825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6" name="body:L2:t"/>
          <p:cNvSpPr txBox="1"/>
          <p:nvPr/>
        </p:nvSpPr>
        <p:spPr>
          <a:xfrm>
            <a:off x="1510567" y="204825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2건</a:t>
            </a:r>
          </a:p>
        </p:txBody>
      </p:sp>
      <p:sp>
        <p:nvSpPr>
          <p:cNvPr id="17" name="body:L2:t"/>
          <p:cNvSpPr txBox="1"/>
          <p:nvPr/>
        </p:nvSpPr>
        <p:spPr>
          <a:xfrm>
            <a:off x="4015953" y="2048256"/>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8" name="body:L1:t"/>
          <p:cNvSpPr txBox="1"/>
          <p:nvPr/>
        </p:nvSpPr>
        <p:spPr>
          <a:xfrm>
            <a:off x="7607006" y="204825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19" name="rule"/>
          <p:cNvCxnSpPr/>
          <p:nvPr/>
        </p:nvCxnSpPr>
        <p:spPr>
          <a:xfrm>
            <a:off x="667512" y="2512060"/>
            <a:ext cx="10856671" cy="0"/>
          </a:xfrm>
          <a:prstGeom prst="line">
            <a:avLst/>
          </a:prstGeom>
          <a:ln w="9525">
            <a:solidFill>
              <a:srgbClr val="E2E8F0"/>
            </a:solidFill>
          </a:ln>
        </p:spPr>
      </p:cxnSp>
      <p:sp>
        <p:nvSpPr>
          <p:cNvPr id="20" name="label:L1:t"/>
          <p:cNvSpPr txBox="1"/>
          <p:nvPr/>
        </p:nvSpPr>
        <p:spPr>
          <a:xfrm>
            <a:off x="758952" y="256692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1" name="body:L2:t"/>
          <p:cNvSpPr txBox="1"/>
          <p:nvPr/>
        </p:nvSpPr>
        <p:spPr>
          <a:xfrm>
            <a:off x="1510567" y="256692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2건</a:t>
            </a:r>
          </a:p>
        </p:txBody>
      </p:sp>
      <p:sp>
        <p:nvSpPr>
          <p:cNvPr id="22" name="body:L1:t"/>
          <p:cNvSpPr txBox="1"/>
          <p:nvPr/>
        </p:nvSpPr>
        <p:spPr>
          <a:xfrm>
            <a:off x="4015953" y="256692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3" name="body:L1:t"/>
          <p:cNvSpPr txBox="1"/>
          <p:nvPr/>
        </p:nvSpPr>
        <p:spPr>
          <a:xfrm>
            <a:off x="7607006" y="256692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4" name="rule"/>
          <p:cNvCxnSpPr/>
          <p:nvPr/>
        </p:nvCxnSpPr>
        <p:spPr>
          <a:xfrm>
            <a:off x="667512" y="3030728"/>
            <a:ext cx="10856671" cy="0"/>
          </a:xfrm>
          <a:prstGeom prst="line">
            <a:avLst/>
          </a:prstGeom>
          <a:ln w="9525">
            <a:solidFill>
              <a:srgbClr val="E2E8F0"/>
            </a:solidFill>
          </a:ln>
        </p:spPr>
      </p:cxnSp>
      <p:sp>
        <p:nvSpPr>
          <p:cNvPr id="25" name="label:L1:t"/>
          <p:cNvSpPr txBox="1"/>
          <p:nvPr/>
        </p:nvSpPr>
        <p:spPr>
          <a:xfrm>
            <a:off x="758952" y="308559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6" name="body:L2:t"/>
          <p:cNvSpPr txBox="1"/>
          <p:nvPr/>
        </p:nvSpPr>
        <p:spPr>
          <a:xfrm>
            <a:off x="1510567" y="308559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5건</a:t>
            </a:r>
          </a:p>
        </p:txBody>
      </p:sp>
      <p:sp>
        <p:nvSpPr>
          <p:cNvPr id="27" name="body:L1:t"/>
          <p:cNvSpPr txBox="1"/>
          <p:nvPr/>
        </p:nvSpPr>
        <p:spPr>
          <a:xfrm>
            <a:off x="4015953" y="3085592"/>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3건 + 마일스톤 단독 2건</a:t>
            </a:r>
          </a:p>
        </p:txBody>
      </p:sp>
      <p:sp>
        <p:nvSpPr>
          <p:cNvPr id="28" name="body:L1:t"/>
          <p:cNvSpPr txBox="1"/>
          <p:nvPr/>
        </p:nvSpPr>
        <p:spPr>
          <a:xfrm>
            <a:off x="7607006" y="308559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5건 전수 복원</a:t>
            </a:r>
          </a:p>
        </p:txBody>
      </p:sp>
      <p:cxnSp>
        <p:nvCxnSpPr>
          <p:cNvPr id="29" name="rule"/>
          <p:cNvCxnSpPr/>
          <p:nvPr/>
        </p:nvCxnSpPr>
        <p:spPr>
          <a:xfrm>
            <a:off x="667512" y="3549396"/>
            <a:ext cx="10856671" cy="0"/>
          </a:xfrm>
          <a:prstGeom prst="line">
            <a:avLst/>
          </a:prstGeom>
          <a:ln w="9525">
            <a:solidFill>
              <a:srgbClr val="E2E8F0"/>
            </a:solidFill>
          </a:ln>
        </p:spPr>
      </p:cxnSp>
      <p:sp>
        <p:nvSpPr>
          <p:cNvPr id="30" name="label:L1:t"/>
          <p:cNvSpPr txBox="1"/>
          <p:nvPr/>
        </p:nvSpPr>
        <p:spPr>
          <a:xfrm>
            <a:off x="758952" y="360426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1" name="body:L2:t"/>
          <p:cNvSpPr txBox="1"/>
          <p:nvPr/>
        </p:nvSpPr>
        <p:spPr>
          <a:xfrm>
            <a:off x="1510567" y="360426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879건 (결측 13 + 오기입 866)</a:t>
            </a:r>
          </a:p>
        </p:txBody>
      </p:sp>
      <p:sp>
        <p:nvSpPr>
          <p:cNvPr id="32" name="body:L2:t"/>
          <p:cNvSpPr txBox="1"/>
          <p:nvPr/>
        </p:nvSpPr>
        <p:spPr>
          <a:xfrm>
            <a:off x="4015953" y="360426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3" name="body:L1:t"/>
          <p:cNvSpPr txBox="1"/>
          <p:nvPr/>
        </p:nvSpPr>
        <p:spPr>
          <a:xfrm>
            <a:off x="7607006" y="360426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 + 앵커 최근접 219 (1970년 통일)</a:t>
            </a:r>
          </a:p>
        </p:txBody>
      </p:sp>
      <p:cxnSp>
        <p:nvCxnSpPr>
          <p:cNvPr id="34" name="rule"/>
          <p:cNvCxnSpPr/>
          <p:nvPr/>
        </p:nvCxnSpPr>
        <p:spPr>
          <a:xfrm>
            <a:off x="667512" y="4068064"/>
            <a:ext cx="10856671" cy="0"/>
          </a:xfrm>
          <a:prstGeom prst="line">
            <a:avLst/>
          </a:prstGeom>
          <a:ln w="9525">
            <a:solidFill>
              <a:srgbClr val="E2E8F0"/>
            </a:solidFill>
          </a:ln>
        </p:spPr>
      </p:cxnSp>
      <p:sp>
        <p:nvSpPr>
          <p:cNvPr id="35" name="label:L1:t"/>
          <p:cNvSpPr txBox="1"/>
          <p:nvPr/>
        </p:nvSpPr>
        <p:spPr>
          <a:xfrm>
            <a:off x="758952" y="4122927"/>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6" name="body:L2:t"/>
          <p:cNvSpPr txBox="1"/>
          <p:nvPr/>
        </p:nvSpPr>
        <p:spPr>
          <a:xfrm>
            <a:off x="1510567" y="4122927"/>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28건 (결측 13 + 더미 15)</a:t>
            </a:r>
          </a:p>
        </p:txBody>
      </p:sp>
      <p:sp>
        <p:nvSpPr>
          <p:cNvPr id="37" name="body:L2:t"/>
          <p:cNvSpPr txBox="1"/>
          <p:nvPr/>
        </p:nvSpPr>
        <p:spPr>
          <a:xfrm>
            <a:off x="4015953" y="4122927"/>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754건의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8" name="body:L1:t"/>
          <p:cNvSpPr txBox="1"/>
          <p:nvPr/>
        </p:nvSpPr>
        <p:spPr>
          <a:xfrm>
            <a:off x="7607006" y="4122927"/>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7건 보존 + 역산 추정 21건</a:t>
            </a:r>
          </a:p>
        </p:txBody>
      </p:sp>
      <p:sp>
        <p:nvSpPr>
          <p:cNvPr id="39" name="bd1"/>
          <p:cNvSpPr/>
          <p:nvPr/>
        </p:nvSpPr>
        <p:spPr>
          <a:xfrm>
            <a:off x="502920"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label:L1:t"/>
          <p:cNvSpPr txBox="1"/>
          <p:nvPr/>
        </p:nvSpPr>
        <p:spPr>
          <a:xfrm>
            <a:off x="685800"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1" name="body:L1:b1"/>
          <p:cNvSpPr txBox="1"/>
          <p:nvPr/>
        </p:nvSpPr>
        <p:spPr>
          <a:xfrm>
            <a:off x="685800"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2" name="body:L1:t"/>
          <p:cNvSpPr txBox="1"/>
          <p:nvPr/>
        </p:nvSpPr>
        <p:spPr>
          <a:xfrm>
            <a:off x="685800"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3" name="bd2"/>
          <p:cNvSpPr/>
          <p:nvPr/>
        </p:nvSpPr>
        <p:spPr>
          <a:xfrm>
            <a:off x="4292498"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4475378"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5" name="body:L1:b2"/>
          <p:cNvSpPr txBox="1"/>
          <p:nvPr/>
        </p:nvSpPr>
        <p:spPr>
          <a:xfrm>
            <a:off x="4475378"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6" name="body:L1:t"/>
          <p:cNvSpPr txBox="1"/>
          <p:nvPr/>
        </p:nvSpPr>
        <p:spPr>
          <a:xfrm>
            <a:off x="4475378"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7" name="bd3"/>
          <p:cNvSpPr/>
          <p:nvPr/>
        </p:nvSpPr>
        <p:spPr>
          <a:xfrm>
            <a:off x="8082076"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label:L1:t"/>
          <p:cNvSpPr txBox="1"/>
          <p:nvPr/>
        </p:nvSpPr>
        <p:spPr>
          <a:xfrm>
            <a:off x="8264956"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49" name="body:L1:b3"/>
          <p:cNvSpPr txBox="1"/>
          <p:nvPr/>
        </p:nvSpPr>
        <p:spPr>
          <a:xfrm>
            <a:off x="8264956"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건</a:t>
            </a:r>
          </a:p>
        </p:txBody>
      </p:sp>
      <p:sp>
        <p:nvSpPr>
          <p:cNvPr id="50" name="body:L1:t"/>
          <p:cNvSpPr txBox="1"/>
          <p:nvPr/>
        </p:nvSpPr>
        <p:spPr>
          <a:xfrm>
            <a:off x="8264956"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역전 0건 입증,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순서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866건</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622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2:t"/>
          <p:cNvSpPr txBox="1"/>
          <p:nvPr/>
        </p:nvSpPr>
        <p:spPr>
          <a:xfrm>
            <a:off x="6812280" y="2821432"/>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이벤트가 0~23시 전 시간대에서 발생 — 지연 원인은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영업 외 방치가 아니라 일정 조율 마찰</a:t>
            </a:r>
          </a:p>
        </p:txBody>
      </p:sp>
      <p:sp>
        <p:nvSpPr>
          <p:cNvPr id="42" name="op2"/>
          <p:cNvSpPr/>
          <p:nvPr/>
        </p:nvSpPr>
        <p:spPr>
          <a:xfrm>
            <a:off x="6629400" y="3744722"/>
            <a:ext cx="5059375" cy="2546349"/>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label:L1:t"/>
          <p:cNvSpPr txBox="1"/>
          <p:nvPr/>
        </p:nvSpPr>
        <p:spPr>
          <a:xfrm>
            <a:off x="6812280" y="3927602"/>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4" name="body:L1:h2"/>
          <p:cNvSpPr txBox="1"/>
          <p:nvPr/>
        </p:nvSpPr>
        <p:spPr>
          <a:xfrm>
            <a:off x="6812280" y="4141216"/>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착시, 실제로는 단일 공유 풀</a:t>
            </a:r>
          </a:p>
        </p:txBody>
      </p:sp>
      <p:sp>
        <p:nvSpPr>
          <p:cNvPr id="45" name="body:L1:n2"/>
          <p:cNvSpPr txBox="1"/>
          <p:nvPr/>
        </p:nvSpPr>
        <p:spPr>
          <a:xfrm>
            <a:off x="6812280" y="4445000"/>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6" name="body:L2:t"/>
          <p:cNvSpPr txBox="1"/>
          <p:nvPr/>
        </p:nvSpPr>
        <p:spPr>
          <a:xfrm>
            <a:off x="6812280" y="5011674"/>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담당(Dian : Monica)별 현장 출동 비중 — 1회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접수 주택 기준 평균에 수렴</a:t>
            </a:r>
          </a:p>
        </p:txBody>
      </p:sp>
      <p:sp>
        <p:nvSpPr>
          <p:cNvPr id="47" name="body:L2:t"/>
          <p:cNvSpPr txBox="1"/>
          <p:nvPr/>
        </p:nvSpPr>
        <p:spPr>
          <a:xfrm>
            <a:off x="6812280" y="5475478"/>
            <a:ext cx="4693615" cy="42925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1회 접수 주택 96.1%(855/890채)라 지역 분담처럼 보임</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재접수 35채 중 62.9%(22채)는 다른 상담원이 접수</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 도출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3" name="body:L2:t"/>
          <p:cNvSpPr txBox="1"/>
          <p:nvPr/>
        </p:nvSpPr>
        <p:spPr>
          <a:xfrm>
            <a:off x="685800"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조기 격리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4292498"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4475378"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국면 · 단방향 에스컬레이션</a:t>
            </a:r>
          </a:p>
        </p:txBody>
      </p:sp>
      <p:sp>
        <p:nvSpPr>
          <p:cNvPr id="16" name="body:L3:esc"/>
          <p:cNvSpPr txBox="1"/>
          <p:nvPr/>
        </p:nvSpPr>
        <p:spPr>
          <a:xfrm>
            <a:off x="4475378" y="5456428"/>
            <a:ext cx="324093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올라가는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사내→외주 35 (총 96회), </a:t>
            </a:r>
            <a:r>
              <a:rPr lang="ko-KR" sz="1150" b="1" dirty="0">
                <a:solidFill>
                  <a:srgbClr val="E11D48"/>
                </a:solidFill>
                <a:latin typeface="맑은 고딕"/>
                <a:ea typeface="맑은 고딕"/>
                <a:cs typeface="맑은 고딕"/>
              </a:rPr>
              <a:t>역류 0건</a:t>
            </a:r>
          </a:p>
        </p:txBody>
      </p:sp>
      <p:sp>
        <p:nvSpPr>
          <p:cNvPr id="17" name="c3"/>
          <p:cNvSpPr/>
          <p:nvPr/>
        </p:nvSpPr>
        <p:spPr>
          <a:xfrm>
            <a:off x="8082076"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8264956"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 국면</a:t>
            </a:r>
          </a:p>
        </p:txBody>
      </p:sp>
      <p:sp>
        <p:nvSpPr>
          <p:cNvPr id="19" name="body:L2:t"/>
          <p:cNvSpPr txBox="1"/>
          <p:nvPr/>
        </p:nvSpPr>
        <p:spPr>
          <a:xfrm>
            <a:off x="8264956"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고객 통보 </a:t>
            </a:r>
            <a:r>
              <a:rPr lang="ko-KR" sz="1150" b="1" dirty="0">
                <a:solidFill>
                  <a:srgbClr val="2563EB"/>
                </a:solidFill>
                <a:latin typeface="맑은 고딕"/>
                <a:ea typeface="맑은 고딕"/>
                <a:cs typeface="맑은 고딕"/>
              </a:rPr>
              <a:t>469 </a:t>
            </a:r>
            <a:r>
              <a:rPr lang="ko-KR" sz="1150" b="0" dirty="0">
                <a:solidFill>
                  <a:srgbClr val="334155"/>
                </a:solidFill>
                <a:latin typeface="맑은 고딕"/>
                <a:ea typeface="맑은 고딕"/>
                <a:cs typeface="맑은 고딕"/>
              </a:rPr>
              <a:t>: 재무 전송 </a:t>
            </a:r>
            <a:r>
              <a:rPr lang="ko-KR" sz="1150" b="1" dirty="0">
                <a:solidFill>
                  <a:srgbClr val="2563EB"/>
                </a:solidFill>
                <a:latin typeface="맑은 고딕"/>
                <a:ea typeface="맑은 고딕"/>
                <a:cs typeface="맑은 고딕"/>
              </a:rPr>
              <a:t>456건 </a:t>
            </a:r>
            <a:r>
              <a:rPr lang="ko-KR" sz="1150" b="0" dirty="0">
                <a:solidFill>
                  <a:srgbClr val="334155"/>
                </a:solidFill>
                <a:latin typeface="맑은 고딕"/>
                <a:ea typeface="맑은 고딕"/>
                <a:cs typeface="맑은 고딕"/>
              </a:rPr>
              <a:t>병렬(AND),</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마감 일치 </a:t>
            </a:r>
            <a:r>
              <a:rPr lang="ko-KR" sz="1150" b="1" dirty="0">
                <a:solidFill>
                  <a:srgbClr val="2563EB"/>
                </a:solidFill>
                <a:latin typeface="맑은 고딕"/>
                <a:ea typeface="맑은 고딕"/>
                <a:cs typeface="맑은 고딕"/>
              </a:rPr>
              <a:t>925건(99.8%)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9842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15분 이내 평균)</a:t>
            </a:r>
          </a:p>
        </p:txBody>
      </p:sp>
      <p:pic>
        <p:nvPicPr>
          <p:cNvPr id="11" name="pic:rec" descr="slide09_reception_bottleneck_3panel.png"/>
          <p:cNvPicPr>
            <a:picLocks noChangeAspect="1"/>
          </p:cNvPicPr>
          <p:nvPr/>
        </p:nvPicPr>
        <p:blipFill>
          <a:blip r:embed="rId2"/>
          <a:stretch>
            <a:fillRect/>
          </a:stretch>
        </p:blipFill>
        <p:spPr>
          <a:xfrm>
            <a:off x="1502853" y="1960118"/>
            <a:ext cx="9185987" cy="2514600"/>
          </a:xfrm>
          <a:prstGeom prst="rect">
            <a:avLst/>
          </a:prstGeom>
        </p:spPr>
      </p:pic>
      <p:sp>
        <p:nvSpPr>
          <p:cNvPr id="12" name="c1"/>
          <p:cNvSpPr/>
          <p:nvPr/>
        </p:nvSpPr>
        <p:spPr>
          <a:xfrm>
            <a:off x="502920"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3:b1"/>
          <p:cNvSpPr txBox="1"/>
          <p:nvPr/>
        </p:nvSpPr>
        <p:spPr>
          <a:xfrm>
            <a:off x="4475378" y="5136388"/>
            <a:ext cx="3240938" cy="64008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웹·우편은 </a:t>
            </a:r>
            <a:r>
              <a:rPr lang="ko-KR" sz="1200" b="1" dirty="0">
                <a:solidFill>
                  <a:srgbClr val="E11D48"/>
                </a:solidFill>
                <a:latin typeface="맑은 고딕"/>
                <a:ea typeface="맑은 고딕"/>
                <a:cs typeface="맑은 고딕"/>
              </a:rPr>
              <a:t>15분 이내 단기 접수(49.6%)</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아니면 </a:t>
            </a:r>
            <a:r>
              <a:rPr lang="ko-KR" sz="1200" b="1" dirty="0">
                <a:solidFill>
                  <a:srgbClr val="E11D48"/>
                </a:solidFill>
                <a:latin typeface="맑은 고딕"/>
                <a:ea typeface="맑은 고딕"/>
                <a:cs typeface="맑은 고딕"/>
              </a:rPr>
              <a:t>60분 초과 장기 대기(50.4%)</a:t>
            </a:r>
            <a:r>
              <a:rPr lang="ko-KR" sz="1200" b="0" dirty="0">
                <a:solidFill>
                  <a:srgbClr val="0F172A"/>
                </a:solidFill>
                <a:latin typeface="맑은 고딕"/>
                <a:ea typeface="맑은 고딕"/>
                <a:cs typeface="맑은 고딕"/>
              </a:rPr>
              <a:t>로</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일정이 확정된다. 15~60분 구간은 0건</a:t>
            </a:r>
          </a:p>
        </p:txBody>
      </p:sp>
      <p:sp>
        <p:nvSpPr>
          <p:cNvPr id="19" name="body:L1:t"/>
          <p:cNvSpPr txBox="1"/>
          <p:nvPr/>
        </p:nvSpPr>
        <p:spPr>
          <a:xfrm>
            <a:off x="4475378" y="583133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인계 123건은 모두 60분 초과 (최소 72분)</a:t>
            </a:r>
          </a:p>
        </p:txBody>
      </p:sp>
      <p:sp>
        <p:nvSpPr>
          <p:cNvPr id="20" name="c3"/>
          <p:cNvSpPr/>
          <p:nvPr/>
        </p:nvSpPr>
        <p:spPr>
          <a:xfrm>
            <a:off x="8082076"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2" name="body:L1:c"/>
          <p:cNvSpPr txBox="1"/>
          <p:nvPr/>
        </p:nvSpPr>
        <p:spPr>
          <a:xfrm>
            <a:off x="8264956"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3" name="body:L2:t"/>
          <p:cNvSpPr txBox="1"/>
          <p:nvPr/>
        </p:nvSpPr>
        <p:spPr>
          <a:xfrm>
            <a:off x="8264956"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건의 평균: 웹 6.8분 &lt; 전화 8.2분.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병목은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99048" y="170992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99048" y="192354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99048" y="232003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9510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99048" y="295054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99048" y="316416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99048" y="356065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4035721"/>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99048" y="4191169"/>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99048" y="4404783"/>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99048" y="4801277"/>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read-card"/>
          <p:cNvSpPr/>
          <p:nvPr/>
        </p:nvSpPr>
        <p:spPr>
          <a:xfrm>
            <a:off x="5943600" y="5294630"/>
            <a:ext cx="5745175" cy="969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99048" y="545007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READING</a:t>
            </a:r>
          </a:p>
        </p:txBody>
      </p:sp>
      <p:sp>
        <p:nvSpPr>
          <p:cNvPr id="26" name="body:L2:rd"/>
          <p:cNvSpPr txBox="1"/>
          <p:nvPr/>
        </p:nvSpPr>
        <p:spPr>
          <a:xfrm>
            <a:off x="6099048" y="5663692"/>
            <a:ext cx="543427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상관은 방향만 보여준다. </a:t>
            </a:r>
            <a:r>
              <a:rPr lang="ko-KR" sz="1250" b="1" dirty="0">
                <a:solidFill>
                  <a:srgbClr val="2563EB"/>
                </a:solidFill>
                <a:latin typeface="맑은 고딕"/>
                <a:ea typeface="맑은 고딕"/>
                <a:cs typeface="맑은 고딕"/>
              </a:rPr>
              <a:t>채널과 인계가 서로 얽혀 있어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순수 효과는 다음 장의 OLS로 분리한다.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인계 +5.11h·채널 +2.62h가 설명한다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98.3h 중 실사 방문 대기가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 병목은 기사의</a:t>
            </a:r>
            <a:br>
              <a:rPr lang="ko-KR" sz="1500" b="0" dirty="0">
                <a:solidFill>
                  <a:srgbClr val="0F172A"/>
                </a:solidFill>
                <a:latin typeface="맑은 고딕"/>
                <a:ea typeface="맑은 고딕"/>
                <a:cs typeface="맑은 고딕"/>
              </a:rPr>
            </a:br>
            <a:r>
              <a:rPr lang="ko-KR" sz="1500" b="0" dirty="0">
                <a:solidFill>
                  <a:srgbClr val="0F172A"/>
                </a:solidFill>
                <a:latin typeface="맑은 고딕"/>
                <a:ea typeface="맑은 고딕"/>
                <a:cs typeface="맑은 고딕"/>
              </a:rPr>
              <a:t>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일 유입 134.3건 vs CAPA 68.0건, 적체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0" dirty="0">
                <a:solidFill>
                  <a:srgbClr val="0F172A"/>
                </a:solidFill>
                <a:latin typeface="맑은 고딕"/>
                <a:ea typeface="맑은 고딕"/>
                <a:cs typeface="맑은 고딕"/>
              </a:rPr>
              <a:t>기사가 느린 것이 아니라 </a:t>
            </a:r>
            <a:r>
              <a:rPr lang="ko-KR" sz="1300" b="1" dirty="0">
                <a:solidFill>
                  <a:srgbClr val="E11D48"/>
                </a:solidFill>
                <a:latin typeface="맑은 고딕"/>
                <a:ea typeface="맑은 고딕"/>
                <a:cs typeface="맑은 고딕"/>
              </a:rPr>
              <a:t>실사 처리 용량(CAPA)을 넘는 유입</a:t>
            </a:r>
            <a:r>
              <a:rPr lang="ko-KR" sz="1300" b="0" dirty="0">
                <a:solidFill>
                  <a:srgbClr val="0F172A"/>
                </a:solidFill>
                <a:latin typeface="맑은 고딕"/>
                <a:ea typeface="맑은 고딕"/>
                <a:cs typeface="맑은 고딕"/>
              </a:rPr>
              <a:t>이 적체와 76.8h 대기를 만든다 —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사내수리는 자재 30.5h, 하자는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하자 재방문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하자 재방문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하자 재방문</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실패 뒤 부품을 다시 조달하는 동안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소요시간은 실사 지연과 사내수리가 좌우한다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훨씬 크다. 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사전 분류가 이미 현장과 83.2~87.3% 일치하는데도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82300" y="2290826"/>
            <a:ext cx="2447937" cy="1965960"/>
          </a:xfrm>
          <a:prstGeom prst="rect">
            <a:avLst/>
          </a:prstGeom>
        </p:spPr>
      </p:pic>
      <p:sp>
        <p:nvSpPr>
          <p:cNvPr id="13" name="body:L1:n"/>
          <p:cNvSpPr txBox="1"/>
          <p:nvPr/>
        </p:nvSpPr>
        <p:spPr>
          <a:xfrm>
            <a:off x="685800" y="432079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87.3</a:t>
            </a:r>
            <a:r>
              <a:rPr lang="ko-KR" sz="1440" b="1" dirty="0">
                <a:solidFill>
                  <a:srgbClr val="0F172A"/>
                </a:solidFill>
                <a:latin typeface="맑은 고딕"/>
                <a:ea typeface="맑은 고딕"/>
                <a:cs typeface="맑은 고딕"/>
              </a:rPr>
              <a:t>% (상한)</a:t>
            </a:r>
          </a:p>
        </p:txBody>
      </p:sp>
      <p:sp>
        <p:nvSpPr>
          <p:cNvPr id="14" name="body:L1:t"/>
          <p:cNvSpPr txBox="1"/>
          <p:nvPr/>
        </p:nvSpPr>
        <p:spPr>
          <a:xfrm>
            <a:off x="685800" y="489661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E+P 809/927건 · 보수 기준 83.2%(771건)</a:t>
            </a:r>
          </a:p>
        </p:txBody>
      </p:sp>
      <p:sp>
        <p:nvSpPr>
          <p:cNvPr id="15" name="c2"/>
          <p:cNvSpPr/>
          <p:nvPr/>
        </p:nvSpPr>
        <p:spPr>
          <a:xfrm>
            <a:off x="4292498"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7"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8"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20"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1"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3"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4" name="body:L3:res"/>
          <p:cNvSpPr txBox="1"/>
          <p:nvPr/>
        </p:nvSpPr>
        <p:spPr>
          <a:xfrm>
            <a:off x="4475378" y="4081272"/>
            <a:ext cx="3240938" cy="6667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 채널이 달라도 </a:t>
            </a:r>
            <a:r>
              <a:rPr lang="ko-KR" sz="1250" b="1" dirty="0">
                <a:solidFill>
                  <a:srgbClr val="2563EB"/>
                </a:solidFill>
                <a:latin typeface="맑은 고딕"/>
                <a:ea typeface="맑은 고딕"/>
                <a:cs typeface="맑은 고딕"/>
              </a:rPr>
              <a:t>실사 큐는 한 줄</a:t>
            </a:r>
            <a:r>
              <a:rPr lang="ko-KR" sz="1250" b="0" dirty="0">
                <a:solidFill>
                  <a:srgbClr val="0F172A"/>
                </a:solidFill>
                <a:latin typeface="맑은 고딕"/>
                <a:ea typeface="맑은 고딕"/>
                <a:cs typeface="맑은 고딕"/>
              </a:rPr>
              <a:t>:</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채널별 실사 대기 70.1~80.4h, 차이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유의하지 않음(p=0.64)</a:t>
            </a:r>
          </a:p>
        </p:txBody>
      </p:sp>
      <p:sp>
        <p:nvSpPr>
          <p:cNvPr id="25" name="c3"/>
          <p:cNvSpPr/>
          <p:nvPr/>
        </p:nvSpPr>
        <p:spPr>
          <a:xfrm>
            <a:off x="8082076"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7"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8"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9"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30"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1" name="sowhat"/>
          <p:cNvSpPr/>
          <p:nvPr/>
        </p:nvSpPr>
        <p:spPr>
          <a:xfrm>
            <a:off x="502920" y="5421122"/>
            <a:ext cx="11185855" cy="8882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L1:t"/>
          <p:cNvSpPr txBox="1"/>
          <p:nvPr/>
        </p:nvSpPr>
        <p:spPr>
          <a:xfrm>
            <a:off x="667512" y="55857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3" name="body:L1:sw"/>
          <p:cNvSpPr txBox="1"/>
          <p:nvPr/>
        </p:nvSpPr>
        <p:spPr>
          <a:xfrm>
            <a:off x="667512" y="5790184"/>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하나의 병목 줄을 두 갈래로</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 — 웹</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양식(빠른 건 평균 6.8분, 전 채널 최속)</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포맷을 전 채널에 동일 적용</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정밀검사(실사)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전제 · 신뢰도</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알파벳 P만으로 적중 83.1% — 오분류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74건(16.9%)을 세부 코드로 거름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전제: 접수 시점에 세부 코드를 얻을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 있어야 함 (파일럿에서 측정)</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한계: 우편 207건은 웹 전환 필요</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 감소)</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파일럿으로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vs AS-IS · 평균 리드타임</a:t>
            </a:r>
          </a:p>
        </p:txBody>
      </p:sp>
      <p:sp>
        <p:nvSpPr>
          <p:cNvPr id="11" name="label:L1:b-AS-IS"/>
          <p:cNvSpPr txBox="1"/>
          <p:nvPr/>
        </p:nvSpPr>
        <p:spPr>
          <a:xfrm>
            <a:off x="704088" y="204241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05838"/>
            <a:ext cx="3392424" cy="3108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042414"/>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105.9h</a:t>
            </a:r>
          </a:p>
        </p:txBody>
      </p:sp>
      <p:sp>
        <p:nvSpPr>
          <p:cNvPr id="14" name="label:L1:b-TO-BE"/>
          <p:cNvSpPr txBox="1"/>
          <p:nvPr/>
        </p:nvSpPr>
        <p:spPr>
          <a:xfrm>
            <a:off x="704088" y="2463038"/>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426462"/>
            <a:ext cx="2899096" cy="3108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463038"/>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90.5h</a:t>
            </a:r>
          </a:p>
        </p:txBody>
      </p:sp>
      <p:sp>
        <p:nvSpPr>
          <p:cNvPr id="17" name="body:L1:b-delta"/>
          <p:cNvSpPr txBox="1"/>
          <p:nvPr/>
        </p:nvSpPr>
        <p:spPr>
          <a:xfrm>
            <a:off x="1344168" y="2865374"/>
            <a:ext cx="4626864"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59669"/>
                </a:solidFill>
                <a:latin typeface="Consolas"/>
                <a:ea typeface="맑은 고딕"/>
                <a:cs typeface="Consolas"/>
              </a:rPr>
              <a:t>▼ 14.5% (−15.4h)</a:t>
            </a:r>
          </a:p>
        </p:txBody>
      </p:sp>
      <p:cxnSp>
        <p:nvCxnSpPr>
          <p:cNvPr id="18" name="rule"/>
          <p:cNvCxnSpPr/>
          <p:nvPr/>
        </p:nvCxnSpPr>
        <p:spPr>
          <a:xfrm>
            <a:off x="704088" y="3295142"/>
            <a:ext cx="5266943" cy="0"/>
          </a:xfrm>
          <a:prstGeom prst="line">
            <a:avLst/>
          </a:prstGeom>
          <a:ln w="9525">
            <a:solidFill>
              <a:srgbClr val="E2E8F0"/>
            </a:solidFill>
          </a:ln>
        </p:spPr>
      </p:cxnSp>
      <p:sp>
        <p:nvSpPr>
          <p:cNvPr id="19" name="label:L1:t"/>
          <p:cNvSpPr txBox="1"/>
          <p:nvPr/>
        </p:nvSpPr>
        <p:spPr>
          <a:xfrm>
            <a:off x="704088" y="3395726"/>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3682492"/>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3920236"/>
            <a:ext cx="5266943" cy="0"/>
          </a:xfrm>
          <a:prstGeom prst="line">
            <a:avLst/>
          </a:prstGeom>
          <a:ln w="9525">
            <a:solidFill>
              <a:srgbClr val="E2E8F0"/>
            </a:solidFill>
          </a:ln>
        </p:spPr>
      </p:cxnSp>
      <p:sp>
        <p:nvSpPr>
          <p:cNvPr id="24" name="body:L1:t"/>
          <p:cNvSpPr txBox="1"/>
          <p:nvPr/>
        </p:nvSpPr>
        <p:spPr>
          <a:xfrm>
            <a:off x="795528" y="3984244"/>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3984244"/>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3984244"/>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4252722"/>
            <a:ext cx="5266943" cy="0"/>
          </a:xfrm>
          <a:prstGeom prst="line">
            <a:avLst/>
          </a:prstGeom>
          <a:ln w="9525">
            <a:solidFill>
              <a:srgbClr val="E2E8F0"/>
            </a:solidFill>
          </a:ln>
        </p:spPr>
      </p:cxnSp>
      <p:sp>
        <p:nvSpPr>
          <p:cNvPr id="28" name="sens-fill"/>
          <p:cNvSpPr/>
          <p:nvPr/>
        </p:nvSpPr>
        <p:spPr>
          <a:xfrm>
            <a:off x="704088" y="4261866"/>
            <a:ext cx="5266944" cy="323342"/>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4316730"/>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4316730"/>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4316730"/>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4585208"/>
            <a:ext cx="5266943" cy="0"/>
          </a:xfrm>
          <a:prstGeom prst="line">
            <a:avLst/>
          </a:prstGeom>
          <a:ln w="9525">
            <a:solidFill>
              <a:srgbClr val="E2E8F0"/>
            </a:solidFill>
          </a:ln>
        </p:spPr>
      </p:cxnSp>
      <p:sp>
        <p:nvSpPr>
          <p:cNvPr id="33" name="body:L1:t"/>
          <p:cNvSpPr txBox="1"/>
          <p:nvPr/>
        </p:nvSpPr>
        <p:spPr>
          <a:xfrm>
            <a:off x="795528" y="4649216"/>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4649216"/>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4649216"/>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PILOT · 순수 효과 검증 설계</a:t>
            </a:r>
          </a:p>
        </p:txBody>
      </p:sp>
      <p:sp>
        <p:nvSpPr>
          <p:cNvPr id="38" name="body:L1:t"/>
          <p:cNvSpPr txBox="1"/>
          <p:nvPr/>
        </p:nvSpPr>
        <p:spPr>
          <a:xfrm>
            <a:off x="6629400" y="212471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2:t"/>
          <p:cNvSpPr txBox="1"/>
          <p:nvPr/>
        </p:nvSpPr>
        <p:spPr>
          <a:xfrm>
            <a:off x="7549387" y="2124710"/>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즉시 코드 P-1·3 365건만 별도 줄로 분리(예약 슬롯 확보),</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나머지는 현행 유지</a:t>
            </a:r>
          </a:p>
        </p:txBody>
      </p:sp>
      <p:cxnSp>
        <p:nvCxnSpPr>
          <p:cNvPr id="40" name="rule"/>
          <p:cNvCxnSpPr/>
          <p:nvPr/>
        </p:nvCxnSpPr>
        <p:spPr>
          <a:xfrm>
            <a:off x="6537960" y="2634742"/>
            <a:ext cx="4967935" cy="0"/>
          </a:xfrm>
          <a:prstGeom prst="line">
            <a:avLst/>
          </a:prstGeom>
          <a:ln w="9525">
            <a:solidFill>
              <a:srgbClr val="E2E8F0"/>
            </a:solidFill>
          </a:ln>
        </p:spPr>
      </p:cxnSp>
      <p:sp>
        <p:nvSpPr>
          <p:cNvPr id="41" name="body:L1:t"/>
          <p:cNvSpPr txBox="1"/>
          <p:nvPr/>
        </p:nvSpPr>
        <p:spPr>
          <a:xfrm>
            <a:off x="6629400" y="2753614"/>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1:t"/>
          <p:cNvSpPr txBox="1"/>
          <p:nvPr/>
        </p:nvSpPr>
        <p:spPr>
          <a:xfrm>
            <a:off x="7549387" y="2753614"/>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나머지 실사 줄의 대기(AS-IS 76.8h)와 즉시 줄의 예약 대기</a:t>
            </a:r>
          </a:p>
        </p:txBody>
      </p:sp>
      <p:cxnSp>
        <p:nvCxnSpPr>
          <p:cNvPr id="43" name="rule"/>
          <p:cNvCxnSpPr/>
          <p:nvPr/>
        </p:nvCxnSpPr>
        <p:spPr>
          <a:xfrm>
            <a:off x="6537960" y="3076956"/>
            <a:ext cx="4967935" cy="0"/>
          </a:xfrm>
          <a:prstGeom prst="line">
            <a:avLst/>
          </a:prstGeom>
          <a:ln w="9525">
            <a:solidFill>
              <a:srgbClr val="E2E8F0"/>
            </a:solidFill>
          </a:ln>
        </p:spPr>
      </p:cxnSp>
      <p:sp>
        <p:nvSpPr>
          <p:cNvPr id="44" name="body:L1:t"/>
          <p:cNvSpPr txBox="1"/>
          <p:nvPr/>
        </p:nvSpPr>
        <p:spPr>
          <a:xfrm>
            <a:off x="6629400" y="319582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품질</a:t>
            </a:r>
          </a:p>
        </p:txBody>
      </p:sp>
      <p:sp>
        <p:nvSpPr>
          <p:cNvPr id="45" name="body:L1:t"/>
          <p:cNvSpPr txBox="1"/>
          <p:nvPr/>
        </p:nvSpPr>
        <p:spPr>
          <a:xfrm>
            <a:off x="7549387" y="3195828"/>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직행 적중률(AS-IS P 83.1%)과 재방문 건수(AS-IS 26건)</a:t>
            </a:r>
          </a:p>
        </p:txBody>
      </p:sp>
      <p:cxnSp>
        <p:nvCxnSpPr>
          <p:cNvPr id="46" name="rule"/>
          <p:cNvCxnSpPr/>
          <p:nvPr/>
        </p:nvCxnSpPr>
        <p:spPr>
          <a:xfrm>
            <a:off x="6537960" y="3519170"/>
            <a:ext cx="4967935" cy="0"/>
          </a:xfrm>
          <a:prstGeom prst="line">
            <a:avLst/>
          </a:prstGeom>
          <a:ln w="9525">
            <a:solidFill>
              <a:srgbClr val="E2E8F0"/>
            </a:solidFill>
          </a:ln>
        </p:spPr>
      </p:cxnSp>
      <p:sp>
        <p:nvSpPr>
          <p:cNvPr id="47" name="body:L1:t"/>
          <p:cNvSpPr txBox="1"/>
          <p:nvPr/>
        </p:nvSpPr>
        <p:spPr>
          <a:xfrm>
            <a:off x="6629400" y="363804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판정</a:t>
            </a:r>
          </a:p>
        </p:txBody>
      </p:sp>
      <p:sp>
        <p:nvSpPr>
          <p:cNvPr id="48" name="body:L2:t"/>
          <p:cNvSpPr txBox="1"/>
          <p:nvPr/>
        </p:nvSpPr>
        <p:spPr>
          <a:xfrm>
            <a:off x="7549387" y="3638042"/>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실사 대기 단축률이 가정(10·20·30%)의 어느 구간인지 보고</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확대 여부를 정한다</a:t>
            </a:r>
          </a:p>
        </p:txBody>
      </p:sp>
      <p:sp>
        <p:nvSpPr>
          <p:cNvPr id="49" name="body:L2:excl"/>
          <p:cNvSpPr txBox="1"/>
          <p:nvPr/>
        </p:nvSpPr>
        <p:spPr>
          <a:xfrm>
            <a:off x="6537960" y="4257802"/>
            <a:ext cx="4967935"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미반영(상방 요인): 자재 사전 확보, 재방문 방지, 접수 인계</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제거 — 근거가 부족해 효과에서 제외했습니다.</a:t>
            </a:r>
          </a:p>
        </p:txBody>
      </p:sp>
      <p:sp>
        <p:nvSpPr>
          <p:cNvPr id="50" name="assump"/>
          <p:cNvSpPr/>
          <p:nvPr/>
        </p:nvSpPr>
        <p:spPr>
          <a:xfrm>
            <a:off x="502920" y="5256022"/>
            <a:ext cx="11185855" cy="10533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L1:t"/>
          <p:cNvSpPr txBox="1"/>
          <p:nvPr/>
        </p:nvSpPr>
        <p:spPr>
          <a:xfrm>
            <a:off x="667512" y="54206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ASSUMPTIONS · 읽는 법</a:t>
            </a:r>
          </a:p>
        </p:txBody>
      </p:sp>
      <p:sp>
        <p:nvSpPr>
          <p:cNvPr id="52" name="body:L2:asm"/>
          <p:cNvSpPr txBox="1"/>
          <p:nvPr/>
        </p:nvSpPr>
        <p:spPr>
          <a:xfrm>
            <a:off x="667512" y="5625084"/>
            <a:ext cx="10856671"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단축률 20%는 </a:t>
            </a:r>
            <a:r>
              <a:rPr lang="ko-KR" sz="1200" b="1" dirty="0">
                <a:solidFill>
                  <a:srgbClr val="2563EB"/>
                </a:solidFill>
                <a:latin typeface="맑은 고딕"/>
                <a:ea typeface="맑은 고딕"/>
                <a:cs typeface="맑은 고딕"/>
              </a:rPr>
              <a:t>가정</a:t>
            </a:r>
            <a:r>
              <a:rPr lang="ko-KR" sz="1200" b="0" dirty="0">
                <a:solidFill>
                  <a:srgbClr val="334155"/>
                </a:solidFill>
                <a:latin typeface="맑은 고딕"/>
                <a:ea typeface="맑은 고딕"/>
                <a:cs typeface="맑은 고딕"/>
              </a:rPr>
              <a:t>이다. 즉시 건이 빠지면 실사 줄 유입은 39.4% 줄지만 기사 11명을 두 줄이 공유해 줄 분리의 순수 효과는</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로그로 식별되지 않는다. 20%는 유입 감소율의 약 절반만 반영한 보수 가정이며 파일럿으로 검증한다.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하나의 병목 줄을 두 갈래로 · 단축률 가정</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