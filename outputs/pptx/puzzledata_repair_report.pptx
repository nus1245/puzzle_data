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E47DA3FD-E6AB-48E7-8024-2C7C8BB6A245}">
          <p14:sldIdLst>
            <p14:sldId id="256"/>
            <p14:sldId id="257"/>
            <p14:sldId id="258"/>
          </p14:sldIdLst>
        </p14:section>
        <p14:section name="Part 01 · 데이터 진단" id="{EA3329E9-E6FC-45A3-BF08-556EED43FBE3}">
          <p14:sldIdLst>
            <p14:sldId id="259"/>
            <p14:sldId id="260"/>
            <p14:sldId id="261"/>
          </p14:sldIdLst>
        </p14:section>
        <p14:section name="Part 02 · 병목 규명" id="{9D96DDD9-3D6F-4F39-B77A-418A02803AC7}">
          <p14:sldIdLst>
            <p14:sldId id="262"/>
            <p14:sldId id="263"/>
            <p14:sldId id="264"/>
            <p14:sldId id="265"/>
            <p14:sldId id="266"/>
            <p14:sldId id="267"/>
            <p14:sldId id="268"/>
            <p14:sldId id="269"/>
            <p14:sldId id="270"/>
          </p14:sldIdLst>
        </p14:section>
        <p14:section name="Part 03 · 개선 전략" id="{BDFE8A19-D9CD-478C-A21A-3C311B3EA882}">
          <p14:sldIdLst>
            <p14:sldId id="271"/>
            <p14:sldId id="272"/>
            <p14:sldId id="273"/>
          </p14:sldIdLst>
        </p14:section>
        <p14:section name="Part 04 · Q&amp;A" id="{9C4331D8-B396-4DEC-8642-B76EB75B503A}">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0916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942226" y="2290826"/>
            <a:ext cx="2728085" cy="1737360"/>
          </a:xfrm>
          <a:prstGeom prst="rect">
            <a:avLst/>
          </a:prstGeom>
        </p:spPr>
      </p:pic>
      <p:sp>
        <p:nvSpPr>
          <p:cNvPr id="13" name="body:L2:n"/>
          <p:cNvSpPr txBox="1"/>
          <p:nvPr/>
        </p:nvSpPr>
        <p:spPr>
          <a:xfrm>
            <a:off x="685800" y="409219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body:L2:bs"/>
          <p:cNvSpPr txBox="1"/>
          <p:nvPr/>
        </p:nvSpPr>
        <p:spPr>
          <a:xfrm>
            <a:off x="685800" y="4689602"/>
            <a:ext cx="3240938"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즉시 수리 기저율 41.3%의 약 2.0배</a:t>
            </a:r>
          </a:p>
          <a:p>
            <a:pPr algn="l">
              <a:lnSpc>
                <a:spcPts val="1540"/>
              </a:lnSpc>
              <a:spcBef>
                <a:spcPts val="0"/>
              </a:spcBef>
              <a:buNone/>
            </a:pPr>
            <a:r>
              <a:rPr lang="ko-KR" sz="1100" b="0" dirty="0">
                <a:solidFill>
                  <a:srgbClr val="334155"/>
                </a:solidFill>
                <a:latin typeface="맑은 고딕"/>
                <a:ea typeface="맑은 고딕"/>
                <a:cs typeface="맑은 고딕"/>
              </a:rPr>
              <a:t>기준: 접수 알파벳 vs 실제 1차 수리 방식</a:t>
            </a:r>
          </a:p>
        </p:txBody>
      </p:sp>
      <p:sp>
        <p:nvSpPr>
          <p:cNvPr id="15" name="c2"/>
          <p:cNvSpPr/>
          <p:nvPr/>
        </p:nvSpPr>
        <p:spPr>
          <a:xfrm>
            <a:off x="4292498" y="1554480"/>
            <a:ext cx="3606698" cy="370916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0916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00802"/>
            <a:ext cx="11185855" cy="90855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6539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6986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