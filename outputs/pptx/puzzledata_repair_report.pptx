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09FA97E9-14FB-41DB-85EC-AD9B6D5E6925}">
          <p14:sldIdLst>
            <p14:sldId id="256"/>
            <p14:sldId id="257"/>
            <p14:sldId id="258"/>
          </p14:sldIdLst>
        </p14:section>
        <p14:section name="Part 01 · 데이터 진단" id="{580976A9-3ADA-4B4F-A292-86F33A27E36C}">
          <p14:sldIdLst>
            <p14:sldId id="259"/>
            <p14:sldId id="260"/>
            <p14:sldId id="261"/>
          </p14:sldIdLst>
        </p14:section>
        <p14:section name="Part 02 · 병목 규명" id="{32A3815A-E26F-4AA4-B8D6-F37BD5FDCF20}">
          <p14:sldIdLst>
            <p14:sldId id="262"/>
            <p14:sldId id="263"/>
            <p14:sldId id="264"/>
            <p14:sldId id="265"/>
            <p14:sldId id="266"/>
            <p14:sldId id="267"/>
            <p14:sldId id="268"/>
            <p14:sldId id="269"/>
            <p14:sldId id="270"/>
          </p14:sldIdLst>
        </p14:section>
        <p14:section name="Part 03 · 개선 전략" id="{BA40D4C9-D3D3-483A-B057-933186BFFEC3}">
          <p14:sldIdLst>
            <p14:sldId id="271"/>
            <p14:sldId id="272"/>
            <p14:sldId id="273"/>
          </p14:sldIdLst>
        </p14:section>
        <p14:section name="Part 04 · Q&amp;A" id="{BE8DA081-32DE-4473-809B-7797A2B15EB0}">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질의응답으로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1874519"/>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25856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25780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394960"/>
            <a:ext cx="12801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669280"/>
            <a:ext cx="128016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345375" y="5394960"/>
            <a:ext cx="12801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345375" y="5669280"/>
            <a:ext cx="128016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854135" y="5394960"/>
            <a:ext cx="12801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854135" y="5669280"/>
            <a:ext cx="128016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DATE"/>
          <p:cNvSpPr txBox="1"/>
          <p:nvPr/>
        </p:nvSpPr>
        <p:spPr>
          <a:xfrm>
            <a:off x="10362895" y="5394960"/>
            <a:ext cx="12801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DATE</a:t>
            </a:r>
          </a:p>
        </p:txBody>
      </p:sp>
      <p:sp>
        <p:nvSpPr>
          <p:cNvPr id="14" name="body:L1:v-DATE"/>
          <p:cNvSpPr txBox="1"/>
          <p:nvPr/>
        </p:nvSpPr>
        <p:spPr>
          <a:xfrm>
            <a:off x="10362895" y="5669280"/>
            <a:ext cx="128016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2026.10.27</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AGENDA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전처리부터 TO-BE까지, 4개 파트로 보고합니다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6:t"/>
          <p:cNvSpPr txBox="1"/>
          <p:nvPr/>
        </p:nvSpPr>
        <p:spPr>
          <a:xfrm>
            <a:off x="722376"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업무 인과 기반 결측</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분석</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코호트 927건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프로세스 심층 분석</a:t>
            </a:r>
          </a:p>
        </p:txBody>
      </p:sp>
      <p:sp>
        <p:nvSpPr>
          <p:cNvPr id="20" name="body:L5:t"/>
          <p:cNvSpPr txBox="1"/>
          <p:nvPr/>
        </p:nvSpPr>
        <p:spPr>
          <a:xfrm>
            <a:off x="3564559"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3대 병목: 접수 · 실사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착수</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최적화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적합도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접수 사전 필터 고도화(Direct</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Booking)</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질의응답</a:t>
            </a:r>
          </a:p>
        </p:txBody>
      </p:sp>
      <p:sp>
        <p:nvSpPr>
          <p:cNvPr id="34" name="body:L2:t"/>
          <p:cNvSpPr txBox="1"/>
          <p:nvPr/>
        </p:nvSpPr>
        <p:spPr>
          <a:xfrm>
            <a:off x="9248927" y="3487928"/>
            <a:ext cx="2220391"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프로젝트 핵심 요약</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질의응답</a:t>
            </a:r>
          </a:p>
        </p:txBody>
      </p:sp>
      <p:sp>
        <p:nvSpPr>
          <p:cNvPr id="35" name="body:L2:key"/>
          <p:cNvSpPr txBox="1"/>
          <p:nvPr/>
        </p:nvSpPr>
        <p:spPr>
          <a:xfrm>
            <a:off x="9248927"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a:p>
            <a:pPr algn="l">
              <a:lnSpc>
                <a:spcPts val="1540"/>
              </a:lnSpc>
              <a:spcBef>
                <a:spcPts val="0"/>
              </a:spcBef>
              <a:buNone/>
            </a:pPr>
            <a:r>
              <a:rPr lang="ko-KR" sz="1100" b="0" dirty="0">
                <a:solidFill>
                  <a:srgbClr val="64748B"/>
                </a:solidFill>
                <a:latin typeface="맑은 고딕"/>
                <a:ea typeface="맑은 고딕"/>
                <a:cs typeface="맑은 고딕"/>
              </a:rPr>
              <a:t>자유 질의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리드타임의 90.5%는 작업이 아닌 대기다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4:t"/>
          <p:cNvSpPr txBox="1"/>
          <p:nvPr/>
        </p:nvSpPr>
        <p:spPr>
          <a:xfrm>
            <a:off x="704088" y="4407154"/>
            <a:ext cx="3204362" cy="92964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분석 코호트 927건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한 전략 — 즉시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수리 365건을 별도 줄로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분석 코호트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확립 — 오접수 73건(7.3%) 제외</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 코호트</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분석 코호트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사전 필터를 높이는 Direct Booking</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분석 코호트 927건</a:t>
            </a:r>
          </a:p>
        </p:txBody>
      </p:sp>
      <p:sp>
        <p:nvSpPr>
          <p:cNvPr id="12" name="st-PA"/>
          <p:cNvSpPr/>
          <p:nvPr/>
        </p:nvSpPr>
        <p:spPr>
          <a:xfrm>
            <a:off x="502920" y="2973832"/>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17500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38861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1017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393184"/>
            <a:ext cx="5760720" cy="15046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594351"/>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807965"/>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2:t"/>
          <p:cNvSpPr txBox="1"/>
          <p:nvPr/>
        </p:nvSpPr>
        <p:spPr>
          <a:xfrm>
            <a:off x="704088" y="5129529"/>
            <a:ext cx="5358383"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접수 사전 필터 고도화(Direct Booking) 한 전략 ·</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단축률 가정 + 파일럿 검증</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