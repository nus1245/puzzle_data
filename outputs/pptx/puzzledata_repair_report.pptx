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B523927-E4E4-4422-BCEC-C9FDC666A0A7}">
          <p14:sldIdLst>
            <p14:sldId id="256"/>
            <p14:sldId id="257"/>
            <p14:sldId id="258"/>
          </p14:sldIdLst>
        </p14:section>
        <p14:section name="Part 01 · 데이터 진단" id="{17EBD136-6EDA-4F92-86DD-662D997C1A01}">
          <p14:sldIdLst>
            <p14:sldId id="259"/>
            <p14:sldId id="260"/>
            <p14:sldId id="261"/>
          </p14:sldIdLst>
        </p14:section>
        <p14:section name="Part 02 · 병목 규명" id="{FDDA25BC-38BA-44FC-81F8-B50CA1235E6F}">
          <p14:sldIdLst>
            <p14:sldId id="262"/>
            <p14:sldId id="263"/>
            <p14:sldId id="264"/>
            <p14:sldId id="265"/>
            <p14:sldId id="266"/>
            <p14:sldId id="267"/>
            <p14:sldId id="268"/>
            <p14:sldId id="269"/>
            <p14:sldId id="270"/>
          </p14:sldIdLst>
        </p14:section>
        <p14:section name="Part 03 · 개선 전략" id="{EFBC3812-2082-4322-AA05-C1E482810F3A}">
          <p14:sldIdLst>
            <p14:sldId id="271"/>
            <p14:sldId id="272"/>
            <p14:sldId id="273"/>
          </p14:sldIdLst>
        </p14:section>
        <p14:section name="Part 04 · Q&amp;A" id="{244400EB-CDF1-4A9F-970A-8CAD724F0572}">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345375" y="544068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345375" y="571500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854135" y="544068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854135" y="5715000"/>
            <a:ext cx="128016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DATE"/>
          <p:cNvSpPr txBox="1"/>
          <p:nvPr/>
        </p:nvSpPr>
        <p:spPr>
          <a:xfrm>
            <a:off x="10362895" y="5440680"/>
            <a:ext cx="12801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DATE</a:t>
            </a:r>
          </a:p>
        </p:txBody>
      </p:sp>
      <p:sp>
        <p:nvSpPr>
          <p:cNvPr id="14" name="body:L1:v-DATE"/>
          <p:cNvSpPr txBox="1"/>
          <p:nvPr/>
        </p:nvSpPr>
        <p:spPr>
          <a:xfrm>
            <a:off x="10362895" y="5715000"/>
            <a:ext cx="128016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2026.10.27</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전처리부터 TO-BE까지, 4개 파트로 보고합니다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6:t"/>
          <p:cNvSpPr txBox="1"/>
          <p:nvPr/>
        </p:nvSpPr>
        <p:spPr>
          <a:xfrm>
            <a:off x="722376"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업무 인과 기반 결측</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프로세스 심층 분석</a:t>
            </a:r>
          </a:p>
        </p:txBody>
      </p:sp>
      <p:sp>
        <p:nvSpPr>
          <p:cNvPr id="20" name="body:L5:t"/>
          <p:cNvSpPr txBox="1"/>
          <p:nvPr/>
        </p:nvSpPr>
        <p:spPr>
          <a:xfrm>
            <a:off x="3564559"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3대 병목: 접수 · 실사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착수</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최적화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