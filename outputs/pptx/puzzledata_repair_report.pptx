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7EF64CBD-D6AF-4B4E-9BFE-BF66FF792736}">
          <p14:sldIdLst>
            <p14:sldId id="256"/>
            <p14:sldId id="257"/>
            <p14:sldId id="258"/>
          </p14:sldIdLst>
        </p14:section>
        <p14:section name="Part 01 · 데이터 진단" id="{3CDBDE1A-0AE7-4A10-B55D-409867F22D14}">
          <p14:sldIdLst>
            <p14:sldId id="259"/>
            <p14:sldId id="260"/>
            <p14:sldId id="261"/>
          </p14:sldIdLst>
        </p14:section>
        <p14:section name="Part 02 · 병목 규명" id="{1AA19605-7822-4062-9A60-1CA204586D97}">
          <p14:sldIdLst>
            <p14:sldId id="262"/>
            <p14:sldId id="263"/>
            <p14:sldId id="264"/>
            <p14:sldId id="265"/>
            <p14:sldId id="266"/>
            <p14:sldId id="267"/>
            <p14:sldId id="268"/>
            <p14:sldId id="269"/>
            <p14:sldId id="270"/>
          </p14:sldIdLst>
        </p14:section>
        <p14:section name="Part 03 · 개선 전략" id="{4F956ED2-60F6-4865-A897-978D9BC57158}">
          <p14:sldIdLst>
            <p14:sldId id="271"/>
            <p14:sldId id="272"/>
            <p14:sldId id="273"/>
          </p14:sldIdLst>
        </p14:section>
        <p14:section name="Part 04 · Q&amp;A" id="{8EB0BE7C-39C2-4BDE-B2FC-8B4D0EE07FBA}">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보고를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마무리 및 Q&amp;A</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88315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1:thesis"/>
          <p:cNvSpPr txBox="1"/>
          <p:nvPr/>
        </p:nvSpPr>
        <p:spPr>
          <a:xfrm>
            <a:off x="704088" y="1960118"/>
            <a:ext cx="10783519" cy="24892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 E2E 리드타임 105.9h 중 순수 대기가 95.8h.</a:t>
            </a:r>
          </a:p>
        </p:txBody>
      </p:sp>
      <p:sp>
        <p:nvSpPr>
          <p:cNvPr id="11" name="step1"/>
          <p:cNvSpPr/>
          <p:nvPr/>
        </p:nvSpPr>
        <p:spPr>
          <a:xfrm>
            <a:off x="502920"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593086"/>
            <a:ext cx="3606698" cy="36065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279425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03530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74370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15823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대기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대기 줄에서 빼고, 기사 캘린더로 바로 예약해 Direct Booking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실험 설계로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 대기</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Direct Booking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대기 줄 (정밀 실사)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재수리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Direct Booking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p>
          <a:p>
            <a:pPr algn="ctr">
              <a:lnSpc>
                <a:spcPts val="1750"/>
              </a:lnSpc>
              <a:spcBef>
                <a:spcPts val="0"/>
              </a:spcBef>
              <a:buNone/>
            </a:pPr>
            <a:r>
              <a:rPr lang="ko-KR" sz="1250" b="0" dirty="0">
                <a:solidFill>
                  <a:srgbClr val="334155"/>
                </a:solidFill>
                <a:latin typeface="맑은 고딕"/>
                <a:ea typeface="맑은 고딕"/>
                <a:cs typeface="맑은 고딕"/>
              </a:rPr>
              <a:t>문의 사항은 언제든지 연락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