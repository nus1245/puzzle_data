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92DEC21-26AA-440D-A133-81F9418989D0}">
          <p14:sldIdLst>
            <p14:sldId id="256"/>
            <p14:sldId id="257"/>
            <p14:sldId id="258"/>
          </p14:sldIdLst>
        </p14:section>
        <p14:section name="Part 01 · 데이터 진단" id="{96ACF6E8-13A9-454C-BED4-0F154E1BDCCD}">
          <p14:sldIdLst>
            <p14:sldId id="259"/>
            <p14:sldId id="260"/>
            <p14:sldId id="261"/>
          </p14:sldIdLst>
        </p14:section>
        <p14:section name="Part 02 · 병목 규명" id="{93694719-105F-471E-A3A8-5C1AD97CFA39}">
          <p14:sldIdLst>
            <p14:sldId id="262"/>
            <p14:sldId id="263"/>
            <p14:sldId id="264"/>
            <p14:sldId id="265"/>
            <p14:sldId id="266"/>
            <p14:sldId id="267"/>
            <p14:sldId id="268"/>
            <p14:sldId id="269"/>
            <p14:sldId id="270"/>
          </p14:sldIdLst>
        </p14:section>
        <p14:section name="Part 03 · 개선 전략" id="{6F994CAB-3805-4F75-8905-967CA3515A91}">
          <p14:sldIdLst>
            <p14:sldId id="271"/>
            <p14:sldId id="272"/>
            <p14:sldId id="273"/>
          </p14:sldIdLst>
        </p14:section>
        <p14:section name="Part 04 · Q&amp;A" id="{A50ED1CD-330E-4B64-B283-60856120915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현행 작업 경로 케이스와 통합 경로 케이스이고, 비교는 통합 경로로 빠진 이후 현행 작업 경로의 실사 대기 시간 증감 추이이며, 평가는 통합 경로 유도 적중률, 현행 경로 실사 대기 감소폭, 적체 WIP 부담 등입니다.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6303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63038"/>
            <a:ext cx="3865067" cy="240029"/>
          </a:xfrm>
          <a:prstGeom prst="rect">
            <a:avLst/>
          </a:prstGeom>
          <a:noFill/>
        </p:spPr>
        <p:txBody>
          <a:bodyPr wrap="square" lIns="0" tIns="0" rIns="0" bIns="0" anchor="t">
            <a:noAutofit/>
          </a:bodyPr>
          <a:lstStyle/>
          <a:p>
            <a:pPr algn="l">
              <a:lnSpc>
                <a:spcPts val="1890"/>
              </a:lnSpc>
              <a:spcBef>
                <a:spcPts val="0"/>
              </a:spcBef>
              <a:buNone/>
            </a:pPr>
            <a:r>
              <a:rPr lang="ko-KR" sz="1350" b="0" dirty="0">
                <a:solidFill>
                  <a:srgbClr val="334155"/>
                </a:solidFill>
                <a:latin typeface="맑은 고딕"/>
                <a:ea typeface="맑은 고딕"/>
                <a:cs typeface="맑은 고딕"/>
              </a:rPr>
              <a:t>현행 작업 경로 케이스와 통합 경로 케이스</a:t>
            </a:r>
          </a:p>
        </p:txBody>
      </p:sp>
      <p:cxnSp>
        <p:nvCxnSpPr>
          <p:cNvPr id="40" name="rule"/>
          <p:cNvCxnSpPr/>
          <p:nvPr/>
        </p:nvCxnSpPr>
        <p:spPr>
          <a:xfrm>
            <a:off x="6537960" y="3160268"/>
            <a:ext cx="4967935" cy="0"/>
          </a:xfrm>
          <a:prstGeom prst="line">
            <a:avLst/>
          </a:prstGeom>
          <a:ln w="9525">
            <a:solidFill>
              <a:srgbClr val="E2E8F0"/>
            </a:solidFill>
          </a:ln>
        </p:spPr>
      </p:cxnSp>
      <p:sp>
        <p:nvSpPr>
          <p:cNvPr id="41" name="body:L1:t"/>
          <p:cNvSpPr txBox="1"/>
          <p:nvPr/>
        </p:nvSpPr>
        <p:spPr>
          <a:xfrm>
            <a:off x="6629400" y="361746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617468"/>
            <a:ext cx="3865067" cy="480059"/>
          </a:xfrm>
          <a:prstGeom prst="rect">
            <a:avLst/>
          </a:prstGeom>
          <a:noFill/>
        </p:spPr>
        <p:txBody>
          <a:bodyPr wrap="square" lIns="0" tIns="0" rIns="0" bIns="0" anchor="t">
            <a:noAutofit/>
          </a:bodyPr>
          <a:lstStyle/>
          <a:p>
            <a:pPr algn="l">
              <a:lnSpc>
                <a:spcPts val="1890"/>
              </a:lnSpc>
              <a:spcBef>
                <a:spcPts val="0"/>
              </a:spcBef>
              <a:buNone/>
            </a:pPr>
            <a:r>
              <a:rPr lang="ko-KR" sz="1350" b="0" dirty="0">
                <a:solidFill>
                  <a:srgbClr val="334155"/>
                </a:solidFill>
                <a:latin typeface="맑은 고딕"/>
                <a:ea typeface="맑은 고딕"/>
                <a:cs typeface="맑은 고딕"/>
              </a:rPr>
              <a:t>통합 경로로 빠진 이후, 현행 작업 경로의 실사</a:t>
            </a:r>
            <a:br>
              <a:rPr lang="ko-KR" sz="1350" b="0" dirty="0">
                <a:solidFill>
                  <a:srgbClr val="334155"/>
                </a:solidFill>
                <a:latin typeface="맑은 고딕"/>
                <a:ea typeface="맑은 고딕"/>
                <a:cs typeface="맑은 고딕"/>
              </a:rPr>
            </a:br>
            <a:r>
              <a:rPr lang="ko-KR" sz="1350" b="0" dirty="0">
                <a:solidFill>
                  <a:srgbClr val="334155"/>
                </a:solidFill>
                <a:latin typeface="맑은 고딕"/>
                <a:ea typeface="맑은 고딕"/>
                <a:cs typeface="맑은 고딕"/>
              </a:rPr>
              <a:t>대기 시간 증감 추이</a:t>
            </a:r>
          </a:p>
        </p:txBody>
      </p:sp>
      <p:cxnSp>
        <p:nvCxnSpPr>
          <p:cNvPr id="43" name="rule"/>
          <p:cNvCxnSpPr/>
          <p:nvPr/>
        </p:nvCxnSpPr>
        <p:spPr>
          <a:xfrm>
            <a:off x="6537960" y="4554728"/>
            <a:ext cx="4967935" cy="0"/>
          </a:xfrm>
          <a:prstGeom prst="line">
            <a:avLst/>
          </a:prstGeom>
          <a:ln w="9525">
            <a:solidFill>
              <a:srgbClr val="E2E8F0"/>
            </a:solidFill>
          </a:ln>
        </p:spPr>
      </p:cxnSp>
      <p:sp>
        <p:nvSpPr>
          <p:cNvPr id="44" name="body:L1:t"/>
          <p:cNvSpPr txBox="1"/>
          <p:nvPr/>
        </p:nvSpPr>
        <p:spPr>
          <a:xfrm>
            <a:off x="6629400" y="50119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5011928"/>
            <a:ext cx="3865067" cy="480059"/>
          </a:xfrm>
          <a:prstGeom prst="rect">
            <a:avLst/>
          </a:prstGeom>
          <a:noFill/>
        </p:spPr>
        <p:txBody>
          <a:bodyPr wrap="square" lIns="0" tIns="0" rIns="0" bIns="0" anchor="t">
            <a:noAutofit/>
          </a:bodyPr>
          <a:lstStyle/>
          <a:p>
            <a:pPr algn="l">
              <a:lnSpc>
                <a:spcPts val="1890"/>
              </a:lnSpc>
              <a:spcBef>
                <a:spcPts val="0"/>
              </a:spcBef>
              <a:buNone/>
            </a:pPr>
            <a:r>
              <a:rPr lang="ko-KR" sz="1350" b="0" dirty="0">
                <a:solidFill>
                  <a:srgbClr val="334155"/>
                </a:solidFill>
                <a:latin typeface="맑은 고딕"/>
                <a:ea typeface="맑은 고딕"/>
                <a:cs typeface="맑은 고딕"/>
              </a:rPr>
              <a:t>통합 경로 유도 적중률 · 현행 작업 경로의 실사</a:t>
            </a:r>
            <a:br>
              <a:rPr lang="ko-KR" sz="1350" b="0" dirty="0">
                <a:solidFill>
                  <a:srgbClr val="334155"/>
                </a:solidFill>
                <a:latin typeface="맑은 고딕"/>
                <a:ea typeface="맑은 고딕"/>
                <a:cs typeface="맑은 고딕"/>
              </a:rPr>
            </a:br>
            <a:r>
              <a:rPr lang="ko-KR" sz="1350" b="0" dirty="0">
                <a:solidFill>
                  <a:srgbClr val="334155"/>
                </a:solidFill>
                <a:latin typeface="맑은 고딕"/>
                <a:ea typeface="맑은 고딕"/>
                <a:cs typeface="맑은 고딕"/>
              </a:rPr>
              <a:t>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