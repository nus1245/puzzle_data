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embeddedFontLst>
    <p:embeddedFont>
      <p:font typeface="맑은 고딕" panose="020B0503020000020004" pitchFamily="50" charset="-127"/>
      <p:regular r:id="rId22"/>
      <p:bold r:id="rId23"/>
    </p:embeddedFont>
    <p:embeddedFont>
      <p:font typeface="Consolas" panose="020B0609020204030204" pitchFamily="49" charset="0"/>
      <p:regular r:id="rId24"/>
      <p:bold r:id="rId25"/>
      <p:italic r:id="rId26"/>
      <p:boldItalic r:id="rId2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DC30DD41-23B4-4C3A-9C53-77C2A2267E8D}">
          <p14:sldIdLst>
            <p14:sldId id="256"/>
            <p14:sldId id="257"/>
            <p14:sldId id="258"/>
          </p14:sldIdLst>
        </p14:section>
        <p14:section name="Part 01 · 데이터 진단" id="{39F1D208-D008-41CD-B216-DC98744287AF}">
          <p14:sldIdLst>
            <p14:sldId id="259"/>
            <p14:sldId id="260"/>
            <p14:sldId id="261"/>
          </p14:sldIdLst>
        </p14:section>
        <p14:section name="Part 02 · 병목 규명" id="{7E277C51-C336-4BC8-B4E9-3E56DFCBB28D}">
          <p14:sldIdLst>
            <p14:sldId id="262"/>
            <p14:sldId id="263"/>
            <p14:sldId id="264"/>
            <p14:sldId id="265"/>
            <p14:sldId id="266"/>
            <p14:sldId id="267"/>
            <p14:sldId id="268"/>
            <p14:sldId id="269"/>
            <p14:sldId id="270"/>
          </p14:sldIdLst>
        </p14:section>
        <p14:section name="Part 03 · 개선 전략" id="{F1A0E16B-872E-4B25-8AAB-22A282DF0F30}">
          <p14:sldIdLst>
            <p14:sldId id="271"/>
            <p14:sldId id="272"/>
            <p14:sldId id="273"/>
          </p14:sldIdLst>
        </p14:section>
        <p14:section name="Part 04 · Q&amp;A" id="{17B46358-B65F-43A2-9FA9-539D263377B4}">
          <p14:sldIdLst>
            <p14:sldId id="27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592926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앵커타임 기준으로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이상으로 보고를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endParaRPr/>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slide" Target="slide19.xml"/><Relationship Id="rId5" Type="http://schemas.openxmlformats.org/officeDocument/2006/relationships/slide" Target="slide16.xml"/><Relationship Id="rId4" Type="http://schemas.openxmlformats.org/officeDocument/2006/relationships/slide" Target="slide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r:id="rId3" action="ppaction://hlinksldjump"/>
          </p:cNvPr>
          <p:cNvSpPr/>
          <p:nvPr/>
        </p:nvSpPr>
        <p:spPr>
          <a:xfrm>
            <a:off x="502920" y="1600200"/>
            <a:ext cx="2659303" cy="46177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404103"/>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r:id="rId4" action="ppaction://hlinksldjump"/>
          </p:cNvPr>
          <p:cNvSpPr/>
          <p:nvPr/>
        </p:nvSpPr>
        <p:spPr>
          <a:xfrm>
            <a:off x="3345103" y="1600200"/>
            <a:ext cx="2659303" cy="46177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404103"/>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r:id="rId5" action="ppaction://hlinksldjump"/>
          </p:cNvPr>
          <p:cNvSpPr/>
          <p:nvPr/>
        </p:nvSpPr>
        <p:spPr>
          <a:xfrm>
            <a:off x="6187287" y="1600200"/>
            <a:ext cx="2659303" cy="46177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19"/>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적중(E→사내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100.0%, P→즉시 83.1%)과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404103"/>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r:id="rId6" action="ppaction://hlinksldjump"/>
          </p:cNvPr>
          <p:cNvSpPr/>
          <p:nvPr/>
        </p:nvSpPr>
        <p:spPr>
          <a:xfrm>
            <a:off x="9029471" y="1600200"/>
            <a:ext cx="2659303" cy="46177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마무리 및 Q&amp;A</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59968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88315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1:thesis"/>
          <p:cNvSpPr txBox="1"/>
          <p:nvPr/>
        </p:nvSpPr>
        <p:spPr>
          <a:xfrm>
            <a:off x="704088" y="1960118"/>
            <a:ext cx="10783519" cy="24892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 E2E 리드타임 105.9h 중 순수 대기가 95.8h.</a:t>
            </a:r>
          </a:p>
        </p:txBody>
      </p:sp>
      <p:sp>
        <p:nvSpPr>
          <p:cNvPr id="11" name="step1"/>
          <p:cNvSpPr/>
          <p:nvPr/>
        </p:nvSpPr>
        <p:spPr>
          <a:xfrm>
            <a:off x="502920"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label:L1:t"/>
          <p:cNvSpPr txBox="1"/>
          <p:nvPr/>
        </p:nvSpPr>
        <p:spPr>
          <a:xfrm>
            <a:off x="704088"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158234"/>
            <a:ext cx="3204362" cy="1143000"/>
          </a:xfrm>
          <a:prstGeom prst="rect">
            <a:avLst/>
          </a:prstGeom>
          <a:noFill/>
        </p:spPr>
        <p:txBody>
          <a:bodyPr wrap="square" lIns="0" tIns="0" rIns="0" bIns="0" anchor="t">
            <a:noAutofit/>
          </a:bodyPr>
          <a:lstStyle/>
          <a:p>
            <a:pPr marL="164592" indent="-164592" algn="l">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label:L1:t"/>
          <p:cNvSpPr txBox="1"/>
          <p:nvPr/>
        </p:nvSpPr>
        <p:spPr>
          <a:xfrm>
            <a:off x="4493666"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158234"/>
            <a:ext cx="3204362" cy="1143000"/>
          </a:xfrm>
          <a:prstGeom prst="rect">
            <a:avLst/>
          </a:prstGeom>
          <a:noFill/>
        </p:spPr>
        <p:txBody>
          <a:bodyPr wrap="square" lIns="0" tIns="0" rIns="0" bIns="0" anchor="t">
            <a:noAutofit/>
          </a:bodyPr>
          <a:lstStyle/>
          <a:p>
            <a:pPr marL="164592" indent="-164592" algn="l">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label:L1:t"/>
          <p:cNvSpPr txBox="1"/>
          <p:nvPr/>
        </p:nvSpPr>
        <p:spPr>
          <a:xfrm>
            <a:off x="8283244"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158234"/>
            <a:ext cx="3204362" cy="1143000"/>
          </a:xfrm>
          <a:prstGeom prst="rect">
            <a:avLst/>
          </a:prstGeom>
          <a:noFill/>
        </p:spPr>
        <p:txBody>
          <a:bodyPr wrap="square" lIns="0" tIns="0" rIns="0" bIns="0" anchor="t">
            <a:noAutofit/>
          </a:bodyPr>
          <a:lstStyle/>
          <a:p>
            <a:pPr marL="164592" indent="-164592" algn="l">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대기 줄 유입 39.4% 감소</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3"/>
          <a:stretch>
            <a:fillRect/>
          </a:stretch>
        </p:blipFill>
        <p:spPr>
          <a:xfrm>
            <a:off x="1193689" y="1941830"/>
            <a:ext cx="6756620"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 · 앵커타임 기준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marL="164592" indent="-164592" algn="l">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marL="164592" indent="-164592" algn="l">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process_map_deck.png"/>
          <p:cNvPicPr>
            <a:picLocks noChangeAspect="1"/>
          </p:cNvPicPr>
          <p:nvPr/>
        </p:nvPicPr>
        <p:blipFill>
          <a:blip r:embed="rId3"/>
          <a:stretch>
            <a:fillRect/>
          </a:stretch>
        </p:blipFill>
        <p:spPr>
          <a:xfrm>
            <a:off x="964266" y="1868678"/>
            <a:ext cx="10263163"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동시 925건 · 결측 복원 2건(+1분)</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3"/>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784651"/>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3"/>
          <a:stretch>
            <a:fillRect/>
          </a:stretch>
        </p:blipFill>
        <p:spPr>
          <a:xfrm>
            <a:off x="630936" y="1960118"/>
            <a:ext cx="3350666" cy="2315005"/>
          </a:xfrm>
          <a:prstGeom prst="rect">
            <a:avLst/>
          </a:prstGeom>
        </p:spPr>
      </p:pic>
      <p:sp>
        <p:nvSpPr>
          <p:cNvPr id="12" name="rec-recB"/>
          <p:cNvSpPr/>
          <p:nvPr/>
        </p:nvSpPr>
        <p:spPr>
          <a:xfrm>
            <a:off x="4292498" y="1618488"/>
            <a:ext cx="3606698" cy="2784651"/>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4"/>
          <a:stretch>
            <a:fillRect/>
          </a:stretch>
        </p:blipFill>
        <p:spPr>
          <a:xfrm>
            <a:off x="4420514" y="1960118"/>
            <a:ext cx="3350666" cy="2315005"/>
          </a:xfrm>
          <a:prstGeom prst="rect">
            <a:avLst/>
          </a:prstGeom>
        </p:spPr>
      </p:pic>
      <p:sp>
        <p:nvSpPr>
          <p:cNvPr id="15" name="rec-recC"/>
          <p:cNvSpPr/>
          <p:nvPr/>
        </p:nvSpPr>
        <p:spPr>
          <a:xfrm>
            <a:off x="8082076" y="1618488"/>
            <a:ext cx="3606698" cy="2784651"/>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5"/>
          <a:stretch>
            <a:fillRect/>
          </a:stretch>
        </p:blipFill>
        <p:spPr>
          <a:xfrm>
            <a:off x="8210092" y="1960118"/>
            <a:ext cx="3350666" cy="2315005"/>
          </a:xfrm>
          <a:prstGeom prst="rect">
            <a:avLst/>
          </a:prstGeom>
        </p:spPr>
      </p:pic>
      <p:sp>
        <p:nvSpPr>
          <p:cNvPr id="18" name="c1"/>
          <p:cNvSpPr/>
          <p:nvPr/>
        </p:nvSpPr>
        <p:spPr>
          <a:xfrm>
            <a:off x="502920" y="4540299"/>
            <a:ext cx="3606698" cy="17507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label:L1:t"/>
          <p:cNvSpPr txBox="1"/>
          <p:nvPr/>
        </p:nvSpPr>
        <p:spPr>
          <a:xfrm>
            <a:off x="685800" y="4723179"/>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936793"/>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503467"/>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540299"/>
            <a:ext cx="3606698" cy="17507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label:L1:t"/>
          <p:cNvSpPr txBox="1"/>
          <p:nvPr/>
        </p:nvSpPr>
        <p:spPr>
          <a:xfrm>
            <a:off x="4475378" y="4723179"/>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936793"/>
            <a:ext cx="3240938" cy="93218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540299"/>
            <a:ext cx="3606698" cy="17507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label:L1:t"/>
          <p:cNvSpPr txBox="1"/>
          <p:nvPr/>
        </p:nvSpPr>
        <p:spPr>
          <a:xfrm>
            <a:off x="8264956" y="4723179"/>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936793"/>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503467"/>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76280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P.10 ]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3"/>
          <a:stretch>
            <a:fillRect/>
          </a:stretch>
        </p:blipFill>
        <p:spPr>
          <a:xfrm>
            <a:off x="843092" y="1896110"/>
            <a:ext cx="4577454"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P.11 ]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767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3"/>
          <a:stretch>
            <a:fillRect/>
          </a:stretch>
        </p:blipFill>
        <p:spPr>
          <a:xfrm>
            <a:off x="630936" y="1896110"/>
            <a:ext cx="7562088" cy="3407094"/>
          </a:xfrm>
          <a:prstGeom prst="rect">
            <a:avLst/>
          </a:prstGeom>
        </p:spPr>
      </p:pic>
      <p:sp>
        <p:nvSpPr>
          <p:cNvPr id="12" name="k1"/>
          <p:cNvSpPr/>
          <p:nvPr/>
        </p:nvSpPr>
        <p:spPr>
          <a:xfrm>
            <a:off x="8503920" y="1554480"/>
            <a:ext cx="3184855" cy="12190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83302"/>
            <a:ext cx="3184855" cy="12190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86800" y="3066182"/>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79796"/>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76290"/>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212125"/>
            <a:ext cx="3184855" cy="12190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86800" y="4395005"/>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608619"/>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5005113"/>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68380"/>
            <a:ext cx="11185855" cy="722691"/>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1:take"/>
          <p:cNvSpPr txBox="1"/>
          <p:nvPr/>
        </p:nvSpPr>
        <p:spPr>
          <a:xfrm>
            <a:off x="685800" y="5751260"/>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3"/>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8986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3"/>
          <a:stretch>
            <a:fillRect/>
          </a:stretch>
        </p:blipFill>
        <p:spPr>
          <a:xfrm>
            <a:off x="859591" y="1896110"/>
            <a:ext cx="7104776" cy="3429000"/>
          </a:xfrm>
          <a:prstGeom prst="rect">
            <a:avLst/>
          </a:prstGeom>
        </p:spPr>
      </p:pic>
      <p:sp>
        <p:nvSpPr>
          <p:cNvPr id="12" name="m1"/>
          <p:cNvSpPr/>
          <p:nvPr/>
        </p:nvSpPr>
        <p:spPr>
          <a:xfrm>
            <a:off x="8503920" y="1554480"/>
            <a:ext cx="3184855" cy="1226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90604"/>
            <a:ext cx="3184855" cy="1226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86800" y="3073484"/>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87098"/>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83592"/>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226729"/>
            <a:ext cx="3184855" cy="122639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86800" y="4409609"/>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623223"/>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5019717"/>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590286"/>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1:take"/>
          <p:cNvSpPr txBox="1"/>
          <p:nvPr/>
        </p:nvSpPr>
        <p:spPr>
          <a:xfrm>
            <a:off x="685800" y="5773166"/>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40358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3"/>
          <a:stretch>
            <a:fillRect/>
          </a:stretch>
        </p:blipFill>
        <p:spPr>
          <a:xfrm>
            <a:off x="682067" y="1896110"/>
            <a:ext cx="7459824" cy="3566160"/>
          </a:xfrm>
          <a:prstGeom prst="rect">
            <a:avLst/>
          </a:prstGeom>
        </p:spPr>
      </p:pic>
      <p:sp>
        <p:nvSpPr>
          <p:cNvPr id="12" name="k1"/>
          <p:cNvSpPr/>
          <p:nvPr/>
        </p:nvSpPr>
        <p:spPr>
          <a:xfrm>
            <a:off x="8503920" y="1554480"/>
            <a:ext cx="3184855" cy="127211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936324"/>
            <a:ext cx="3184855" cy="127211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59368" y="309177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30538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70188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318169"/>
            <a:ext cx="3184855" cy="127211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59368" y="447361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68723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508372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72744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1:take"/>
          <p:cNvSpPr txBox="1"/>
          <p:nvPr/>
        </p:nvSpPr>
        <p:spPr>
          <a:xfrm>
            <a:off x="658368" y="588289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3"/>
          <a:stretch>
            <a:fillRect/>
          </a:stretch>
        </p:blipFill>
        <p:spPr>
          <a:xfrm>
            <a:off x="775529" y="1896110"/>
            <a:ext cx="7272901"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54456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2:take"/>
          <p:cNvSpPr txBox="1"/>
          <p:nvPr/>
        </p:nvSpPr>
        <p:spPr>
          <a:xfrm>
            <a:off x="658368" y="570001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3"/>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대기 줄에서 빼고, 기사 캘린더로 바로 예약해 Direct Booking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실험 설계로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 대기</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Direct Booking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marL="164592" indent="-164592" algn="l">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marL="164592" indent="-164592" algn="l">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대기 줄 (정밀 실사)</a:t>
            </a:r>
          </a:p>
          <a:p>
            <a:pPr algn="l">
              <a:lnSpc>
                <a:spcPts val="1610"/>
              </a:lnSpc>
              <a:spcBef>
                <a:spcPts val="0"/>
              </a:spcBef>
              <a:buNone/>
            </a:pPr>
            <a:r>
              <a:rPr lang="ko-KR" sz="1150" b="1" dirty="0">
                <a:solidFill>
                  <a:srgbClr val="2563EB"/>
                </a:solidFill>
                <a:latin typeface="맑은 고딕"/>
                <a:ea typeface="맑은 고딕"/>
                <a:cs typeface="맑은 고딕"/>
              </a:rPr>
              <a:t>562건</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재수리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Direct Booking 줄 (즉시)</a:t>
            </a:r>
          </a:p>
          <a:p>
            <a:pPr algn="l">
              <a:lnSpc>
                <a:spcPts val="1610"/>
              </a:lnSpc>
              <a:spcBef>
                <a:spcPts val="0"/>
              </a:spcBef>
              <a:buNone/>
            </a:pPr>
            <a:r>
              <a:rPr lang="ko-KR" sz="1150" b="1" dirty="0">
                <a:solidFill>
                  <a:srgbClr val="2563EB"/>
                </a:solidFill>
                <a:latin typeface="맑은 고딕"/>
                <a:ea typeface="맑은 고딕"/>
                <a:cs typeface="맑은 고딕"/>
              </a:rPr>
              <a:t>365건</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마무리 · P.19 ]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48437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166872"/>
            <a:ext cx="5760720" cy="148437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704088" y="336804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58165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90321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779264"/>
            <a:ext cx="5760720" cy="148437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704088" y="498043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519404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51561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p>
          <a:p>
            <a:pPr algn="ctr">
              <a:lnSpc>
                <a:spcPts val="1750"/>
              </a:lnSpc>
              <a:spcBef>
                <a:spcPts val="0"/>
              </a:spcBef>
              <a:buNone/>
            </a:pPr>
            <a:r>
              <a:rPr lang="ko-KR" sz="1250" b="0" dirty="0">
                <a:solidFill>
                  <a:srgbClr val="334155"/>
                </a:solidFill>
                <a:latin typeface="맑은 고딕"/>
                <a:ea typeface="맑은 고딕"/>
                <a:cs typeface="맑은 고딕"/>
              </a:rPr>
              <a:t>문의 사항은 언제든지 연락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6299</Words>
  <Application>Microsoft Office PowerPoint</Application>
  <PresentationFormat>와이드스크린</PresentationFormat>
  <Paragraphs>492</Paragraphs>
  <Slides>19</Slides>
  <Notes>19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19</vt:i4>
      </vt:variant>
    </vt:vector>
  </HeadingPairs>
  <TitlesOfParts>
    <vt:vector size="24" baseType="lpstr">
      <vt:lpstr>Consolas</vt:lpstr>
      <vt:lpstr>맑은 고딕</vt:lpstr>
      <vt:lpstr>Calibri</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bus next</cp:lastModifiedBy>
  <cp:revision>2</cp:revision>
  <dcterms:created xsi:type="dcterms:W3CDTF">2013-01-27T09:14:16Z</dcterms:created>
  <dcterms:modified xsi:type="dcterms:W3CDTF">2026-10-27T07:57:49Z</dcterms:modified>
  <cp:category/>
</cp:coreProperties>
</file>