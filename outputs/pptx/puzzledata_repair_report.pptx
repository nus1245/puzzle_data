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EC1D69D5-7EE8-4340-A784-507330C150F2}">
          <p14:sldIdLst>
            <p14:sldId id="256"/>
            <p14:sldId id="257"/>
            <p14:sldId id="258"/>
          </p14:sldIdLst>
        </p14:section>
        <p14:section name="Part 01 · 데이터 진단" id="{2AA65776-70C0-4C53-822B-74EB2136BE18}">
          <p14:sldIdLst>
            <p14:sldId id="259"/>
            <p14:sldId id="260"/>
            <p14:sldId id="261"/>
          </p14:sldIdLst>
        </p14:section>
        <p14:section name="Part 02 · 병목 규명" id="{6C585EFF-FC2A-47AF-8497-2E6176E680C3}">
          <p14:sldIdLst>
            <p14:sldId id="262"/>
            <p14:sldId id="263"/>
            <p14:sldId id="264"/>
            <p14:sldId id="265"/>
            <p14:sldId id="266"/>
            <p14:sldId id="267"/>
            <p14:sldId id="268"/>
            <p14:sldId id="269"/>
            <p14:sldId id="270"/>
          </p14:sldIdLst>
        </p14:section>
        <p14:section name="Part 03 · 개선 전략" id="{C859275C-5D84-41C0-A176-2F9943F05513}">
          <p14:sldIdLst>
            <p14:sldId id="271"/>
            <p14:sldId id="272"/>
            <p14:sldId id="273"/>
          </p14:sldIdLst>
        </p14:section>
        <p14:section name="Part 04 · Q&amp;A" id="{73AA0335-4808-42AC-98D7-B3F4C324BE7A}">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즉시수리 → 사내수리 → 외주수리로만 넘어가는 단방향 구조이고 역류는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지연은 물량 때문이 아닙니다. 일별 인입량과 접수 시간의 상관은 r=0.01, 회귀 p=0.752로 무관합니다. 진짜 원인은 상담원이 교체되는 교차 인계입니다.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E형 370건은 전원 사내수리로 끝났습니다. 그런데도 모든 건이 방문 실사를 거친 이유는 정보 해상도 단절입니다. 접수는 B·P·E 알파벳만 수집하고, 현장은 약 40.5분 실사 후 1~4 세부 코드로 부품을 정하기 때문에 실사 → 부품 주문 → 재방문의 이중 출장이 굳어졌습니다. [정정] 87.3%는 E+P 전체를 포함한 낙관 상한이고, 외주 전환 위험 P-4(38건)를 뺀 보수 기준은 83.2%입니다.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대기를 각각 겨냥합니다. 첫째 사진 기반 사전 특정으로 사내수리의 자재 대기를 출동 전으로 당기고, E형은 실사 없이 직행시킵니다. 둘째 재방문 26건의 84.6%가 몰린 E-1·E-2에 정밀검사 체크리스트를 의무화합니다. 셋째 번들 키트와 외주 직행, 웹·우편 Direct Booking으로 접수 인계를 없앱니다. 다음 장에서 이 전략들의 효과를 가정과 함께 정량화합니다.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효과를 보수적으로 정량화했습니다. 실사 대기를 20% 줄이면 OLS 계수 1.12가 곱해져 17.2시간, 사내수리 485건의 자재 대기를 사전화하면 전체 평균으로 16.0시간, 리워크와 접수 인계 제거가 각각 0.9·0.7시간으로 합계 34.8시간입니다. 전체 평균 105.9시간이 71.1시간(약 3일)으로 ▼32.9%입니다. 같은 가정을 사내수리군에 적용하면 130.9시간에서 78.8시간(▼39.8%)입니다. [예상 질문] 효과율 근거는? → 실사 20%는 보수적 가정, 나머지는 해당 대기의 전량 제거를 가정한 상한이며 구성요소 간 중복은 보정하지 않았습니다. 가정이 바뀌면 효과는 비례해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명시한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▼32.9%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0284C7"/>
                </a:solidFill>
                <a:latin typeface="Consolas"/>
                <a:ea typeface="맑은 고딕"/>
                <a:cs typeface="Consolas"/>
              </a:rPr>
              <a:t>[ 00 / 퍼즐데이터 채용 과제 최종 보고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1874519"/>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25856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0284C7"/>
                </a:solidFill>
                <a:latin typeface="맑은 고딕"/>
                <a:ea typeface="맑은 고딕"/>
                <a:cs typeface="맑은 고딕"/>
              </a:rPr>
              <a:t>진단 및 운영 최적화 방안</a:t>
            </a:r>
          </a:p>
        </p:txBody>
      </p:sp>
      <p:sp>
        <p:nvSpPr>
          <p:cNvPr id="6" name="sub:L1:sub"/>
          <p:cNvSpPr txBox="1"/>
          <p:nvPr/>
        </p:nvSpPr>
        <p:spPr>
          <a:xfrm>
            <a:off x="502920" y="3813048"/>
            <a:ext cx="6675120"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334155"/>
                </a:solidFill>
                <a:latin typeface="맑은 고딕"/>
                <a:ea typeface="맑은 고딕"/>
                <a:cs typeface="맑은 고딕"/>
              </a:rPr>
              <a:t>프로세스 마이닝 기반 · 무손실 전처리 · 대기 병목 규명 · TO-BE 전략</a:t>
            </a:r>
          </a:p>
        </p:txBody>
      </p:sp>
      <p:sp>
        <p:nvSpPr>
          <p:cNvPr id="7" name="label:L1:meta"/>
          <p:cNvSpPr txBox="1"/>
          <p:nvPr/>
        </p:nvSpPr>
        <p:spPr>
          <a:xfrm>
            <a:off x="502920" y="562356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13,262 EVENTS · 1,000 CASES · 927 ANALYSIS COHORT</a:t>
            </a:r>
          </a:p>
        </p:txBody>
      </p:sp>
      <p:sp>
        <p:nvSpPr>
          <p:cNvPr id="8" name="applicant"/>
          <p:cNvSpPr/>
          <p:nvPr/>
        </p:nvSpPr>
        <p:spPr>
          <a:xfrm>
            <a:off x="7756855" y="1783080"/>
            <a:ext cx="3931920" cy="43164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8031175" y="2057400"/>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POSITION</a:t>
            </a:r>
          </a:p>
        </p:txBody>
      </p:sp>
      <p:sp>
        <p:nvSpPr>
          <p:cNvPr id="10" name="body:L1:v-POSITION"/>
          <p:cNvSpPr txBox="1"/>
          <p:nvPr/>
        </p:nvSpPr>
        <p:spPr>
          <a:xfrm>
            <a:off x="8031175" y="2298446"/>
            <a:ext cx="3383279" cy="391160"/>
          </a:xfrm>
          <a:prstGeom prst="rect">
            <a:avLst/>
          </a:prstGeom>
          <a:noFill/>
        </p:spPr>
        <p:txBody>
          <a:bodyPr wrap="square" lIns="0" tIns="0" rIns="0" bIns="0" anchor="t">
            <a:noAutofit/>
          </a:bodyPr>
          <a:lstStyle/>
          <a:p>
            <a:pPr algn="l">
              <a:lnSpc>
                <a:spcPts val="3080"/>
              </a:lnSpc>
              <a:spcBef>
                <a:spcPts val="0"/>
              </a:spcBef>
              <a:buNone/>
            </a:pPr>
            <a:r>
              <a:rPr lang="ko-KR" sz="2200" b="1" dirty="0">
                <a:solidFill>
                  <a:srgbClr val="0F172A"/>
                </a:solidFill>
                <a:latin typeface="맑은 고딕"/>
                <a:ea typeface="맑은 고딕"/>
                <a:cs typeface="맑은 고딕"/>
              </a:rPr>
              <a:t>데이터 분석가</a:t>
            </a:r>
          </a:p>
        </p:txBody>
      </p:sp>
      <p:cxnSp>
        <p:nvCxnSpPr>
          <p:cNvPr id="11" name="rule"/>
          <p:cNvCxnSpPr/>
          <p:nvPr/>
        </p:nvCxnSpPr>
        <p:spPr>
          <a:xfrm>
            <a:off x="8031175" y="2899917"/>
            <a:ext cx="3383280" cy="0"/>
          </a:xfrm>
          <a:prstGeom prst="line">
            <a:avLst/>
          </a:prstGeom>
          <a:ln w="9525">
            <a:solidFill>
              <a:srgbClr val="E2E8F0"/>
            </a:solidFill>
          </a:ln>
        </p:spPr>
      </p:cxnSp>
      <p:sp>
        <p:nvSpPr>
          <p:cNvPr id="12" name="label:L1:t"/>
          <p:cNvSpPr txBox="1"/>
          <p:nvPr/>
        </p:nvSpPr>
        <p:spPr>
          <a:xfrm>
            <a:off x="8031175" y="3110229"/>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LEVEL</a:t>
            </a:r>
          </a:p>
        </p:txBody>
      </p:sp>
      <p:sp>
        <p:nvSpPr>
          <p:cNvPr id="13" name="body:L1:v-LEVEL"/>
          <p:cNvSpPr txBox="1"/>
          <p:nvPr/>
        </p:nvSpPr>
        <p:spPr>
          <a:xfrm>
            <a:off x="8031175" y="3351275"/>
            <a:ext cx="3383279" cy="391160"/>
          </a:xfrm>
          <a:prstGeom prst="rect">
            <a:avLst/>
          </a:prstGeom>
          <a:noFill/>
        </p:spPr>
        <p:txBody>
          <a:bodyPr wrap="square" lIns="0" tIns="0" rIns="0" bIns="0" anchor="t">
            <a:noAutofit/>
          </a:bodyPr>
          <a:lstStyle/>
          <a:p>
            <a:pPr algn="l">
              <a:lnSpc>
                <a:spcPts val="3080"/>
              </a:lnSpc>
              <a:spcBef>
                <a:spcPts val="0"/>
              </a:spcBef>
              <a:buNone/>
            </a:pPr>
            <a:r>
              <a:rPr lang="ko-KR" sz="2200" b="1" dirty="0">
                <a:solidFill>
                  <a:srgbClr val="0F172A"/>
                </a:solidFill>
                <a:latin typeface="맑은 고딕"/>
                <a:ea typeface="맑은 고딕"/>
                <a:cs typeface="맑은 고딕"/>
              </a:rPr>
              <a:t>신입</a:t>
            </a:r>
          </a:p>
        </p:txBody>
      </p:sp>
      <p:cxnSp>
        <p:nvCxnSpPr>
          <p:cNvPr id="14" name="rule"/>
          <p:cNvCxnSpPr/>
          <p:nvPr/>
        </p:nvCxnSpPr>
        <p:spPr>
          <a:xfrm>
            <a:off x="8031175" y="3952747"/>
            <a:ext cx="3383280" cy="0"/>
          </a:xfrm>
          <a:prstGeom prst="line">
            <a:avLst/>
          </a:prstGeom>
          <a:ln w="9525">
            <a:solidFill>
              <a:srgbClr val="E2E8F0"/>
            </a:solidFill>
          </a:ln>
        </p:spPr>
      </p:cxnSp>
      <p:sp>
        <p:nvSpPr>
          <p:cNvPr id="15" name="label:L1:t"/>
          <p:cNvSpPr txBox="1"/>
          <p:nvPr/>
        </p:nvSpPr>
        <p:spPr>
          <a:xfrm>
            <a:off x="8031175" y="4163059"/>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NAME</a:t>
            </a:r>
          </a:p>
        </p:txBody>
      </p:sp>
      <p:sp>
        <p:nvSpPr>
          <p:cNvPr id="16" name="body:L1:v-NAME"/>
          <p:cNvSpPr txBox="1"/>
          <p:nvPr/>
        </p:nvSpPr>
        <p:spPr>
          <a:xfrm>
            <a:off x="8031175" y="4404106"/>
            <a:ext cx="3383279" cy="391160"/>
          </a:xfrm>
          <a:prstGeom prst="rect">
            <a:avLst/>
          </a:prstGeom>
          <a:noFill/>
        </p:spPr>
        <p:txBody>
          <a:bodyPr wrap="square" lIns="0" tIns="0" rIns="0" bIns="0" anchor="t">
            <a:noAutofit/>
          </a:bodyPr>
          <a:lstStyle/>
          <a:p>
            <a:pPr algn="l">
              <a:lnSpc>
                <a:spcPts val="3080"/>
              </a:lnSpc>
              <a:spcBef>
                <a:spcPts val="0"/>
              </a:spcBef>
              <a:buNone/>
            </a:pPr>
            <a:r>
              <a:rPr lang="ko-KR" sz="2200" b="1" dirty="0">
                <a:solidFill>
                  <a:srgbClr val="0F172A"/>
                </a:solidFill>
                <a:latin typeface="맑은 고딕"/>
                <a:ea typeface="맑은 고딕"/>
                <a:cs typeface="맑은 고딕"/>
              </a:rPr>
              <a:t>조승훈</a:t>
            </a:r>
          </a:p>
        </p:txBody>
      </p:sp>
      <p:cxnSp>
        <p:nvCxnSpPr>
          <p:cNvPr id="17" name="rule"/>
          <p:cNvCxnSpPr/>
          <p:nvPr/>
        </p:nvCxnSpPr>
        <p:spPr>
          <a:xfrm>
            <a:off x="8031175" y="5005578"/>
            <a:ext cx="3383280" cy="0"/>
          </a:xfrm>
          <a:prstGeom prst="line">
            <a:avLst/>
          </a:prstGeom>
          <a:ln w="9525">
            <a:solidFill>
              <a:srgbClr val="E2E8F0"/>
            </a:solidFill>
          </a:ln>
        </p:spPr>
      </p:cxnSp>
      <p:sp>
        <p:nvSpPr>
          <p:cNvPr id="18" name="label:L1:t"/>
          <p:cNvSpPr txBox="1"/>
          <p:nvPr/>
        </p:nvSpPr>
        <p:spPr>
          <a:xfrm>
            <a:off x="8031175" y="5215890"/>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DATE</a:t>
            </a:r>
          </a:p>
        </p:txBody>
      </p:sp>
      <p:sp>
        <p:nvSpPr>
          <p:cNvPr id="19" name="body:L1:v-date"/>
          <p:cNvSpPr txBox="1"/>
          <p:nvPr/>
        </p:nvSpPr>
        <p:spPr>
          <a:xfrm>
            <a:off x="8031175" y="5456936"/>
            <a:ext cx="3383279" cy="368300"/>
          </a:xfrm>
          <a:prstGeom prst="rect">
            <a:avLst/>
          </a:prstGeom>
          <a:noFill/>
        </p:spPr>
        <p:txBody>
          <a:bodyPr wrap="square" lIns="0" tIns="0" rIns="0" bIns="0" anchor="t">
            <a:noAutofit/>
          </a:bodyPr>
          <a:lstStyle/>
          <a:p>
            <a:pPr algn="l">
              <a:lnSpc>
                <a:spcPts val="2900"/>
              </a:lnSpc>
              <a:spcBef>
                <a:spcPts val="0"/>
              </a:spcBef>
              <a:buNone/>
            </a:pPr>
            <a:r>
              <a:rPr lang="ko-KR" sz="2200" b="1" dirty="0">
                <a:solidFill>
                  <a:srgbClr val="0F172A"/>
                </a:solidFill>
                <a:latin typeface="Consolas"/>
                <a:ea typeface="맑은 고딕"/>
                <a:cs typeface="Consolas"/>
              </a:rPr>
              <a:t>2026.10.27</a:t>
            </a:r>
          </a:p>
        </p:txBody>
      </p:sp>
      <p:cxnSp>
        <p:nvCxnSpPr>
          <p:cNvPr id="20" name="foot-rule"/>
          <p:cNvCxnSpPr/>
          <p:nvPr/>
        </p:nvCxnSpPr>
        <p:spPr>
          <a:xfrm>
            <a:off x="502920" y="6382512"/>
            <a:ext cx="11185855" cy="0"/>
          </a:xfrm>
          <a:prstGeom prst="line">
            <a:avLst/>
          </a:prstGeom>
          <a:ln w="9525">
            <a:solidFill>
              <a:srgbClr val="E2E8F0"/>
            </a:solidFill>
          </a:ln>
        </p:spPr>
      </p:cxnSp>
      <p:sp>
        <p:nvSpPr>
          <p:cNvPr id="21"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전처리부터 TO-BE까지, 4개 파트로 보고합니다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0284C7"/>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0284C7"/>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6:t"/>
          <p:cNvSpPr txBox="1"/>
          <p:nvPr/>
        </p:nvSpPr>
        <p:spPr>
          <a:xfrm>
            <a:off x="722376"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0284C7"/>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업무 인과 기반 결측</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복원, 삭제 0건</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284C7"/>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EA580C"/>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FFF7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EA580C"/>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프로세스 심층 분석</a:t>
            </a:r>
          </a:p>
        </p:txBody>
      </p:sp>
      <p:sp>
        <p:nvSpPr>
          <p:cNvPr id="20" name="body:L5:t"/>
          <p:cNvSpPr txBox="1"/>
          <p:nvPr/>
        </p:nvSpPr>
        <p:spPr>
          <a:xfrm>
            <a:off x="3564559"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0284C7"/>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3대 병목: 접수 · 실사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착수</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A580C"/>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059669"/>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059669"/>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최적화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0284C7"/>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자재 대기 · 리워크 ·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3대 전략</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가중평균 감축 효과를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상한으로 제시</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▼32.9%</a:t>
            </a:r>
          </a:p>
          <a:p>
            <a:pPr algn="l">
              <a:lnSpc>
                <a:spcPts val="1540"/>
              </a:lnSpc>
              <a:spcBef>
                <a:spcPts val="0"/>
              </a:spcBef>
              <a:buNone/>
            </a:pPr>
            <a:r>
              <a:rPr lang="ko-KR" sz="1100" b="0" dirty="0">
                <a:solidFill>
                  <a:srgbClr val="64748B"/>
                </a:solidFill>
                <a:latin typeface="맑은 고딕"/>
                <a:ea typeface="맑은 고딕"/>
                <a:cs typeface="맑은 고딕"/>
              </a:rPr>
              <a:t>전체 평균 감축(상한)</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64748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64748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0284C7"/>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0284C7"/>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0284C7"/>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284C7"/>
                </a:solidFill>
                <a:latin typeface="Consolas"/>
                <a:ea typeface="맑은 고딕"/>
                <a:cs typeface="Consolas"/>
              </a:rPr>
              <a:t>13,262</a:t>
            </a:r>
            <a:r>
              <a:rPr lang="ko-KR" sz="1760" b="1" dirty="0">
                <a:solidFill>
                  <a:srgbClr val="0284C7"/>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0284C7"/>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0284C7"/>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0284C7"/>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DC2626"/>
                </a:solidFill>
                <a:latin typeface="Consolas"/>
                <a:ea typeface="맑은 고딕"/>
                <a:cs typeface="Consolas"/>
              </a:rPr>
              <a:t>76.8</a:t>
            </a:r>
            <a:r>
              <a:rPr lang="ko-KR" sz="1760" b="1" dirty="0">
                <a:solidFill>
                  <a:srgbClr val="DC2626"/>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0284C7"/>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0284C7"/>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0284C7"/>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32.9</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71.1h (상한 시나리오)</a:t>
            </a:r>
          </a:p>
        </p:txBody>
      </p:sp>
      <p:sp>
        <p:nvSpPr>
          <p:cNvPr id="27" name="body:L4:t"/>
          <p:cNvSpPr txBox="1"/>
          <p:nvPr/>
        </p:nvSpPr>
        <p:spPr>
          <a:xfrm>
            <a:off x="8283244"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0284C7"/>
              </a:buClr>
              <a:buFont typeface="맑은 고딕"/>
              <a:buChar char="•"/>
            </a:pPr>
            <a:r>
              <a:rPr lang="ko-KR" sz="1200" b="0" dirty="0">
                <a:solidFill>
                  <a:srgbClr val="334155"/>
                </a:solidFill>
                <a:latin typeface="맑은 고딕"/>
                <a:ea typeface="맑은 고딕"/>
                <a:cs typeface="맑은 고딕"/>
              </a:rPr>
              <a:t>실사 대기 −17.2h · 자재 −16.0h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리워크 −0.9h · 인계 −0.7h</a:t>
            </a:r>
          </a:p>
          <a:p>
            <a:pPr algn="l" marL="164592" indent="-164592">
              <a:lnSpc>
                <a:spcPts val="1680"/>
              </a:lnSpc>
              <a:spcBef>
                <a:spcPts val="300"/>
              </a:spcBef>
              <a:buClr>
                <a:srgbClr val="0284C7"/>
              </a:buClr>
              <a:buFont typeface="맑은 고딕"/>
              <a:buChar char="•"/>
            </a:pPr>
            <a:r>
              <a:rPr lang="ko-KR" sz="1200" b="0" dirty="0">
                <a:solidFill>
                  <a:srgbClr val="334155"/>
                </a:solidFill>
                <a:latin typeface="맑은 고딕"/>
                <a:ea typeface="맑은 고딕"/>
                <a:cs typeface="맑은 고딕"/>
              </a:rPr>
              <a:t>사내수리군 130.9h → 78.8h (▼39.8%)</a:t>
            </a:r>
          </a:p>
          <a:p>
            <a:pPr algn="l" marL="164592" indent="-164592">
              <a:lnSpc>
                <a:spcPts val="1680"/>
              </a:lnSpc>
              <a:spcBef>
                <a:spcPts val="300"/>
              </a:spcBef>
              <a:buClr>
                <a:srgbClr val="0284C7"/>
              </a:buClr>
              <a:buFont typeface="맑은 고딕"/>
              <a:buChar char="•"/>
            </a:pPr>
            <a:r>
              <a:rPr lang="ko-KR" sz="1200" b="0" dirty="0">
                <a:solidFill>
                  <a:srgbClr val="334155"/>
                </a:solidFill>
                <a:latin typeface="맑은 고딕"/>
                <a:ea typeface="맑은 고딕"/>
                <a:cs typeface="맑은 고딕"/>
              </a:rPr>
              <a:t>효과율은 가정값 · 구성요소 합산</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958090" y="1941830"/>
            <a:ext cx="7227818"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970264" y="1746504"/>
            <a:ext cx="257220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8970264" y="1923541"/>
            <a:ext cx="257220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970264" y="2945468"/>
            <a:ext cx="257220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8970264" y="3122506"/>
            <a:ext cx="257220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8970264" y="4144433"/>
            <a:ext cx="257220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8970264" y="4321471"/>
            <a:ext cx="257220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9240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40080" y="5361686"/>
            <a:ext cx="333237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정상 결측 · 보존</a:t>
            </a:r>
          </a:p>
        </p:txBody>
      </p:sp>
      <p:sp>
        <p:nvSpPr>
          <p:cNvPr id="23" name="body:L1:t"/>
          <p:cNvSpPr txBox="1"/>
          <p:nvPr/>
        </p:nvSpPr>
        <p:spPr>
          <a:xfrm>
            <a:off x="640080" y="5557012"/>
            <a:ext cx="333237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59669"/>
                </a:solidFill>
                <a:latin typeface="맑은 고딕"/>
                <a:ea typeface="맑은 고딕"/>
                <a:cs typeface="맑은 고딕"/>
              </a:rPr>
              <a:t>7개 속성 · 86.0~93.0%</a:t>
            </a:r>
          </a:p>
        </p:txBody>
      </p:sp>
      <p:sp>
        <p:nvSpPr>
          <p:cNvPr id="24" name="body:L1:t"/>
          <p:cNvSpPr txBox="1"/>
          <p:nvPr/>
        </p:nvSpPr>
        <p:spPr>
          <a:xfrm>
            <a:off x="640080" y="5815838"/>
            <a:ext cx="333237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9240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29658" y="5361686"/>
            <a:ext cx="333237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시스템 에러 · 복원 대상</a:t>
            </a:r>
          </a:p>
        </p:txBody>
      </p:sp>
      <p:sp>
        <p:nvSpPr>
          <p:cNvPr id="27" name="body:L1:t"/>
          <p:cNvSpPr txBox="1"/>
          <p:nvPr/>
        </p:nvSpPr>
        <p:spPr>
          <a:xfrm>
            <a:off x="4429658" y="5557012"/>
            <a:ext cx="333237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DC2626"/>
                </a:solidFill>
                <a:latin typeface="맑은 고딕"/>
                <a:ea typeface="맑은 고딕"/>
                <a:cs typeface="맑은 고딕"/>
              </a:rPr>
              <a:t>5개 속성 · 20행(0.15%) · 18케이스</a:t>
            </a:r>
          </a:p>
        </p:txBody>
      </p:sp>
      <p:sp>
        <p:nvSpPr>
          <p:cNvPr id="28" name="body:L1:t"/>
          <p:cNvSpPr txBox="1"/>
          <p:nvPr/>
        </p:nvSpPr>
        <p:spPr>
          <a:xfrm>
            <a:off x="4429658" y="5815838"/>
            <a:ext cx="333237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924051"/>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19236" y="5361686"/>
            <a:ext cx="333237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19236" y="5557012"/>
            <a:ext cx="333237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19236" y="5815838"/>
            <a:ext cx="333237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05 / 19</a:t>
            </a:r>
          </a:p>
        </p:txBody>
      </p:sp>
      <p:sp>
        <p:nvSpPr>
          <p:cNvPr id="9" name="cases-card"/>
          <p:cNvSpPr/>
          <p:nvPr/>
        </p:nvSpPr>
        <p:spPr>
          <a:xfrm>
            <a:off x="502920" y="1554480"/>
            <a:ext cx="11185855" cy="32882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5740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5740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5740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5740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30348"/>
            <a:ext cx="10856671" cy="0"/>
          </a:xfrm>
          <a:prstGeom prst="line">
            <a:avLst/>
          </a:prstGeom>
          <a:ln w="9525">
            <a:solidFill>
              <a:srgbClr val="E2E8F0"/>
            </a:solidFill>
          </a:ln>
        </p:spPr>
      </p:cxnSp>
      <p:sp>
        <p:nvSpPr>
          <p:cNvPr id="20" name="label:L1:t"/>
          <p:cNvSpPr txBox="1"/>
          <p:nvPr/>
        </p:nvSpPr>
        <p:spPr>
          <a:xfrm>
            <a:off x="758952" y="25943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943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9435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943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67304"/>
            <a:ext cx="10856671" cy="0"/>
          </a:xfrm>
          <a:prstGeom prst="line">
            <a:avLst/>
          </a:prstGeom>
          <a:ln w="9525">
            <a:solidFill>
              <a:srgbClr val="E2E8F0"/>
            </a:solidFill>
          </a:ln>
        </p:spPr>
      </p:cxnSp>
      <p:sp>
        <p:nvSpPr>
          <p:cNvPr id="25" name="label:L1:t"/>
          <p:cNvSpPr txBox="1"/>
          <p:nvPr/>
        </p:nvSpPr>
        <p:spPr>
          <a:xfrm>
            <a:off x="758952" y="31313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1313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13131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1313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604260"/>
            <a:ext cx="10856671" cy="0"/>
          </a:xfrm>
          <a:prstGeom prst="line">
            <a:avLst/>
          </a:prstGeom>
          <a:ln w="9525">
            <a:solidFill>
              <a:srgbClr val="E2E8F0"/>
            </a:solidFill>
          </a:ln>
        </p:spPr>
      </p:cxnSp>
      <p:sp>
        <p:nvSpPr>
          <p:cNvPr id="30" name="label:L1:t"/>
          <p:cNvSpPr txBox="1"/>
          <p:nvPr/>
        </p:nvSpPr>
        <p:spPr>
          <a:xfrm>
            <a:off x="758952" y="366826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EA580C"/>
                </a:solidFill>
                <a:latin typeface="Consolas"/>
                <a:ea typeface="맑은 고딕"/>
                <a:cs typeface="Consolas"/>
              </a:rPr>
              <a:t>CASE 4</a:t>
            </a:r>
          </a:p>
        </p:txBody>
      </p:sp>
      <p:sp>
        <p:nvSpPr>
          <p:cNvPr id="31" name="body:L2:t"/>
          <p:cNvSpPr txBox="1"/>
          <p:nvPr/>
        </p:nvSpPr>
        <p:spPr>
          <a:xfrm>
            <a:off x="1510567" y="366826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6826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68268"/>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141216"/>
            <a:ext cx="10856671" cy="0"/>
          </a:xfrm>
          <a:prstGeom prst="line">
            <a:avLst/>
          </a:prstGeom>
          <a:ln w="9525">
            <a:solidFill>
              <a:srgbClr val="E2E8F0"/>
            </a:solidFill>
          </a:ln>
        </p:spPr>
      </p:cxnSp>
      <p:sp>
        <p:nvSpPr>
          <p:cNvPr id="35" name="label:L1:t"/>
          <p:cNvSpPr txBox="1"/>
          <p:nvPr/>
        </p:nvSpPr>
        <p:spPr>
          <a:xfrm>
            <a:off x="758952" y="42052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EA580C"/>
                </a:solidFill>
                <a:latin typeface="Consolas"/>
                <a:ea typeface="맑은 고딕"/>
                <a:cs typeface="Consolas"/>
              </a:rPr>
              <a:t>CASE 5</a:t>
            </a:r>
          </a:p>
        </p:txBody>
      </p:sp>
      <p:sp>
        <p:nvSpPr>
          <p:cNvPr id="36" name="body:L2:t"/>
          <p:cNvSpPr txBox="1"/>
          <p:nvPr/>
        </p:nvSpPr>
        <p:spPr>
          <a:xfrm>
            <a:off x="1510567" y="42052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205224"/>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2052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5007356"/>
            <a:ext cx="3606698" cy="11005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49224" y="5153660"/>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데이터 무손실</a:t>
            </a:r>
          </a:p>
        </p:txBody>
      </p:sp>
      <p:sp>
        <p:nvSpPr>
          <p:cNvPr id="41" name="body:L1:b1"/>
          <p:cNvSpPr txBox="1"/>
          <p:nvPr/>
        </p:nvSpPr>
        <p:spPr>
          <a:xfrm>
            <a:off x="649224" y="5339842"/>
            <a:ext cx="3314090"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13,262</a:t>
            </a:r>
            <a:r>
              <a:rPr lang="ko-KR" sz="1200" b="1" dirty="0">
                <a:solidFill>
                  <a:srgbClr val="059669"/>
                </a:solidFill>
                <a:latin typeface="맑은 고딕"/>
                <a:ea typeface="맑은 고딕"/>
                <a:cs typeface="맑은 고딕"/>
              </a:rPr>
              <a:t>행</a:t>
            </a:r>
          </a:p>
        </p:txBody>
      </p:sp>
      <p:sp>
        <p:nvSpPr>
          <p:cNvPr id="42" name="body:L1:t"/>
          <p:cNvSpPr txBox="1"/>
          <p:nvPr/>
        </p:nvSpPr>
        <p:spPr>
          <a:xfrm>
            <a:off x="649224" y="5766054"/>
            <a:ext cx="3314090"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5007356"/>
            <a:ext cx="3606698" cy="11005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38802" y="5153660"/>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시간 역전</a:t>
            </a:r>
          </a:p>
        </p:txBody>
      </p:sp>
      <p:sp>
        <p:nvSpPr>
          <p:cNvPr id="45" name="body:L1:b2"/>
          <p:cNvSpPr txBox="1"/>
          <p:nvPr/>
        </p:nvSpPr>
        <p:spPr>
          <a:xfrm>
            <a:off x="4438802" y="5339842"/>
            <a:ext cx="3314090"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0</a:t>
            </a:r>
            <a:r>
              <a:rPr lang="ko-KR" sz="1200" b="1" dirty="0">
                <a:solidFill>
                  <a:srgbClr val="059669"/>
                </a:solidFill>
                <a:latin typeface="맑은 고딕"/>
                <a:ea typeface="맑은 고딕"/>
                <a:cs typeface="맑은 고딕"/>
              </a:rPr>
              <a:t>건</a:t>
            </a:r>
          </a:p>
        </p:txBody>
      </p:sp>
      <p:sp>
        <p:nvSpPr>
          <p:cNvPr id="46" name="body:L1:t"/>
          <p:cNvSpPr txBox="1"/>
          <p:nvPr/>
        </p:nvSpPr>
        <p:spPr>
          <a:xfrm>
            <a:off x="4438802" y="5766054"/>
            <a:ext cx="3314090"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5007356"/>
            <a:ext cx="3606698" cy="11005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28380" y="5153660"/>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기준 표본</a:t>
            </a:r>
          </a:p>
        </p:txBody>
      </p:sp>
      <p:sp>
        <p:nvSpPr>
          <p:cNvPr id="49" name="body:L1:b3"/>
          <p:cNvSpPr txBox="1"/>
          <p:nvPr/>
        </p:nvSpPr>
        <p:spPr>
          <a:xfrm>
            <a:off x="8228380" y="5339842"/>
            <a:ext cx="3314090"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284C7"/>
                </a:solidFill>
                <a:latin typeface="Consolas"/>
                <a:ea typeface="맑은 고딕"/>
                <a:cs typeface="Consolas"/>
              </a:rPr>
              <a:t>754</a:t>
            </a:r>
            <a:r>
              <a:rPr lang="ko-KR" sz="1200" b="1" dirty="0">
                <a:solidFill>
                  <a:srgbClr val="0284C7"/>
                </a:solidFill>
                <a:latin typeface="맑은 고딕"/>
                <a:ea typeface="맑은 고딕"/>
                <a:cs typeface="맑은 고딕"/>
              </a:rPr>
              <a:t>건</a:t>
            </a:r>
          </a:p>
        </p:txBody>
      </p:sp>
      <p:sp>
        <p:nvSpPr>
          <p:cNvPr id="50" name="body:L1:t"/>
          <p:cNvSpPr txBox="1"/>
          <p:nvPr/>
        </p:nvSpPr>
        <p:spPr>
          <a:xfrm>
            <a:off x="8228380" y="5766054"/>
            <a:ext cx="3314090"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059669"/>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483870"/>
          </a:xfrm>
          <a:prstGeom prst="rect">
            <a:avLst/>
          </a:prstGeom>
          <a:noFill/>
        </p:spPr>
        <p:txBody>
          <a:bodyPr wrap="square" lIns="0" tIns="0" rIns="0" bIns="0" anchor="t">
            <a:noAutofit/>
          </a:bodyPr>
          <a:lstStyle/>
          <a:p>
            <a:pPr algn="l">
              <a:lnSpc>
                <a:spcPts val="3810"/>
              </a:lnSpc>
              <a:spcBef>
                <a:spcPts val="0"/>
              </a:spcBef>
              <a:buNone/>
            </a:pPr>
            <a:r>
              <a:rPr lang="ko-KR" sz="3400" b="1" dirty="0">
                <a:solidFill>
                  <a:srgbClr val="0284C7"/>
                </a:solidFill>
                <a:latin typeface="Consolas"/>
                <a:ea typeface="맑은 고딕"/>
                <a:cs typeface="Consolas"/>
              </a:rPr>
              <a:t>24</a:t>
            </a:r>
            <a:r>
              <a:rPr lang="ko-KR" sz="1360" b="1" dirty="0">
                <a:solidFill>
                  <a:srgbClr val="0284C7"/>
                </a:solidFill>
                <a:latin typeface="맑은 고딕"/>
                <a:ea typeface="맑은 고딕"/>
                <a:cs typeface="맑은 고딕"/>
              </a:rPr>
              <a:t>개 시간대</a:t>
            </a:r>
          </a:p>
        </p:txBody>
      </p:sp>
      <p:sp>
        <p:nvSpPr>
          <p:cNvPr id="41" name="body:L2:t"/>
          <p:cNvSpPr txBox="1"/>
          <p:nvPr/>
        </p:nvSpPr>
        <p:spPr>
          <a:xfrm>
            <a:off x="6812280" y="2793491"/>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5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483870"/>
          </a:xfrm>
          <a:prstGeom prst="rect">
            <a:avLst/>
          </a:prstGeom>
          <a:noFill/>
        </p:spPr>
        <p:txBody>
          <a:bodyPr wrap="square" lIns="0" tIns="0" rIns="0" bIns="0" anchor="t">
            <a:noAutofit/>
          </a:bodyPr>
          <a:lstStyle/>
          <a:p>
            <a:pPr algn="l">
              <a:lnSpc>
                <a:spcPts val="3810"/>
              </a:lnSpc>
              <a:spcBef>
                <a:spcPts val="0"/>
              </a:spcBef>
              <a:buNone/>
            </a:pPr>
            <a:r>
              <a:rPr lang="ko-KR" sz="3400" b="1" dirty="0">
                <a:solidFill>
                  <a:srgbClr val="EA580C"/>
                </a:solidFill>
                <a:latin typeface="Consolas"/>
                <a:ea typeface="맑은 고딕"/>
                <a:cs typeface="Consolas"/>
              </a:rPr>
              <a:t>46.9 : 53.1</a:t>
            </a:r>
            <a:r>
              <a:rPr lang="ko-KR" sz="1360" b="1" dirty="0">
                <a:solidFill>
                  <a:srgbClr val="EA580C"/>
                </a:solidFill>
                <a:latin typeface="맑은 고딕"/>
                <a:ea typeface="맑은 고딕"/>
                <a:cs typeface="맑은 고딕"/>
              </a:rPr>
              <a:t>%</a:t>
            </a:r>
          </a:p>
        </p:txBody>
      </p:sp>
      <p:sp>
        <p:nvSpPr>
          <p:cNvPr id="46" name="body:L2:t"/>
          <p:cNvSpPr txBox="1"/>
          <p:nvPr/>
        </p:nvSpPr>
        <p:spPr>
          <a:xfrm>
            <a:off x="6812280" y="498373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4753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0284C7"/>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0284C7"/>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단방향 에스컬레이션과 병렬 정산 모델 확립</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07 / 19</a:t>
            </a:r>
          </a:p>
        </p:txBody>
      </p:sp>
      <p:sp>
        <p:nvSpPr>
          <p:cNvPr id="8" name="map-card"/>
          <p:cNvSpPr/>
          <p:nvPr/>
        </p:nvSpPr>
        <p:spPr>
          <a:xfrm>
            <a:off x="502920" y="1527048"/>
            <a:ext cx="11185855" cy="37157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792818" y="1868678"/>
            <a:ext cx="10606057" cy="3246120"/>
          </a:xfrm>
          <a:prstGeom prst="rect">
            <a:avLst/>
          </a:prstGeom>
        </p:spPr>
      </p:pic>
      <p:sp>
        <p:nvSpPr>
          <p:cNvPr id="11" name="c1"/>
          <p:cNvSpPr/>
          <p:nvPr/>
        </p:nvSpPr>
        <p:spPr>
          <a:xfrm>
            <a:off x="502920" y="5379974"/>
            <a:ext cx="3606698" cy="8785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40080" y="5517134"/>
            <a:ext cx="333237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01 · 접수 국면</a:t>
            </a:r>
          </a:p>
        </p:txBody>
      </p:sp>
      <p:sp>
        <p:nvSpPr>
          <p:cNvPr id="13" name="body:L2:t"/>
          <p:cNvSpPr txBox="1"/>
          <p:nvPr/>
        </p:nvSpPr>
        <p:spPr>
          <a:xfrm>
            <a:off x="640080" y="5712460"/>
            <a:ext cx="333237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284C7"/>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0284C7"/>
                </a:solidFill>
                <a:latin typeface="맑은 고딕"/>
                <a:ea typeface="맑은 고딕"/>
                <a:cs typeface="맑은 고딕"/>
              </a:rPr>
              <a:t>927건</a:t>
            </a:r>
          </a:p>
        </p:txBody>
      </p:sp>
      <p:sp>
        <p:nvSpPr>
          <p:cNvPr id="14" name="c2"/>
          <p:cNvSpPr/>
          <p:nvPr/>
        </p:nvSpPr>
        <p:spPr>
          <a:xfrm>
            <a:off x="4292498" y="5379974"/>
            <a:ext cx="3606698" cy="8785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29658" y="5517134"/>
            <a:ext cx="333237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02 · 현장 국면</a:t>
            </a:r>
          </a:p>
        </p:txBody>
      </p:sp>
      <p:sp>
        <p:nvSpPr>
          <p:cNvPr id="16" name="body:L2:t"/>
          <p:cNvSpPr txBox="1"/>
          <p:nvPr/>
        </p:nvSpPr>
        <p:spPr>
          <a:xfrm>
            <a:off x="4429658" y="5712460"/>
            <a:ext cx="333237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EA580C"/>
                </a:solidFill>
                <a:latin typeface="맑은 고딕"/>
                <a:ea typeface="맑은 고딕"/>
                <a:cs typeface="맑은 고딕"/>
              </a:rPr>
              <a:t>역류 0건 </a:t>
            </a:r>
            <a:r>
              <a:rPr lang="ko-KR" sz="1150" b="0" dirty="0">
                <a:solidFill>
                  <a:srgbClr val="334155"/>
                </a:solidFill>
                <a:latin typeface="맑은 고딕"/>
                <a:ea typeface="맑은 고딕"/>
                <a:cs typeface="맑은 고딕"/>
              </a:rPr>
              <a:t>— 즉시 → 사내 → 외주로만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전이, 외주 이후 사내 복귀 없음</a:t>
            </a:r>
          </a:p>
        </p:txBody>
      </p:sp>
      <p:sp>
        <p:nvSpPr>
          <p:cNvPr id="17" name="c3"/>
          <p:cNvSpPr/>
          <p:nvPr/>
        </p:nvSpPr>
        <p:spPr>
          <a:xfrm>
            <a:off x="8082076" y="5379974"/>
            <a:ext cx="3606698" cy="8785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19236" y="5517134"/>
            <a:ext cx="333237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03 · 정산 국면</a:t>
            </a:r>
          </a:p>
        </p:txBody>
      </p:sp>
      <p:sp>
        <p:nvSpPr>
          <p:cNvPr id="19" name="body:L2:t"/>
          <p:cNvSpPr txBox="1"/>
          <p:nvPr/>
        </p:nvSpPr>
        <p:spPr>
          <a:xfrm>
            <a:off x="8219236" y="5712460"/>
            <a:ext cx="333237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059669"/>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059669"/>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059669"/>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08 / 19</a:t>
            </a:r>
          </a:p>
        </p:txBody>
      </p:sp>
      <p:sp>
        <p:nvSpPr>
          <p:cNvPr id="9" name="macro-card"/>
          <p:cNvSpPr/>
          <p:nvPr/>
        </p:nvSpPr>
        <p:spPr>
          <a:xfrm>
            <a:off x="502920" y="1618488"/>
            <a:ext cx="11185855" cy="33042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55049" y="1960118"/>
            <a:ext cx="8281595" cy="2834640"/>
          </a:xfrm>
          <a:prstGeom prst="rect">
            <a:avLst/>
          </a:prstGeom>
        </p:spPr>
      </p:pic>
      <p:sp>
        <p:nvSpPr>
          <p:cNvPr id="12" name="c1"/>
          <p:cNvSpPr/>
          <p:nvPr/>
        </p:nvSpPr>
        <p:spPr>
          <a:xfrm>
            <a:off x="502920" y="5059934"/>
            <a:ext cx="3606698" cy="112852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49224" y="5206238"/>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01 · 접수 국면</a:t>
            </a:r>
          </a:p>
        </p:txBody>
      </p:sp>
      <p:sp>
        <p:nvSpPr>
          <p:cNvPr id="14" name="body:L1:a"/>
          <p:cNvSpPr txBox="1"/>
          <p:nvPr/>
        </p:nvSpPr>
        <p:spPr>
          <a:xfrm>
            <a:off x="649224" y="5392420"/>
            <a:ext cx="3314090"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284C7"/>
                </a:solidFill>
                <a:latin typeface="Consolas"/>
                <a:ea typeface="맑은 고딕"/>
                <a:cs typeface="Consolas"/>
              </a:rPr>
              <a:t>2.1</a:t>
            </a:r>
            <a:r>
              <a:rPr lang="ko-KR" sz="1200" b="1" dirty="0">
                <a:solidFill>
                  <a:srgbClr val="0284C7"/>
                </a:solidFill>
                <a:latin typeface="맑은 고딕"/>
                <a:ea typeface="맑은 고딕"/>
                <a:cs typeface="맑은 고딕"/>
              </a:rPr>
              <a:t>h</a:t>
            </a:r>
          </a:p>
        </p:txBody>
      </p:sp>
      <p:sp>
        <p:nvSpPr>
          <p:cNvPr id="15" name="body:L1:t"/>
          <p:cNvSpPr txBox="1"/>
          <p:nvPr/>
        </p:nvSpPr>
        <p:spPr>
          <a:xfrm>
            <a:off x="649224" y="5846572"/>
            <a:ext cx="3314090"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5059934"/>
            <a:ext cx="3606698" cy="1128522"/>
          </a:xfrm>
          <a:prstGeom prst="rect">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38802" y="5206238"/>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02 · 현장 국면 · 1위 병목</a:t>
            </a:r>
          </a:p>
        </p:txBody>
      </p:sp>
      <p:sp>
        <p:nvSpPr>
          <p:cNvPr id="18" name="body:L1:b"/>
          <p:cNvSpPr txBox="1"/>
          <p:nvPr/>
        </p:nvSpPr>
        <p:spPr>
          <a:xfrm>
            <a:off x="4438802" y="5392420"/>
            <a:ext cx="3314090"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DC2626"/>
                </a:solidFill>
                <a:latin typeface="Consolas"/>
                <a:ea typeface="맑은 고딕"/>
                <a:cs typeface="Consolas"/>
              </a:rPr>
              <a:t>76.8</a:t>
            </a:r>
            <a:r>
              <a:rPr lang="ko-KR" sz="1200" b="1" dirty="0">
                <a:solidFill>
                  <a:srgbClr val="DC2626"/>
                </a:solidFill>
                <a:latin typeface="맑은 고딕"/>
                <a:ea typeface="맑은 고딕"/>
                <a:cs typeface="맑은 고딕"/>
              </a:rPr>
              <a:t>h</a:t>
            </a:r>
          </a:p>
        </p:txBody>
      </p:sp>
      <p:sp>
        <p:nvSpPr>
          <p:cNvPr id="19" name="body:L1:t"/>
          <p:cNvSpPr txBox="1"/>
          <p:nvPr/>
        </p:nvSpPr>
        <p:spPr>
          <a:xfrm>
            <a:off x="4438802" y="5846572"/>
            <a:ext cx="3314090"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5059934"/>
            <a:ext cx="3606698" cy="112852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28380" y="5206238"/>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03 · 수리 착수 대기</a:t>
            </a:r>
          </a:p>
        </p:txBody>
      </p:sp>
      <p:sp>
        <p:nvSpPr>
          <p:cNvPr id="22" name="body:L1:c"/>
          <p:cNvSpPr txBox="1"/>
          <p:nvPr/>
        </p:nvSpPr>
        <p:spPr>
          <a:xfrm>
            <a:off x="8228380" y="5392420"/>
            <a:ext cx="3314090"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EA580C"/>
                </a:solidFill>
                <a:latin typeface="Consolas"/>
                <a:ea typeface="맑은 고딕"/>
                <a:cs typeface="Consolas"/>
              </a:rPr>
              <a:t>30.5</a:t>
            </a:r>
            <a:r>
              <a:rPr lang="ko-KR" sz="1200" b="1" dirty="0">
                <a:solidFill>
                  <a:srgbClr val="EA580C"/>
                </a:solidFill>
                <a:latin typeface="맑은 고딕"/>
                <a:ea typeface="맑은 고딕"/>
                <a:cs typeface="맑은 고딕"/>
              </a:rPr>
              <a:t>h</a:t>
            </a:r>
          </a:p>
        </p:txBody>
      </p:sp>
      <p:sp>
        <p:nvSpPr>
          <p:cNvPr id="23" name="body:L1:t"/>
          <p:cNvSpPr txBox="1"/>
          <p:nvPr/>
        </p:nvSpPr>
        <p:spPr>
          <a:xfrm>
            <a:off x="8228380" y="5846572"/>
            <a:ext cx="3314090"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'15분 이내'는 15.0분 정각 포함(≤15분) · 인계 효과: 단순 평균차 +6.7h, 채널 통제 OLS +5.11h</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09 / 19</a:t>
            </a:r>
          </a:p>
        </p:txBody>
      </p:sp>
      <p:sp>
        <p:nvSpPr>
          <p:cNvPr id="9" name="rec-card"/>
          <p:cNvSpPr/>
          <p:nvPr/>
        </p:nvSpPr>
        <p:spPr>
          <a:xfrm>
            <a:off x="502920" y="1618488"/>
            <a:ext cx="11185855" cy="31671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681789" y="1960118"/>
            <a:ext cx="8828116" cy="2697480"/>
          </a:xfrm>
          <a:prstGeom prst="rect">
            <a:avLst/>
          </a:prstGeom>
        </p:spPr>
      </p:pic>
      <p:sp>
        <p:nvSpPr>
          <p:cNvPr id="12" name="c1"/>
          <p:cNvSpPr/>
          <p:nvPr/>
        </p:nvSpPr>
        <p:spPr>
          <a:xfrm>
            <a:off x="502920" y="4922774"/>
            <a:ext cx="3606698" cy="132410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49224" y="5069078"/>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가설 기각 · 물량 무관</a:t>
            </a:r>
          </a:p>
        </p:txBody>
      </p:sp>
      <p:sp>
        <p:nvSpPr>
          <p:cNvPr id="14" name="body:L1:a"/>
          <p:cNvSpPr txBox="1"/>
          <p:nvPr/>
        </p:nvSpPr>
        <p:spPr>
          <a:xfrm>
            <a:off x="649224" y="5255260"/>
            <a:ext cx="3314090"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F172A"/>
                </a:solidFill>
                <a:latin typeface="Consolas"/>
                <a:ea typeface="맑은 고딕"/>
                <a:cs typeface="Consolas"/>
              </a:rPr>
              <a:t>r = 0.01</a:t>
            </a:r>
          </a:p>
        </p:txBody>
      </p:sp>
      <p:sp>
        <p:nvSpPr>
          <p:cNvPr id="15" name="body:L2:t"/>
          <p:cNvSpPr txBox="1"/>
          <p:nvPr/>
        </p:nvSpPr>
        <p:spPr>
          <a:xfrm>
            <a:off x="649224" y="5709412"/>
            <a:ext cx="3314090"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일별 인입량과 접수 소요시간은 무상관</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(회귀 p = 0.752)</a:t>
            </a:r>
          </a:p>
        </p:txBody>
      </p:sp>
      <p:sp>
        <p:nvSpPr>
          <p:cNvPr id="16" name="c2"/>
          <p:cNvSpPr/>
          <p:nvPr/>
        </p:nvSpPr>
        <p:spPr>
          <a:xfrm>
            <a:off x="4292498" y="4922774"/>
            <a:ext cx="3606698" cy="132410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38802" y="5069078"/>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핵심 원인 · 교차 인계</a:t>
            </a:r>
          </a:p>
        </p:txBody>
      </p:sp>
      <p:sp>
        <p:nvSpPr>
          <p:cNvPr id="18" name="body:L1:b"/>
          <p:cNvSpPr txBox="1"/>
          <p:nvPr/>
        </p:nvSpPr>
        <p:spPr>
          <a:xfrm>
            <a:off x="4438802" y="5255260"/>
            <a:ext cx="3314090"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EA580C"/>
                </a:solidFill>
                <a:latin typeface="Consolas"/>
                <a:ea typeface="맑은 고딕"/>
                <a:cs typeface="Consolas"/>
              </a:rPr>
              <a:t>6.6</a:t>
            </a:r>
            <a:r>
              <a:rPr lang="ko-KR" sz="1200" b="1" dirty="0">
                <a:solidFill>
                  <a:srgbClr val="EA580C"/>
                </a:solidFill>
                <a:latin typeface="맑은 고딕"/>
                <a:ea typeface="맑은 고딕"/>
                <a:cs typeface="맑은 고딕"/>
              </a:rPr>
              <a:t>배</a:t>
            </a:r>
          </a:p>
        </p:txBody>
      </p:sp>
      <p:sp>
        <p:nvSpPr>
          <p:cNvPr id="19" name="body:L2:t"/>
          <p:cNvSpPr txBox="1"/>
          <p:nvPr/>
        </p:nvSpPr>
        <p:spPr>
          <a:xfrm>
            <a:off x="4438802" y="5709412"/>
            <a:ext cx="3314090"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단독 804건 1.20h → 인계 123건 7.87h.</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인계는 전부 웹 69 · 우편 54</a:t>
            </a:r>
          </a:p>
        </p:txBody>
      </p:sp>
      <p:sp>
        <p:nvSpPr>
          <p:cNvPr id="20" name="c3"/>
          <p:cNvSpPr/>
          <p:nvPr/>
        </p:nvSpPr>
        <p:spPr>
          <a:xfrm>
            <a:off x="8082076" y="4922774"/>
            <a:ext cx="3606698" cy="132410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28380" y="5069078"/>
            <a:ext cx="3314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반전 · 웹은 느리지 않다</a:t>
            </a:r>
          </a:p>
        </p:txBody>
      </p:sp>
      <p:sp>
        <p:nvSpPr>
          <p:cNvPr id="22" name="body:L1:c"/>
          <p:cNvSpPr txBox="1"/>
          <p:nvPr/>
        </p:nvSpPr>
        <p:spPr>
          <a:xfrm>
            <a:off x="8228380" y="5255260"/>
            <a:ext cx="3314090"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59669"/>
                </a:solidFill>
                <a:latin typeface="Consolas"/>
                <a:ea typeface="맑은 고딕"/>
                <a:cs typeface="Consolas"/>
              </a:rPr>
              <a:t>6.8</a:t>
            </a:r>
            <a:r>
              <a:rPr lang="ko-KR" sz="1200" b="1" dirty="0">
                <a:solidFill>
                  <a:srgbClr val="059669"/>
                </a:solidFill>
                <a:latin typeface="맑은 고딕"/>
                <a:ea typeface="맑은 고딕"/>
                <a:cs typeface="맑은 고딕"/>
              </a:rPr>
              <a:t>분</a:t>
            </a:r>
          </a:p>
        </p:txBody>
      </p:sp>
      <p:sp>
        <p:nvSpPr>
          <p:cNvPr id="23" name="body:L2:t"/>
          <p:cNvSpPr txBox="1"/>
          <p:nvPr/>
        </p:nvSpPr>
        <p:spPr>
          <a:xfrm>
            <a:off x="8228380" y="5709412"/>
            <a:ext cx="3314090"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빠른 건의 평균: 웹 6.8분 &lt; 전화 8.2분.</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hypothesis 노트북 Cell 7 (피어슨 r, N=927) · 전 칸 재계산 일치 · 소요시간 = 최초 접수 → 실사 통보</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843092" y="1896110"/>
            <a:ext cx="4577454" cy="4142232"/>
          </a:xfrm>
          <a:prstGeom prst="rect">
            <a:avLst/>
          </a:prstGeom>
        </p:spPr>
      </p:pic>
      <p:sp>
        <p:nvSpPr>
          <p:cNvPr id="12" name="s1"/>
          <p:cNvSpPr/>
          <p:nvPr/>
        </p:nvSpPr>
        <p:spPr>
          <a:xfrm>
            <a:off x="5943600" y="1554480"/>
            <a:ext cx="5745175" cy="11430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89904" y="1700784"/>
            <a:ext cx="545256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교차 인계 ↔ 접수 시간</a:t>
            </a:r>
          </a:p>
        </p:txBody>
      </p:sp>
      <p:sp>
        <p:nvSpPr>
          <p:cNvPr id="14" name="body:L1:a"/>
          <p:cNvSpPr txBox="1"/>
          <p:nvPr/>
        </p:nvSpPr>
        <p:spPr>
          <a:xfrm>
            <a:off x="6089904" y="1886966"/>
            <a:ext cx="5452567"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A580C"/>
                </a:solidFill>
                <a:latin typeface="Consolas"/>
                <a:ea typeface="맑은 고딕"/>
                <a:cs typeface="Consolas"/>
              </a:rPr>
              <a:t>r = 0.48</a:t>
            </a:r>
          </a:p>
        </p:txBody>
      </p:sp>
      <p:sp>
        <p:nvSpPr>
          <p:cNvPr id="15" name="body:L1:t"/>
          <p:cNvSpPr txBox="1"/>
          <p:nvPr/>
        </p:nvSpPr>
        <p:spPr>
          <a:xfrm>
            <a:off x="6089904" y="2313178"/>
            <a:ext cx="54525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가장 강한 양의 상관 — 인계 123건</a:t>
            </a:r>
          </a:p>
        </p:txBody>
      </p:sp>
      <p:sp>
        <p:nvSpPr>
          <p:cNvPr id="16" name="s2"/>
          <p:cNvSpPr/>
          <p:nvPr/>
        </p:nvSpPr>
        <p:spPr>
          <a:xfrm>
            <a:off x="5943600" y="2807292"/>
            <a:ext cx="5745175" cy="11430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89904" y="2953596"/>
            <a:ext cx="545256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실시간 채널 ↔ 접수 시간</a:t>
            </a:r>
          </a:p>
        </p:txBody>
      </p:sp>
      <p:sp>
        <p:nvSpPr>
          <p:cNvPr id="18" name="body:L1:b"/>
          <p:cNvSpPr txBox="1"/>
          <p:nvPr/>
        </p:nvSpPr>
        <p:spPr>
          <a:xfrm>
            <a:off x="6089904" y="3139778"/>
            <a:ext cx="5452567"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284C7"/>
                </a:solidFill>
                <a:latin typeface="Consolas"/>
                <a:ea typeface="맑은 고딕"/>
                <a:cs typeface="Consolas"/>
              </a:rPr>
              <a:t>r = −0.43</a:t>
            </a:r>
          </a:p>
        </p:txBody>
      </p:sp>
      <p:sp>
        <p:nvSpPr>
          <p:cNvPr id="19" name="body:L1:t"/>
          <p:cNvSpPr txBox="1"/>
          <p:nvPr/>
        </p:nvSpPr>
        <p:spPr>
          <a:xfrm>
            <a:off x="6089904" y="3565990"/>
            <a:ext cx="54525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웹(r = 0.32)·우편(r = 0.18)은 느리다</a:t>
            </a:r>
          </a:p>
        </p:txBody>
      </p:sp>
      <p:sp>
        <p:nvSpPr>
          <p:cNvPr id="20" name="s3"/>
          <p:cNvSpPr/>
          <p:nvPr/>
        </p:nvSpPr>
        <p:spPr>
          <a:xfrm>
            <a:off x="5943600" y="4060105"/>
            <a:ext cx="5745175" cy="11430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89904" y="4206409"/>
            <a:ext cx="545256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89904" y="4392591"/>
            <a:ext cx="5452567"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r = 0.01</a:t>
            </a:r>
          </a:p>
        </p:txBody>
      </p:sp>
      <p:sp>
        <p:nvSpPr>
          <p:cNvPr id="23" name="body:L1:t"/>
          <p:cNvSpPr txBox="1"/>
          <p:nvPr/>
        </p:nvSpPr>
        <p:spPr>
          <a:xfrm>
            <a:off x="6089904" y="4818803"/>
            <a:ext cx="54525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물량은 접수 시간과 무관 — 현장 실사 대기와는 r = 0.17</a:t>
            </a:r>
          </a:p>
        </p:txBody>
      </p:sp>
      <p:sp>
        <p:nvSpPr>
          <p:cNvPr id="24" name="read-card"/>
          <p:cNvSpPr/>
          <p:nvPr/>
        </p:nvSpPr>
        <p:spPr>
          <a:xfrm>
            <a:off x="5943600" y="5331206"/>
            <a:ext cx="5745175" cy="932434"/>
          </a:xfrm>
          <a:prstGeom prst="rect">
            <a:avLst/>
          </a:prstGeom>
          <a:solidFill>
            <a:srgbClr val="FFFFFF"/>
          </a:solidFill>
          <a:ln w="952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89904" y="5477510"/>
            <a:ext cx="545256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READING</a:t>
            </a:r>
          </a:p>
        </p:txBody>
      </p:sp>
      <p:sp>
        <p:nvSpPr>
          <p:cNvPr id="26" name="body:L2:rd"/>
          <p:cNvSpPr txBox="1"/>
          <p:nvPr/>
        </p:nvSpPr>
        <p:spPr>
          <a:xfrm>
            <a:off x="6089904" y="5672836"/>
            <a:ext cx="54525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0284C7"/>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41080" y="1691640"/>
            <a:ext cx="29105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교차 인계 · 95% CI</a:t>
            </a:r>
          </a:p>
        </p:txBody>
      </p:sp>
      <p:sp>
        <p:nvSpPr>
          <p:cNvPr id="14" name="body:L1:a"/>
          <p:cNvSpPr txBox="1"/>
          <p:nvPr/>
        </p:nvSpPr>
        <p:spPr>
          <a:xfrm>
            <a:off x="8641080" y="1868678"/>
            <a:ext cx="2910535" cy="369570"/>
          </a:xfrm>
          <a:prstGeom prst="rect">
            <a:avLst/>
          </a:prstGeom>
          <a:noFill/>
        </p:spPr>
        <p:txBody>
          <a:bodyPr wrap="square" lIns="0" tIns="0" rIns="0" bIns="0" anchor="t">
            <a:noAutofit/>
          </a:bodyPr>
          <a:lstStyle/>
          <a:p>
            <a:pPr algn="l">
              <a:lnSpc>
                <a:spcPts val="2910"/>
              </a:lnSpc>
              <a:spcBef>
                <a:spcPts val="0"/>
              </a:spcBef>
              <a:buNone/>
            </a:pPr>
            <a:r>
              <a:rPr lang="ko-KR" sz="2600" b="1" dirty="0">
                <a:solidFill>
                  <a:srgbClr val="EA580C"/>
                </a:solidFill>
                <a:latin typeface="Consolas"/>
                <a:ea typeface="맑은 고딕"/>
                <a:cs typeface="Consolas"/>
              </a:rPr>
              <a:t>+5.11</a:t>
            </a:r>
            <a:r>
              <a:rPr lang="ko-KR" sz="1200" b="1" dirty="0">
                <a:solidFill>
                  <a:srgbClr val="EA580C"/>
                </a:solidFill>
                <a:latin typeface="맑은 고딕"/>
                <a:ea typeface="맑은 고딕"/>
                <a:cs typeface="맑은 고딕"/>
              </a:rPr>
              <a:t>h</a:t>
            </a:r>
          </a:p>
        </p:txBody>
      </p:sp>
      <p:sp>
        <p:nvSpPr>
          <p:cNvPr id="15" name="body:L1:t"/>
          <p:cNvSpPr txBox="1"/>
          <p:nvPr/>
        </p:nvSpPr>
        <p:spPr>
          <a:xfrm>
            <a:off x="8641080" y="2256536"/>
            <a:ext cx="291053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41080" y="3006898"/>
            <a:ext cx="29105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비실시간 채널 · 웹·우편</a:t>
            </a:r>
          </a:p>
        </p:txBody>
      </p:sp>
      <p:sp>
        <p:nvSpPr>
          <p:cNvPr id="18" name="body:L1:b"/>
          <p:cNvSpPr txBox="1"/>
          <p:nvPr/>
        </p:nvSpPr>
        <p:spPr>
          <a:xfrm>
            <a:off x="8641080" y="3183936"/>
            <a:ext cx="2910535" cy="369570"/>
          </a:xfrm>
          <a:prstGeom prst="rect">
            <a:avLst/>
          </a:prstGeom>
          <a:noFill/>
        </p:spPr>
        <p:txBody>
          <a:bodyPr wrap="square" lIns="0" tIns="0" rIns="0" bIns="0" anchor="t">
            <a:noAutofit/>
          </a:bodyPr>
          <a:lstStyle/>
          <a:p>
            <a:pPr algn="l">
              <a:lnSpc>
                <a:spcPts val="2910"/>
              </a:lnSpc>
              <a:spcBef>
                <a:spcPts val="0"/>
              </a:spcBef>
              <a:buNone/>
            </a:pPr>
            <a:r>
              <a:rPr lang="ko-KR" sz="2600" b="1" dirty="0">
                <a:solidFill>
                  <a:srgbClr val="0284C7"/>
                </a:solidFill>
                <a:latin typeface="Consolas"/>
                <a:ea typeface="맑은 고딕"/>
                <a:cs typeface="Consolas"/>
              </a:rPr>
              <a:t>+2.62</a:t>
            </a:r>
            <a:r>
              <a:rPr lang="ko-KR" sz="1200" b="1" dirty="0">
                <a:solidFill>
                  <a:srgbClr val="0284C7"/>
                </a:solidFill>
                <a:latin typeface="맑은 고딕"/>
                <a:ea typeface="맑은 고딕"/>
                <a:cs typeface="맑은 고딕"/>
              </a:rPr>
              <a:t>h</a:t>
            </a:r>
          </a:p>
        </p:txBody>
      </p:sp>
      <p:sp>
        <p:nvSpPr>
          <p:cNvPr id="19" name="body:L1:t"/>
          <p:cNvSpPr txBox="1"/>
          <p:nvPr/>
        </p:nvSpPr>
        <p:spPr>
          <a:xfrm>
            <a:off x="8641080" y="3571794"/>
            <a:ext cx="291053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41080" y="4322157"/>
            <a:ext cx="29105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41080" y="4499195"/>
            <a:ext cx="2910535" cy="369570"/>
          </a:xfrm>
          <a:prstGeom prst="rect">
            <a:avLst/>
          </a:prstGeom>
          <a:noFill/>
        </p:spPr>
        <p:txBody>
          <a:bodyPr wrap="square" lIns="0" tIns="0" rIns="0" bIns="0" anchor="t">
            <a:noAutofit/>
          </a:bodyPr>
          <a:lstStyle/>
          <a:p>
            <a:pPr algn="l">
              <a:lnSpc>
                <a:spcPts val="2910"/>
              </a:lnSpc>
              <a:spcBef>
                <a:spcPts val="0"/>
              </a:spcBef>
              <a:buNone/>
            </a:pPr>
            <a:r>
              <a:rPr lang="ko-KR" sz="26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41080" y="4887053"/>
            <a:ext cx="291053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148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49224" y="5673991"/>
            <a:ext cx="1089324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0284C7"/>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0284C7"/>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4786" y="1896110"/>
            <a:ext cx="4353987" cy="4142232"/>
          </a:xfrm>
          <a:prstGeom prst="rect">
            <a:avLst/>
          </a:prstGeom>
        </p:spPr>
      </p:pic>
      <p:sp>
        <p:nvSpPr>
          <p:cNvPr id="12" name="strip-① "/>
          <p:cNvSpPr/>
          <p:nvPr/>
        </p:nvSpPr>
        <p:spPr>
          <a:xfrm>
            <a:off x="5303520" y="1554480"/>
            <a:ext cx="3128619" cy="159791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49824" y="1700784"/>
            <a:ext cx="283601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① WAIT 1</a:t>
            </a:r>
          </a:p>
        </p:txBody>
      </p:sp>
      <p:sp>
        <p:nvSpPr>
          <p:cNvPr id="14" name="body:L1:nm"/>
          <p:cNvSpPr txBox="1"/>
          <p:nvPr/>
        </p:nvSpPr>
        <p:spPr>
          <a:xfrm>
            <a:off x="5449824" y="1905254"/>
            <a:ext cx="2836011"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49824" y="2182114"/>
            <a:ext cx="2836011" cy="454659"/>
          </a:xfrm>
          <a:prstGeom prst="rect">
            <a:avLst/>
          </a:prstGeom>
          <a:noFill/>
        </p:spPr>
        <p:txBody>
          <a:bodyPr wrap="square" lIns="0" tIns="0" rIns="0" bIns="0" anchor="t">
            <a:noAutofit/>
          </a:bodyPr>
          <a:lstStyle/>
          <a:p>
            <a:pPr algn="l">
              <a:lnSpc>
                <a:spcPts val="3580"/>
              </a:lnSpc>
              <a:spcBef>
                <a:spcPts val="0"/>
              </a:spcBef>
              <a:buNone/>
            </a:pPr>
            <a:r>
              <a:rPr lang="ko-KR" sz="3200" b="1" dirty="0">
                <a:solidFill>
                  <a:srgbClr val="DC2626"/>
                </a:solidFill>
                <a:latin typeface="Consolas"/>
                <a:ea typeface="맑은 고딕"/>
                <a:cs typeface="Consolas"/>
              </a:rPr>
              <a:t>76.8</a:t>
            </a:r>
            <a:r>
              <a:rPr lang="ko-KR" sz="1280" b="1" dirty="0">
                <a:solidFill>
                  <a:srgbClr val="DC2626"/>
                </a:solidFill>
                <a:latin typeface="맑은 고딕"/>
                <a:ea typeface="맑은 고딕"/>
                <a:cs typeface="맑은 고딕"/>
              </a:rPr>
              <a:t>h</a:t>
            </a:r>
          </a:p>
        </p:txBody>
      </p:sp>
      <p:sp>
        <p:nvSpPr>
          <p:cNvPr id="16" name="body:L1:nt"/>
          <p:cNvSpPr txBox="1"/>
          <p:nvPr/>
        </p:nvSpPr>
        <p:spPr>
          <a:xfrm>
            <a:off x="5449824" y="2682494"/>
            <a:ext cx="2836011"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49824" y="2923794"/>
            <a:ext cx="2836011"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49824" y="2923794"/>
            <a:ext cx="2217761"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59791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06459" y="1700784"/>
            <a:ext cx="283601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② WAIT 2</a:t>
            </a:r>
          </a:p>
        </p:txBody>
      </p:sp>
      <p:sp>
        <p:nvSpPr>
          <p:cNvPr id="21" name="body:L1:nm"/>
          <p:cNvSpPr txBox="1"/>
          <p:nvPr/>
        </p:nvSpPr>
        <p:spPr>
          <a:xfrm>
            <a:off x="8706459" y="1905254"/>
            <a:ext cx="2836011"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06459" y="2182114"/>
            <a:ext cx="2836011" cy="454659"/>
          </a:xfrm>
          <a:prstGeom prst="rect">
            <a:avLst/>
          </a:prstGeom>
          <a:noFill/>
        </p:spPr>
        <p:txBody>
          <a:bodyPr wrap="square" lIns="0" tIns="0" rIns="0" bIns="0" anchor="t">
            <a:noAutofit/>
          </a:bodyPr>
          <a:lstStyle/>
          <a:p>
            <a:pPr algn="l">
              <a:lnSpc>
                <a:spcPts val="3580"/>
              </a:lnSpc>
              <a:spcBef>
                <a:spcPts val="0"/>
              </a:spcBef>
              <a:buNone/>
            </a:pPr>
            <a:r>
              <a:rPr lang="ko-KR" sz="3200" b="1" dirty="0">
                <a:solidFill>
                  <a:srgbClr val="EA580C"/>
                </a:solidFill>
                <a:latin typeface="Consolas"/>
                <a:ea typeface="맑은 고딕"/>
                <a:cs typeface="Consolas"/>
              </a:rPr>
              <a:t>16.9</a:t>
            </a:r>
            <a:r>
              <a:rPr lang="ko-KR" sz="1280" b="1" dirty="0">
                <a:solidFill>
                  <a:srgbClr val="EA580C"/>
                </a:solidFill>
                <a:latin typeface="맑은 고딕"/>
                <a:ea typeface="맑은 고딕"/>
                <a:cs typeface="맑은 고딕"/>
              </a:rPr>
              <a:t>h</a:t>
            </a:r>
          </a:p>
        </p:txBody>
      </p:sp>
      <p:sp>
        <p:nvSpPr>
          <p:cNvPr id="23" name="body:L1:nt"/>
          <p:cNvSpPr txBox="1"/>
          <p:nvPr/>
        </p:nvSpPr>
        <p:spPr>
          <a:xfrm>
            <a:off x="8706459" y="2682494"/>
            <a:ext cx="2836011"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06459" y="2923794"/>
            <a:ext cx="2836011"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06459" y="2923794"/>
            <a:ext cx="487793" cy="82296"/>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80410"/>
            <a:ext cx="3128619" cy="159791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49824" y="3426714"/>
            <a:ext cx="283601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③ WORK</a:t>
            </a:r>
          </a:p>
        </p:txBody>
      </p:sp>
      <p:sp>
        <p:nvSpPr>
          <p:cNvPr id="28" name="body:L1:nm"/>
          <p:cNvSpPr txBox="1"/>
          <p:nvPr/>
        </p:nvSpPr>
        <p:spPr>
          <a:xfrm>
            <a:off x="5449824" y="3631184"/>
            <a:ext cx="2836011"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49824" y="3908044"/>
            <a:ext cx="2836011" cy="454659"/>
          </a:xfrm>
          <a:prstGeom prst="rect">
            <a:avLst/>
          </a:prstGeom>
          <a:noFill/>
        </p:spPr>
        <p:txBody>
          <a:bodyPr wrap="square" lIns="0" tIns="0" rIns="0" bIns="0" anchor="t">
            <a:noAutofit/>
          </a:bodyPr>
          <a:lstStyle/>
          <a:p>
            <a:pPr algn="l">
              <a:lnSpc>
                <a:spcPts val="3580"/>
              </a:lnSpc>
              <a:spcBef>
                <a:spcPts val="0"/>
              </a:spcBef>
              <a:buNone/>
            </a:pPr>
            <a:r>
              <a:rPr lang="ko-KR" sz="3200" b="1" dirty="0">
                <a:solidFill>
                  <a:srgbClr val="0284C7"/>
                </a:solidFill>
                <a:latin typeface="Consolas"/>
                <a:ea typeface="맑은 고딕"/>
                <a:cs typeface="Consolas"/>
              </a:rPr>
              <a:t>3.9</a:t>
            </a:r>
            <a:r>
              <a:rPr lang="ko-KR" sz="1280" b="1" dirty="0">
                <a:solidFill>
                  <a:srgbClr val="0284C7"/>
                </a:solidFill>
                <a:latin typeface="맑은 고딕"/>
                <a:ea typeface="맑은 고딕"/>
                <a:cs typeface="맑은 고딕"/>
              </a:rPr>
              <a:t>h</a:t>
            </a:r>
          </a:p>
        </p:txBody>
      </p:sp>
      <p:sp>
        <p:nvSpPr>
          <p:cNvPr id="30" name="body:L1:nt"/>
          <p:cNvSpPr txBox="1"/>
          <p:nvPr/>
        </p:nvSpPr>
        <p:spPr>
          <a:xfrm>
            <a:off x="5449824" y="4408424"/>
            <a:ext cx="2836011"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49824" y="4649724"/>
            <a:ext cx="2836011"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49824" y="4649724"/>
            <a:ext cx="113440" cy="8229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80410"/>
            <a:ext cx="3128619" cy="159791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06459" y="3426714"/>
            <a:ext cx="283601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EA5E9"/>
                </a:solidFill>
                <a:latin typeface="Consolas"/>
                <a:ea typeface="맑은 고딕"/>
                <a:cs typeface="Consolas"/>
              </a:rPr>
              <a:t>④ WORK</a:t>
            </a:r>
          </a:p>
        </p:txBody>
      </p:sp>
      <p:sp>
        <p:nvSpPr>
          <p:cNvPr id="35" name="body:L1:nm"/>
          <p:cNvSpPr txBox="1"/>
          <p:nvPr/>
        </p:nvSpPr>
        <p:spPr>
          <a:xfrm>
            <a:off x="8706459" y="3631184"/>
            <a:ext cx="2836011"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06459" y="3908044"/>
            <a:ext cx="2836011" cy="454659"/>
          </a:xfrm>
          <a:prstGeom prst="rect">
            <a:avLst/>
          </a:prstGeom>
          <a:noFill/>
        </p:spPr>
        <p:txBody>
          <a:bodyPr wrap="square" lIns="0" tIns="0" rIns="0" bIns="0" anchor="t">
            <a:noAutofit/>
          </a:bodyPr>
          <a:lstStyle/>
          <a:p>
            <a:pPr algn="l">
              <a:lnSpc>
                <a:spcPts val="3580"/>
              </a:lnSpc>
              <a:spcBef>
                <a:spcPts val="0"/>
              </a:spcBef>
              <a:buNone/>
            </a:pPr>
            <a:r>
              <a:rPr lang="ko-KR" sz="3200" b="1" dirty="0">
                <a:solidFill>
                  <a:srgbClr val="0EA5E9"/>
                </a:solidFill>
                <a:latin typeface="Consolas"/>
                <a:ea typeface="맑은 고딕"/>
                <a:cs typeface="Consolas"/>
              </a:rPr>
              <a:t>0.7</a:t>
            </a:r>
            <a:r>
              <a:rPr lang="ko-KR" sz="1280" b="1" dirty="0">
                <a:solidFill>
                  <a:srgbClr val="0EA5E9"/>
                </a:solidFill>
                <a:latin typeface="맑은 고딕"/>
                <a:ea typeface="맑은 고딕"/>
                <a:cs typeface="맑은 고딕"/>
              </a:rPr>
              <a:t>h</a:t>
            </a:r>
          </a:p>
        </p:txBody>
      </p:sp>
      <p:sp>
        <p:nvSpPr>
          <p:cNvPr id="37" name="body:L1:nt"/>
          <p:cNvSpPr txBox="1"/>
          <p:nvPr/>
        </p:nvSpPr>
        <p:spPr>
          <a:xfrm>
            <a:off x="8706459" y="4408424"/>
            <a:ext cx="2836011"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06459" y="4649724"/>
            <a:ext cx="2836011"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06459" y="4649724"/>
            <a:ext cx="19852" cy="82296"/>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06340"/>
            <a:ext cx="6385255" cy="1257300"/>
          </a:xfrm>
          <a:prstGeom prst="rect">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170932"/>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TAKEAWAY</a:t>
            </a:r>
          </a:p>
        </p:txBody>
      </p:sp>
      <p:sp>
        <p:nvSpPr>
          <p:cNvPr id="42" name="body:L2:take"/>
          <p:cNvSpPr txBox="1"/>
          <p:nvPr/>
        </p:nvSpPr>
        <p:spPr>
          <a:xfrm>
            <a:off x="5468112" y="5375402"/>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DC2626"/>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13 / 19</a:t>
            </a:r>
          </a:p>
        </p:txBody>
      </p:sp>
      <p:sp>
        <p:nvSpPr>
          <p:cNvPr id="9" name="wip-card"/>
          <p:cNvSpPr/>
          <p:nvPr/>
        </p:nvSpPr>
        <p:spPr>
          <a:xfrm>
            <a:off x="502920" y="1554480"/>
            <a:ext cx="7818120" cy="40358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717496" y="1896110"/>
            <a:ext cx="7388967" cy="3566160"/>
          </a:xfrm>
          <a:prstGeom prst="rect">
            <a:avLst/>
          </a:prstGeom>
        </p:spPr>
      </p:pic>
      <p:sp>
        <p:nvSpPr>
          <p:cNvPr id="12" name="m1"/>
          <p:cNvSpPr/>
          <p:nvPr/>
        </p:nvSpPr>
        <p:spPr>
          <a:xfrm>
            <a:off x="8503920" y="1554480"/>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0224" y="1700784"/>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일일 유입</a:t>
            </a:r>
          </a:p>
        </p:txBody>
      </p:sp>
      <p:sp>
        <p:nvSpPr>
          <p:cNvPr id="14" name="body:L1:a"/>
          <p:cNvSpPr txBox="1"/>
          <p:nvPr/>
        </p:nvSpPr>
        <p:spPr>
          <a:xfrm>
            <a:off x="8650224" y="1886966"/>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284C7"/>
                </a:solidFill>
                <a:latin typeface="Consolas"/>
                <a:ea typeface="맑은 고딕"/>
                <a:cs typeface="Consolas"/>
              </a:rPr>
              <a:t>134.3</a:t>
            </a:r>
            <a:r>
              <a:rPr lang="ko-KR" sz="1200" b="1" dirty="0">
                <a:solidFill>
                  <a:srgbClr val="0284C7"/>
                </a:solidFill>
                <a:latin typeface="맑은 고딕"/>
                <a:ea typeface="맑은 고딕"/>
                <a:cs typeface="맑은 고딕"/>
              </a:rPr>
              <a:t>건/일</a:t>
            </a:r>
          </a:p>
        </p:txBody>
      </p:sp>
      <p:sp>
        <p:nvSpPr>
          <p:cNvPr id="15" name="body:L1:t"/>
          <p:cNvSpPr txBox="1"/>
          <p:nvPr/>
        </p:nvSpPr>
        <p:spPr>
          <a:xfrm>
            <a:off x="8650224" y="2341118"/>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936324"/>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0224" y="3082628"/>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50224" y="3268810"/>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50224" y="3722962"/>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318169"/>
            <a:ext cx="3184855" cy="1272116"/>
          </a:xfrm>
          <a:prstGeom prst="rect">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0224" y="4464473"/>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적체 피크 (DAY 7)</a:t>
            </a:r>
          </a:p>
        </p:txBody>
      </p:sp>
      <p:sp>
        <p:nvSpPr>
          <p:cNvPr id="22" name="body:L1:c"/>
          <p:cNvSpPr txBox="1"/>
          <p:nvPr/>
        </p:nvSpPr>
        <p:spPr>
          <a:xfrm>
            <a:off x="8650224" y="4650655"/>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DC2626"/>
                </a:solidFill>
                <a:latin typeface="Consolas"/>
                <a:ea typeface="맑은 고딕"/>
                <a:cs typeface="Consolas"/>
              </a:rPr>
              <a:t>403</a:t>
            </a:r>
            <a:r>
              <a:rPr lang="ko-KR" sz="1200" b="1" dirty="0">
                <a:solidFill>
                  <a:srgbClr val="DC2626"/>
                </a:solidFill>
                <a:latin typeface="맑은 고딕"/>
                <a:ea typeface="맑은 고딕"/>
                <a:cs typeface="맑은 고딕"/>
              </a:rPr>
              <a:t>건</a:t>
            </a:r>
          </a:p>
        </p:txBody>
      </p:sp>
      <p:sp>
        <p:nvSpPr>
          <p:cNvPr id="23" name="body:L1:t"/>
          <p:cNvSpPr txBox="1"/>
          <p:nvPr/>
        </p:nvSpPr>
        <p:spPr>
          <a:xfrm>
            <a:off x="8650224" y="5104807"/>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727446"/>
            <a:ext cx="11185855" cy="52374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49224" y="5873750"/>
            <a:ext cx="10893247"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DC2626"/>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[ 14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14 / 19</a:t>
            </a:r>
          </a:p>
        </p:txBody>
      </p:sp>
      <p:sp>
        <p:nvSpPr>
          <p:cNvPr id="9" name="ols-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775529" y="1896110"/>
            <a:ext cx="7272901"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0224" y="1700784"/>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실사 방문 대기 · 1시간당</a:t>
            </a:r>
          </a:p>
        </p:txBody>
      </p:sp>
      <p:sp>
        <p:nvSpPr>
          <p:cNvPr id="14" name="body:L1:a"/>
          <p:cNvSpPr txBox="1"/>
          <p:nvPr/>
        </p:nvSpPr>
        <p:spPr>
          <a:xfrm>
            <a:off x="8650224" y="1886966"/>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0284C7"/>
                </a:solidFill>
                <a:latin typeface="Consolas"/>
                <a:ea typeface="맑은 고딕"/>
                <a:cs typeface="Consolas"/>
              </a:rPr>
              <a:t>+1.12</a:t>
            </a:r>
            <a:r>
              <a:rPr lang="ko-KR" sz="1200" b="1" dirty="0">
                <a:solidFill>
                  <a:srgbClr val="0284C7"/>
                </a:solidFill>
                <a:latin typeface="맑은 고딕"/>
                <a:ea typeface="맑은 고딕"/>
                <a:cs typeface="맑은 고딕"/>
              </a:rPr>
              <a:t>h/h</a:t>
            </a:r>
          </a:p>
        </p:txBody>
      </p:sp>
      <p:sp>
        <p:nvSpPr>
          <p:cNvPr id="15" name="body:L1:t"/>
          <p:cNvSpPr txBox="1"/>
          <p:nvPr/>
        </p:nvSpPr>
        <p:spPr>
          <a:xfrm>
            <a:off x="8650224" y="2341118"/>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0224" y="3021668"/>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사내수리 배정 · vs 즉시·외주</a:t>
            </a:r>
          </a:p>
        </p:txBody>
      </p:sp>
      <p:sp>
        <p:nvSpPr>
          <p:cNvPr id="18" name="body:L1:b"/>
          <p:cNvSpPr txBox="1"/>
          <p:nvPr/>
        </p:nvSpPr>
        <p:spPr>
          <a:xfrm>
            <a:off x="8650224" y="3207850"/>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DC2626"/>
                </a:solidFill>
                <a:latin typeface="Consolas"/>
                <a:ea typeface="맑은 고딕"/>
                <a:cs typeface="Consolas"/>
              </a:rPr>
              <a:t>+31.75</a:t>
            </a:r>
            <a:r>
              <a:rPr lang="ko-KR" sz="1200" b="1" dirty="0">
                <a:solidFill>
                  <a:srgbClr val="DC2626"/>
                </a:solidFill>
                <a:latin typeface="맑은 고딕"/>
                <a:ea typeface="맑은 고딕"/>
                <a:cs typeface="맑은 고딕"/>
              </a:rPr>
              <a:t>h</a:t>
            </a:r>
          </a:p>
        </p:txBody>
      </p:sp>
      <p:sp>
        <p:nvSpPr>
          <p:cNvPr id="19" name="body:L1:t"/>
          <p:cNvSpPr txBox="1"/>
          <p:nvPr/>
        </p:nvSpPr>
        <p:spPr>
          <a:xfrm>
            <a:off x="8650224" y="3662002"/>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0224" y="4342553"/>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비실시간 채널 · 웹·우편</a:t>
            </a:r>
          </a:p>
        </p:txBody>
      </p:sp>
      <p:sp>
        <p:nvSpPr>
          <p:cNvPr id="22" name="body:L1:c"/>
          <p:cNvSpPr txBox="1"/>
          <p:nvPr/>
        </p:nvSpPr>
        <p:spPr>
          <a:xfrm>
            <a:off x="8650224" y="4528735"/>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EA580C"/>
                </a:solidFill>
                <a:latin typeface="Consolas"/>
                <a:ea typeface="맑은 고딕"/>
                <a:cs typeface="Consolas"/>
              </a:rPr>
              <a:t>+4.89</a:t>
            </a:r>
            <a:r>
              <a:rPr lang="ko-KR" sz="1200" b="1" dirty="0">
                <a:solidFill>
                  <a:srgbClr val="EA580C"/>
                </a:solidFill>
                <a:latin typeface="맑은 고딕"/>
                <a:ea typeface="맑은 고딕"/>
                <a:cs typeface="맑은 고딕"/>
              </a:rPr>
              <a:t>h</a:t>
            </a:r>
          </a:p>
        </p:txBody>
      </p:sp>
      <p:sp>
        <p:nvSpPr>
          <p:cNvPr id="23" name="body:L1:t"/>
          <p:cNvSpPr txBox="1"/>
          <p:nvPr/>
        </p:nvSpPr>
        <p:spPr>
          <a:xfrm>
            <a:off x="8650224" y="4982887"/>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544566"/>
            <a:ext cx="11185855" cy="7371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49224" y="5690870"/>
            <a:ext cx="1089324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0284C7"/>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[ 15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15 / 19</a:t>
            </a:r>
          </a:p>
        </p:txBody>
      </p:sp>
      <p:sp>
        <p:nvSpPr>
          <p:cNvPr id="9" name="rw-card"/>
          <p:cNvSpPr/>
          <p:nvPr/>
        </p:nvSpPr>
        <p:spPr>
          <a:xfrm>
            <a:off x="502920" y="1554480"/>
            <a:ext cx="7818120" cy="40358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682067" y="1896110"/>
            <a:ext cx="7459824" cy="3566160"/>
          </a:xfrm>
          <a:prstGeom prst="rect">
            <a:avLst/>
          </a:prstGeom>
        </p:spPr>
      </p:pic>
      <p:sp>
        <p:nvSpPr>
          <p:cNvPr id="12" name="k1"/>
          <p:cNvSpPr/>
          <p:nvPr/>
        </p:nvSpPr>
        <p:spPr>
          <a:xfrm>
            <a:off x="8503920" y="1554480"/>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0224" y="1700784"/>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사내수리 자재 대기</a:t>
            </a:r>
          </a:p>
        </p:txBody>
      </p:sp>
      <p:sp>
        <p:nvSpPr>
          <p:cNvPr id="14" name="body:L1:a"/>
          <p:cNvSpPr txBox="1"/>
          <p:nvPr/>
        </p:nvSpPr>
        <p:spPr>
          <a:xfrm>
            <a:off x="8650224" y="1886966"/>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EA580C"/>
                </a:solidFill>
                <a:latin typeface="Consolas"/>
                <a:ea typeface="맑은 고딕"/>
                <a:cs typeface="Consolas"/>
              </a:rPr>
              <a:t>30.5</a:t>
            </a:r>
            <a:r>
              <a:rPr lang="ko-KR" sz="1200" b="1" dirty="0">
                <a:solidFill>
                  <a:srgbClr val="EA580C"/>
                </a:solidFill>
                <a:latin typeface="맑은 고딕"/>
                <a:ea typeface="맑은 고딕"/>
                <a:cs typeface="맑은 고딕"/>
              </a:rPr>
              <a:t>h</a:t>
            </a:r>
          </a:p>
        </p:txBody>
      </p:sp>
      <p:sp>
        <p:nvSpPr>
          <p:cNvPr id="15" name="body:L1:t"/>
          <p:cNvSpPr txBox="1"/>
          <p:nvPr/>
        </p:nvSpPr>
        <p:spPr>
          <a:xfrm>
            <a:off x="8650224" y="2341118"/>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936324"/>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0224" y="3082628"/>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사내 하자 재방문</a:t>
            </a:r>
          </a:p>
        </p:txBody>
      </p:sp>
      <p:sp>
        <p:nvSpPr>
          <p:cNvPr id="18" name="body:L1:b"/>
          <p:cNvSpPr txBox="1"/>
          <p:nvPr/>
        </p:nvSpPr>
        <p:spPr>
          <a:xfrm>
            <a:off x="8650224" y="3268810"/>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DC2626"/>
                </a:solidFill>
                <a:latin typeface="Consolas"/>
                <a:ea typeface="맑은 고딕"/>
                <a:cs typeface="Consolas"/>
              </a:rPr>
              <a:t>26</a:t>
            </a:r>
            <a:r>
              <a:rPr lang="ko-KR" sz="1200" b="1" dirty="0">
                <a:solidFill>
                  <a:srgbClr val="DC2626"/>
                </a:solidFill>
                <a:latin typeface="맑은 고딕"/>
                <a:ea typeface="맑은 고딕"/>
                <a:cs typeface="맑은 고딕"/>
              </a:rPr>
              <a:t>건</a:t>
            </a:r>
          </a:p>
        </p:txBody>
      </p:sp>
      <p:sp>
        <p:nvSpPr>
          <p:cNvPr id="19" name="body:L1:t"/>
          <p:cNvSpPr txBox="1"/>
          <p:nvPr/>
        </p:nvSpPr>
        <p:spPr>
          <a:xfrm>
            <a:off x="8650224" y="3722962"/>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318169"/>
            <a:ext cx="3184855" cy="127211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0224" y="4464473"/>
            <a:ext cx="289224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E-1 · E-2 코드 집중</a:t>
            </a:r>
          </a:p>
        </p:txBody>
      </p:sp>
      <p:sp>
        <p:nvSpPr>
          <p:cNvPr id="22" name="body:L1:c"/>
          <p:cNvSpPr txBox="1"/>
          <p:nvPr/>
        </p:nvSpPr>
        <p:spPr>
          <a:xfrm>
            <a:off x="8650224" y="4650655"/>
            <a:ext cx="2892247" cy="426720"/>
          </a:xfrm>
          <a:prstGeom prst="rect">
            <a:avLst/>
          </a:prstGeom>
          <a:noFill/>
        </p:spPr>
        <p:txBody>
          <a:bodyPr wrap="square" lIns="0" tIns="0" rIns="0" bIns="0" anchor="t">
            <a:noAutofit/>
          </a:bodyPr>
          <a:lstStyle/>
          <a:p>
            <a:pPr algn="l">
              <a:lnSpc>
                <a:spcPts val="3360"/>
              </a:lnSpc>
              <a:spcBef>
                <a:spcPts val="0"/>
              </a:spcBef>
              <a:buNone/>
            </a:pPr>
            <a:r>
              <a:rPr lang="ko-KR" sz="3000" b="1" dirty="0">
                <a:solidFill>
                  <a:srgbClr val="DC2626"/>
                </a:solidFill>
                <a:latin typeface="Consolas"/>
                <a:ea typeface="맑은 고딕"/>
                <a:cs typeface="Consolas"/>
              </a:rPr>
              <a:t>22</a:t>
            </a:r>
            <a:r>
              <a:rPr lang="ko-KR" sz="1200" b="1" dirty="0">
                <a:solidFill>
                  <a:srgbClr val="DC2626"/>
                </a:solidFill>
                <a:latin typeface="맑은 고딕"/>
                <a:ea typeface="맑은 고딕"/>
                <a:cs typeface="맑은 고딕"/>
              </a:rPr>
              <a:t>건 · 84.6%</a:t>
            </a:r>
          </a:p>
        </p:txBody>
      </p:sp>
      <p:sp>
        <p:nvSpPr>
          <p:cNvPr id="23" name="body:L1:t"/>
          <p:cNvSpPr txBox="1"/>
          <p:nvPr/>
        </p:nvSpPr>
        <p:spPr>
          <a:xfrm>
            <a:off x="8650224" y="5104807"/>
            <a:ext cx="289224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727446"/>
            <a:ext cx="11185855" cy="5148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49224" y="5873750"/>
            <a:ext cx="1089324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DC2626"/>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DC2626"/>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전수 방문 실사가 유지된 이유</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L1888~1928 · 낙관 상한 87.3%(E+P 809건) · 보수 83.2%(외주 P-4 38건 제외)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16 / 19</a:t>
            </a:r>
          </a:p>
        </p:txBody>
      </p:sp>
      <p:sp>
        <p:nvSpPr>
          <p:cNvPr id="9" name="c1"/>
          <p:cNvSpPr/>
          <p:nvPr/>
        </p:nvSpPr>
        <p:spPr>
          <a:xfrm>
            <a:off x="502920" y="1554480"/>
            <a:ext cx="3606698" cy="370154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483870"/>
          </a:xfrm>
          <a:prstGeom prst="rect">
            <a:avLst/>
          </a:prstGeom>
          <a:noFill/>
        </p:spPr>
        <p:txBody>
          <a:bodyPr wrap="square" lIns="0" tIns="0" rIns="0" bIns="0" anchor="t">
            <a:noAutofit/>
          </a:bodyPr>
          <a:lstStyle/>
          <a:p>
            <a:pPr algn="l">
              <a:lnSpc>
                <a:spcPts val="3810"/>
              </a:lnSpc>
              <a:spcBef>
                <a:spcPts val="0"/>
              </a:spcBef>
              <a:buNone/>
            </a:pPr>
            <a:r>
              <a:rPr lang="ko-KR" sz="3400" b="1" dirty="0">
                <a:solidFill>
                  <a:srgbClr val="0284C7"/>
                </a:solidFill>
                <a:latin typeface="Consolas"/>
                <a:ea typeface="맑은 고딕"/>
                <a:cs typeface="Consolas"/>
              </a:rPr>
              <a:t>87.3</a:t>
            </a:r>
            <a:r>
              <a:rPr lang="ko-KR" sz="1360" b="1" dirty="0">
                <a:solidFill>
                  <a:srgbClr val="0284C7"/>
                </a:solidFill>
                <a:latin typeface="맑은 고딕"/>
                <a:ea typeface="맑은 고딕"/>
                <a:cs typeface="맑은 고딕"/>
              </a:rPr>
              <a:t>% (상한)</a:t>
            </a:r>
          </a:p>
        </p:txBody>
      </p:sp>
      <p:sp>
        <p:nvSpPr>
          <p:cNvPr id="14" name="body:L1:t"/>
          <p:cNvSpPr txBox="1"/>
          <p:nvPr/>
        </p:nvSpPr>
        <p:spPr>
          <a:xfrm>
            <a:off x="685800" y="486867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0154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a:t>
            </a:r>
          </a:p>
        </p:txBody>
      </p:sp>
      <p:sp>
        <p:nvSpPr>
          <p:cNvPr id="18" name="boxA"/>
          <p:cNvSpPr/>
          <p:nvPr/>
        </p:nvSpPr>
        <p:spPr>
          <a:xfrm>
            <a:off x="4475378" y="2345690"/>
            <a:ext cx="3240938" cy="860298"/>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69032"/>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차에</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실을 자재 규격 특정 불가</a:t>
            </a:r>
          </a:p>
        </p:txBody>
      </p:sp>
      <p:sp>
        <p:nvSpPr>
          <p:cNvPr id="21" name="boxB"/>
          <p:cNvSpPr/>
          <p:nvPr/>
        </p:nvSpPr>
        <p:spPr>
          <a:xfrm>
            <a:off x="4475378" y="3297428"/>
            <a:ext cx="3240938" cy="655828"/>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25444"/>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20770"/>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2:res"/>
          <p:cNvSpPr txBox="1"/>
          <p:nvPr/>
        </p:nvSpPr>
        <p:spPr>
          <a:xfrm>
            <a:off x="4475378" y="4044696"/>
            <a:ext cx="3240938"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실사 → 부품 주문(</a:t>
            </a:r>
            <a:r>
              <a:rPr lang="ko-KR" sz="1250" b="1" dirty="0">
                <a:solidFill>
                  <a:srgbClr val="EA580C"/>
                </a:solidFill>
                <a:latin typeface="맑은 고딕"/>
                <a:ea typeface="맑은 고딕"/>
                <a:cs typeface="맑은 고딕"/>
              </a:rPr>
              <a:t>30.5h</a:t>
            </a:r>
            <a:r>
              <a:rPr lang="ko-KR" sz="1250" b="0" dirty="0">
                <a:solidFill>
                  <a:srgbClr val="0F172A"/>
                </a:solidFill>
                <a:latin typeface="맑은 고딕"/>
                <a:ea typeface="맑은 고딕"/>
                <a:cs typeface="맑은 고딕"/>
              </a:rPr>
              <a:t>) →</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재방문, </a:t>
            </a:r>
            <a:r>
              <a:rPr lang="ko-KR" sz="1250" b="1" dirty="0">
                <a:solidFill>
                  <a:srgbClr val="EA580C"/>
                </a:solidFill>
                <a:latin typeface="맑은 고딕"/>
                <a:ea typeface="맑은 고딕"/>
                <a:cs typeface="맑은 고딕"/>
              </a:rPr>
              <a:t>이중 출장</a:t>
            </a:r>
            <a:r>
              <a:rPr lang="ko-KR" sz="1250" b="0" dirty="0">
                <a:solidFill>
                  <a:srgbClr val="0F172A"/>
                </a:solidFill>
                <a:latin typeface="맑은 고딕"/>
                <a:ea typeface="맑은 고딕"/>
                <a:cs typeface="맑은 고딕"/>
              </a:rPr>
              <a:t>이 고착</a:t>
            </a:r>
          </a:p>
        </p:txBody>
      </p:sp>
      <p:sp>
        <p:nvSpPr>
          <p:cNvPr id="25" name="c3"/>
          <p:cNvSpPr/>
          <p:nvPr/>
        </p:nvSpPr>
        <p:spPr>
          <a:xfrm>
            <a:off x="8082076" y="1554480"/>
            <a:ext cx="3606698" cy="370154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03 · 직행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E형은 전원 사내수리</a:t>
            </a:r>
          </a:p>
        </p:txBody>
      </p:sp>
      <p:sp>
        <p:nvSpPr>
          <p:cNvPr id="28" name="body:L1:n"/>
          <p:cNvSpPr txBox="1"/>
          <p:nvPr/>
        </p:nvSpPr>
        <p:spPr>
          <a:xfrm>
            <a:off x="8264956" y="2309114"/>
            <a:ext cx="3240938" cy="483870"/>
          </a:xfrm>
          <a:prstGeom prst="rect">
            <a:avLst/>
          </a:prstGeom>
          <a:noFill/>
        </p:spPr>
        <p:txBody>
          <a:bodyPr wrap="square" lIns="0" tIns="0" rIns="0" bIns="0" anchor="t">
            <a:noAutofit/>
          </a:bodyPr>
          <a:lstStyle/>
          <a:p>
            <a:pPr algn="l">
              <a:lnSpc>
                <a:spcPts val="3810"/>
              </a:lnSpc>
              <a:spcBef>
                <a:spcPts val="0"/>
              </a:spcBef>
              <a:buNone/>
            </a:pPr>
            <a:r>
              <a:rPr lang="ko-KR" sz="3400" b="1" dirty="0">
                <a:solidFill>
                  <a:srgbClr val="059669"/>
                </a:solidFill>
                <a:latin typeface="Consolas"/>
                <a:ea typeface="맑은 고딕"/>
                <a:cs typeface="Consolas"/>
              </a:rPr>
              <a:t>370</a:t>
            </a:r>
            <a:r>
              <a:rPr lang="ko-KR" sz="1360" b="1" dirty="0">
                <a:solidFill>
                  <a:srgbClr val="059669"/>
                </a:solidFill>
                <a:latin typeface="맑은 고딕"/>
                <a:ea typeface="맑은 고딕"/>
                <a:cs typeface="맑은 고딕"/>
              </a:rPr>
              <a:t>건 · 100.0%</a:t>
            </a:r>
          </a:p>
        </p:txBody>
      </p:sp>
      <p:sp>
        <p:nvSpPr>
          <p:cNvPr id="29" name="body:L2:t"/>
          <p:cNvSpPr txBox="1"/>
          <p:nvPr/>
        </p:nvSpPr>
        <p:spPr>
          <a:xfrm>
            <a:off x="8264956" y="2866135"/>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E형 370건은 사내수리로 100% 완결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없이 직행해도 안전</a:t>
            </a:r>
          </a:p>
        </p:txBody>
      </p:sp>
      <p:sp>
        <p:nvSpPr>
          <p:cNvPr id="30" name="body:L2:t"/>
          <p:cNvSpPr txBox="1"/>
          <p:nvPr/>
        </p:nvSpPr>
        <p:spPr>
          <a:xfrm>
            <a:off x="8264956" y="3348227"/>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0284C7"/>
              </a:buClr>
              <a:buFont typeface="맑은 고딕"/>
              <a:buChar char="•"/>
            </a:pPr>
            <a:r>
              <a:rPr lang="ko-KR" sz="1150" b="0" dirty="0">
                <a:solidFill>
                  <a:srgbClr val="334155"/>
                </a:solidFill>
                <a:latin typeface="맑은 고딕"/>
                <a:ea typeface="맑은 고딕"/>
                <a:cs typeface="맑은 고딕"/>
              </a:rPr>
              <a:t>P형 439건 중 401건(91.3%)이 사내 자체 완결</a:t>
            </a:r>
          </a:p>
          <a:p>
            <a:pPr algn="l" marL="164592" indent="-164592">
              <a:lnSpc>
                <a:spcPts val="1610"/>
              </a:lnSpc>
              <a:spcBef>
                <a:spcPts val="300"/>
              </a:spcBef>
              <a:buClr>
                <a:srgbClr val="0284C7"/>
              </a:buClr>
              <a:buFont typeface="맑은 고딕"/>
              <a:buChar char="•"/>
            </a:pPr>
            <a:r>
              <a:rPr lang="ko-KR" sz="1150" b="0" dirty="0">
                <a:solidFill>
                  <a:srgbClr val="334155"/>
                </a:solidFill>
                <a:latin typeface="맑은 고딕"/>
                <a:ea typeface="맑은 고딕"/>
                <a:cs typeface="맑은 고딕"/>
              </a:rPr>
              <a:t>외주 전환은 P-4 38건뿐</a:t>
            </a:r>
          </a:p>
        </p:txBody>
      </p:sp>
      <p:sp>
        <p:nvSpPr>
          <p:cNvPr id="31" name="sowhat"/>
          <p:cNvSpPr/>
          <p:nvPr/>
        </p:nvSpPr>
        <p:spPr>
          <a:xfrm>
            <a:off x="502920" y="5393182"/>
            <a:ext cx="11185855" cy="916177"/>
          </a:xfrm>
          <a:prstGeom prst="rect">
            <a:avLst/>
          </a:prstGeom>
          <a:solidFill>
            <a:srgbClr val="FFFFFF"/>
          </a:solidFill>
          <a:ln w="952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5777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SO WHAT</a:t>
            </a:r>
          </a:p>
        </p:txBody>
      </p:sp>
      <p:sp>
        <p:nvSpPr>
          <p:cNvPr id="33" name="body:L1:sw"/>
          <p:cNvSpPr txBox="1"/>
          <p:nvPr/>
        </p:nvSpPr>
        <p:spPr>
          <a:xfrm>
            <a:off x="667512" y="5762244"/>
            <a:ext cx="10856671"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접수 단계에서 </a:t>
            </a:r>
            <a:r>
              <a:rPr lang="ko-KR" sz="1400" b="1" dirty="0">
                <a:solidFill>
                  <a:srgbClr val="0284C7"/>
                </a:solidFill>
                <a:latin typeface="맑은 고딕"/>
                <a:ea typeface="맑은 고딕"/>
                <a:cs typeface="맑은 고딕"/>
              </a:rPr>
              <a:t>부품 규격까지 특정</a:t>
            </a:r>
            <a:r>
              <a:rPr lang="ko-KR" sz="1400" b="0" dirty="0">
                <a:solidFill>
                  <a:srgbClr val="0F172A"/>
                </a:solidFill>
                <a:latin typeface="맑은 고딕"/>
                <a:ea typeface="맑은 고딕"/>
                <a:cs typeface="맑은 고딕"/>
              </a:rPr>
              <a:t>하면 실사 없이 </a:t>
            </a:r>
            <a:r>
              <a:rPr lang="ko-KR" sz="1400" b="1" dirty="0">
                <a:solidFill>
                  <a:srgbClr val="0284C7"/>
                </a:solidFill>
                <a:latin typeface="맑은 고딕"/>
                <a:ea typeface="맑은 고딕"/>
                <a:cs typeface="맑은 고딕"/>
              </a:rPr>
              <a:t>1회 방문</a:t>
            </a:r>
            <a:r>
              <a:rPr lang="ko-KR" sz="1400" b="0" dirty="0">
                <a:solidFill>
                  <a:srgbClr val="0F172A"/>
                </a:solidFill>
                <a:latin typeface="맑은 고딕"/>
                <a:ea typeface="맑은 고딕"/>
                <a:cs typeface="맑은 고딕"/>
              </a:rPr>
              <a:t>이 가능하다 — TO-BE 전략의 출발점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대기 3종을 겨냥한 TO-BE 3대 전략</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 · 자재 대기 · 하자 재방문을 각각 겨냥하고, 접수 단계의 정보 해상도를 높이는 것이 공통 열쇠</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L1530~1546(리워크 코드)·L1888~1985(사전 분류·시나리오) · 효과율은 가정값</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17 / 19</a:t>
            </a:r>
          </a:p>
        </p:txBody>
      </p:sp>
      <p:sp>
        <p:nvSpPr>
          <p:cNvPr id="9" name="s1"/>
          <p:cNvSpPr/>
          <p:nvPr/>
        </p:nvSpPr>
        <p:spPr>
          <a:xfrm>
            <a:off x="502920" y="1554480"/>
            <a:ext cx="3606698" cy="34932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22376" y="1773936"/>
            <a:ext cx="316778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전략 1 · 사진 기반 사전 특정</a:t>
            </a:r>
          </a:p>
        </p:txBody>
      </p:sp>
      <p:sp>
        <p:nvSpPr>
          <p:cNvPr id="11" name="body:L1:h"/>
          <p:cNvSpPr txBox="1"/>
          <p:nvPr/>
        </p:nvSpPr>
        <p:spPr>
          <a:xfrm>
            <a:off x="722376" y="2024126"/>
            <a:ext cx="3167786"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자재 대기를 출동 전으로 당긴다</a:t>
            </a:r>
          </a:p>
        </p:txBody>
      </p:sp>
      <p:sp>
        <p:nvSpPr>
          <p:cNvPr id="12" name="label:L1:t"/>
          <p:cNvSpPr txBox="1"/>
          <p:nvPr/>
        </p:nvSpPr>
        <p:spPr>
          <a:xfrm>
            <a:off x="722376" y="2400046"/>
            <a:ext cx="316778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겨냥: 자재 대기</a:t>
            </a:r>
          </a:p>
        </p:txBody>
      </p:sp>
      <p:sp>
        <p:nvSpPr>
          <p:cNvPr id="13" name="body:L1:n"/>
          <p:cNvSpPr txBox="1"/>
          <p:nvPr/>
        </p:nvSpPr>
        <p:spPr>
          <a:xfrm>
            <a:off x="722376" y="2650236"/>
            <a:ext cx="3167786"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284C7"/>
                </a:solidFill>
                <a:latin typeface="Consolas"/>
                <a:ea typeface="맑은 고딕"/>
                <a:cs typeface="Consolas"/>
              </a:rPr>
              <a:t>30.5</a:t>
            </a:r>
            <a:r>
              <a:rPr lang="ko-KR" sz="1760" b="1" dirty="0">
                <a:solidFill>
                  <a:srgbClr val="0284C7"/>
                </a:solidFill>
                <a:latin typeface="맑은 고딕"/>
                <a:ea typeface="맑은 고딕"/>
                <a:cs typeface="맑은 고딕"/>
              </a:rPr>
              <a:t>h</a:t>
            </a:r>
          </a:p>
        </p:txBody>
      </p:sp>
      <p:sp>
        <p:nvSpPr>
          <p:cNvPr id="14" name="body:L5:t"/>
          <p:cNvSpPr txBox="1"/>
          <p:nvPr/>
        </p:nvSpPr>
        <p:spPr>
          <a:xfrm>
            <a:off x="722376" y="3367786"/>
            <a:ext cx="3167786" cy="1238250"/>
          </a:xfrm>
          <a:prstGeom prst="rect">
            <a:avLst/>
          </a:prstGeom>
          <a:noFill/>
        </p:spPr>
        <p:txBody>
          <a:bodyPr wrap="square" lIns="0" tIns="0" rIns="0" bIns="0" anchor="t">
            <a:noAutofit/>
          </a:bodyPr>
          <a:lstStyle/>
          <a:p>
            <a:pPr algn="l" marL="164592" indent="-164592">
              <a:lnSpc>
                <a:spcPts val="1750"/>
              </a:lnSpc>
              <a:spcBef>
                <a:spcPts val="0"/>
              </a:spcBef>
              <a:buClr>
                <a:srgbClr val="0284C7"/>
              </a:buClr>
              <a:buFont typeface="맑은 고딕"/>
              <a:buChar char="•"/>
            </a:pPr>
            <a:r>
              <a:rPr lang="ko-KR" sz="1250" b="0" dirty="0">
                <a:solidFill>
                  <a:srgbClr val="334155"/>
                </a:solidFill>
                <a:latin typeface="맑은 고딕"/>
                <a:ea typeface="맑은 고딕"/>
                <a:cs typeface="맑은 고딕"/>
              </a:rPr>
              <a:t>접수 시 고장 부위·모델 라벨</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사진을 필수 첨부</a:t>
            </a:r>
          </a:p>
          <a:p>
            <a:pPr algn="l" marL="164592" indent="-164592">
              <a:lnSpc>
                <a:spcPts val="1750"/>
              </a:lnSpc>
              <a:spcBef>
                <a:spcPts val="500"/>
              </a:spcBef>
              <a:buClr>
                <a:srgbClr val="0284C7"/>
              </a:buClr>
              <a:buFont typeface="맑은 고딕"/>
              <a:buChar char="•"/>
            </a:pPr>
            <a:r>
              <a:rPr lang="ko-KR" sz="1250" b="0" dirty="0">
                <a:solidFill>
                  <a:srgbClr val="334155"/>
                </a:solidFill>
                <a:latin typeface="맑은 고딕"/>
                <a:ea typeface="맑은 고딕"/>
                <a:cs typeface="맑은 고딕"/>
              </a:rPr>
              <a:t>출동 전 부품 규격을 특정해 사전 상차</a:t>
            </a:r>
          </a:p>
          <a:p>
            <a:pPr algn="l" marL="164592" indent="-164592">
              <a:lnSpc>
                <a:spcPts val="1750"/>
              </a:lnSpc>
              <a:spcBef>
                <a:spcPts val="500"/>
              </a:spcBef>
              <a:buClr>
                <a:srgbClr val="0284C7"/>
              </a:buClr>
              <a:buFont typeface="맑은 고딕"/>
              <a:buChar char="•"/>
            </a:pPr>
            <a:r>
              <a:rPr lang="ko-KR" sz="1250" b="0" dirty="0">
                <a:solidFill>
                  <a:srgbClr val="334155"/>
                </a:solidFill>
                <a:latin typeface="맑은 고딕"/>
                <a:ea typeface="맑은 고딕"/>
                <a:cs typeface="맑은 고딕"/>
              </a:rPr>
              <a:t>E형 370건은 실사 없이 1회 방문 직행</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20% 단축 가정 → −17.2h)</a:t>
            </a:r>
          </a:p>
        </p:txBody>
      </p:sp>
      <p:sp>
        <p:nvSpPr>
          <p:cNvPr id="15" name="s2"/>
          <p:cNvSpPr/>
          <p:nvPr/>
        </p:nvSpPr>
        <p:spPr>
          <a:xfrm>
            <a:off x="4292498" y="1554480"/>
            <a:ext cx="3606698" cy="34932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511954" y="1773936"/>
            <a:ext cx="316778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DC2626"/>
                </a:solidFill>
                <a:latin typeface="Consolas"/>
                <a:ea typeface="맑은 고딕"/>
                <a:cs typeface="Consolas"/>
              </a:rPr>
              <a:t>전략 2 · E-1/E-2 정밀검사</a:t>
            </a:r>
          </a:p>
        </p:txBody>
      </p:sp>
      <p:sp>
        <p:nvSpPr>
          <p:cNvPr id="17" name="body:L1:h"/>
          <p:cNvSpPr txBox="1"/>
          <p:nvPr/>
        </p:nvSpPr>
        <p:spPr>
          <a:xfrm>
            <a:off x="4511954" y="2024126"/>
            <a:ext cx="3167786"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재방문 루프를 현장에서 차단</a:t>
            </a:r>
          </a:p>
        </p:txBody>
      </p:sp>
      <p:sp>
        <p:nvSpPr>
          <p:cNvPr id="18" name="label:L1:t"/>
          <p:cNvSpPr txBox="1"/>
          <p:nvPr/>
        </p:nvSpPr>
        <p:spPr>
          <a:xfrm>
            <a:off x="4511954" y="2400046"/>
            <a:ext cx="316778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겨냥: 하자 재방문</a:t>
            </a:r>
          </a:p>
        </p:txBody>
      </p:sp>
      <p:sp>
        <p:nvSpPr>
          <p:cNvPr id="19" name="body:L1:n"/>
          <p:cNvSpPr txBox="1"/>
          <p:nvPr/>
        </p:nvSpPr>
        <p:spPr>
          <a:xfrm>
            <a:off x="4511954" y="2650236"/>
            <a:ext cx="3167786"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DC2626"/>
                </a:solidFill>
                <a:latin typeface="Consolas"/>
                <a:ea typeface="맑은 고딕"/>
                <a:cs typeface="Consolas"/>
              </a:rPr>
              <a:t>+32.9</a:t>
            </a:r>
            <a:r>
              <a:rPr lang="ko-KR" sz="1760" b="1" dirty="0">
                <a:solidFill>
                  <a:srgbClr val="DC2626"/>
                </a:solidFill>
                <a:latin typeface="맑은 고딕"/>
                <a:ea typeface="맑은 고딕"/>
                <a:cs typeface="맑은 고딕"/>
              </a:rPr>
              <a:t>h</a:t>
            </a:r>
          </a:p>
        </p:txBody>
      </p:sp>
      <p:sp>
        <p:nvSpPr>
          <p:cNvPr id="20" name="body:L5:t"/>
          <p:cNvSpPr txBox="1"/>
          <p:nvPr/>
        </p:nvSpPr>
        <p:spPr>
          <a:xfrm>
            <a:off x="4511954" y="3367786"/>
            <a:ext cx="3167786" cy="1238250"/>
          </a:xfrm>
          <a:prstGeom prst="rect">
            <a:avLst/>
          </a:prstGeom>
          <a:noFill/>
        </p:spPr>
        <p:txBody>
          <a:bodyPr wrap="square" lIns="0" tIns="0" rIns="0" bIns="0" anchor="t">
            <a:noAutofit/>
          </a:bodyPr>
          <a:lstStyle/>
          <a:p>
            <a:pPr algn="l" marL="164592" indent="-164592">
              <a:lnSpc>
                <a:spcPts val="1750"/>
              </a:lnSpc>
              <a:spcBef>
                <a:spcPts val="0"/>
              </a:spcBef>
              <a:buClr>
                <a:srgbClr val="0284C7"/>
              </a:buClr>
              <a:buFont typeface="맑은 고딕"/>
              <a:buChar char="•"/>
            </a:pPr>
            <a:r>
              <a:rPr lang="ko-KR" sz="1250" b="0" dirty="0">
                <a:solidFill>
                  <a:srgbClr val="334155"/>
                </a:solidFill>
                <a:latin typeface="맑은 고딕"/>
                <a:ea typeface="맑은 고딕"/>
                <a:cs typeface="맑은 고딕"/>
              </a:rPr>
              <a:t>재방문 26건 중 22건(84.6%)이</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E-1(16건)·E-2(6건)</a:t>
            </a:r>
          </a:p>
          <a:p>
            <a:pPr algn="l" marL="164592" indent="-164592">
              <a:lnSpc>
                <a:spcPts val="1750"/>
              </a:lnSpc>
              <a:spcBef>
                <a:spcPts val="500"/>
              </a:spcBef>
              <a:buClr>
                <a:srgbClr val="0284C7"/>
              </a:buClr>
              <a:buFont typeface="맑은 고딕"/>
              <a:buChar char="•"/>
            </a:pPr>
            <a:r>
              <a:rPr lang="ko-KR" sz="1250" b="0" dirty="0">
                <a:solidFill>
                  <a:srgbClr val="334155"/>
                </a:solidFill>
                <a:latin typeface="맑은 고딕"/>
                <a:ea typeface="맑은 고딕"/>
                <a:cs typeface="맑은 고딕"/>
              </a:rPr>
              <a:t>인접 배관·연계 부속 2차 점검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체크리스트 의무화</a:t>
            </a:r>
          </a:p>
          <a:p>
            <a:pPr algn="l" marL="164592" indent="-164592">
              <a:lnSpc>
                <a:spcPts val="1750"/>
              </a:lnSpc>
              <a:spcBef>
                <a:spcPts val="500"/>
              </a:spcBef>
              <a:buClr>
                <a:srgbClr val="0284C7"/>
              </a:buClr>
              <a:buFont typeface="맑은 고딕"/>
              <a:buChar char="•"/>
            </a:pPr>
            <a:r>
              <a:rPr lang="ko-KR" sz="1250" b="0" dirty="0">
                <a:solidFill>
                  <a:srgbClr val="334155"/>
                </a:solidFill>
                <a:latin typeface="맑은 고딕"/>
                <a:ea typeface="맑은 고딕"/>
                <a:cs typeface="맑은 고딕"/>
              </a:rPr>
              <a:t>최대 241.6h(10.1일) 재방문 루프 제거</a:t>
            </a:r>
          </a:p>
        </p:txBody>
      </p:sp>
      <p:sp>
        <p:nvSpPr>
          <p:cNvPr id="21" name="s3"/>
          <p:cNvSpPr/>
          <p:nvPr/>
        </p:nvSpPr>
        <p:spPr>
          <a:xfrm>
            <a:off x="8082076" y="1554480"/>
            <a:ext cx="3606698" cy="34932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8301532" y="1773936"/>
            <a:ext cx="316778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전략 3 · 번들 키트 · 외주 직행</a:t>
            </a:r>
          </a:p>
        </p:txBody>
      </p:sp>
      <p:sp>
        <p:nvSpPr>
          <p:cNvPr id="23" name="body:L1:h"/>
          <p:cNvSpPr txBox="1"/>
          <p:nvPr/>
        </p:nvSpPr>
        <p:spPr>
          <a:xfrm>
            <a:off x="8301532" y="2024126"/>
            <a:ext cx="3167786"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접수 인계와 외주 대기를 없앤다</a:t>
            </a:r>
          </a:p>
        </p:txBody>
      </p:sp>
      <p:sp>
        <p:nvSpPr>
          <p:cNvPr id="24" name="label:L1:t"/>
          <p:cNvSpPr txBox="1"/>
          <p:nvPr/>
        </p:nvSpPr>
        <p:spPr>
          <a:xfrm>
            <a:off x="8301532" y="2400046"/>
            <a:ext cx="316778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겨냥: 접수·외주 대기</a:t>
            </a:r>
          </a:p>
        </p:txBody>
      </p:sp>
      <p:sp>
        <p:nvSpPr>
          <p:cNvPr id="25" name="body:L1:n"/>
          <p:cNvSpPr txBox="1"/>
          <p:nvPr/>
        </p:nvSpPr>
        <p:spPr>
          <a:xfrm>
            <a:off x="8301532" y="2650236"/>
            <a:ext cx="3167786"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59669"/>
                </a:solidFill>
                <a:latin typeface="Consolas"/>
                <a:ea typeface="맑은 고딕"/>
                <a:cs typeface="Consolas"/>
              </a:rPr>
              <a:t>38</a:t>
            </a:r>
            <a:r>
              <a:rPr lang="ko-KR" sz="1760" b="1" dirty="0">
                <a:solidFill>
                  <a:srgbClr val="059669"/>
                </a:solidFill>
                <a:latin typeface="맑은 고딕"/>
                <a:ea typeface="맑은 고딕"/>
                <a:cs typeface="맑은 고딕"/>
              </a:rPr>
              <a:t>건 직행</a:t>
            </a:r>
          </a:p>
        </p:txBody>
      </p:sp>
      <p:sp>
        <p:nvSpPr>
          <p:cNvPr id="26" name="body:L6:t"/>
          <p:cNvSpPr txBox="1"/>
          <p:nvPr/>
        </p:nvSpPr>
        <p:spPr>
          <a:xfrm>
            <a:off x="8301532" y="3367786"/>
            <a:ext cx="3167786" cy="1460500"/>
          </a:xfrm>
          <a:prstGeom prst="rect">
            <a:avLst/>
          </a:prstGeom>
          <a:noFill/>
        </p:spPr>
        <p:txBody>
          <a:bodyPr wrap="square" lIns="0" tIns="0" rIns="0" bIns="0" anchor="t">
            <a:noAutofit/>
          </a:bodyPr>
          <a:lstStyle/>
          <a:p>
            <a:pPr algn="l" marL="164592" indent="-164592">
              <a:lnSpc>
                <a:spcPts val="1750"/>
              </a:lnSpc>
              <a:spcBef>
                <a:spcPts val="0"/>
              </a:spcBef>
              <a:buClr>
                <a:srgbClr val="0284C7"/>
              </a:buClr>
              <a:buFont typeface="맑은 고딕"/>
              <a:buChar char="•"/>
            </a:pPr>
            <a:r>
              <a:rPr lang="ko-KR" sz="1250" b="0" dirty="0">
                <a:solidFill>
                  <a:srgbClr val="334155"/>
                </a:solidFill>
                <a:latin typeface="맑은 고딕"/>
                <a:ea typeface="맑은 고딕"/>
                <a:cs typeface="맑은 고딕"/>
              </a:rPr>
              <a:t>E-1/E-2 빈번 부품을 번들</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키트로 사전 상차</a:t>
            </a:r>
          </a:p>
          <a:p>
            <a:pPr algn="l" marL="164592" indent="-164592">
              <a:lnSpc>
                <a:spcPts val="1750"/>
              </a:lnSpc>
              <a:spcBef>
                <a:spcPts val="500"/>
              </a:spcBef>
              <a:buClr>
                <a:srgbClr val="0284C7"/>
              </a:buClr>
              <a:buFont typeface="맑은 고딕"/>
              <a:buChar char="•"/>
            </a:pPr>
            <a:r>
              <a:rPr lang="ko-KR" sz="1250" b="0" dirty="0">
                <a:solidFill>
                  <a:srgbClr val="334155"/>
                </a:solidFill>
                <a:latin typeface="맑은 고딕"/>
                <a:ea typeface="맑은 고딕"/>
                <a:cs typeface="맑은 고딕"/>
              </a:rPr>
              <a:t>P-4 외주 38건은 사진 식별</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후 외주로 직행</a:t>
            </a:r>
          </a:p>
          <a:p>
            <a:pPr algn="l" marL="164592" indent="-164592">
              <a:lnSpc>
                <a:spcPts val="1750"/>
              </a:lnSpc>
              <a:spcBef>
                <a:spcPts val="500"/>
              </a:spcBef>
              <a:buClr>
                <a:srgbClr val="0284C7"/>
              </a:buClr>
              <a:buFont typeface="맑은 고딕"/>
              <a:buChar char="•"/>
            </a:pPr>
            <a:r>
              <a:rPr lang="ko-KR" sz="1250" b="0" dirty="0">
                <a:solidFill>
                  <a:srgbClr val="334155"/>
                </a:solidFill>
                <a:latin typeface="맑은 고딕"/>
                <a:ea typeface="맑은 고딕"/>
                <a:cs typeface="맑은 고딕"/>
              </a:rPr>
              <a:t>웹·우편 Direct Booking으로 교차</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인계 123건 제거 (80% 가정)</a:t>
            </a:r>
          </a:p>
        </p:txBody>
      </p:sp>
      <p:sp>
        <p:nvSpPr>
          <p:cNvPr id="27" name="common"/>
          <p:cNvSpPr/>
          <p:nvPr/>
        </p:nvSpPr>
        <p:spPr>
          <a:xfrm>
            <a:off x="502920" y="5184902"/>
            <a:ext cx="11185855" cy="1124457"/>
          </a:xfrm>
          <a:prstGeom prst="rect">
            <a:avLst/>
          </a:prstGeom>
          <a:solidFill>
            <a:srgbClr val="FFFFFF"/>
          </a:solidFill>
          <a:ln w="952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abel:L1:t"/>
          <p:cNvSpPr txBox="1"/>
          <p:nvPr/>
        </p:nvSpPr>
        <p:spPr>
          <a:xfrm>
            <a:off x="667512" y="534949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COMMON KEY</a:t>
            </a:r>
          </a:p>
        </p:txBody>
      </p:sp>
      <p:sp>
        <p:nvSpPr>
          <p:cNvPr id="29" name="body:L2:ck"/>
          <p:cNvSpPr txBox="1"/>
          <p:nvPr/>
        </p:nvSpPr>
        <p:spPr>
          <a:xfrm>
            <a:off x="667512" y="5553964"/>
            <a:ext cx="10856671"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공통 열쇠는 </a:t>
            </a:r>
            <a:r>
              <a:rPr lang="ko-KR" sz="1400" b="1" dirty="0">
                <a:solidFill>
                  <a:srgbClr val="0284C7"/>
                </a:solidFill>
                <a:latin typeface="맑은 고딕"/>
                <a:ea typeface="맑은 고딕"/>
                <a:cs typeface="맑은 고딕"/>
              </a:rPr>
              <a:t>접수 단계의 정보 해상도 </a:t>
            </a:r>
            <a:r>
              <a:rPr lang="ko-KR" sz="1400" b="0" dirty="0">
                <a:solidFill>
                  <a:srgbClr val="0F172A"/>
                </a:solidFill>
                <a:latin typeface="맑은 고딕"/>
                <a:ea typeface="맑은 고딕"/>
                <a:cs typeface="맑은 고딕"/>
              </a:rPr>
              <a:t>— 사진·라벨·세부 코드로 부품을 특정하면 실사·재방문·인계가</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함께 줄어든다. 효과는 다음 장에서 가정과 함께 정량화한다.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전체 평균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32.9%, 사내수리군은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39.8%</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효과율은 가정값이며 구성요소 간 중복 효과는 보정하지 않은 상한 시나리오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출처: analysis.sql L1931~1985(시나리오) · hypothesis 노트북 Cell 19(OLS 1.12) · 사내수리군은 같은 가정을 485건에 적용</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18 / 19</a:t>
            </a:r>
          </a:p>
        </p:txBody>
      </p:sp>
      <p:sp>
        <p:nvSpPr>
          <p:cNvPr id="9" name="bars-card"/>
          <p:cNvSpPr/>
          <p:nvPr/>
        </p:nvSpPr>
        <p:spPr>
          <a:xfrm>
            <a:off x="502920" y="1554480"/>
            <a:ext cx="5669280" cy="35968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body:L1:g0-nm"/>
          <p:cNvSpPr txBox="1"/>
          <p:nvPr/>
        </p:nvSpPr>
        <p:spPr>
          <a:xfrm>
            <a:off x="704088" y="2024126"/>
            <a:ext cx="5266944"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전체 927건</a:t>
            </a:r>
          </a:p>
        </p:txBody>
      </p:sp>
      <p:sp>
        <p:nvSpPr>
          <p:cNvPr id="12" name="label:L1:g0-AS-IS"/>
          <p:cNvSpPr txBox="1"/>
          <p:nvPr/>
        </p:nvSpPr>
        <p:spPr>
          <a:xfrm>
            <a:off x="704088" y="231673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3" name="g0-AS-IS-bar"/>
          <p:cNvSpPr/>
          <p:nvPr/>
        </p:nvSpPr>
        <p:spPr>
          <a:xfrm>
            <a:off x="1344168" y="2280158"/>
            <a:ext cx="2744520" cy="29260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L1:g0-AS-IS-v"/>
          <p:cNvSpPr txBox="1"/>
          <p:nvPr/>
        </p:nvSpPr>
        <p:spPr>
          <a:xfrm>
            <a:off x="4161840" y="2307589"/>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5" name="label:L1:g0-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6" name="g0-TO-BE-bar"/>
          <p:cNvSpPr/>
          <p:nvPr/>
        </p:nvSpPr>
        <p:spPr>
          <a:xfrm>
            <a:off x="1344168" y="2664206"/>
            <a:ext cx="1842638" cy="2926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ody:L1:g0-TO-BE-v"/>
          <p:cNvSpPr txBox="1"/>
          <p:nvPr/>
        </p:nvSpPr>
        <p:spPr>
          <a:xfrm>
            <a:off x="3259958" y="2691637"/>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71.1h</a:t>
            </a:r>
          </a:p>
        </p:txBody>
      </p:sp>
      <p:sp>
        <p:nvSpPr>
          <p:cNvPr id="18" name="body:L1:g0-delta"/>
          <p:cNvSpPr txBox="1"/>
          <p:nvPr/>
        </p:nvSpPr>
        <p:spPr>
          <a:xfrm>
            <a:off x="1344168" y="304825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32.9% (−34.8h)</a:t>
            </a:r>
          </a:p>
        </p:txBody>
      </p:sp>
      <p:sp>
        <p:nvSpPr>
          <p:cNvPr id="19" name="body:L1:g1-nm"/>
          <p:cNvSpPr txBox="1"/>
          <p:nvPr/>
        </p:nvSpPr>
        <p:spPr>
          <a:xfrm>
            <a:off x="704088" y="3523742"/>
            <a:ext cx="5266944"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사내수리 485건</a:t>
            </a:r>
          </a:p>
        </p:txBody>
      </p:sp>
      <p:sp>
        <p:nvSpPr>
          <p:cNvPr id="20" name="label:L1:g1-AS-IS"/>
          <p:cNvSpPr txBox="1"/>
          <p:nvPr/>
        </p:nvSpPr>
        <p:spPr>
          <a:xfrm>
            <a:off x="704088" y="3816349"/>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21" name="g1-AS-IS-bar"/>
          <p:cNvSpPr/>
          <p:nvPr/>
        </p:nvSpPr>
        <p:spPr>
          <a:xfrm>
            <a:off x="1344168" y="3779773"/>
            <a:ext cx="3392424" cy="29260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ody:L1:g1-AS-IS-v"/>
          <p:cNvSpPr txBox="1"/>
          <p:nvPr/>
        </p:nvSpPr>
        <p:spPr>
          <a:xfrm>
            <a:off x="4809744" y="3807206"/>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130.9h</a:t>
            </a:r>
          </a:p>
        </p:txBody>
      </p:sp>
      <p:sp>
        <p:nvSpPr>
          <p:cNvPr id="23" name="label:L1:g1-TO-BE"/>
          <p:cNvSpPr txBox="1"/>
          <p:nvPr/>
        </p:nvSpPr>
        <p:spPr>
          <a:xfrm>
            <a:off x="704088" y="420039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24" name="g1-TO-BE-bar"/>
          <p:cNvSpPr/>
          <p:nvPr/>
        </p:nvSpPr>
        <p:spPr>
          <a:xfrm>
            <a:off x="1344168" y="4163821"/>
            <a:ext cx="2042192" cy="2926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g1-TO-BE-v"/>
          <p:cNvSpPr txBox="1"/>
          <p:nvPr/>
        </p:nvSpPr>
        <p:spPr>
          <a:xfrm>
            <a:off x="3459512" y="419125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78.8h</a:t>
            </a:r>
          </a:p>
        </p:txBody>
      </p:sp>
      <p:sp>
        <p:nvSpPr>
          <p:cNvPr id="26" name="body:L1:g1-delta"/>
          <p:cNvSpPr txBox="1"/>
          <p:nvPr/>
        </p:nvSpPr>
        <p:spPr>
          <a:xfrm>
            <a:off x="1344168" y="4547869"/>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39.8% (−52.1h)</a:t>
            </a:r>
          </a:p>
        </p:txBody>
      </p:sp>
      <p:sp>
        <p:nvSpPr>
          <p:cNvPr id="27" name="eff-card"/>
          <p:cNvSpPr/>
          <p:nvPr/>
        </p:nvSpPr>
        <p:spPr>
          <a:xfrm>
            <a:off x="6355080" y="1554480"/>
            <a:ext cx="5333695" cy="35968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DECOMPOSITION · 927건 가중평균</a:t>
            </a:r>
          </a:p>
        </p:txBody>
      </p:sp>
      <p:sp>
        <p:nvSpPr>
          <p:cNvPr id="29" name="label:L1:eff-h"/>
          <p:cNvSpPr txBox="1"/>
          <p:nvPr/>
        </p:nvSpPr>
        <p:spPr>
          <a:xfrm>
            <a:off x="6629400" y="2024126"/>
            <a:ext cx="140109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구성요소</a:t>
            </a:r>
          </a:p>
        </p:txBody>
      </p:sp>
      <p:sp>
        <p:nvSpPr>
          <p:cNvPr id="30" name="label:L1:eff-h"/>
          <p:cNvSpPr txBox="1"/>
          <p:nvPr/>
        </p:nvSpPr>
        <p:spPr>
          <a:xfrm>
            <a:off x="8213379" y="2024126"/>
            <a:ext cx="2265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가정</a:t>
            </a:r>
          </a:p>
        </p:txBody>
      </p:sp>
      <p:sp>
        <p:nvSpPr>
          <p:cNvPr id="31" name="label:L1:eff-h"/>
          <p:cNvSpPr txBox="1"/>
          <p:nvPr/>
        </p:nvSpPr>
        <p:spPr>
          <a:xfrm>
            <a:off x="10661347" y="2024126"/>
            <a:ext cx="75310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효과</a:t>
            </a:r>
          </a:p>
        </p:txBody>
      </p:sp>
      <p:cxnSp>
        <p:nvCxnSpPr>
          <p:cNvPr id="32" name="rule"/>
          <p:cNvCxnSpPr/>
          <p:nvPr/>
        </p:nvCxnSpPr>
        <p:spPr>
          <a:xfrm>
            <a:off x="6537960" y="2261870"/>
            <a:ext cx="4967935" cy="0"/>
          </a:xfrm>
          <a:prstGeom prst="line">
            <a:avLst/>
          </a:prstGeom>
          <a:ln w="9525">
            <a:solidFill>
              <a:srgbClr val="E2E8F0"/>
            </a:solidFill>
          </a:ln>
        </p:spPr>
      </p:cxnSp>
      <p:sp>
        <p:nvSpPr>
          <p:cNvPr id="33" name="body:L1:t"/>
          <p:cNvSpPr txBox="1"/>
          <p:nvPr/>
        </p:nvSpPr>
        <p:spPr>
          <a:xfrm>
            <a:off x="6629400" y="2371598"/>
            <a:ext cx="1401099"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단축</a:t>
            </a:r>
          </a:p>
        </p:txBody>
      </p:sp>
      <p:sp>
        <p:nvSpPr>
          <p:cNvPr id="34" name="body:L1:t"/>
          <p:cNvSpPr txBox="1"/>
          <p:nvPr/>
        </p:nvSpPr>
        <p:spPr>
          <a:xfrm>
            <a:off x="8213379" y="2371598"/>
            <a:ext cx="226508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20% 단축 × OLS 1.12</a:t>
            </a:r>
          </a:p>
        </p:txBody>
      </p:sp>
      <p:sp>
        <p:nvSpPr>
          <p:cNvPr id="35" name="body:L1:t"/>
          <p:cNvSpPr txBox="1"/>
          <p:nvPr/>
        </p:nvSpPr>
        <p:spPr>
          <a:xfrm>
            <a:off x="10661347" y="2371598"/>
            <a:ext cx="753107"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−17.2h</a:t>
            </a:r>
          </a:p>
        </p:txBody>
      </p:sp>
      <p:cxnSp>
        <p:nvCxnSpPr>
          <p:cNvPr id="36" name="rule"/>
          <p:cNvCxnSpPr/>
          <p:nvPr/>
        </p:nvCxnSpPr>
        <p:spPr>
          <a:xfrm>
            <a:off x="6537960" y="2690876"/>
            <a:ext cx="4967935" cy="0"/>
          </a:xfrm>
          <a:prstGeom prst="line">
            <a:avLst/>
          </a:prstGeom>
          <a:ln w="9525">
            <a:solidFill>
              <a:srgbClr val="E2E8F0"/>
            </a:solidFill>
          </a:ln>
        </p:spPr>
      </p:cxnSp>
      <p:sp>
        <p:nvSpPr>
          <p:cNvPr id="37" name="body:L1:t"/>
          <p:cNvSpPr txBox="1"/>
          <p:nvPr/>
        </p:nvSpPr>
        <p:spPr>
          <a:xfrm>
            <a:off x="6629400" y="2800604"/>
            <a:ext cx="1401099"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자재 사전 패킹</a:t>
            </a:r>
          </a:p>
        </p:txBody>
      </p:sp>
      <p:sp>
        <p:nvSpPr>
          <p:cNvPr id="38" name="body:L2:t"/>
          <p:cNvSpPr txBox="1"/>
          <p:nvPr/>
        </p:nvSpPr>
        <p:spPr>
          <a:xfrm>
            <a:off x="8213379" y="2800604"/>
            <a:ext cx="2265088"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사내수리 485건 자재 대기 100%</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사전화</a:t>
            </a:r>
          </a:p>
        </p:txBody>
      </p:sp>
      <p:sp>
        <p:nvSpPr>
          <p:cNvPr id="39" name="body:L1:t"/>
          <p:cNvSpPr txBox="1"/>
          <p:nvPr/>
        </p:nvSpPr>
        <p:spPr>
          <a:xfrm>
            <a:off x="10661347" y="2800604"/>
            <a:ext cx="753107"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−16.0h</a:t>
            </a:r>
          </a:p>
        </p:txBody>
      </p:sp>
      <p:cxnSp>
        <p:nvCxnSpPr>
          <p:cNvPr id="40" name="rule"/>
          <p:cNvCxnSpPr/>
          <p:nvPr/>
        </p:nvCxnSpPr>
        <p:spPr>
          <a:xfrm>
            <a:off x="6537960" y="3301492"/>
            <a:ext cx="4967935" cy="0"/>
          </a:xfrm>
          <a:prstGeom prst="line">
            <a:avLst/>
          </a:prstGeom>
          <a:ln w="9525">
            <a:solidFill>
              <a:srgbClr val="E2E8F0"/>
            </a:solidFill>
          </a:ln>
        </p:spPr>
      </p:cxnSp>
      <p:sp>
        <p:nvSpPr>
          <p:cNvPr id="41" name="body:L1:t"/>
          <p:cNvSpPr txBox="1"/>
          <p:nvPr/>
        </p:nvSpPr>
        <p:spPr>
          <a:xfrm>
            <a:off x="6629400" y="3411220"/>
            <a:ext cx="1401099"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리워크 차단</a:t>
            </a:r>
          </a:p>
        </p:txBody>
      </p:sp>
      <p:sp>
        <p:nvSpPr>
          <p:cNvPr id="42" name="body:L1:t"/>
          <p:cNvSpPr txBox="1"/>
          <p:nvPr/>
        </p:nvSpPr>
        <p:spPr>
          <a:xfrm>
            <a:off x="8213379" y="3411220"/>
            <a:ext cx="226508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재방문 26건 100% 차단</a:t>
            </a:r>
          </a:p>
        </p:txBody>
      </p:sp>
      <p:sp>
        <p:nvSpPr>
          <p:cNvPr id="43" name="body:L1:t"/>
          <p:cNvSpPr txBox="1"/>
          <p:nvPr/>
        </p:nvSpPr>
        <p:spPr>
          <a:xfrm>
            <a:off x="10661347" y="3411220"/>
            <a:ext cx="753107"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−0.9h</a:t>
            </a:r>
          </a:p>
        </p:txBody>
      </p:sp>
      <p:cxnSp>
        <p:nvCxnSpPr>
          <p:cNvPr id="44" name="rule"/>
          <p:cNvCxnSpPr/>
          <p:nvPr/>
        </p:nvCxnSpPr>
        <p:spPr>
          <a:xfrm>
            <a:off x="6537960" y="3730498"/>
            <a:ext cx="4967935" cy="0"/>
          </a:xfrm>
          <a:prstGeom prst="line">
            <a:avLst/>
          </a:prstGeom>
          <a:ln w="9525">
            <a:solidFill>
              <a:srgbClr val="E2E8F0"/>
            </a:solidFill>
          </a:ln>
        </p:spPr>
      </p:cxnSp>
      <p:sp>
        <p:nvSpPr>
          <p:cNvPr id="45" name="body:L1:t"/>
          <p:cNvSpPr txBox="1"/>
          <p:nvPr/>
        </p:nvSpPr>
        <p:spPr>
          <a:xfrm>
            <a:off x="6629400" y="3840226"/>
            <a:ext cx="1401099"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인계 제거</a:t>
            </a:r>
          </a:p>
        </p:txBody>
      </p:sp>
      <p:sp>
        <p:nvSpPr>
          <p:cNvPr id="46" name="body:L1:t"/>
          <p:cNvSpPr txBox="1"/>
          <p:nvPr/>
        </p:nvSpPr>
        <p:spPr>
          <a:xfrm>
            <a:off x="8213379" y="3840226"/>
            <a:ext cx="226508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교차 인계 123건 80% 제거</a:t>
            </a:r>
          </a:p>
        </p:txBody>
      </p:sp>
      <p:sp>
        <p:nvSpPr>
          <p:cNvPr id="47" name="body:L1:t"/>
          <p:cNvSpPr txBox="1"/>
          <p:nvPr/>
        </p:nvSpPr>
        <p:spPr>
          <a:xfrm>
            <a:off x="10661347" y="3840226"/>
            <a:ext cx="753107"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−0.7h</a:t>
            </a:r>
          </a:p>
        </p:txBody>
      </p:sp>
      <p:cxnSp>
        <p:nvCxnSpPr>
          <p:cNvPr id="48" name="rule"/>
          <p:cNvCxnSpPr/>
          <p:nvPr/>
        </p:nvCxnSpPr>
        <p:spPr>
          <a:xfrm>
            <a:off x="6537960" y="4159503"/>
            <a:ext cx="4967935" cy="0"/>
          </a:xfrm>
          <a:prstGeom prst="line">
            <a:avLst/>
          </a:prstGeom>
          <a:ln w="9525">
            <a:solidFill>
              <a:srgbClr val="E2E8F0"/>
            </a:solidFill>
          </a:ln>
        </p:spPr>
      </p:cxnSp>
      <p:sp>
        <p:nvSpPr>
          <p:cNvPr id="49" name="eff-fill"/>
          <p:cNvSpPr/>
          <p:nvPr/>
        </p:nvSpPr>
        <p:spPr>
          <a:xfrm>
            <a:off x="6537960" y="4168647"/>
            <a:ext cx="4967935" cy="428751"/>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ody:L1:t"/>
          <p:cNvSpPr txBox="1"/>
          <p:nvPr/>
        </p:nvSpPr>
        <p:spPr>
          <a:xfrm>
            <a:off x="6629400" y="4269232"/>
            <a:ext cx="1401099"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합계 (가중평균)</a:t>
            </a:r>
          </a:p>
        </p:txBody>
      </p:sp>
      <p:sp>
        <p:nvSpPr>
          <p:cNvPr id="51" name="body:L1:t"/>
          <p:cNvSpPr txBox="1"/>
          <p:nvPr/>
        </p:nvSpPr>
        <p:spPr>
          <a:xfrm>
            <a:off x="8213379" y="4269232"/>
            <a:ext cx="2265088"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105.9h → 71.1h</a:t>
            </a:r>
          </a:p>
        </p:txBody>
      </p:sp>
      <p:sp>
        <p:nvSpPr>
          <p:cNvPr id="52" name="body:L1:t"/>
          <p:cNvSpPr txBox="1"/>
          <p:nvPr/>
        </p:nvSpPr>
        <p:spPr>
          <a:xfrm>
            <a:off x="10661347" y="4269232"/>
            <a:ext cx="753107"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59669"/>
                </a:solidFill>
                <a:latin typeface="Consolas"/>
                <a:ea typeface="맑은 고딕"/>
                <a:cs typeface="Consolas"/>
              </a:rPr>
              <a:t>−34.8h</a:t>
            </a:r>
          </a:p>
        </p:txBody>
      </p:sp>
      <p:sp>
        <p:nvSpPr>
          <p:cNvPr id="53" name="assump"/>
          <p:cNvSpPr/>
          <p:nvPr/>
        </p:nvSpPr>
        <p:spPr>
          <a:xfrm>
            <a:off x="502920" y="5288534"/>
            <a:ext cx="11185855" cy="1020825"/>
          </a:xfrm>
          <a:prstGeom prst="rect">
            <a:avLst/>
          </a:prstGeom>
          <a:solidFill>
            <a:srgbClr val="FFFFFF"/>
          </a:solidFill>
          <a:ln w="952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L1:t"/>
          <p:cNvSpPr txBox="1"/>
          <p:nvPr/>
        </p:nvSpPr>
        <p:spPr>
          <a:xfrm>
            <a:off x="667512" y="545312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ASSUMPTIONS · 읽는 법</a:t>
            </a:r>
          </a:p>
        </p:txBody>
      </p:sp>
      <p:sp>
        <p:nvSpPr>
          <p:cNvPr id="55" name="body:L2:asm"/>
          <p:cNvSpPr txBox="1"/>
          <p:nvPr/>
        </p:nvSpPr>
        <p:spPr>
          <a:xfrm>
            <a:off x="667512" y="5657596"/>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항목별 효과는 전체 927건 평균으로 환산한 값이다(사내수리 485건 대상 −30.5h → 전체 평균 −16.0h). 효과율(위 표 순서대로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20%·100%·100%·80%)이 바뀌면 효과는 비례해 달라지며, 표기 반올림은 합계와 일치하도록 보정했다.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0284C7"/>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64748B"/>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64748B"/>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EA580C"/>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59669"/>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▼32.9% (105.9h → 71.1h)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사진 사전 특정 · E-1/E-2 정밀검사 · Direct Booking (가정 기반 상한)</a:t>
            </a:r>
          </a:p>
        </p:txBody>
      </p:sp>
      <p:sp>
        <p:nvSpPr>
          <p:cNvPr id="20" name="hero"/>
          <p:cNvSpPr/>
          <p:nvPr/>
        </p:nvSpPr>
        <p:spPr>
          <a:xfrm>
            <a:off x="6446520" y="1554480"/>
            <a:ext cx="5242255" cy="4343400"/>
          </a:xfrm>
          <a:prstGeom prst="rect">
            <a:avLst/>
          </a:prstGeom>
          <a:solidFill>
            <a:srgbClr val="FFFFFF"/>
          </a:solidFill>
          <a:ln w="952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0284C7"/>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