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FE945AEC-EE9A-4EFC-BBE3-A5EB5685A2FE}">
          <p14:sldIdLst>
            <p14:sldId id="256"/>
            <p14:sldId id="257"/>
            <p14:sldId id="258"/>
          </p14:sldIdLst>
        </p14:section>
        <p14:section name="Part 01 · 데이터 진단" id="{200D1B22-6249-45A4-A4BB-4B9382D38ECB}">
          <p14:sldIdLst>
            <p14:sldId id="259"/>
            <p14:sldId id="260"/>
            <p14:sldId id="261"/>
          </p14:sldIdLst>
        </p14:section>
        <p14:section name="Part 02 · 병목 규명" id="{117D2AA4-0B94-49CD-9492-106BED019940}">
          <p14:sldIdLst>
            <p14:sldId id="262"/>
            <p14:sldId id="263"/>
            <p14:sldId id="264"/>
            <p14:sldId id="265"/>
            <p14:sldId id="266"/>
            <p14:sldId id="267"/>
            <p14:sldId id="268"/>
            <p14:sldId id="269"/>
            <p14:sldId id="270"/>
          </p14:sldIdLst>
        </p14:section>
        <p14:section name="Part 03 · 개선 전략" id="{1A4B5F4D-D751-4B90-8207-9B33191630EE}">
          <p14:sldIdLst>
            <p14:sldId id="271"/>
            <p14:sldId id="272"/>
            <p14:sldId id="273"/>
          </p14:sldIdLst>
        </p14:section>
        <p14:section name="Part 04 · Q&amp;A" id="{8033193F-C116-4139-B508-D75AD5EAB848}">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재수리가 이어진 26건은 1차 수리 완료 뒤 재수리 착수까지 평균 32.9시간, 최대 241.6시간(10.1일)을 더 기다렸고, 이 케이스들의 평균 총 리드타임은 171.6시간입니다. 재수리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재수리 시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 동시 925건 · 결측 복원 2건(+1분)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8470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패스트 트랙(15분 내) 평균)</a:t>
            </a:r>
          </a:p>
        </p:txBody>
      </p:sp>
      <p:pic>
        <p:nvPicPr>
          <p:cNvPr id="11" name="pic:rec" descr="slide09_reception_bottleneck_3panel.png"/>
          <p:cNvPicPr>
            <a:picLocks noChangeAspect="1"/>
          </p:cNvPicPr>
          <p:nvPr/>
        </p:nvPicPr>
        <p:blipFill>
          <a:blip r:embed="rId2"/>
          <a:stretch>
            <a:fillRect/>
          </a:stretch>
        </p:blipFill>
        <p:spPr>
          <a:xfrm>
            <a:off x="1753380" y="1960118"/>
            <a:ext cx="8684933" cy="2377440"/>
          </a:xfrm>
          <a:prstGeom prst="rect">
            <a:avLst/>
          </a:prstGeom>
        </p:spPr>
      </p:pic>
      <p:sp>
        <p:nvSpPr>
          <p:cNvPr id="12" name="c1"/>
          <p:cNvSpPr/>
          <p:nvPr/>
        </p:nvSpPr>
        <p:spPr>
          <a:xfrm>
            <a:off x="502920"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56590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4:bi"/>
          <p:cNvSpPr txBox="1"/>
          <p:nvPr/>
        </p:nvSpPr>
        <p:spPr>
          <a:xfrm>
            <a:off x="4475378" y="4999228"/>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19" name="c3"/>
          <p:cNvSpPr/>
          <p:nvPr/>
        </p:nvSpPr>
        <p:spPr>
          <a:xfrm>
            <a:off x="8082076"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264956"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1" name="body:L1:c"/>
          <p:cNvSpPr txBox="1"/>
          <p:nvPr/>
        </p:nvSpPr>
        <p:spPr>
          <a:xfrm>
            <a:off x="8264956"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2" name="body:L1:t"/>
          <p:cNvSpPr txBox="1"/>
          <p:nvPr/>
        </p:nvSpPr>
        <p:spPr>
          <a:xfrm>
            <a:off x="8264956" y="556590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3" name="body:L1:t"/>
          <p:cNvSpPr txBox="1"/>
          <p:nvPr/>
        </p:nvSpPr>
        <p:spPr>
          <a:xfrm>
            <a:off x="8264956" y="5825236"/>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 요인: 교차 인계·비실시간 채널, 물량은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지연 요인: 현장 98.3h 중 실사 방문 대기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a:t>
            </a:r>
          </a:p>
          <a:p>
            <a:pPr algn="l">
              <a:lnSpc>
                <a:spcPts val="2100"/>
              </a:lnSpc>
              <a:spcBef>
                <a:spcPts val="0"/>
              </a:spcBef>
              <a:buNone/>
            </a:pPr>
            <a:r>
              <a:rPr lang="ko-KR" sz="1500" b="0" dirty="0">
                <a:solidFill>
                  <a:srgbClr val="0F172A"/>
                </a:solidFill>
                <a:latin typeface="맑은 고딕"/>
                <a:ea typeface="맑은 고딕"/>
                <a:cs typeface="맑은 고딕"/>
              </a:rPr>
              <a:t>병목은 기사의 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1 원인: 일 유입 134.3건 vs CAPA 68.0건, 최대 적체 물량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E11D48"/>
                </a:solidFill>
                <a:latin typeface="맑은 고딕"/>
                <a:ea typeface="맑은 고딕"/>
                <a:cs typeface="맑은 고딕"/>
              </a:rPr>
              <a:t>유입이 실사 처리 용량(CAPA)을 넘는 구조</a:t>
            </a:r>
            <a:r>
              <a:rPr lang="ko-KR" sz="1300" b="0" dirty="0">
                <a:solidFill>
                  <a:srgbClr val="0F172A"/>
                </a:solidFill>
                <a:latin typeface="맑은 고딕"/>
                <a:ea typeface="맑은 고딕"/>
                <a:cs typeface="맑은 고딕"/>
              </a:rPr>
              <a:t>가 적체와 76.8h 대기의 원인 — 초과분이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2 요인: 사내수리는 자재 조달 30.5h, 재수리 시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재수리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사내 재수리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재수리</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완료 뒤 재수리 착수까지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E2E 리드타임 영향 요인: 실사 방문 대기 ≫ 사내수리 배정</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