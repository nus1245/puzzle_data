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B54C3A6D-64D4-459C-9F9F-D44CBE12E7A0}">
          <p14:sldIdLst>
            <p14:sldId id="256"/>
            <p14:sldId id="257"/>
            <p14:sldId id="258"/>
          </p14:sldIdLst>
        </p14:section>
        <p14:section name="Part 01 · 데이터 진단" id="{7C6D0631-7CEA-4852-90F3-D47F01A8C03B}">
          <p14:sldIdLst>
            <p14:sldId id="259"/>
            <p14:sldId id="260"/>
            <p14:sldId id="261"/>
          </p14:sldIdLst>
        </p14:section>
        <p14:section name="Part 02 · 병목 규명" id="{FF215918-96FF-4BF9-AE69-F4D3718CFCB6}">
          <p14:sldIdLst>
            <p14:sldId id="262"/>
            <p14:sldId id="263"/>
            <p14:sldId id="264"/>
            <p14:sldId id="265"/>
            <p14:sldId id="266"/>
            <p14:sldId id="267"/>
            <p14:sldId id="268"/>
            <p14:sldId id="269"/>
            <p14:sldId id="270"/>
          </p14:sldIdLst>
        </p14:section>
        <p14:section name="Part 03 · 개선 전략" id="{85824352-7988-4445-B6D9-79F3CA01E47E}">
          <p14:sldIdLst>
            <p14:sldId id="271"/>
            <p14:sldId id="272"/>
            <p14:sldId id="273"/>
          </p14:sldIdLst>
        </p14:section>
        <p14:section name="Part 04 · Q&amp;A" id="{C0076D06-1C40-4CAD-8FBB-24ECA56B73C5}">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19"/>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적중(E→사내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100.0%, P→즉시 83.1%)과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recA"/>
          <p:cNvSpPr/>
          <p:nvPr/>
        </p:nvSpPr>
        <p:spPr>
          <a:xfrm>
            <a:off x="502920"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FIG.09-A · 단독 vs 교차 인계 · 평균 접수시간</a:t>
            </a:r>
          </a:p>
        </p:txBody>
      </p:sp>
      <p:pic>
        <p:nvPicPr>
          <p:cNvPr id="11" name="pic:recA" descr="slide09a_handover.png"/>
          <p:cNvPicPr>
            <a:picLocks noChangeAspect="1"/>
          </p:cNvPicPr>
          <p:nvPr/>
        </p:nvPicPr>
        <p:blipFill>
          <a:blip r:embed="rId2"/>
          <a:stretch>
            <a:fillRect/>
          </a:stretch>
        </p:blipFill>
        <p:spPr>
          <a:xfrm>
            <a:off x="630936" y="1960118"/>
            <a:ext cx="3350666" cy="2010399"/>
          </a:xfrm>
          <a:prstGeom prst="rect">
            <a:avLst/>
          </a:prstGeom>
        </p:spPr>
      </p:pic>
      <p:sp>
        <p:nvSpPr>
          <p:cNvPr id="12" name="rec-recB"/>
          <p:cNvSpPr/>
          <p:nvPr/>
        </p:nvSpPr>
        <p:spPr>
          <a:xfrm>
            <a:off x="4292498"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4420514"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FIG.09-B · 채널별 15분 이내 · 60분 초과 비율</a:t>
            </a:r>
          </a:p>
        </p:txBody>
      </p:sp>
      <p:pic>
        <p:nvPicPr>
          <p:cNvPr id="14" name="pic:recB" descr="slide09b_channel_cohort.png"/>
          <p:cNvPicPr>
            <a:picLocks noChangeAspect="1"/>
          </p:cNvPicPr>
          <p:nvPr/>
        </p:nvPicPr>
        <p:blipFill>
          <a:blip r:embed="rId3"/>
          <a:stretch>
            <a:fillRect/>
          </a:stretch>
        </p:blipFill>
        <p:spPr>
          <a:xfrm>
            <a:off x="4420514" y="1960118"/>
            <a:ext cx="3350666" cy="2010399"/>
          </a:xfrm>
          <a:prstGeom prst="rect">
            <a:avLst/>
          </a:prstGeom>
        </p:spPr>
      </p:pic>
      <p:sp>
        <p:nvSpPr>
          <p:cNvPr id="15" name="rec-recC"/>
          <p:cNvSpPr/>
          <p:nvPr/>
        </p:nvSpPr>
        <p:spPr>
          <a:xfrm>
            <a:off x="8082076"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8210092"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FIG.09-C · 패스트 트랙(15분 내) 채널별 평균</a:t>
            </a:r>
          </a:p>
        </p:txBody>
      </p:sp>
      <p:pic>
        <p:nvPicPr>
          <p:cNvPr id="17" name="pic:recC" descr="slide09c_fast_channel.png"/>
          <p:cNvPicPr>
            <a:picLocks noChangeAspect="1"/>
          </p:cNvPicPr>
          <p:nvPr/>
        </p:nvPicPr>
        <p:blipFill>
          <a:blip r:embed="rId4"/>
          <a:stretch>
            <a:fillRect/>
          </a:stretch>
        </p:blipFill>
        <p:spPr>
          <a:xfrm>
            <a:off x="8210092" y="1960118"/>
            <a:ext cx="3350666" cy="2010399"/>
          </a:xfrm>
          <a:prstGeom prst="rect">
            <a:avLst/>
          </a:prstGeom>
        </p:spPr>
      </p:pic>
      <p:sp>
        <p:nvSpPr>
          <p:cNvPr id="18" name="c1"/>
          <p:cNvSpPr/>
          <p:nvPr/>
        </p:nvSpPr>
        <p:spPr>
          <a:xfrm>
            <a:off x="502920"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685800"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20" name="body:L1:a"/>
          <p:cNvSpPr txBox="1"/>
          <p:nvPr/>
        </p:nvSpPr>
        <p:spPr>
          <a:xfrm>
            <a:off x="685800"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21" name="body:L2:t"/>
          <p:cNvSpPr txBox="1"/>
          <p:nvPr/>
        </p:nvSpPr>
        <p:spPr>
          <a:xfrm>
            <a:off x="685800" y="5198861"/>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22" name="c2"/>
          <p:cNvSpPr/>
          <p:nvPr/>
        </p:nvSpPr>
        <p:spPr>
          <a:xfrm>
            <a:off x="4292498"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label:L1:t"/>
          <p:cNvSpPr txBox="1"/>
          <p:nvPr/>
        </p:nvSpPr>
        <p:spPr>
          <a:xfrm>
            <a:off x="4475378"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24" name="body:L4:bi"/>
          <p:cNvSpPr txBox="1"/>
          <p:nvPr/>
        </p:nvSpPr>
        <p:spPr>
          <a:xfrm>
            <a:off x="4475378" y="4632187"/>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25" name="c3"/>
          <p:cNvSpPr/>
          <p:nvPr/>
        </p:nvSpPr>
        <p:spPr>
          <a:xfrm>
            <a:off x="8082076"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7" name="body:L1:c"/>
          <p:cNvSpPr txBox="1"/>
          <p:nvPr/>
        </p:nvSpPr>
        <p:spPr>
          <a:xfrm>
            <a:off x="8264956"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8" name="body:L1:t"/>
          <p:cNvSpPr txBox="1"/>
          <p:nvPr/>
        </p:nvSpPr>
        <p:spPr>
          <a:xfrm>
            <a:off x="8264956" y="5198861"/>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9" name="body:L1:t"/>
          <p:cNvSpPr txBox="1"/>
          <p:nvPr/>
        </p:nvSpPr>
        <p:spPr>
          <a:xfrm>
            <a:off x="8264956" y="5458195"/>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P.10 ]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P.11 ]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마무리 · P.19 ]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검토해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