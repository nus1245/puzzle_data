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2B6D37F4-683C-4C2C-8A8B-953A22F64977}">
          <p14:sldIdLst>
            <p14:sldId id="256"/>
            <p14:sldId id="257"/>
            <p14:sldId id="258"/>
          </p14:sldIdLst>
        </p14:section>
        <p14:section name="Part 01 · 데이터 진단" id="{C18C3221-E0DE-448C-8F07-783B5007FBB9}">
          <p14:sldIdLst>
            <p14:sldId id="259"/>
            <p14:sldId id="260"/>
            <p14:sldId id="261"/>
          </p14:sldIdLst>
        </p14:section>
        <p14:section name="Part 02 · 병목 규명" id="{F795C5FE-5BDB-45FF-BF94-F041C8FAAED5}">
          <p14:sldIdLst>
            <p14:sldId id="262"/>
            <p14:sldId id="263"/>
            <p14:sldId id="264"/>
            <p14:sldId id="265"/>
            <p14:sldId id="266"/>
            <p14:sldId id="267"/>
            <p14:sldId id="268"/>
            <p14:sldId id="269"/>
            <p14:sldId id="270"/>
          </p14:sldIdLst>
        </p14:section>
        <p14:section name="Part 03 · 개선 전략" id="{DFAB933C-6253-4103-B56F-60603A183D10}">
          <p14:sldIdLst>
            <p14:sldId id="271"/>
            <p14:sldId id="272"/>
            <p14:sldId id="273"/>
          </p14:sldIdLst>
        </p14:section>
        <p14:section name="Part 04 · Q&amp;A" id="{96239EB7-DC39-4DA5-B32F-E22616D2FD8C}">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교차 인계 ↔ 실시간 채널 </a:t>
            </a:r>
            <a:r>
              <a:rPr lang="ko-KR" sz="1250" b="1" dirty="0">
                <a:solidFill>
                  <a:srgbClr val="2563EB"/>
                </a:solidFill>
                <a:latin typeface="맑은 고딕"/>
                <a:ea typeface="맑은 고딕"/>
                <a:cs typeface="맑은 고딕"/>
              </a:rPr>
              <a:t>r = −0.40 </a:t>
            </a:r>
            <a:r>
              <a:rPr lang="ko-KR" sz="1250" b="0" dirty="0">
                <a:solidFill>
                  <a:srgbClr val="0F172A"/>
                </a:solidFill>
                <a:latin typeface="맑은 고딕"/>
                <a:ea typeface="맑은 고딕"/>
                <a:cs typeface="맑은 고딕"/>
              </a:rPr>
              <a:t>: 인계 123건 전부 웹·우편이라</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두 변수가 얽힘 → 순수 효과는 다음 장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