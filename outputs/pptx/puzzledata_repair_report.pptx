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FF3EE955-51F9-4002-95E7-E7C226FEC585}">
          <p14:sldIdLst>
            <p14:sldId id="256"/>
            <p14:sldId id="257"/>
            <p14:sldId id="258"/>
          </p14:sldIdLst>
        </p14:section>
        <p14:section name="Part 01 · 데이터 진단" id="{F2E608F2-D8B8-4B49-9A07-DEA19B5A5437}">
          <p14:sldIdLst>
            <p14:sldId id="259"/>
            <p14:sldId id="260"/>
            <p14:sldId id="261"/>
          </p14:sldIdLst>
        </p14:section>
        <p14:section name="Part 02 · 병목 규명" id="{8E44AB12-7B87-4EF1-912E-3382A8F2EEDE}">
          <p14:sldIdLst>
            <p14:sldId id="262"/>
            <p14:sldId id="263"/>
            <p14:sldId id="264"/>
            <p14:sldId id="265"/>
            <p14:sldId id="266"/>
            <p14:sldId id="267"/>
            <p14:sldId id="268"/>
            <p14:sldId id="269"/>
            <p14:sldId id="270"/>
          </p14:sldIdLst>
        </p14:section>
        <p14:section name="Part 03 · 개선 전략" id="{5A1E9D1C-3243-4D8B-99B7-58A839239036}">
          <p14:sldIdLst>
            <p14:sldId id="271"/>
            <p14:sldId id="272"/>
            <p14:sldId id="273"/>
          </p14:sldIdLst>
        </p14:section>
        <p14:section name="Part 04 · Q&amp;A" id="{86249981-C785-4986-9B85-986F0EE3D53C}">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 시각은 늦게 끝난 쪽과 927건 중 925건(99.8%) 일치하며 나머지 2건은 1분 차이입니다.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1671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689105" y="1868678"/>
            <a:ext cx="8813484" cy="2697480"/>
          </a:xfrm>
          <a:prstGeom prst="rect">
            <a:avLst/>
          </a:prstGeom>
        </p:spPr>
      </p:pic>
      <p:sp>
        <p:nvSpPr>
          <p:cNvPr id="11" name="c1"/>
          <p:cNvSpPr/>
          <p:nvPr/>
        </p:nvSpPr>
        <p:spPr>
          <a:xfrm>
            <a:off x="502920" y="4831334"/>
            <a:ext cx="3606698" cy="139725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0142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t"/>
          <p:cNvSpPr txBox="1"/>
          <p:nvPr/>
        </p:nvSpPr>
        <p:spPr>
          <a:xfrm>
            <a:off x="685800" y="52278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4831334"/>
            <a:ext cx="3606698" cy="139725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0142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4475378" y="52278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8082076" y="4831334"/>
            <a:ext cx="3606698" cy="139725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0142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4:settle"/>
          <p:cNvSpPr txBox="1"/>
          <p:nvPr/>
        </p:nvSpPr>
        <p:spPr>
          <a:xfrm>
            <a:off x="8264956" y="5227828"/>
            <a:ext cx="3240938" cy="81788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수리 완료 알림 후 </a:t>
            </a:r>
            <a:r>
              <a:rPr lang="ko-KR" sz="1150" b="1" dirty="0">
                <a:solidFill>
                  <a:srgbClr val="2563EB"/>
                </a:solidFill>
                <a:latin typeface="맑은 고딕"/>
                <a:ea typeface="맑은 고딕"/>
                <a:cs typeface="맑은 고딕"/>
              </a:rPr>
              <a:t>고객 통보·재무</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전송 </a:t>
            </a:r>
            <a:r>
              <a:rPr lang="ko-KR" sz="1150" b="0" dirty="0">
                <a:solidFill>
                  <a:srgbClr val="334155"/>
                </a:solidFill>
                <a:latin typeface="맑은 고딕"/>
                <a:ea typeface="맑은 고딕"/>
                <a:cs typeface="맑은 고딕"/>
              </a:rPr>
              <a:t>시스템 병렬 시행</a:t>
            </a:r>
          </a:p>
          <a:p>
            <a:pPr algn="l">
              <a:lnSpc>
                <a:spcPts val="1610"/>
              </a:lnSpc>
              <a:spcBef>
                <a:spcPts val="0"/>
              </a:spcBef>
              <a:buNone/>
            </a:pPr>
            <a:r>
              <a:rPr lang="ko-KR" sz="1150" b="0" dirty="0">
                <a:solidFill>
                  <a:srgbClr val="334155"/>
                </a:solidFill>
                <a:latin typeface="맑은 고딕"/>
                <a:ea typeface="맑은 고딕"/>
                <a:cs typeface="맑은 고딕"/>
              </a:rPr>
              <a:t>병렬 수행 마지막 시각과 티켓 발행 시각 일치</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925건(99.8%)</a:t>
            </a:r>
            <a:r>
              <a:rPr lang="ko-KR" sz="1150" b="0" dirty="0">
                <a:solidFill>
                  <a:srgbClr val="334155"/>
                </a:solidFill>
                <a:latin typeface="맑은 고딕"/>
                <a:ea typeface="맑은 고딕"/>
                <a:cs typeface="맑은 고딕"/>
              </a:rPr>
              <a:t>, 나머지 2건은 1분 차이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