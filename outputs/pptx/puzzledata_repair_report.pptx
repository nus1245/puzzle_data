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art 00 · 인트로" id="{1542BB31-012A-45E1-86B8-13B7E501533E}">
          <p14:sldIdLst>
            <p14:sldId id="256"/>
            <p14:sldId id="257"/>
            <p14:sldId id="258"/>
          </p14:sldIdLst>
        </p14:section>
        <p14:section name="Part 01 · 데이터 진단" id="{AE669E35-6B41-4B2E-A7D8-62C361CEF257}">
          <p14:sldIdLst>
            <p14:sldId id="259"/>
            <p14:sldId id="260"/>
            <p14:sldId id="261"/>
          </p14:sldIdLst>
        </p14:section>
        <p14:section name="Part 02 · 병목 규명" id="{9D0ABAD8-284A-493D-BE0F-9DBA2342BA15}">
          <p14:sldIdLst>
            <p14:sldId id="262"/>
            <p14:sldId id="263"/>
            <p14:sldId id="264"/>
            <p14:sldId id="265"/>
            <p14:sldId id="266"/>
            <p14:sldId id="267"/>
            <p14:sldId id="268"/>
            <p14:sldId id="269"/>
            <p14:sldId id="270"/>
          </p14:sldIdLst>
        </p14:section>
        <p14:section name="Part 03 · 개선 전략" id="{FBCEFD00-7F71-4482-84EC-58BB59BE7EE6}">
          <p14:sldIdLst>
            <p14:sldId id="271"/>
            <p14:sldId id="272"/>
            <p14:sldId id="273"/>
          </p14:sldIdLst>
        </p14:section>
        <p14:section name="Part 04 · Q&amp;A" id="{7A98EB00-5303-41AB-8E03-24F144511369}">
          <p14:sldIdLst>
            <p14:sldId id="274"/>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안녕하십니까, 퍼즐데이터 데이터 분석가 신입 직무에 지원한 조승훈입니다. 이 보고서는 공공임대주택 수리 이벤트 로그 13,262행(1,000개 케이스)을 프로세스 마이닝 관점에서 분석해, 리드타임의 90.5가 공정 간 대기라는 사실과 그 구조적 원인, 그리고 실행 가능한 개선안을 제시합니다.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발표는 4개 파트입니다. 질문 1에서 데이터 진단과 전처리를, 질문 2에서 프로세스 병목과 원인을, 질문 3에서 개선안과 기대 효과를 보고드리고 핵심 요약으로 마치겠습니다. 각 타일을 클릭하면 해당 파트로 이동합니다.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핵심 가설은 명확합니다. 수리가 늦어지는 것은 기사가 느려서가 아니라 공정 사이의 대기와 접수 단계의 비동기 소통 지연 때문입니다. 전체 105.9시간 중 95.8시간(90.5%)이 대기입니다. [예상 질문] 90.5%의 정의는? → 작업을 현장 실작업(4.6h)과 정산 시스템 처리(5.5h)로 보고 나머지를 대기로 산정했습니다. 현장 실작업만 작업으로 보면 대기 비중은 95.7%입니다.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데이터를 열어 가장 먼저 확인한 것은 구조였습니다. 이 데이터는 공정마다 행이 쌓이는 이벤트 로그이고, 약 86.0~93.0%의 결측은 접수·실사·수리 완료 등 특정 이벤트에서만 기록되는 속성이라 구조적으로 비는 정상 결측입니다. 반면 필수 속성이 비어 있는 비정상 결측 행은 13,262행 중 20행(18개 케이스)뿐이어서 이 행만 복원 대상으로 특정했습니다. 0.1~86.0% 구간에는 속성이 하나도 없어 판별 기준이 명확합니다.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복원 과정에서 단 한 행도 버리지 않았습니다. 시작·완료 담당자의 일치율 100%와 태스크 고유 속성을 근거로 CASE 1~3을 복원했고, 날짜는 시각이 정상인 859행에 순서 제약을 걸어 복원했습니다. 시각은 정상 접수 표본 754케이스의 중앙값 4.0분을 앵커타임 기준으로 역산했습니다. 그 결과 시간 역전이 0건인 데이터셋을 확보했습니다. [예상 질문] 표본 수가 751건이 아닌가? → 현재 노트북(Cell 63) 재실행 기준 754건(기준 케이스 755건)입니다.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전처리를 마친 결과, 행 손실 없이 시간 역전 0건인 13,262행 데이터셋을 확보했습니다. 이 과정에서 수리회사의 운영 특성 두 가지가 드러났습니다. 첫째, 접수 이벤트가 24개 시간대 모두에서 발생해 야간 방치 가설은 기각됩니다. 둘째, 1회 접수 주택이 96.1%라 지역 분담처럼 보이지만 재접수 35채 중 22채는 다른 상담원이 받았고, 현장 출동 케이스의 접수 담당 비중(Dian:Monica)도 46.9:53.1로 고르게 분산돼 접수와 현장 모두 구역 제한 없는 단일 풀입니다. 이 환경을 바탕으로 질문 2의 기준 프로세스 모델로 넘어가겠습니다.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병목 분석 전에, 모든 분석의 기준선이 될 E2E 프로세스 모델입니다. 접수 단계에서 오접수 73건이 조기 이탈하고 927건이 정상 접수가 됩니다. 현장은 단방향 에스컬레이션입니다. 즉시수리에서 사내수리로 23건, 즉시수리에서 외주로 38건, 사내수리에서 외주로 35건, 총 96회 인계되기만 하고 외주 이후 되돌아간 전이는 0건입니다. 정산은 고객 통보 469건 : 재무 전송 456건(50.6% : 49.2%)으로 대칭 선행하는 병렬 구조이며, 고객 통보와 재무 전송은 병렬이고, 티켓 발행이 병렬 종료보다 앞선 역전은 927건 중 0건입니다. 925건(99.8%)은 병렬 종료와 동시에 마감됐고, 나머지 2건(케이스 154·959)은 원본 티켓 시각이 결측·더미여서 정상 표본 중앙값 1분을 앞선 작업 시각에 더해 복원한 순차 마감입니다. [근거 보강] 시각이 원본인 정상 표본 335건에서도 168:167로 대등합니다(노트북 Cell 75).</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수리가 늦어지는 진짜 원인은 무엇일까요? 전체 105.9시간 중 작업은 10.1시간에 불과하고 95.8시간(90.5%)이 공정 사이의 대기였습니다. 이 대기의 97.8%가 현장 국면에 있습니다. 3대 병목은 접수 일정 조율, 현장 실사 방문 대기(76.8h), 사내수리 자재 대기(30.5h)입니다. [예상 질문] 정산 5.5h를 왜 작업으로 보나? → 시스템 자동 처리 구간이라 보수적으로 작업으로 산정했고, 이를 대기로 보면 대기 비중은 더 커집니다.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구간의 핵심은 이봉 분포입니다. 가운데 패널을 보면 전화·대면은 항상 15분 이내에 끝나지만, 웹·우편은 15분 이내 단기 접수(49.6%) 아니면 60분 초과 장기 대기(50.4%)로 갈리고(접수 소요시간은 최초 접수에서 방문 일정이 확정되기까지의 시간) 그 사이 15~60분 구간은 0건입니다. 즉 조금씩 늦어지는 것이 아니라 일정 조율이 막히는 순간 장기 지연으로 넘어갑니다. 교차 인계 123건은 전부 이 장기 대기 쪽에서, 웹·우편에서만 발생했습니다(물량과의 무관성은 다음 장에서 확인). 단독 처리 804건은 평균 1.20시간이지만 인계 123건은 7.87시간으로 6.6배입니다. 인계 123건은 전부 웹·우편에서만 발생했습니다. 그렇다고 웹이 느린 것은 아닙니다. 빠르게 끝난 건만 보면 웹이 6.8분으로 가장 빠르며, 문제는 일정 확정을 위한 비동기 조율 공백입니다. [예상 질문] 15분 이내 비율이 100%가 아닌 이유? → 15.0분 정각 건을 포함해 ≤15분으로 통일했습니다.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구간에 영향을 줄 만한 9개 변수의 상관관계입니다. 접수 소요시간과 가장 강하게 같이 움직이는 것은 교차 인계(r=0.48)와 실시간 채널 여부(r=−0.43)입니다. 반면 일별 접수량은 r=0.01로 접수 시간과 무관하고, 오히려 현장 실사 대기와 r=0.17의 약한 양의 상관을 보입니다. 접수량은 접수창구가 아니라 뒤의 현장 대기열에 영향을 준다는 뜻입니다. 그런데 교차 인계와 실시간 채널여부 사이에도 r=−0.40의 상관이 있습니다. 인계 123건이 전부 웹·우편 접수라서 두 변수가 겹쳐 움직이기 때문입니다. 상관은 이런 얽힘을 통제하지 못하므로, 다음 장에서 회귀분석으로 순수 효과를 분리합니다. [예상 질문] 상관이 인과인가? → 아닙니다. 그래서 OLS로 채널·인계·물량을 동시에 통제해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소요시간을 종속변수로 채널, 인계, 일별 접수량을 동시에 넣은 회귀입니다. 교차 인계는 다른 조건이 같을 때 접수 시간을 +5.11시간(95% 신뢰구간 4.30~5.92) 늘리고, 비실시간 채널(웹·우편)은 +2.62시간 늘립니다. 일별 접수량은 +1건당 0.0016시간, p=0.752로 유의하지 않습니다. 모형 설명력은 30.0%이며 다중공선성은 VIF 최대 1.20로 문제 없습니다. 채널을 세분화하면 전화 대비 웹 +2.99시간, 우편 +2.21시간이고 대면은 차이가 없습니다. [예상 질문] 단순 평균 차이 +6.7h와 +5.11h가 다른 이유? → 후자는 채널과 물량을 통제한 순수 효과입니다.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현장 국면 98.3시간 중 기사가 실제로 일한 시간은 4.7%(4.6h)뿐이고 나머지 95.3%(93.7h)가 대기입니다. 그중 접수 후 방문까지 기다리는 실사 방문 대기가 76.8시간(약 3.2일)으로 현장 시간의 78.2%를 차지하는 1위 병목입니다. [예상 질문] Wait 2가 SQL 주석의 15.9h와 다르다? → SQL은 실사 완료~1차 착수(엄격 정의 15.9h), 도넛은 재수리 인계 대기를 포함한 잔여 정의(16.9h)이며 둘 다 데이터로 재현됩니다.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그렇다면 실사 대기는 왜 길어질까요? 원인은 처리 용량(CAPA)입니다. 파란 막대가 일일 접수 유입으로 평균 134.3건, 회색 막대가 기사 11명의 실사 착수로 평균 68.0건입니다. 유입이 처리 능력을 약 2배 넘으면서 미처리 대기열이 Day 1의 20건에서 Day 7에 403건까지 20배 늘었습니다. 하루 약 66.3건씩 쌓인 셈입니다. [예상 질문] 유입과 CAPA 산출 구간이 다른데? → 유입은 집중 유입기(1/2~1/7), CAPA는 1/1~1/8 평균입니다. 같은 구간(1/2~1/7)으로 맞춰도 소화율은 52.5%로 결론이 같습니다.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다음 병목은 수리 착수 단계입니다. 즉시수리와 외주수리는 착수 대기가 0.0시간인데, 사내수리 485건만 부품 조달과 일정 조율로 평균 30.5시간을 기다립니다. 또 사내수리 후 재수리가 이어진 26건은 1차 수리 완료 뒤 재수리 착수까지 평균 32.9시간, 최대 241.6시간(10.1일)을 더 기다렸고, 이 케이스들의 평균 총 리드타임은 171.6시간입니다. 재수리 26건 중 22건(84.6%)이 E-1·E-2 코드에 집중되어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접수·실사·수리 착수 세 병목을 모두 확인했으니, 이 중 무엇이 전체 리드타임에 가장 크게 영향을 주는지 E2E 회귀로 종합합니다(비실시간 채널은 접수 요인이지만 같은 전체 모형의 변수입니다). E2E 리드타임을 설명하는 회귀모형의 설명력은 87.8%입니다. 실사 방문 대기는 1시간당 1.12시간, 사내수리 배정은 +31.75시간, 비실시간 채널은 +4.89시간 영향을 줍니다. 실사 지연의 계수가 1.12이므로 실사 대기를 1시간 줄이면 전체 리드타임이 1.12시간 줄어드는 지렛대 효과가 있고, 평균 기여로는 실사 지연 86.3시간이 사내수리 16.6시간보다 큽니다. 2차 에스컬레이션은 비유의합니다. [예상 질문] 실사 지연은 리드타임의 구성요소라 계수가 기계적으로 커지는 것 아닌가? → 맞습니다. 그래서 계수 1.12는 순수 인과가 아니라 '실사 대기가 길어질 때 이후 대기도 함께 길어지는 파급'을 포함한 지렛대 추정이며, 사내수리·비실시간 채널은 구성요소가 아닌 외생 요인이라 별도로 해석합니다. [예상 질문] 다중공선성은? → VIF 최대 1.02로 문제 없습니다. [정정] F-통계량은 노트북 출력 1,652.8입니다.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접수원의 사전 분류는 이미 현장 결과와 83.2~87.3% 일치합니다. 그런데도 모든 건이 방문 실사를 거치는 이유는 정보 해상도 단절입니다. 접수는 B·P·E 알파벳만 수집하고, 현장은 약 40.5분 실사 후 1~4 세부 코드를 판정합니다. 그 결과 채널이 달라도 실사로 가는 줄은 하나입니다. 채널별 실사 대기는 70.1~80.4시간으로 통계적으로 차이가 없습니다(Kruskal p=0.64). 이 한 줄에서 즉시 수리 건(접수 코드 P-1·3, 365건)을 따로 빼자는 것이 제안입니다. 즉시 수리는 건수로는 39.4%이지만, 실사를 시작하면 기사가 수리까지 연속으로 맡아 큐 점유시간은 73.3%입니다(건당 2.75시간, 나머지 0.65시간). 실사에서 수리 착수까지 간격은 0.00시간이고 같은 기사가 100.0% 맡았습니다. 고속도로로 비유하면 큐를 오래 점유하는 화물차만 따로 빼자는 것입니다. [적중 기준] 비교 대상은 세부코드가 아니라 접수 알파벳(B·P·E)과 실제 1차 수리 방식입니다. 세부코드 1~4는 현장 실사 후 판정되는 값이라 접수 시점에는 없습니다. E형 370건은 전부 사내수리(100.0%), P형 439건 중 즉시수리는 365건(83.1%)이며 즉시수리 기저율 41.3%의 약 2.0배입니다. 즉시수리 383건 중 P가 잡아낸 비율은 95.3%입니다(놓친 건은 B-1). [정정] 도넛의 87.3%는 E·P로 분류된 비율(809/927건)이지 예측 정확도가 아닙니다. 사내 완결(즉시·사내) 기준으로 외주 P-4(38건)를 빼면 83.2%(771건)지만, 아무 건이나 사내 완결로 찍어도 93.6%라 변별력이 약해 근거로 쓰지 않습니다. 엄격 기준(E→사내, P→즉시)의 일치는 E·P 기준 90.9%, 전체 기준 79.3%(735건)입니다. 주의: 사내 완결 83.2%(전체 기준)와 P 즉시 83.1%(P 기준)는 서로 다른 값입니다. [예상 질문] 알파벳 P·E·B의 의미는? → 원천에 정의서가 없어 실측 수리 방식 분포로 해석했습니다(E 전량 사내, P 대부분 즉시, B 혼합). 세부코드는 (알파벳, 코드) 조합마다 수리 방식이 하나로 정해져 사후 라벨일 수 있어 접수 시점 취득 가능성은 가정입니다. [예상 질문] B형은? → B형 118건은 이미 실사 대기가 평균 0.1시간으로 큐를 사실상 우회하고 있어 분리 대상에서 뺐습니다.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개선 전략은 하나입니다. 접수 단계의 사전 필터 신뢰도를 높여 뒤 공정의 시간을 줄이는 것이고, 구체적으로는 Direct Booking입니다. 지금은 채널이 달라도 927건이 전부 실사 큐 한 줄에 서는데, 즉시 수리 건만 따로 뺍니다. 즉시 수리는 실사 도중 기본 키트로 끝낼 수 있는 작업이라 실사 대기줄을 거칠 이유가 없고, 작업 줄로 바로 이관할 수 있습니다. 수리 시간은 평균 1.99시간으로 사내수리 4.25시간의 47% 수준입니다. 분류는 접수 정보의 해상도로 합니다. 현재는 B·P·E 알파벳만 받고 상담원이 기사 일정을 확인해 회신하는 비동기 핑퐁이라 교차 인계가 123건 발생했습니다. 웹 양식은 빠른 건 평균 6.8분으로 정보 추출이 가장 빨라, 이 포맷을 전 채널에 적용하고 세부 코드(1~4) 수준으로 받습니다. 즉시 코드로 확정된 건은 기사 캘린더에서 고객이 슬롯을 직접 고릅니다. 보조 전략은 정밀검사입니다. 복합진단 B형 118건과 외주 전환 59건(P-4 38건 + B-4 21건)은 실사를 유지하고, 재작업 26건 중 22건이 E-1·E-2에 몰려 있어 E형도 정밀검사로 재방문을 막습니다. [정정] 외주는 E형이 아니라 P-4와 B-4에서 나왔고 E형 외주는 0건입니다. 또한 리워크 지연(+32.9h)은 사내 재수리 26건에서 발생했고 E-1·E-2에 22건이 몰려 있습니다. 외주 위탁 코드 P-4·B-4(59건)는 1차부터 외주로 가서 사내 재수리가 0건이므로, 이 코드의 정밀검사 목적은 리워크 방지가 아니라 외주 사전 확정입니다. [예상 질문] 분류가 틀리면? → 알파벳 P만으로도 83.1%(365/439건)가 즉시 수리였고, 오분류 74건(16.9%)을 세부 코드로 거르는 것이 고도화의 목표이자 파일럿 KPI입니다. [예상 질문] 세부 코드를 접수 시점에 얻을 수 있나? → 로그의 코드는 수리 방식과 100% 일치해 사후 확정 라벨일 수 있고, 접수 시점 취득 가능성은 데이터로 검증할 수 없어 전제로 두었습니다. [예상 질문] 기사 풀이 같은데 줄을 나누면? → 기사 11명이 두 줄을 공유하므로 용량이 늘어나는 것이 아니라 슬롯 배분 정책입니다. 효과는 다음 장에서 가정과 파일럿으로 다룹니다. [예상 질문] 우편은? → 우편 207건은 웹 전환이 전제입니다.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효과는 하나의 가정으로만 계산했습니다. 즉시 수리 365건이 실사 줄에서 빠지면 실사 줄 유입이 일 134.3건에서 81.4건으로 39.4% 줄어듭니다. 이 유입 감소의 약 절반만 대기 단축으로 반영해 실사 대기를 20%, 즉 76.8시간에서 61.4시간으로 15.4시간 줄인다고 가정합니다. 실사 대기는 리드타임의 구성요소이므로 1대1로 반영해 105.9시간이 90.5시간, ▼14.5%입니다. 단축률이 10%면 ▼7.3%, 30%면 ▼21.8%입니다. 이 숫자는 예측이 아니라 가정입니다. 기사 11명을 두 줄이 공유하고 관측 데이터에는 줄을 나눈 사례가 없어 순수 효과는 식별되지 않습니다. 그래서 실험 설계를 구상했습니다. 대상은 Direct Booking 케이스와 실사 대기 케이스이고, 비교는 동일 기간 내 Direct Booking으로 빠진 이후 실사 대기 케이스의 실사 대기 시간 증감 추이이며(전후와 동시 비교를 결합한 이중차분 DID 형태로 확장 가능), 평가는 Direct Booking 유도 적중률, 실사 대기 케이스의 실사 대기 시간 감소폭, 적체 WIP 부담 등입니다. 자재 사전 확보, 재방문 방지, 접수 인계 제거는 근거가 부족해 효과에서 제외했고 상방 요인으로 남깁니다. [예상 질문] DID를 쓰면 되지 않나? → 동일 기간의 비교군과 전후 변화를 함께 보면 시간 효과를 제거할 수 있습니다. 다만 두 케이스가 기사 11명과 하나의 대기열을 공유해 비교군도 줄 분리의 혜택을 받으므로(파급), 추정치는 건별 효과가 아니라 시스템 효과로 해석하고, 평행 추세 가정과 일 단위 교대 적용을 함께 점검합니다. [예상 질문] 20%의 근거는? → 유입 감소율 39.4%의 약 절반이라는 보수 가정입니다. 참고로 일별 대기열 모델에서 실사 단계가 사라져 해방되는 기사 시간 7.2%만 반영해도 평균 대기가 약 18% 줄지만, 기준값이 구성상 항등식이고 부하가 큰 8일 구간이라 상한 참고로만 씁니다. [예상 질문] 줄별 평균(즉시 줄, 나머지 줄)으로 계산하지 않은 이유는? → 두 줄은 지금 하나의 대기열을 공유한 상태의 평균이라 줄을 나눈 뒤의 대기를 대표하지 않고, B형 118건(대기 0.1시간)이 섞여 있어 실제 큐 대기와도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이상으로 보고를 마칩니다. 13,262행 전수 보존 전처리, 76.8시간의 실사 대기 병목과 원인 규명, 그리고 가정을 명시하고 실험 설계로 검증하는 TO-BE 시나리오까지 설명드렸습니다. 질문 주시면 답변드리겠습니다. 감사합니다.</a:t>
            </a:r>
          </a:p>
          <a:p/>
          <a:p>
            <a:r>
              <a:t>[핵심 숫자 치트시트] 리드타임 105.9h · 대기 95.8h(90.5%) · 실사 대기 76.8h · 유입 134.3 vs CAPA 68.0 · 적체 403건 · 인계 6.6배 · OLS 실사 1.12h/h · 사내수리 +31.75h · 자재 30.5h · 재수리 26건 +32.9h · 사전 적중 E→사내 100.0%, P→즉시 83.1% · 감축 ▼14.5%</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slide" Target="slide4.xml"/><Relationship Id="rId4" Type="http://schemas.openxmlformats.org/officeDocument/2006/relationships/slide" Target="slide7.xml"/><Relationship Id="rId5" Type="http://schemas.openxmlformats.org/officeDocument/2006/relationships/slide" Target="slide16.xml"/><Relationship Id="rId6" Type="http://schemas.openxmlformats.org/officeDocument/2006/relationships/slide" Target="slide19.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502920"/>
            <a:ext cx="6766560" cy="200660"/>
          </a:xfrm>
          <a:prstGeom prst="rect">
            <a:avLst/>
          </a:prstGeom>
          <a:noFill/>
        </p:spPr>
        <p:txBody>
          <a:bodyPr wrap="square" lIns="0" tIns="0" rIns="0" bIns="0" anchor="t">
            <a:noAutofit/>
          </a:bodyPr>
          <a:lstStyle/>
          <a:p>
            <a:pPr algn="l">
              <a:lnSpc>
                <a:spcPts val="1580"/>
              </a:lnSpc>
              <a:spcBef>
                <a:spcPts val="0"/>
              </a:spcBef>
              <a:buNone/>
            </a:pPr>
            <a:r>
              <a:rPr lang="ko-KR" sz="1200" b="1" dirty="0">
                <a:solidFill>
                  <a:srgbClr val="2563EB"/>
                </a:solidFill>
                <a:latin typeface="Consolas"/>
                <a:ea typeface="맑은 고딕"/>
                <a:cs typeface="Consolas"/>
              </a:rPr>
              <a:t>[ 00 / 퍼즐데이터 채용 과제 ]</a:t>
            </a:r>
          </a:p>
        </p:txBody>
      </p:sp>
      <p:sp>
        <p:nvSpPr>
          <p:cNvPr id="3" name="brand:L1:brand"/>
          <p:cNvSpPr txBox="1"/>
          <p:nvPr/>
        </p:nvSpPr>
        <p:spPr>
          <a:xfrm>
            <a:off x="7482535" y="521207"/>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label:L1:kicker"/>
          <p:cNvSpPr txBox="1"/>
          <p:nvPr/>
        </p:nvSpPr>
        <p:spPr>
          <a:xfrm>
            <a:off x="502920" y="2286000"/>
            <a:ext cx="6675120" cy="176530"/>
          </a:xfrm>
          <a:prstGeom prst="rect">
            <a:avLst/>
          </a:prstGeom>
          <a:noFill/>
        </p:spPr>
        <p:txBody>
          <a:bodyPr wrap="square" lIns="0" tIns="0" rIns="0" bIns="0" anchor="t">
            <a:noAutofit/>
          </a:bodyPr>
          <a:lstStyle/>
          <a:p>
            <a:pPr algn="l">
              <a:lnSpc>
                <a:spcPts val="1390"/>
              </a:lnSpc>
              <a:spcBef>
                <a:spcPts val="0"/>
              </a:spcBef>
              <a:buNone/>
            </a:pPr>
            <a:r>
              <a:rPr lang="ko-KR" sz="1050" b="1" dirty="0">
                <a:solidFill>
                  <a:srgbClr val="64748B"/>
                </a:solidFill>
                <a:latin typeface="Consolas"/>
                <a:ea typeface="맑은 고딕"/>
                <a:cs typeface="Consolas"/>
              </a:rPr>
              <a:t>PROCESS MINING × OPERATIONS OPTIMIZATION</a:t>
            </a:r>
          </a:p>
        </p:txBody>
      </p:sp>
      <p:sp>
        <p:nvSpPr>
          <p:cNvPr id="5" name="title:L2:title"/>
          <p:cNvSpPr txBox="1"/>
          <p:nvPr/>
        </p:nvSpPr>
        <p:spPr>
          <a:xfrm>
            <a:off x="502920" y="2670048"/>
            <a:ext cx="6675120" cy="1280160"/>
          </a:xfrm>
          <a:prstGeom prst="rect">
            <a:avLst/>
          </a:prstGeom>
          <a:noFill/>
        </p:spPr>
        <p:txBody>
          <a:bodyPr wrap="square" lIns="0" tIns="0" rIns="0" bIns="0" anchor="t">
            <a:noAutofit/>
          </a:bodyPr>
          <a:lstStyle/>
          <a:p>
            <a:pPr algn="l">
              <a:lnSpc>
                <a:spcPts val="5040"/>
              </a:lnSpc>
              <a:spcBef>
                <a:spcPts val="0"/>
              </a:spcBef>
              <a:buNone/>
            </a:pPr>
            <a:r>
              <a:rPr lang="ko-KR" sz="3600" b="1" dirty="0">
                <a:solidFill>
                  <a:srgbClr val="0F172A"/>
                </a:solidFill>
                <a:latin typeface="맑은 고딕"/>
                <a:ea typeface="맑은 고딕"/>
                <a:cs typeface="맑은 고딕"/>
              </a:rPr>
              <a:t>공공임대주택 수리 프로세스</a:t>
            </a:r>
          </a:p>
          <a:p>
            <a:pPr algn="l">
              <a:lnSpc>
                <a:spcPts val="5040"/>
              </a:lnSpc>
              <a:spcBef>
                <a:spcPts val="0"/>
              </a:spcBef>
              <a:buNone/>
            </a:pPr>
            <a:r>
              <a:rPr lang="ko-KR" sz="3600" b="1" dirty="0">
                <a:solidFill>
                  <a:srgbClr val="2563EB"/>
                </a:solidFill>
                <a:latin typeface="맑은 고딕"/>
                <a:ea typeface="맑은 고딕"/>
                <a:cs typeface="맑은 고딕"/>
              </a:rPr>
              <a:t>진단 및 운영 최적화 방안</a:t>
            </a:r>
          </a:p>
        </p:txBody>
      </p:sp>
      <p:sp>
        <p:nvSpPr>
          <p:cNvPr id="6" name="applicant"/>
          <p:cNvSpPr/>
          <p:nvPr/>
        </p:nvSpPr>
        <p:spPr>
          <a:xfrm>
            <a:off x="5653735" y="5303520"/>
            <a:ext cx="6035040" cy="868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label:L1:k-POSITION"/>
          <p:cNvSpPr txBox="1"/>
          <p:nvPr/>
        </p:nvSpPr>
        <p:spPr>
          <a:xfrm>
            <a:off x="5836615" y="5440680"/>
            <a:ext cx="13716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POSITION</a:t>
            </a:r>
          </a:p>
        </p:txBody>
      </p:sp>
      <p:sp>
        <p:nvSpPr>
          <p:cNvPr id="8" name="body:L1:v-POSITION"/>
          <p:cNvSpPr txBox="1"/>
          <p:nvPr/>
        </p:nvSpPr>
        <p:spPr>
          <a:xfrm>
            <a:off x="5836615" y="5715000"/>
            <a:ext cx="141732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데이터 분석가</a:t>
            </a:r>
          </a:p>
        </p:txBody>
      </p:sp>
      <p:sp>
        <p:nvSpPr>
          <p:cNvPr id="9" name="label:L1:k-LEVEL"/>
          <p:cNvSpPr txBox="1"/>
          <p:nvPr/>
        </p:nvSpPr>
        <p:spPr>
          <a:xfrm>
            <a:off x="7299655" y="5440680"/>
            <a:ext cx="73152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LEVEL</a:t>
            </a:r>
          </a:p>
        </p:txBody>
      </p:sp>
      <p:sp>
        <p:nvSpPr>
          <p:cNvPr id="10" name="body:L1:v-LEVEL"/>
          <p:cNvSpPr txBox="1"/>
          <p:nvPr/>
        </p:nvSpPr>
        <p:spPr>
          <a:xfrm>
            <a:off x="7299655" y="5715000"/>
            <a:ext cx="77724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신입</a:t>
            </a:r>
          </a:p>
        </p:txBody>
      </p:sp>
      <p:sp>
        <p:nvSpPr>
          <p:cNvPr id="11" name="label:L1:k-NAME"/>
          <p:cNvSpPr txBox="1"/>
          <p:nvPr/>
        </p:nvSpPr>
        <p:spPr>
          <a:xfrm>
            <a:off x="8122615" y="5440680"/>
            <a:ext cx="9144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NAME</a:t>
            </a:r>
          </a:p>
        </p:txBody>
      </p:sp>
      <p:sp>
        <p:nvSpPr>
          <p:cNvPr id="12" name="body:L1:v-NAME"/>
          <p:cNvSpPr txBox="1"/>
          <p:nvPr/>
        </p:nvSpPr>
        <p:spPr>
          <a:xfrm>
            <a:off x="8122615" y="5715000"/>
            <a:ext cx="96012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조승훈</a:t>
            </a:r>
          </a:p>
        </p:txBody>
      </p:sp>
      <p:sp>
        <p:nvSpPr>
          <p:cNvPr id="13" name="label:L1:k-E.MAIL"/>
          <p:cNvSpPr txBox="1"/>
          <p:nvPr/>
        </p:nvSpPr>
        <p:spPr>
          <a:xfrm>
            <a:off x="9128455" y="5440680"/>
            <a:ext cx="22860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E.MAIL</a:t>
            </a:r>
          </a:p>
        </p:txBody>
      </p:sp>
      <p:sp>
        <p:nvSpPr>
          <p:cNvPr id="14" name="body:L1:v-E.MAIL"/>
          <p:cNvSpPr txBox="1"/>
          <p:nvPr/>
        </p:nvSpPr>
        <p:spPr>
          <a:xfrm>
            <a:off x="9128455" y="5715000"/>
            <a:ext cx="2331720" cy="218439"/>
          </a:xfrm>
          <a:prstGeom prst="rect">
            <a:avLst/>
          </a:prstGeom>
          <a:noFill/>
        </p:spPr>
        <p:txBody>
          <a:bodyPr wrap="square" lIns="0" tIns="0" rIns="0" bIns="0" anchor="t">
            <a:noAutofit/>
          </a:bodyPr>
          <a:lstStyle/>
          <a:p>
            <a:pPr algn="l">
              <a:lnSpc>
                <a:spcPts val="1720"/>
              </a:lnSpc>
              <a:spcBef>
                <a:spcPts val="0"/>
              </a:spcBef>
              <a:buNone/>
            </a:pPr>
            <a:r>
              <a:rPr lang="ko-KR" sz="1300" b="1" dirty="0">
                <a:solidFill>
                  <a:srgbClr val="0F172A"/>
                </a:solidFill>
                <a:latin typeface="Consolas"/>
                <a:ea typeface="맑은 고딕"/>
                <a:cs typeface="Consolas"/>
              </a:rPr>
              <a:t>nextbus1245@gmail.com</a:t>
            </a:r>
          </a:p>
        </p:txBody>
      </p:sp>
      <p:cxnSp>
        <p:nvCxnSpPr>
          <p:cNvPr id="15" name="foot-rule"/>
          <p:cNvCxnSpPr/>
          <p:nvPr/>
        </p:nvCxnSpPr>
        <p:spPr>
          <a:xfrm>
            <a:off x="502920" y="6382512"/>
            <a:ext cx="11185855" cy="0"/>
          </a:xfrm>
          <a:prstGeom prst="line">
            <a:avLst/>
          </a:prstGeom>
          <a:ln w="9525">
            <a:solidFill>
              <a:srgbClr val="E2E8F0"/>
            </a:solidFill>
          </a:ln>
        </p:spPr>
      </p:cxnSp>
      <p:sp>
        <p:nvSpPr>
          <p:cNvPr id="1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퍼즐데이터 수리 프로세스 데이터 분석 과제 · 공공임대주택 수리 이벤트 로그</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[ 00 · 프리뷰 · P.02 ]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목차 소개</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PART 01 p.04–06 · PART 02 p.07–15 · PART 03 p.16–18 · PART 04 p.19</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02 / 19</a:t>
            </a:r>
          </a:p>
        </p:txBody>
      </p:sp>
      <p:sp>
        <p:nvSpPr>
          <p:cNvPr id="8" name="tile-01">
            <a:hlinkClick action="ppaction://hlinksldjump" r:id="rId3"/>
          </p:cNvPr>
          <p:cNvSpPr/>
          <p:nvPr/>
        </p:nvSpPr>
        <p:spPr>
          <a:xfrm>
            <a:off x="502920"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ody:L1:idx"/>
          <p:cNvSpPr txBox="1"/>
          <p:nvPr/>
        </p:nvSpPr>
        <p:spPr>
          <a:xfrm>
            <a:off x="722376"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01</a:t>
            </a:r>
          </a:p>
        </p:txBody>
      </p:sp>
      <p:sp>
        <p:nvSpPr>
          <p:cNvPr id="10" name="pill"/>
          <p:cNvSpPr/>
          <p:nvPr/>
        </p:nvSpPr>
        <p:spPr>
          <a:xfrm>
            <a:off x="722376"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ill:L1:pill-t"/>
          <p:cNvSpPr txBox="1"/>
          <p:nvPr/>
        </p:nvSpPr>
        <p:spPr>
          <a:xfrm>
            <a:off x="813816"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1</a:t>
            </a:r>
          </a:p>
        </p:txBody>
      </p:sp>
      <p:sp>
        <p:nvSpPr>
          <p:cNvPr id="12" name="body:L1:ttl"/>
          <p:cNvSpPr txBox="1"/>
          <p:nvPr/>
        </p:nvSpPr>
        <p:spPr>
          <a:xfrm>
            <a:off x="722376"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데이터 진단 및 전처리</a:t>
            </a:r>
          </a:p>
        </p:txBody>
      </p:sp>
      <p:sp>
        <p:nvSpPr>
          <p:cNvPr id="13" name="body:L5:t"/>
          <p:cNvSpPr txBox="1"/>
          <p:nvPr/>
        </p:nvSpPr>
        <p:spPr>
          <a:xfrm>
            <a:off x="722376" y="3487928"/>
            <a:ext cx="2220391" cy="10985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이벤트 로그 프로파일링과</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결측 2원화</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순서 기반 결측 복원, 삭제 0건</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시간 역전 0건, 정상 접수</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927건, 오접수 73건</a:t>
            </a:r>
          </a:p>
        </p:txBody>
      </p:sp>
      <p:sp>
        <p:nvSpPr>
          <p:cNvPr id="14" name="body:L2:key"/>
          <p:cNvSpPr txBox="1"/>
          <p:nvPr/>
        </p:nvSpPr>
        <p:spPr>
          <a:xfrm>
            <a:off x="722376"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13,262</a:t>
            </a:r>
          </a:p>
          <a:p>
            <a:pPr algn="l">
              <a:lnSpc>
                <a:spcPts val="1540"/>
              </a:lnSpc>
              <a:spcBef>
                <a:spcPts val="0"/>
              </a:spcBef>
              <a:buNone/>
            </a:pPr>
            <a:r>
              <a:rPr lang="ko-KR" sz="1100" b="0" dirty="0">
                <a:solidFill>
                  <a:srgbClr val="64748B"/>
                </a:solidFill>
                <a:latin typeface="맑은 고딕"/>
                <a:ea typeface="맑은 고딕"/>
                <a:cs typeface="맑은 고딕"/>
              </a:rPr>
              <a:t>행 전수 보존</a:t>
            </a:r>
          </a:p>
        </p:txBody>
      </p:sp>
      <p:sp>
        <p:nvSpPr>
          <p:cNvPr id="15" name="tile-02">
            <a:hlinkClick action="ppaction://hlinksldjump" r:id="rId4"/>
          </p:cNvPr>
          <p:cNvSpPr/>
          <p:nvPr/>
        </p:nvSpPr>
        <p:spPr>
          <a:xfrm>
            <a:off x="3345103"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body:L1:idx"/>
          <p:cNvSpPr txBox="1"/>
          <p:nvPr/>
        </p:nvSpPr>
        <p:spPr>
          <a:xfrm>
            <a:off x="3564559"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02</a:t>
            </a:r>
          </a:p>
        </p:txBody>
      </p:sp>
      <p:sp>
        <p:nvSpPr>
          <p:cNvPr id="17" name="pill"/>
          <p:cNvSpPr/>
          <p:nvPr/>
        </p:nvSpPr>
        <p:spPr>
          <a:xfrm>
            <a:off x="3564559"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ill:L1:pill-t"/>
          <p:cNvSpPr txBox="1"/>
          <p:nvPr/>
        </p:nvSpPr>
        <p:spPr>
          <a:xfrm>
            <a:off x="3655999"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2</a:t>
            </a:r>
          </a:p>
        </p:txBody>
      </p:sp>
      <p:sp>
        <p:nvSpPr>
          <p:cNvPr id="19" name="body:L1:ttl"/>
          <p:cNvSpPr txBox="1"/>
          <p:nvPr/>
        </p:nvSpPr>
        <p:spPr>
          <a:xfrm>
            <a:off x="3564559"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AS-IS 심층 분석</a:t>
            </a:r>
          </a:p>
        </p:txBody>
      </p:sp>
      <p:sp>
        <p:nvSpPr>
          <p:cNvPr id="20" name="body:L5:t"/>
          <p:cNvSpPr txBox="1"/>
          <p:nvPr/>
        </p:nvSpPr>
        <p:spPr>
          <a:xfrm>
            <a:off x="3564559" y="3487928"/>
            <a:ext cx="2220391" cy="11366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AS-IS 표준 프로세스 모델</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2개 병목 구간: 접수 · 실사</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1개 반복 작업: 반복 수리</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상관·OLS로 소요시간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영향 요인 실증</a:t>
            </a:r>
          </a:p>
        </p:txBody>
      </p:sp>
      <p:sp>
        <p:nvSpPr>
          <p:cNvPr id="21" name="body:L2:key"/>
          <p:cNvSpPr txBox="1"/>
          <p:nvPr/>
        </p:nvSpPr>
        <p:spPr>
          <a:xfrm>
            <a:off x="3564559"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90.5%</a:t>
            </a:r>
          </a:p>
          <a:p>
            <a:pPr algn="l">
              <a:lnSpc>
                <a:spcPts val="1540"/>
              </a:lnSpc>
              <a:spcBef>
                <a:spcPts val="0"/>
              </a:spcBef>
              <a:buNone/>
            </a:pPr>
            <a:r>
              <a:rPr lang="ko-KR" sz="1100" b="0" dirty="0">
                <a:solidFill>
                  <a:srgbClr val="64748B"/>
                </a:solidFill>
                <a:latin typeface="맑은 고딕"/>
                <a:ea typeface="맑은 고딕"/>
                <a:cs typeface="맑은 고딕"/>
              </a:rPr>
              <a:t>리드타임 중 대기</a:t>
            </a:r>
          </a:p>
        </p:txBody>
      </p:sp>
      <p:sp>
        <p:nvSpPr>
          <p:cNvPr id="22" name="tile-03">
            <a:hlinkClick action="ppaction://hlinksldjump" r:id="rId5"/>
          </p:cNvPr>
          <p:cNvSpPr/>
          <p:nvPr/>
        </p:nvSpPr>
        <p:spPr>
          <a:xfrm>
            <a:off x="6187287"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body:L1:idx"/>
          <p:cNvSpPr txBox="1"/>
          <p:nvPr/>
        </p:nvSpPr>
        <p:spPr>
          <a:xfrm>
            <a:off x="6406743"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03</a:t>
            </a:r>
          </a:p>
        </p:txBody>
      </p:sp>
      <p:sp>
        <p:nvSpPr>
          <p:cNvPr id="24" name="pill"/>
          <p:cNvSpPr/>
          <p:nvPr/>
        </p:nvSpPr>
        <p:spPr>
          <a:xfrm>
            <a:off x="6406743"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ill:L1:pill-t"/>
          <p:cNvSpPr txBox="1"/>
          <p:nvPr/>
        </p:nvSpPr>
        <p:spPr>
          <a:xfrm>
            <a:off x="6498183"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3</a:t>
            </a:r>
          </a:p>
        </p:txBody>
      </p:sp>
      <p:sp>
        <p:nvSpPr>
          <p:cNvPr id="26" name="body:L1:ttl"/>
          <p:cNvSpPr txBox="1"/>
          <p:nvPr/>
        </p:nvSpPr>
        <p:spPr>
          <a:xfrm>
            <a:off x="6406743"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TO-BE 개선 방안</a:t>
            </a:r>
          </a:p>
        </p:txBody>
      </p:sp>
      <p:sp>
        <p:nvSpPr>
          <p:cNvPr id="27" name="body:L6:t"/>
          <p:cNvSpPr txBox="1"/>
          <p:nvPr/>
        </p:nvSpPr>
        <p:spPr>
          <a:xfrm>
            <a:off x="6406743" y="3487928"/>
            <a:ext cx="2220391" cy="1303019"/>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사전 분류 적중(E→사내</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100.0%, P→즉시 83.1%)과</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정보 해상도 한계</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Direct Booking 전략: 하나의</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병목 줄을 두 갈래로</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단축률 가정 시 감축 효과</a:t>
            </a:r>
          </a:p>
        </p:txBody>
      </p:sp>
      <p:sp>
        <p:nvSpPr>
          <p:cNvPr id="28" name="body:L2:key"/>
          <p:cNvSpPr txBox="1"/>
          <p:nvPr/>
        </p:nvSpPr>
        <p:spPr>
          <a:xfrm>
            <a:off x="6406743"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59669"/>
                </a:solidFill>
                <a:latin typeface="Consolas"/>
                <a:ea typeface="맑은 고딕"/>
                <a:cs typeface="Consolas"/>
              </a:rPr>
              <a:t>▼14.5%</a:t>
            </a:r>
          </a:p>
          <a:p>
            <a:pPr algn="l">
              <a:lnSpc>
                <a:spcPts val="1540"/>
              </a:lnSpc>
              <a:spcBef>
                <a:spcPts val="0"/>
              </a:spcBef>
              <a:buNone/>
            </a:pPr>
            <a:r>
              <a:rPr lang="ko-KR" sz="1100" b="0" dirty="0">
                <a:solidFill>
                  <a:srgbClr val="64748B"/>
                </a:solidFill>
                <a:latin typeface="맑은 고딕"/>
                <a:ea typeface="맑은 고딕"/>
                <a:cs typeface="맑은 고딕"/>
              </a:rPr>
              <a:t>전체 평균 감축(가정)</a:t>
            </a:r>
          </a:p>
        </p:txBody>
      </p:sp>
      <p:sp>
        <p:nvSpPr>
          <p:cNvPr id="29" name="tile-04">
            <a:hlinkClick action="ppaction://hlinksldjump" r:id="rId6"/>
          </p:cNvPr>
          <p:cNvSpPr/>
          <p:nvPr/>
        </p:nvSpPr>
        <p:spPr>
          <a:xfrm>
            <a:off x="9029471"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body:L1:idx"/>
          <p:cNvSpPr txBox="1"/>
          <p:nvPr/>
        </p:nvSpPr>
        <p:spPr>
          <a:xfrm>
            <a:off x="9248927"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04</a:t>
            </a:r>
          </a:p>
        </p:txBody>
      </p:sp>
      <p:sp>
        <p:nvSpPr>
          <p:cNvPr id="31" name="pill"/>
          <p:cNvSpPr/>
          <p:nvPr/>
        </p:nvSpPr>
        <p:spPr>
          <a:xfrm>
            <a:off x="9248927" y="2599944"/>
            <a:ext cx="566928"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ill:L1:pill-t"/>
          <p:cNvSpPr txBox="1"/>
          <p:nvPr/>
        </p:nvSpPr>
        <p:spPr>
          <a:xfrm>
            <a:off x="9340367" y="2599944"/>
            <a:ext cx="402336"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마무리</a:t>
            </a:r>
          </a:p>
        </p:txBody>
      </p:sp>
      <p:sp>
        <p:nvSpPr>
          <p:cNvPr id="33" name="body:L1:ttl"/>
          <p:cNvSpPr txBox="1"/>
          <p:nvPr/>
        </p:nvSpPr>
        <p:spPr>
          <a:xfrm>
            <a:off x="9248927"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마무리 및 Q&amp;A</a:t>
            </a:r>
          </a:p>
        </p:txBody>
      </p:sp>
      <p:sp>
        <p:nvSpPr>
          <p:cNvPr id="34" name="body:L1:t"/>
          <p:cNvSpPr txBox="1"/>
          <p:nvPr/>
        </p:nvSpPr>
        <p:spPr>
          <a:xfrm>
            <a:off x="9248927" y="3487928"/>
            <a:ext cx="2220391" cy="20447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파트별 핵심 결과 정리</a:t>
            </a:r>
          </a:p>
        </p:txBody>
      </p:sp>
      <p:sp>
        <p:nvSpPr>
          <p:cNvPr id="35" name="body:L1:key"/>
          <p:cNvSpPr txBox="1"/>
          <p:nvPr/>
        </p:nvSpPr>
        <p:spPr>
          <a:xfrm>
            <a:off x="9248927" y="5279644"/>
            <a:ext cx="2220391"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64748B"/>
                </a:solidFill>
                <a:latin typeface="Consolas"/>
                <a:ea typeface="맑은 고딕"/>
                <a:cs typeface="Consolas"/>
              </a:rPr>
              <a:t>Q&amp;A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[ 00 · 프리뷰 · P.03 ]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총 리드타임의 90.5%는 작업이 아닌 대기 시간이다</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대기 = 총 105.9h − 작업(현장 실작업 4.6h + 정산 시스템 처리 5.5h) · 접수 구간은 전부 대기로 산정</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03 / 19</a:t>
            </a:r>
          </a:p>
        </p:txBody>
      </p:sp>
      <p:sp>
        <p:nvSpPr>
          <p:cNvPr id="8" name="banner"/>
          <p:cNvSpPr/>
          <p:nvPr/>
        </p:nvSpPr>
        <p:spPr>
          <a:xfrm>
            <a:off x="502920" y="1527048"/>
            <a:ext cx="11185855" cy="88315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704088" y="1728216"/>
            <a:ext cx="1078351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THESIS · 통괄 가설</a:t>
            </a:r>
          </a:p>
        </p:txBody>
      </p:sp>
      <p:sp>
        <p:nvSpPr>
          <p:cNvPr id="10" name="body:L1:thesis"/>
          <p:cNvSpPr txBox="1"/>
          <p:nvPr/>
        </p:nvSpPr>
        <p:spPr>
          <a:xfrm>
            <a:off x="704088" y="1960118"/>
            <a:ext cx="10783519" cy="248920"/>
          </a:xfrm>
          <a:prstGeom prst="rect">
            <a:avLst/>
          </a:prstGeom>
          <a:noFill/>
        </p:spPr>
        <p:txBody>
          <a:bodyPr wrap="square" lIns="0" tIns="0" rIns="0" bIns="0" anchor="t">
            <a:noAutofit/>
          </a:bodyPr>
          <a:lstStyle/>
          <a:p>
            <a:pPr algn="l">
              <a:lnSpc>
                <a:spcPts val="1960"/>
              </a:lnSpc>
              <a:spcBef>
                <a:spcPts val="0"/>
              </a:spcBef>
              <a:buNone/>
            </a:pPr>
            <a:r>
              <a:rPr lang="ko-KR" sz="1400" b="0" dirty="0">
                <a:solidFill>
                  <a:srgbClr val="0F172A"/>
                </a:solidFill>
                <a:latin typeface="맑은 고딕"/>
                <a:ea typeface="맑은 고딕"/>
                <a:cs typeface="맑은 고딕"/>
              </a:rPr>
              <a:t>수리 지연의 본질은 </a:t>
            </a:r>
            <a:r>
              <a:rPr lang="ko-KR" sz="1400" b="1" dirty="0">
                <a:solidFill>
                  <a:srgbClr val="2563EB"/>
                </a:solidFill>
                <a:latin typeface="맑은 고딕"/>
                <a:ea typeface="맑은 고딕"/>
                <a:cs typeface="맑은 고딕"/>
              </a:rPr>
              <a:t>공정 간 대기</a:t>
            </a:r>
            <a:r>
              <a:rPr lang="ko-KR" sz="1400" b="0" dirty="0">
                <a:solidFill>
                  <a:srgbClr val="0F172A"/>
                </a:solidFill>
                <a:latin typeface="맑은 고딕"/>
                <a:ea typeface="맑은 고딕"/>
                <a:cs typeface="맑은 고딕"/>
              </a:rPr>
              <a:t>와 </a:t>
            </a:r>
            <a:r>
              <a:rPr lang="ko-KR" sz="1400" b="1" dirty="0">
                <a:solidFill>
                  <a:srgbClr val="2563EB"/>
                </a:solidFill>
                <a:latin typeface="맑은 고딕"/>
                <a:ea typeface="맑은 고딕"/>
                <a:cs typeface="맑은 고딕"/>
              </a:rPr>
              <a:t>비실시간 접수의 소통 공백</a:t>
            </a:r>
            <a:r>
              <a:rPr lang="ko-KR" sz="1400" b="0" dirty="0">
                <a:solidFill>
                  <a:srgbClr val="0F172A"/>
                </a:solidFill>
                <a:latin typeface="맑은 고딕"/>
                <a:ea typeface="맑은 고딕"/>
                <a:cs typeface="맑은 고딕"/>
              </a:rPr>
              <a:t>이다. E2E 리드타임 105.9h 중 순수 대기가 95.8h.</a:t>
            </a:r>
          </a:p>
        </p:txBody>
      </p:sp>
      <p:sp>
        <p:nvSpPr>
          <p:cNvPr id="11" name="step1"/>
          <p:cNvSpPr/>
          <p:nvPr/>
        </p:nvSpPr>
        <p:spPr>
          <a:xfrm>
            <a:off x="502920" y="2593086"/>
            <a:ext cx="3606698" cy="36065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label:L1:t"/>
          <p:cNvSpPr txBox="1"/>
          <p:nvPr/>
        </p:nvSpPr>
        <p:spPr>
          <a:xfrm>
            <a:off x="704088" y="279425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01 · 데이터 진단</a:t>
            </a:r>
          </a:p>
        </p:txBody>
      </p:sp>
      <p:sp>
        <p:nvSpPr>
          <p:cNvPr id="13" name="body:L1:n1"/>
          <p:cNvSpPr txBox="1"/>
          <p:nvPr/>
        </p:nvSpPr>
        <p:spPr>
          <a:xfrm>
            <a:off x="704088" y="3035300"/>
            <a:ext cx="3204362" cy="626110"/>
          </a:xfrm>
          <a:prstGeom prst="rect">
            <a:avLst/>
          </a:prstGeom>
          <a:noFill/>
        </p:spPr>
        <p:txBody>
          <a:bodyPr wrap="square" lIns="0" tIns="0" rIns="0" bIns="0" anchor="t">
            <a:noAutofit/>
          </a:bodyPr>
          <a:lstStyle/>
          <a:p>
            <a:pPr algn="l">
              <a:lnSpc>
                <a:spcPts val="4930"/>
              </a:lnSpc>
              <a:spcBef>
                <a:spcPts val="0"/>
              </a:spcBef>
              <a:buNone/>
            </a:pPr>
            <a:r>
              <a:rPr lang="ko-KR" sz="4400" b="1" dirty="0">
                <a:solidFill>
                  <a:srgbClr val="0F172A"/>
                </a:solidFill>
                <a:latin typeface="Consolas"/>
                <a:ea typeface="맑은 고딕"/>
                <a:cs typeface="Consolas"/>
              </a:rPr>
              <a:t>13,262</a:t>
            </a:r>
            <a:r>
              <a:rPr lang="ko-KR" sz="1760" b="1" dirty="0">
                <a:solidFill>
                  <a:srgbClr val="0F172A"/>
                </a:solidFill>
                <a:latin typeface="맑은 고딕"/>
                <a:ea typeface="맑은 고딕"/>
                <a:cs typeface="맑은 고딕"/>
              </a:rPr>
              <a:t>행</a:t>
            </a:r>
          </a:p>
        </p:txBody>
      </p:sp>
      <p:sp>
        <p:nvSpPr>
          <p:cNvPr id="14" name="body:L1:s1"/>
          <p:cNvSpPr txBox="1"/>
          <p:nvPr/>
        </p:nvSpPr>
        <p:spPr>
          <a:xfrm>
            <a:off x="704088" y="374370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전수 보존 · 임의 삭제 0건</a:t>
            </a:r>
          </a:p>
        </p:txBody>
      </p:sp>
      <p:sp>
        <p:nvSpPr>
          <p:cNvPr id="15" name="body:L5:t"/>
          <p:cNvSpPr txBox="1"/>
          <p:nvPr/>
        </p:nvSpPr>
        <p:spPr>
          <a:xfrm>
            <a:off x="704088" y="415823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결측 20행(0.15%)을 업무 순서로 복원</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정상 접수 표본 754케이스(75.4%)로</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대체 기준 확보</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시간 역전 0건, 정상 접수 927건,</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오접수 73건</a:t>
            </a:r>
          </a:p>
        </p:txBody>
      </p:sp>
      <p:sp>
        <p:nvSpPr>
          <p:cNvPr id="16" name="label:L1:t"/>
          <p:cNvSpPr txBox="1"/>
          <p:nvPr/>
        </p:nvSpPr>
        <p:spPr>
          <a:xfrm>
            <a:off x="704088"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p.04–06</a:t>
            </a:r>
          </a:p>
        </p:txBody>
      </p:sp>
      <p:sp>
        <p:nvSpPr>
          <p:cNvPr id="17" name="step2"/>
          <p:cNvSpPr/>
          <p:nvPr/>
        </p:nvSpPr>
        <p:spPr>
          <a:xfrm>
            <a:off x="4292498" y="2593086"/>
            <a:ext cx="3606698" cy="36065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label:L1:t"/>
          <p:cNvSpPr txBox="1"/>
          <p:nvPr/>
        </p:nvSpPr>
        <p:spPr>
          <a:xfrm>
            <a:off x="4493666" y="279425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02 · 병목 규명</a:t>
            </a:r>
          </a:p>
        </p:txBody>
      </p:sp>
      <p:sp>
        <p:nvSpPr>
          <p:cNvPr id="19" name="body:L1:n2"/>
          <p:cNvSpPr txBox="1"/>
          <p:nvPr/>
        </p:nvSpPr>
        <p:spPr>
          <a:xfrm>
            <a:off x="4493666" y="3035300"/>
            <a:ext cx="3204362" cy="626110"/>
          </a:xfrm>
          <a:prstGeom prst="rect">
            <a:avLst/>
          </a:prstGeom>
          <a:noFill/>
        </p:spPr>
        <p:txBody>
          <a:bodyPr wrap="square" lIns="0" tIns="0" rIns="0" bIns="0" anchor="t">
            <a:noAutofit/>
          </a:bodyPr>
          <a:lstStyle/>
          <a:p>
            <a:pPr algn="l">
              <a:lnSpc>
                <a:spcPts val="4930"/>
              </a:lnSpc>
              <a:spcBef>
                <a:spcPts val="0"/>
              </a:spcBef>
              <a:buNone/>
            </a:pPr>
            <a:r>
              <a:rPr lang="ko-KR" sz="4400" b="1" dirty="0">
                <a:solidFill>
                  <a:srgbClr val="E11D48"/>
                </a:solidFill>
                <a:latin typeface="Consolas"/>
                <a:ea typeface="맑은 고딕"/>
                <a:cs typeface="Consolas"/>
              </a:rPr>
              <a:t>76.8</a:t>
            </a:r>
            <a:r>
              <a:rPr lang="ko-KR" sz="1760" b="1" dirty="0">
                <a:solidFill>
                  <a:srgbClr val="E11D48"/>
                </a:solidFill>
                <a:latin typeface="맑은 고딕"/>
                <a:ea typeface="맑은 고딕"/>
                <a:cs typeface="맑은 고딕"/>
              </a:rPr>
              <a:t>h</a:t>
            </a:r>
          </a:p>
        </p:txBody>
      </p:sp>
      <p:sp>
        <p:nvSpPr>
          <p:cNvPr id="20" name="body:L1:s2"/>
          <p:cNvSpPr txBox="1"/>
          <p:nvPr/>
        </p:nvSpPr>
        <p:spPr>
          <a:xfrm>
            <a:off x="4493666" y="374370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실사 방문 대기, 현장 시간의 78.2%</a:t>
            </a:r>
          </a:p>
        </p:txBody>
      </p:sp>
      <p:sp>
        <p:nvSpPr>
          <p:cNvPr id="21" name="body:L5:t"/>
          <p:cNvSpPr txBox="1"/>
          <p:nvPr/>
        </p:nvSpPr>
        <p:spPr>
          <a:xfrm>
            <a:off x="4493666" y="415823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일 유입 134.3건 vs 기사 CAPA</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68.0건 → 적체 피크 403건</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교차 인계 123건에서 접수 6.6배 지연</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사내수리만 자재 대기 30.5h,</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재수리 시 +32.9h</a:t>
            </a:r>
          </a:p>
        </p:txBody>
      </p:sp>
      <p:sp>
        <p:nvSpPr>
          <p:cNvPr id="22" name="label:L1:t"/>
          <p:cNvSpPr txBox="1"/>
          <p:nvPr/>
        </p:nvSpPr>
        <p:spPr>
          <a:xfrm>
            <a:off x="4493666"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p.07–15</a:t>
            </a:r>
          </a:p>
        </p:txBody>
      </p:sp>
      <p:sp>
        <p:nvSpPr>
          <p:cNvPr id="23" name="step3"/>
          <p:cNvSpPr/>
          <p:nvPr/>
        </p:nvSpPr>
        <p:spPr>
          <a:xfrm>
            <a:off x="8082076" y="2593086"/>
            <a:ext cx="3606698" cy="36065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label:L1:t"/>
          <p:cNvSpPr txBox="1"/>
          <p:nvPr/>
        </p:nvSpPr>
        <p:spPr>
          <a:xfrm>
            <a:off x="8283244" y="279425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03 · 개선 시나리오</a:t>
            </a:r>
          </a:p>
        </p:txBody>
      </p:sp>
      <p:sp>
        <p:nvSpPr>
          <p:cNvPr id="25" name="body:L1:n3"/>
          <p:cNvSpPr txBox="1"/>
          <p:nvPr/>
        </p:nvSpPr>
        <p:spPr>
          <a:xfrm>
            <a:off x="8283244" y="3035300"/>
            <a:ext cx="3204362" cy="626110"/>
          </a:xfrm>
          <a:prstGeom prst="rect">
            <a:avLst/>
          </a:prstGeom>
          <a:noFill/>
        </p:spPr>
        <p:txBody>
          <a:bodyPr wrap="square" lIns="0" tIns="0" rIns="0" bIns="0" anchor="t">
            <a:noAutofit/>
          </a:bodyPr>
          <a:lstStyle/>
          <a:p>
            <a:pPr algn="l">
              <a:lnSpc>
                <a:spcPts val="4930"/>
              </a:lnSpc>
              <a:spcBef>
                <a:spcPts val="0"/>
              </a:spcBef>
              <a:buNone/>
            </a:pPr>
            <a:r>
              <a:rPr lang="ko-KR" sz="2728" b="1" dirty="0">
                <a:solidFill>
                  <a:srgbClr val="059669"/>
                </a:solidFill>
                <a:latin typeface="맑은 고딕"/>
                <a:ea typeface="맑은 고딕"/>
                <a:cs typeface="맑은 고딕"/>
              </a:rPr>
              <a:t>▼</a:t>
            </a:r>
            <a:r>
              <a:rPr lang="ko-KR" sz="4400" b="1" dirty="0">
                <a:solidFill>
                  <a:srgbClr val="059669"/>
                </a:solidFill>
                <a:latin typeface="Consolas"/>
                <a:ea typeface="맑은 고딕"/>
                <a:cs typeface="Consolas"/>
              </a:rPr>
              <a:t>14.5</a:t>
            </a:r>
            <a:r>
              <a:rPr lang="ko-KR" sz="1760" b="1" dirty="0">
                <a:solidFill>
                  <a:srgbClr val="059669"/>
                </a:solidFill>
                <a:latin typeface="맑은 고딕"/>
                <a:ea typeface="맑은 고딕"/>
                <a:cs typeface="맑은 고딕"/>
              </a:rPr>
              <a:t>%</a:t>
            </a:r>
          </a:p>
        </p:txBody>
      </p:sp>
      <p:sp>
        <p:nvSpPr>
          <p:cNvPr id="26" name="body:L1:s3"/>
          <p:cNvSpPr txBox="1"/>
          <p:nvPr/>
        </p:nvSpPr>
        <p:spPr>
          <a:xfrm>
            <a:off x="8283244" y="374370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105.9h → 90.5h (실사 대기 20% 단축 가정)</a:t>
            </a:r>
          </a:p>
        </p:txBody>
      </p:sp>
      <p:sp>
        <p:nvSpPr>
          <p:cNvPr id="27" name="body:L5:t"/>
          <p:cNvSpPr txBox="1"/>
          <p:nvPr/>
        </p:nvSpPr>
        <p:spPr>
          <a:xfrm>
            <a:off x="8283244" y="415823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Direct Booking 전략: 하나의</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병목 줄을 두 갈래로</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실사 대기 줄 유입 39.4% 감소</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가정 단축률(실사 대기 20% 감소)</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적용 시 −15.4h</a:t>
            </a:r>
          </a:p>
        </p:txBody>
      </p:sp>
      <p:sp>
        <p:nvSpPr>
          <p:cNvPr id="28" name="label:L1:t"/>
          <p:cNvSpPr txBox="1"/>
          <p:nvPr/>
        </p:nvSpPr>
        <p:spPr>
          <a:xfrm>
            <a:off x="8283244"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p.16–18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[ 01 · 데이터 진단 및 전처리 · P.04 ]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정상 결측은 보존, 비정상 결측 20행만 복원 대상</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결측치를 '정상 결측'과 '비정상 결측'으로 2원화하고, 복원 대상을 최소로 특정했다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repair2.csv 프로파일링 (EDA-01) · 비정상 결측 20행 = 5개 속성 결측이 포함된 18개 케이스의 실제 행</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04 / 19</a:t>
            </a:r>
          </a:p>
        </p:txBody>
      </p:sp>
      <p:sp>
        <p:nvSpPr>
          <p:cNvPr id="9" name="chart-card"/>
          <p:cNvSpPr/>
          <p:nvPr/>
        </p:nvSpPr>
        <p:spPr>
          <a:xfrm>
            <a:off x="502920" y="1600200"/>
            <a:ext cx="8138160" cy="348716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28216"/>
            <a:ext cx="78821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FIG.04 · 원천 13개 속성 결측률 분포 (EDA-01)</a:t>
            </a:r>
          </a:p>
        </p:txBody>
      </p:sp>
      <p:pic>
        <p:nvPicPr>
          <p:cNvPr id="11" name="pic:eda" descr="EDA-01.png"/>
          <p:cNvPicPr>
            <a:picLocks noChangeAspect="1"/>
          </p:cNvPicPr>
          <p:nvPr/>
        </p:nvPicPr>
        <p:blipFill>
          <a:blip r:embed="rId2"/>
          <a:stretch>
            <a:fillRect/>
          </a:stretch>
        </p:blipFill>
        <p:spPr>
          <a:xfrm>
            <a:off x="1193227" y="1941830"/>
            <a:ext cx="6757544" cy="3017520"/>
          </a:xfrm>
          <a:prstGeom prst="rect">
            <a:avLst/>
          </a:prstGeom>
        </p:spPr>
      </p:pic>
      <p:sp>
        <p:nvSpPr>
          <p:cNvPr id="12" name="st1"/>
          <p:cNvSpPr/>
          <p:nvPr/>
        </p:nvSpPr>
        <p:spPr>
          <a:xfrm>
            <a:off x="8823960" y="1600200"/>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9006840" y="1783080"/>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RAW EVENTS</a:t>
            </a:r>
          </a:p>
        </p:txBody>
      </p:sp>
      <p:sp>
        <p:nvSpPr>
          <p:cNvPr id="14" name="body:L1:a"/>
          <p:cNvSpPr txBox="1"/>
          <p:nvPr/>
        </p:nvSpPr>
        <p:spPr>
          <a:xfrm>
            <a:off x="9006840" y="1996693"/>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13,262</a:t>
            </a:r>
            <a:r>
              <a:rPr lang="ko-KR" sz="1200" b="1" dirty="0">
                <a:solidFill>
                  <a:srgbClr val="0F172A"/>
                </a:solidFill>
                <a:latin typeface="맑은 고딕"/>
                <a:ea typeface="맑은 고딕"/>
                <a:cs typeface="맑은 고딕"/>
              </a:rPr>
              <a:t>행</a:t>
            </a:r>
          </a:p>
        </p:txBody>
      </p:sp>
      <p:sp>
        <p:nvSpPr>
          <p:cNvPr id="15" name="st2"/>
          <p:cNvSpPr/>
          <p:nvPr/>
        </p:nvSpPr>
        <p:spPr>
          <a:xfrm>
            <a:off x="8823960" y="2799164"/>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label:L1:t"/>
          <p:cNvSpPr txBox="1"/>
          <p:nvPr/>
        </p:nvSpPr>
        <p:spPr>
          <a:xfrm>
            <a:off x="9006840" y="2982044"/>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CASES</a:t>
            </a:r>
          </a:p>
        </p:txBody>
      </p:sp>
      <p:sp>
        <p:nvSpPr>
          <p:cNvPr id="17" name="body:L1:b"/>
          <p:cNvSpPr txBox="1"/>
          <p:nvPr/>
        </p:nvSpPr>
        <p:spPr>
          <a:xfrm>
            <a:off x="9006840" y="3195658"/>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1,000</a:t>
            </a:r>
            <a:r>
              <a:rPr lang="ko-KR" sz="1200" b="1" dirty="0">
                <a:solidFill>
                  <a:srgbClr val="0F172A"/>
                </a:solidFill>
                <a:latin typeface="맑은 고딕"/>
                <a:ea typeface="맑은 고딕"/>
                <a:cs typeface="맑은 고딕"/>
              </a:rPr>
              <a:t>건</a:t>
            </a:r>
          </a:p>
        </p:txBody>
      </p:sp>
      <p:sp>
        <p:nvSpPr>
          <p:cNvPr id="18" name="st3"/>
          <p:cNvSpPr/>
          <p:nvPr/>
        </p:nvSpPr>
        <p:spPr>
          <a:xfrm>
            <a:off x="8823960" y="3998129"/>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label:L1:t"/>
          <p:cNvSpPr txBox="1"/>
          <p:nvPr/>
        </p:nvSpPr>
        <p:spPr>
          <a:xfrm>
            <a:off x="9006840" y="4181009"/>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ATTRIBUTES</a:t>
            </a:r>
          </a:p>
        </p:txBody>
      </p:sp>
      <p:sp>
        <p:nvSpPr>
          <p:cNvPr id="20" name="body:L1:c"/>
          <p:cNvSpPr txBox="1"/>
          <p:nvPr/>
        </p:nvSpPr>
        <p:spPr>
          <a:xfrm>
            <a:off x="9006840" y="4394623"/>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a:t>
            </a:r>
            <a:r>
              <a:rPr lang="ko-KR" sz="1200" b="1" dirty="0">
                <a:solidFill>
                  <a:srgbClr val="0F172A"/>
                </a:solidFill>
                <a:latin typeface="맑은 고딕"/>
                <a:ea typeface="맑은 고딕"/>
                <a:cs typeface="맑은 고딕"/>
              </a:rPr>
              <a:t>개</a:t>
            </a:r>
          </a:p>
        </p:txBody>
      </p:sp>
      <p:sp>
        <p:nvSpPr>
          <p:cNvPr id="21" name="chip-n"/>
          <p:cNvSpPr/>
          <p:nvPr/>
        </p:nvSpPr>
        <p:spPr>
          <a:xfrm>
            <a:off x="502920"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label:L1:t"/>
          <p:cNvSpPr txBox="1"/>
          <p:nvPr/>
        </p:nvSpPr>
        <p:spPr>
          <a:xfrm>
            <a:off x="685800"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정상 결측 · 보존</a:t>
            </a:r>
          </a:p>
        </p:txBody>
      </p:sp>
      <p:sp>
        <p:nvSpPr>
          <p:cNvPr id="23" name="body:L1:t"/>
          <p:cNvSpPr txBox="1"/>
          <p:nvPr/>
        </p:nvSpPr>
        <p:spPr>
          <a:xfrm>
            <a:off x="685800"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2563EB"/>
                </a:solidFill>
                <a:latin typeface="맑은 고딕"/>
                <a:ea typeface="맑은 고딕"/>
                <a:cs typeface="맑은 고딕"/>
              </a:rPr>
              <a:t>7개 속성 · 86.0~93.0%</a:t>
            </a:r>
          </a:p>
        </p:txBody>
      </p:sp>
      <p:sp>
        <p:nvSpPr>
          <p:cNvPr id="24" name="body:L1:t"/>
          <p:cNvSpPr txBox="1"/>
          <p:nvPr/>
        </p:nvSpPr>
        <p:spPr>
          <a:xfrm>
            <a:off x="685800"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특정 이벤트에서만 기록되는 값</a:t>
            </a:r>
          </a:p>
        </p:txBody>
      </p:sp>
      <p:sp>
        <p:nvSpPr>
          <p:cNvPr id="25" name="chip-e"/>
          <p:cNvSpPr/>
          <p:nvPr/>
        </p:nvSpPr>
        <p:spPr>
          <a:xfrm>
            <a:off x="4292498"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label:L1:t"/>
          <p:cNvSpPr txBox="1"/>
          <p:nvPr/>
        </p:nvSpPr>
        <p:spPr>
          <a:xfrm>
            <a:off x="4475378"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비정상 결측 · 복원 대상</a:t>
            </a:r>
          </a:p>
        </p:txBody>
      </p:sp>
      <p:sp>
        <p:nvSpPr>
          <p:cNvPr id="27" name="body:L1:t"/>
          <p:cNvSpPr txBox="1"/>
          <p:nvPr/>
        </p:nvSpPr>
        <p:spPr>
          <a:xfrm>
            <a:off x="4475378"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E11D48"/>
                </a:solidFill>
                <a:latin typeface="맑은 고딕"/>
                <a:ea typeface="맑은 고딕"/>
                <a:cs typeface="맑은 고딕"/>
              </a:rPr>
              <a:t>5개 속성 · 20행(0.15%) · 18케이스</a:t>
            </a:r>
          </a:p>
        </p:txBody>
      </p:sp>
      <p:sp>
        <p:nvSpPr>
          <p:cNvPr id="28" name="body:L1:t"/>
          <p:cNvSpPr txBox="1"/>
          <p:nvPr/>
        </p:nvSpPr>
        <p:spPr>
          <a:xfrm>
            <a:off x="4475378"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필수 속성이 빈 행만 정밀 복원</a:t>
            </a:r>
          </a:p>
        </p:txBody>
      </p:sp>
      <p:sp>
        <p:nvSpPr>
          <p:cNvPr id="29" name="chip-v"/>
          <p:cNvSpPr/>
          <p:nvPr/>
        </p:nvSpPr>
        <p:spPr>
          <a:xfrm>
            <a:off x="8082076"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label:L1:t"/>
          <p:cNvSpPr txBox="1"/>
          <p:nvPr/>
        </p:nvSpPr>
        <p:spPr>
          <a:xfrm>
            <a:off x="8264956"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결측률 분포 · 판별 기준</a:t>
            </a:r>
          </a:p>
        </p:txBody>
      </p:sp>
      <p:sp>
        <p:nvSpPr>
          <p:cNvPr id="31" name="body:L1:t"/>
          <p:cNvSpPr txBox="1"/>
          <p:nvPr/>
        </p:nvSpPr>
        <p:spPr>
          <a:xfrm>
            <a:off x="8264956"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0F172A"/>
                </a:solidFill>
                <a:latin typeface="맑은 고딕"/>
                <a:ea typeface="맑은 고딕"/>
                <a:cs typeface="맑은 고딕"/>
              </a:rPr>
              <a:t>0.1~86.0% 사이 속성 0개</a:t>
            </a:r>
          </a:p>
        </p:txBody>
      </p:sp>
      <p:sp>
        <p:nvSpPr>
          <p:cNvPr id="32" name="body:L1:t"/>
          <p:cNvSpPr txBox="1"/>
          <p:nvPr/>
        </p:nvSpPr>
        <p:spPr>
          <a:xfrm>
            <a:off x="8264956"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결측률이 양극단이라 판별이 명확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[ 01 · 데이터 진단 및 전처리 · P.05 ]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삭제 없이, 업무 순서로 결측과 오기입 교정 복원</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비정상 결측 20행에 더해 날짜 오기입 866행·더미 시각 15행까지 5개 유형을 근거 기반으로 복원</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analysis.ipynb Cell 18·20·53·63·77·81</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05 / 19</a:t>
            </a:r>
          </a:p>
        </p:txBody>
      </p:sp>
      <p:sp>
        <p:nvSpPr>
          <p:cNvPr id="9" name="label:L1:unit-legend"/>
          <p:cNvSpPr txBox="1"/>
          <p:nvPr/>
        </p:nvSpPr>
        <p:spPr>
          <a:xfrm>
            <a:off x="5287975" y="1499616"/>
            <a:ext cx="6400800" cy="167640"/>
          </a:xfrm>
          <a:prstGeom prst="rect">
            <a:avLst/>
          </a:prstGeom>
          <a:noFill/>
        </p:spPr>
        <p:txBody>
          <a:bodyPr wrap="square" lIns="0" tIns="0" rIns="0" bIns="0" anchor="t">
            <a:noAutofit/>
          </a:bodyPr>
          <a:lstStyle/>
          <a:p>
            <a:pPr algn="r">
              <a:lnSpc>
                <a:spcPts val="1320"/>
              </a:lnSpc>
              <a:spcBef>
                <a:spcPts val="0"/>
              </a:spcBef>
              <a:buNone/>
            </a:pPr>
            <a:r>
              <a:rPr lang="ko-KR" sz="1000" b="0" dirty="0">
                <a:solidFill>
                  <a:srgbClr val="64748B"/>
                </a:solidFill>
                <a:latin typeface="Consolas"/>
                <a:ea typeface="맑은 고딕"/>
                <a:cs typeface="Consolas"/>
              </a:rPr>
              <a:t>단위 · 행 = 이벤트 로그 1행 / 케이스 = 수리 요청 1건</a:t>
            </a:r>
          </a:p>
        </p:txBody>
      </p:sp>
      <p:sp>
        <p:nvSpPr>
          <p:cNvPr id="10" name="cases-card"/>
          <p:cNvSpPr/>
          <p:nvPr/>
        </p:nvSpPr>
        <p:spPr>
          <a:xfrm>
            <a:off x="502920" y="1792224"/>
            <a:ext cx="11185855" cy="301396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label:L1:cases-h"/>
          <p:cNvSpPr txBox="1"/>
          <p:nvPr/>
        </p:nvSpPr>
        <p:spPr>
          <a:xfrm>
            <a:off x="758952" y="1993392"/>
            <a:ext cx="56873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CASE</a:t>
            </a:r>
          </a:p>
        </p:txBody>
      </p:sp>
      <p:sp>
        <p:nvSpPr>
          <p:cNvPr id="12" name="label:L1:cases-h"/>
          <p:cNvSpPr txBox="1"/>
          <p:nvPr/>
        </p:nvSpPr>
        <p:spPr>
          <a:xfrm>
            <a:off x="1510567" y="1993392"/>
            <a:ext cx="232250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속성 · 규모</a:t>
            </a:r>
          </a:p>
        </p:txBody>
      </p:sp>
      <p:sp>
        <p:nvSpPr>
          <p:cNvPr id="13" name="label:L1:cases-h"/>
          <p:cNvSpPr txBox="1"/>
          <p:nvPr/>
        </p:nvSpPr>
        <p:spPr>
          <a:xfrm>
            <a:off x="4015953" y="1993392"/>
            <a:ext cx="340817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근거</a:t>
            </a:r>
          </a:p>
        </p:txBody>
      </p:sp>
      <p:sp>
        <p:nvSpPr>
          <p:cNvPr id="14" name="label:L1:cases-h"/>
          <p:cNvSpPr txBox="1"/>
          <p:nvPr/>
        </p:nvSpPr>
        <p:spPr>
          <a:xfrm>
            <a:off x="7607006" y="1993392"/>
            <a:ext cx="3825737"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복원</a:t>
            </a:r>
          </a:p>
        </p:txBody>
      </p:sp>
      <p:cxnSp>
        <p:nvCxnSpPr>
          <p:cNvPr id="15" name="rule"/>
          <p:cNvCxnSpPr/>
          <p:nvPr/>
        </p:nvCxnSpPr>
        <p:spPr>
          <a:xfrm>
            <a:off x="667512" y="2231136"/>
            <a:ext cx="10856671" cy="0"/>
          </a:xfrm>
          <a:prstGeom prst="line">
            <a:avLst/>
          </a:prstGeom>
          <a:ln w="9525">
            <a:solidFill>
              <a:srgbClr val="E2E8F0"/>
            </a:solidFill>
          </a:ln>
        </p:spPr>
      </p:cxnSp>
      <p:sp>
        <p:nvSpPr>
          <p:cNvPr id="16" name="label:L1:t"/>
          <p:cNvSpPr txBox="1"/>
          <p:nvPr/>
        </p:nvSpPr>
        <p:spPr>
          <a:xfrm>
            <a:off x="758952" y="2267712"/>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1</a:t>
            </a:r>
          </a:p>
        </p:txBody>
      </p:sp>
      <p:sp>
        <p:nvSpPr>
          <p:cNvPr id="17" name="body:L2:t"/>
          <p:cNvSpPr txBox="1"/>
          <p:nvPr/>
        </p:nvSpPr>
        <p:spPr>
          <a:xfrm>
            <a:off x="1510567" y="2267712"/>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taskID</a:t>
            </a:r>
          </a:p>
          <a:p>
            <a:pPr algn="l">
              <a:lnSpc>
                <a:spcPts val="1540"/>
              </a:lnSpc>
              <a:spcBef>
                <a:spcPts val="0"/>
              </a:spcBef>
              <a:buNone/>
            </a:pPr>
            <a:r>
              <a:rPr lang="ko-KR" sz="1100" b="0" dirty="0">
                <a:solidFill>
                  <a:srgbClr val="64748B"/>
                </a:solidFill>
                <a:latin typeface="맑은 고딕"/>
                <a:ea typeface="맑은 고딕"/>
                <a:cs typeface="맑은 고딕"/>
              </a:rPr>
              <a:t>결측 2행</a:t>
            </a:r>
          </a:p>
        </p:txBody>
      </p:sp>
      <p:sp>
        <p:nvSpPr>
          <p:cNvPr id="18" name="body:L2:t"/>
          <p:cNvSpPr txBox="1"/>
          <p:nvPr/>
        </p:nvSpPr>
        <p:spPr>
          <a:xfrm>
            <a:off x="4015953" y="2267712"/>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contact 속성은 FirstContact에만</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기록되는 고유 속성</a:t>
            </a:r>
          </a:p>
        </p:txBody>
      </p:sp>
      <p:sp>
        <p:nvSpPr>
          <p:cNvPr id="19" name="body:L1:t"/>
          <p:cNvSpPr txBox="1"/>
          <p:nvPr/>
        </p:nvSpPr>
        <p:spPr>
          <a:xfrm>
            <a:off x="7607006" y="2267712"/>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FirstContact · InformClientSurvey 복원</a:t>
            </a:r>
          </a:p>
        </p:txBody>
      </p:sp>
      <p:cxnSp>
        <p:nvCxnSpPr>
          <p:cNvPr id="20" name="rule"/>
          <p:cNvCxnSpPr/>
          <p:nvPr/>
        </p:nvCxnSpPr>
        <p:spPr>
          <a:xfrm>
            <a:off x="667512" y="2713228"/>
            <a:ext cx="10856671" cy="0"/>
          </a:xfrm>
          <a:prstGeom prst="line">
            <a:avLst/>
          </a:prstGeom>
          <a:ln w="9525">
            <a:solidFill>
              <a:srgbClr val="E2E8F0"/>
            </a:solidFill>
          </a:ln>
        </p:spPr>
      </p:cxnSp>
      <p:sp>
        <p:nvSpPr>
          <p:cNvPr id="21" name="label:L1:t"/>
          <p:cNvSpPr txBox="1"/>
          <p:nvPr/>
        </p:nvSpPr>
        <p:spPr>
          <a:xfrm>
            <a:off x="758952" y="2749804"/>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2</a:t>
            </a:r>
          </a:p>
        </p:txBody>
      </p:sp>
      <p:sp>
        <p:nvSpPr>
          <p:cNvPr id="22" name="body:L2:t"/>
          <p:cNvSpPr txBox="1"/>
          <p:nvPr/>
        </p:nvSpPr>
        <p:spPr>
          <a:xfrm>
            <a:off x="1510567" y="2749804"/>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originator</a:t>
            </a:r>
          </a:p>
          <a:p>
            <a:pPr algn="l">
              <a:lnSpc>
                <a:spcPts val="1540"/>
              </a:lnSpc>
              <a:spcBef>
                <a:spcPts val="0"/>
              </a:spcBef>
              <a:buNone/>
            </a:pPr>
            <a:r>
              <a:rPr lang="ko-KR" sz="1100" b="0" dirty="0">
                <a:solidFill>
                  <a:srgbClr val="64748B"/>
                </a:solidFill>
                <a:latin typeface="맑은 고딕"/>
                <a:ea typeface="맑은 고딕"/>
                <a:cs typeface="맑은 고딕"/>
              </a:rPr>
              <a:t>결측 2행</a:t>
            </a:r>
          </a:p>
        </p:txBody>
      </p:sp>
      <p:sp>
        <p:nvSpPr>
          <p:cNvPr id="23" name="body:L1:t"/>
          <p:cNvSpPr txBox="1"/>
          <p:nvPr/>
        </p:nvSpPr>
        <p:spPr>
          <a:xfrm>
            <a:off x="4015953" y="2749804"/>
            <a:ext cx="340817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같은 작업의 시작·완료 담당자 일치율 100%</a:t>
            </a:r>
          </a:p>
        </p:txBody>
      </p:sp>
      <p:sp>
        <p:nvSpPr>
          <p:cNvPr id="24" name="body:L1:t"/>
          <p:cNvSpPr txBox="1"/>
          <p:nvPr/>
        </p:nvSpPr>
        <p:spPr>
          <a:xfrm>
            <a:off x="7607006" y="2749804"/>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짝 이벤트 담당자 승계 (Anne, Paul)</a:t>
            </a:r>
          </a:p>
        </p:txBody>
      </p:sp>
      <p:cxnSp>
        <p:nvCxnSpPr>
          <p:cNvPr id="25" name="rule"/>
          <p:cNvCxnSpPr/>
          <p:nvPr/>
        </p:nvCxnSpPr>
        <p:spPr>
          <a:xfrm>
            <a:off x="667512" y="3195320"/>
            <a:ext cx="10856671" cy="0"/>
          </a:xfrm>
          <a:prstGeom prst="line">
            <a:avLst/>
          </a:prstGeom>
          <a:ln w="9525">
            <a:solidFill>
              <a:srgbClr val="E2E8F0"/>
            </a:solidFill>
          </a:ln>
        </p:spPr>
      </p:cxnSp>
      <p:sp>
        <p:nvSpPr>
          <p:cNvPr id="26" name="label:L1:t"/>
          <p:cNvSpPr txBox="1"/>
          <p:nvPr/>
        </p:nvSpPr>
        <p:spPr>
          <a:xfrm>
            <a:off x="758952" y="3231896"/>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3</a:t>
            </a:r>
          </a:p>
        </p:txBody>
      </p:sp>
      <p:sp>
        <p:nvSpPr>
          <p:cNvPr id="27" name="body:L2:t"/>
          <p:cNvSpPr txBox="1"/>
          <p:nvPr/>
        </p:nvSpPr>
        <p:spPr>
          <a:xfrm>
            <a:off x="1510567" y="3231896"/>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eventtype</a:t>
            </a:r>
          </a:p>
          <a:p>
            <a:pPr algn="l">
              <a:lnSpc>
                <a:spcPts val="1540"/>
              </a:lnSpc>
              <a:spcBef>
                <a:spcPts val="0"/>
              </a:spcBef>
              <a:buNone/>
            </a:pPr>
            <a:r>
              <a:rPr lang="ko-KR" sz="1100" b="0" dirty="0">
                <a:solidFill>
                  <a:srgbClr val="64748B"/>
                </a:solidFill>
                <a:latin typeface="맑은 고딕"/>
                <a:ea typeface="맑은 고딕"/>
                <a:cs typeface="맑은 고딕"/>
              </a:rPr>
              <a:t>결측 5행</a:t>
            </a:r>
          </a:p>
        </p:txBody>
      </p:sp>
      <p:sp>
        <p:nvSpPr>
          <p:cNvPr id="28" name="body:L1:t"/>
          <p:cNvSpPr txBox="1"/>
          <p:nvPr/>
        </p:nvSpPr>
        <p:spPr>
          <a:xfrm>
            <a:off x="4015953" y="3231896"/>
            <a:ext cx="340817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기간 작업 1:1 페어 3행 + 마일스톤 단독 2행</a:t>
            </a:r>
          </a:p>
        </p:txBody>
      </p:sp>
      <p:sp>
        <p:nvSpPr>
          <p:cNvPr id="29" name="body:L1:t"/>
          <p:cNvSpPr txBox="1"/>
          <p:nvPr/>
        </p:nvSpPr>
        <p:spPr>
          <a:xfrm>
            <a:off x="7607006" y="3231896"/>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짝 추적으로 5행 전수 복원</a:t>
            </a:r>
          </a:p>
        </p:txBody>
      </p:sp>
      <p:cxnSp>
        <p:nvCxnSpPr>
          <p:cNvPr id="30" name="rule"/>
          <p:cNvCxnSpPr/>
          <p:nvPr/>
        </p:nvCxnSpPr>
        <p:spPr>
          <a:xfrm>
            <a:off x="667512" y="3677412"/>
            <a:ext cx="10856671" cy="0"/>
          </a:xfrm>
          <a:prstGeom prst="line">
            <a:avLst/>
          </a:prstGeom>
          <a:ln w="9525">
            <a:solidFill>
              <a:srgbClr val="E2E8F0"/>
            </a:solidFill>
          </a:ln>
        </p:spPr>
      </p:cxnSp>
      <p:sp>
        <p:nvSpPr>
          <p:cNvPr id="31" name="label:L1:t"/>
          <p:cNvSpPr txBox="1"/>
          <p:nvPr/>
        </p:nvSpPr>
        <p:spPr>
          <a:xfrm>
            <a:off x="758952" y="3713988"/>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4</a:t>
            </a:r>
          </a:p>
        </p:txBody>
      </p:sp>
      <p:sp>
        <p:nvSpPr>
          <p:cNvPr id="32" name="body:L2:t"/>
          <p:cNvSpPr txBox="1"/>
          <p:nvPr/>
        </p:nvSpPr>
        <p:spPr>
          <a:xfrm>
            <a:off x="1510567" y="3713988"/>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date</a:t>
            </a:r>
          </a:p>
          <a:p>
            <a:pPr algn="l">
              <a:lnSpc>
                <a:spcPts val="1540"/>
              </a:lnSpc>
              <a:spcBef>
                <a:spcPts val="0"/>
              </a:spcBef>
              <a:buNone/>
            </a:pPr>
            <a:r>
              <a:rPr lang="ko-KR" sz="1100" b="0" dirty="0">
                <a:solidFill>
                  <a:srgbClr val="64748B"/>
                </a:solidFill>
                <a:latin typeface="맑은 고딕"/>
                <a:ea typeface="맑은 고딕"/>
                <a:cs typeface="맑은 고딕"/>
              </a:rPr>
              <a:t>879행 (결측 13 + 오기입 866)</a:t>
            </a:r>
          </a:p>
        </p:txBody>
      </p:sp>
      <p:sp>
        <p:nvSpPr>
          <p:cNvPr id="33" name="body:L2:t"/>
          <p:cNvSpPr txBox="1"/>
          <p:nvPr/>
        </p:nvSpPr>
        <p:spPr>
          <a:xfrm>
            <a:off x="4015953" y="3713988"/>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시각이 정상인 859행에 선·후행 업무</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순서 구간 제약을 적용</a:t>
            </a:r>
          </a:p>
        </p:txBody>
      </p:sp>
      <p:sp>
        <p:nvSpPr>
          <p:cNvPr id="34" name="body:L2:t"/>
          <p:cNvSpPr txBox="1"/>
          <p:nvPr/>
        </p:nvSpPr>
        <p:spPr>
          <a:xfrm>
            <a:off x="7607006" y="3713988"/>
            <a:ext cx="3825737"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단일 후보 640행 + 앵커 최근접</a:t>
            </a:r>
            <a:br>
              <a:rPr lang="ko-KR" sz="1150" b="1" dirty="0">
                <a:solidFill>
                  <a:srgbClr val="059669"/>
                </a:solidFill>
                <a:latin typeface="맑은 고딕"/>
                <a:ea typeface="맑은 고딕"/>
                <a:cs typeface="맑은 고딕"/>
              </a:rPr>
            </a:br>
            <a:r>
              <a:rPr lang="ko-KR" sz="1150" b="1" dirty="0">
                <a:solidFill>
                  <a:srgbClr val="059669"/>
                </a:solidFill>
                <a:latin typeface="맑은 고딕"/>
                <a:ea typeface="맑은 고딕"/>
                <a:cs typeface="맑은 고딕"/>
              </a:rPr>
              <a:t>219행 (1970년 통일)</a:t>
            </a:r>
          </a:p>
        </p:txBody>
      </p:sp>
      <p:cxnSp>
        <p:nvCxnSpPr>
          <p:cNvPr id="35" name="rule"/>
          <p:cNvCxnSpPr/>
          <p:nvPr/>
        </p:nvCxnSpPr>
        <p:spPr>
          <a:xfrm>
            <a:off x="667512" y="4159503"/>
            <a:ext cx="10856671" cy="0"/>
          </a:xfrm>
          <a:prstGeom prst="line">
            <a:avLst/>
          </a:prstGeom>
          <a:ln w="9525">
            <a:solidFill>
              <a:srgbClr val="E2E8F0"/>
            </a:solidFill>
          </a:ln>
        </p:spPr>
      </p:cxnSp>
      <p:sp>
        <p:nvSpPr>
          <p:cNvPr id="36" name="label:L1:t"/>
          <p:cNvSpPr txBox="1"/>
          <p:nvPr/>
        </p:nvSpPr>
        <p:spPr>
          <a:xfrm>
            <a:off x="758952" y="4196080"/>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5</a:t>
            </a:r>
          </a:p>
        </p:txBody>
      </p:sp>
      <p:sp>
        <p:nvSpPr>
          <p:cNvPr id="37" name="body:L2:t"/>
          <p:cNvSpPr txBox="1"/>
          <p:nvPr/>
        </p:nvSpPr>
        <p:spPr>
          <a:xfrm>
            <a:off x="1510567" y="4196080"/>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time</a:t>
            </a:r>
          </a:p>
          <a:p>
            <a:pPr algn="l">
              <a:lnSpc>
                <a:spcPts val="1540"/>
              </a:lnSpc>
              <a:spcBef>
                <a:spcPts val="0"/>
              </a:spcBef>
              <a:buNone/>
            </a:pPr>
            <a:r>
              <a:rPr lang="ko-KR" sz="1100" b="0" dirty="0">
                <a:solidFill>
                  <a:srgbClr val="64748B"/>
                </a:solidFill>
                <a:latin typeface="맑은 고딕"/>
                <a:ea typeface="맑은 고딕"/>
                <a:cs typeface="맑은 고딕"/>
              </a:rPr>
              <a:t>28행 (결측 13 + 더미 15)</a:t>
            </a:r>
          </a:p>
        </p:txBody>
      </p:sp>
      <p:sp>
        <p:nvSpPr>
          <p:cNvPr id="38" name="body:L2:t"/>
          <p:cNvSpPr txBox="1"/>
          <p:nvPr/>
        </p:nvSpPr>
        <p:spPr>
          <a:xfrm>
            <a:off x="4015953" y="4196080"/>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정상 접수 표본 754케이스의 중앙값</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4.0분 · 앵커타임 기준 역산</a:t>
            </a:r>
          </a:p>
        </p:txBody>
      </p:sp>
      <p:sp>
        <p:nvSpPr>
          <p:cNvPr id="39" name="body:L1:t"/>
          <p:cNvSpPr txBox="1"/>
          <p:nvPr/>
        </p:nvSpPr>
        <p:spPr>
          <a:xfrm>
            <a:off x="7607006" y="4196080"/>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정상 자정 7행 보존 + 역산 추정 21행</a:t>
            </a:r>
          </a:p>
        </p:txBody>
      </p:sp>
      <p:sp>
        <p:nvSpPr>
          <p:cNvPr id="40" name="bd1"/>
          <p:cNvSpPr/>
          <p:nvPr/>
        </p:nvSpPr>
        <p:spPr>
          <a:xfrm>
            <a:off x="502920" y="4943348"/>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label:L1:t"/>
          <p:cNvSpPr txBox="1"/>
          <p:nvPr/>
        </p:nvSpPr>
        <p:spPr>
          <a:xfrm>
            <a:off x="685800" y="5126228"/>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데이터 무손실</a:t>
            </a:r>
          </a:p>
        </p:txBody>
      </p:sp>
      <p:sp>
        <p:nvSpPr>
          <p:cNvPr id="42" name="body:L1:b1"/>
          <p:cNvSpPr txBox="1"/>
          <p:nvPr/>
        </p:nvSpPr>
        <p:spPr>
          <a:xfrm>
            <a:off x="685800" y="5339842"/>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59669"/>
                </a:solidFill>
                <a:latin typeface="Consolas"/>
                <a:ea typeface="맑은 고딕"/>
                <a:cs typeface="Consolas"/>
              </a:rPr>
              <a:t>13,262</a:t>
            </a:r>
            <a:r>
              <a:rPr lang="ko-KR" sz="1440" b="1" dirty="0">
                <a:solidFill>
                  <a:srgbClr val="059669"/>
                </a:solidFill>
                <a:latin typeface="맑은 고딕"/>
                <a:ea typeface="맑은 고딕"/>
                <a:cs typeface="맑은 고딕"/>
              </a:rPr>
              <a:t>행</a:t>
            </a:r>
          </a:p>
        </p:txBody>
      </p:sp>
      <p:sp>
        <p:nvSpPr>
          <p:cNvPr id="43" name="body:L1:t"/>
          <p:cNvSpPr txBox="1"/>
          <p:nvPr/>
        </p:nvSpPr>
        <p:spPr>
          <a:xfrm>
            <a:off x="685800" y="5906516"/>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임의 삭제 0건 · 전수 보존</a:t>
            </a:r>
          </a:p>
        </p:txBody>
      </p:sp>
      <p:sp>
        <p:nvSpPr>
          <p:cNvPr id="44" name="bd2"/>
          <p:cNvSpPr/>
          <p:nvPr/>
        </p:nvSpPr>
        <p:spPr>
          <a:xfrm>
            <a:off x="4292498" y="4943348"/>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label:L1:t"/>
          <p:cNvSpPr txBox="1"/>
          <p:nvPr/>
        </p:nvSpPr>
        <p:spPr>
          <a:xfrm>
            <a:off x="4475378" y="5126228"/>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시간 역전</a:t>
            </a:r>
          </a:p>
        </p:txBody>
      </p:sp>
      <p:sp>
        <p:nvSpPr>
          <p:cNvPr id="46" name="body:L1:b2"/>
          <p:cNvSpPr txBox="1"/>
          <p:nvPr/>
        </p:nvSpPr>
        <p:spPr>
          <a:xfrm>
            <a:off x="4475378" y="5339842"/>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59669"/>
                </a:solidFill>
                <a:latin typeface="Consolas"/>
                <a:ea typeface="맑은 고딕"/>
                <a:cs typeface="Consolas"/>
              </a:rPr>
              <a:t>0</a:t>
            </a:r>
            <a:r>
              <a:rPr lang="ko-KR" sz="1440" b="1" dirty="0">
                <a:solidFill>
                  <a:srgbClr val="059669"/>
                </a:solidFill>
                <a:latin typeface="맑은 고딕"/>
                <a:ea typeface="맑은 고딕"/>
                <a:cs typeface="맑은 고딕"/>
              </a:rPr>
              <a:t>건</a:t>
            </a:r>
          </a:p>
        </p:txBody>
      </p:sp>
      <p:sp>
        <p:nvSpPr>
          <p:cNvPr id="47" name="body:L1:t"/>
          <p:cNvSpPr txBox="1"/>
          <p:nvPr/>
        </p:nvSpPr>
        <p:spPr>
          <a:xfrm>
            <a:off x="4475378" y="5906516"/>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작업 페어 3,711개 · 5개 검증 항목 위반 0</a:t>
            </a:r>
          </a:p>
        </p:txBody>
      </p:sp>
      <p:sp>
        <p:nvSpPr>
          <p:cNvPr id="48" name="bd3"/>
          <p:cNvSpPr/>
          <p:nvPr/>
        </p:nvSpPr>
        <p:spPr>
          <a:xfrm>
            <a:off x="8082076" y="4943348"/>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label:L1:t"/>
          <p:cNvSpPr txBox="1"/>
          <p:nvPr/>
        </p:nvSpPr>
        <p:spPr>
          <a:xfrm>
            <a:off x="8264956" y="5126228"/>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기준 표본</a:t>
            </a:r>
          </a:p>
        </p:txBody>
      </p:sp>
      <p:sp>
        <p:nvSpPr>
          <p:cNvPr id="50" name="body:L1:b3"/>
          <p:cNvSpPr txBox="1"/>
          <p:nvPr/>
        </p:nvSpPr>
        <p:spPr>
          <a:xfrm>
            <a:off x="8264956" y="5339842"/>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754</a:t>
            </a:r>
            <a:r>
              <a:rPr lang="ko-KR" sz="1440" b="1" dirty="0">
                <a:solidFill>
                  <a:srgbClr val="0F172A"/>
                </a:solidFill>
                <a:latin typeface="맑은 고딕"/>
                <a:ea typeface="맑은 고딕"/>
                <a:cs typeface="맑은 고딕"/>
              </a:rPr>
              <a:t>케이스</a:t>
            </a:r>
          </a:p>
        </p:txBody>
      </p:sp>
      <p:sp>
        <p:nvSpPr>
          <p:cNvPr id="51" name="body:L1:t"/>
          <p:cNvSpPr txBox="1"/>
          <p:nvPr/>
        </p:nvSpPr>
        <p:spPr>
          <a:xfrm>
            <a:off x="8264956" y="5906516"/>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전체의 75.4% · 중앙값 4.0분</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[ 01 · 데이터 진단 및 전처리 · P.06 ]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시간 역전 0건, 접수·현장 모두 단일 풀</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analysis.ipynb Cell 81·83, analysis.sql L760~828(배정비)·L1138~1202(24시간 접수), repair_cleaned.csv</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06 / 19</a:t>
            </a:r>
          </a:p>
        </p:txBody>
      </p:sp>
      <p:sp>
        <p:nvSpPr>
          <p:cNvPr id="8" name="ba-card"/>
          <p:cNvSpPr/>
          <p:nvPr/>
        </p:nvSpPr>
        <p:spPr>
          <a:xfrm>
            <a:off x="502920" y="1554480"/>
            <a:ext cx="5943600" cy="47365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685800" y="1737360"/>
            <a:ext cx="557784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TABLE · 전처리 무결성 검증</a:t>
            </a:r>
          </a:p>
        </p:txBody>
      </p:sp>
      <p:sp>
        <p:nvSpPr>
          <p:cNvPr id="10" name="label:L1:ba-h"/>
          <p:cNvSpPr txBox="1"/>
          <p:nvPr/>
        </p:nvSpPr>
        <p:spPr>
          <a:xfrm>
            <a:off x="777240" y="2005838"/>
            <a:ext cx="149811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검증 항목</a:t>
            </a:r>
          </a:p>
        </p:txBody>
      </p:sp>
      <p:sp>
        <p:nvSpPr>
          <p:cNvPr id="11" name="label:L1:ba-h"/>
          <p:cNvSpPr txBox="1"/>
          <p:nvPr/>
        </p:nvSpPr>
        <p:spPr>
          <a:xfrm>
            <a:off x="2458232" y="2005838"/>
            <a:ext cx="149811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BEFORE (원천)</a:t>
            </a:r>
          </a:p>
        </p:txBody>
      </p:sp>
      <p:sp>
        <p:nvSpPr>
          <p:cNvPr id="12" name="label:L1:ba-h"/>
          <p:cNvSpPr txBox="1"/>
          <p:nvPr/>
        </p:nvSpPr>
        <p:spPr>
          <a:xfrm>
            <a:off x="4139225" y="2005838"/>
            <a:ext cx="203297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AFTER (정제)</a:t>
            </a:r>
          </a:p>
        </p:txBody>
      </p:sp>
      <p:cxnSp>
        <p:nvCxnSpPr>
          <p:cNvPr id="13" name="rule"/>
          <p:cNvCxnSpPr/>
          <p:nvPr/>
        </p:nvCxnSpPr>
        <p:spPr>
          <a:xfrm>
            <a:off x="685800" y="2243582"/>
            <a:ext cx="5577840" cy="0"/>
          </a:xfrm>
          <a:prstGeom prst="line">
            <a:avLst/>
          </a:prstGeom>
          <a:ln w="9525">
            <a:solidFill>
              <a:srgbClr val="E2E8F0"/>
            </a:solidFill>
          </a:ln>
        </p:spPr>
      </p:cxnSp>
      <p:sp>
        <p:nvSpPr>
          <p:cNvPr id="14" name="body:L1:t"/>
          <p:cNvSpPr txBox="1"/>
          <p:nvPr/>
        </p:nvSpPr>
        <p:spPr>
          <a:xfrm>
            <a:off x="777240" y="23350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총 이벤트 행</a:t>
            </a:r>
          </a:p>
        </p:txBody>
      </p:sp>
      <p:sp>
        <p:nvSpPr>
          <p:cNvPr id="15" name="body:L1:t"/>
          <p:cNvSpPr txBox="1"/>
          <p:nvPr/>
        </p:nvSpPr>
        <p:spPr>
          <a:xfrm>
            <a:off x="2458232" y="23350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13,262행</a:t>
            </a:r>
          </a:p>
        </p:txBody>
      </p:sp>
      <p:sp>
        <p:nvSpPr>
          <p:cNvPr id="16" name="body:L1:t"/>
          <p:cNvSpPr txBox="1"/>
          <p:nvPr/>
        </p:nvSpPr>
        <p:spPr>
          <a:xfrm>
            <a:off x="4139225" y="233502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13,262행 · 삭제 0건</a:t>
            </a:r>
          </a:p>
        </p:txBody>
      </p:sp>
      <p:cxnSp>
        <p:nvCxnSpPr>
          <p:cNvPr id="17" name="rule"/>
          <p:cNvCxnSpPr/>
          <p:nvPr/>
        </p:nvCxnSpPr>
        <p:spPr>
          <a:xfrm>
            <a:off x="685800" y="2630932"/>
            <a:ext cx="5577840" cy="0"/>
          </a:xfrm>
          <a:prstGeom prst="line">
            <a:avLst/>
          </a:prstGeom>
          <a:ln w="9525">
            <a:solidFill>
              <a:srgbClr val="E2E8F0"/>
            </a:solidFill>
          </a:ln>
        </p:spPr>
      </p:cxnSp>
      <p:sp>
        <p:nvSpPr>
          <p:cNvPr id="18" name="body:L1:t"/>
          <p:cNvSpPr txBox="1"/>
          <p:nvPr/>
        </p:nvSpPr>
        <p:spPr>
          <a:xfrm>
            <a:off x="777240" y="27223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필수 속성 결측 행</a:t>
            </a:r>
          </a:p>
        </p:txBody>
      </p:sp>
      <p:sp>
        <p:nvSpPr>
          <p:cNvPr id="19" name="body:L1:t"/>
          <p:cNvSpPr txBox="1"/>
          <p:nvPr/>
        </p:nvSpPr>
        <p:spPr>
          <a:xfrm>
            <a:off x="2458232" y="27223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20행 (0.15%)</a:t>
            </a:r>
          </a:p>
        </p:txBody>
      </p:sp>
      <p:sp>
        <p:nvSpPr>
          <p:cNvPr id="20" name="body:L1:t"/>
          <p:cNvSpPr txBox="1"/>
          <p:nvPr/>
        </p:nvSpPr>
        <p:spPr>
          <a:xfrm>
            <a:off x="4139225" y="272237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업무 순서 복원</a:t>
            </a:r>
          </a:p>
        </p:txBody>
      </p:sp>
      <p:cxnSp>
        <p:nvCxnSpPr>
          <p:cNvPr id="21" name="rule"/>
          <p:cNvCxnSpPr/>
          <p:nvPr/>
        </p:nvCxnSpPr>
        <p:spPr>
          <a:xfrm>
            <a:off x="685800" y="3018282"/>
            <a:ext cx="5577840" cy="0"/>
          </a:xfrm>
          <a:prstGeom prst="line">
            <a:avLst/>
          </a:prstGeom>
          <a:ln w="9525">
            <a:solidFill>
              <a:srgbClr val="E2E8F0"/>
            </a:solidFill>
          </a:ln>
        </p:spPr>
      </p:cxnSp>
      <p:sp>
        <p:nvSpPr>
          <p:cNvPr id="22" name="body:L1:t"/>
          <p:cNvSpPr txBox="1"/>
          <p:nvPr/>
        </p:nvSpPr>
        <p:spPr>
          <a:xfrm>
            <a:off x="777240" y="31097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일자 연도 오기입</a:t>
            </a:r>
          </a:p>
        </p:txBody>
      </p:sp>
      <p:sp>
        <p:nvSpPr>
          <p:cNvPr id="23" name="body:L1:t"/>
          <p:cNvSpPr txBox="1"/>
          <p:nvPr/>
        </p:nvSpPr>
        <p:spPr>
          <a:xfrm>
            <a:off x="2458232" y="31097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866행</a:t>
            </a:r>
          </a:p>
        </p:txBody>
      </p:sp>
      <p:sp>
        <p:nvSpPr>
          <p:cNvPr id="24" name="body:L1:t"/>
          <p:cNvSpPr txBox="1"/>
          <p:nvPr/>
        </p:nvSpPr>
        <p:spPr>
          <a:xfrm>
            <a:off x="4139225" y="310972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1970년 통일</a:t>
            </a:r>
          </a:p>
        </p:txBody>
      </p:sp>
      <p:cxnSp>
        <p:nvCxnSpPr>
          <p:cNvPr id="25" name="rule"/>
          <p:cNvCxnSpPr/>
          <p:nvPr/>
        </p:nvCxnSpPr>
        <p:spPr>
          <a:xfrm>
            <a:off x="685800" y="3405632"/>
            <a:ext cx="5577840" cy="0"/>
          </a:xfrm>
          <a:prstGeom prst="line">
            <a:avLst/>
          </a:prstGeom>
          <a:ln w="9525">
            <a:solidFill>
              <a:srgbClr val="E2E8F0"/>
            </a:solidFill>
          </a:ln>
        </p:spPr>
      </p:cxnSp>
      <p:sp>
        <p:nvSpPr>
          <p:cNvPr id="26" name="body:L1:t"/>
          <p:cNvSpPr txBox="1"/>
          <p:nvPr/>
        </p:nvSpPr>
        <p:spPr>
          <a:xfrm>
            <a:off x="777240" y="34970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리드타임 정상 산출</a:t>
            </a:r>
          </a:p>
        </p:txBody>
      </p:sp>
      <p:sp>
        <p:nvSpPr>
          <p:cNvPr id="27" name="body:L1:t"/>
          <p:cNvSpPr txBox="1"/>
          <p:nvPr/>
        </p:nvSpPr>
        <p:spPr>
          <a:xfrm>
            <a:off x="2458232" y="34970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40.5% (405/1,000)</a:t>
            </a:r>
          </a:p>
        </p:txBody>
      </p:sp>
      <p:sp>
        <p:nvSpPr>
          <p:cNvPr id="28" name="body:L1:t"/>
          <p:cNvSpPr txBox="1"/>
          <p:nvPr/>
        </p:nvSpPr>
        <p:spPr>
          <a:xfrm>
            <a:off x="4139225" y="349707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100% (1,000/1,000)</a:t>
            </a:r>
          </a:p>
        </p:txBody>
      </p:sp>
      <p:cxnSp>
        <p:nvCxnSpPr>
          <p:cNvPr id="29" name="rule"/>
          <p:cNvCxnSpPr/>
          <p:nvPr/>
        </p:nvCxnSpPr>
        <p:spPr>
          <a:xfrm>
            <a:off x="685800" y="3792982"/>
            <a:ext cx="5577840" cy="0"/>
          </a:xfrm>
          <a:prstGeom prst="line">
            <a:avLst/>
          </a:prstGeom>
          <a:ln w="9525">
            <a:solidFill>
              <a:srgbClr val="E2E8F0"/>
            </a:solidFill>
          </a:ln>
        </p:spPr>
      </p:cxnSp>
      <p:sp>
        <p:nvSpPr>
          <p:cNvPr id="30" name="body:L1:t"/>
          <p:cNvSpPr txBox="1"/>
          <p:nvPr/>
        </p:nvSpPr>
        <p:spPr>
          <a:xfrm>
            <a:off x="777240" y="3884421"/>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시간 왜곡·역전</a:t>
            </a:r>
          </a:p>
        </p:txBody>
      </p:sp>
      <p:sp>
        <p:nvSpPr>
          <p:cNvPr id="31" name="body:L1:t"/>
          <p:cNvSpPr txBox="1"/>
          <p:nvPr/>
        </p:nvSpPr>
        <p:spPr>
          <a:xfrm>
            <a:off x="2458232" y="3884421"/>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595건 왜곡</a:t>
            </a:r>
          </a:p>
        </p:txBody>
      </p:sp>
      <p:sp>
        <p:nvSpPr>
          <p:cNvPr id="32" name="body:L1:t"/>
          <p:cNvSpPr txBox="1"/>
          <p:nvPr/>
        </p:nvSpPr>
        <p:spPr>
          <a:xfrm>
            <a:off x="4139225" y="3884421"/>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3,711개 페어 검증</a:t>
            </a:r>
          </a:p>
        </p:txBody>
      </p:sp>
      <p:sp>
        <p:nvSpPr>
          <p:cNvPr id="33" name="body:L1:callout"/>
          <p:cNvSpPr txBox="1"/>
          <p:nvPr/>
        </p:nvSpPr>
        <p:spPr>
          <a:xfrm>
            <a:off x="685800" y="4363212"/>
            <a:ext cx="5577840" cy="21336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59669"/>
                </a:solidFill>
                <a:latin typeface="맑은 고딕"/>
                <a:ea typeface="맑은 고딕"/>
                <a:cs typeface="맑은 고딕"/>
              </a:rPr>
              <a:t>정상 접수 </a:t>
            </a:r>
            <a:r>
              <a:rPr lang="ko-KR" sz="1200" b="1" dirty="0">
                <a:solidFill>
                  <a:srgbClr val="2563EB"/>
                </a:solidFill>
                <a:latin typeface="맑은 고딕"/>
                <a:ea typeface="맑은 고딕"/>
                <a:cs typeface="맑은 고딕"/>
              </a:rPr>
              <a:t>927건 </a:t>
            </a:r>
            <a:r>
              <a:rPr lang="ko-KR" sz="1200" b="1" dirty="0">
                <a:solidFill>
                  <a:srgbClr val="059669"/>
                </a:solidFill>
                <a:latin typeface="맑은 고딕"/>
                <a:ea typeface="맑은 고딕"/>
                <a:cs typeface="맑은 고딕"/>
              </a:rPr>
              <a:t>· 오접수 73건(7.3%)으로 구분</a:t>
            </a:r>
          </a:p>
        </p:txBody>
      </p:sp>
      <p:cxnSp>
        <p:nvCxnSpPr>
          <p:cNvPr id="34" name="rule"/>
          <p:cNvCxnSpPr/>
          <p:nvPr/>
        </p:nvCxnSpPr>
        <p:spPr>
          <a:xfrm>
            <a:off x="685800" y="4658868"/>
            <a:ext cx="5577840" cy="0"/>
          </a:xfrm>
          <a:prstGeom prst="line">
            <a:avLst/>
          </a:prstGeom>
          <a:ln w="9525">
            <a:solidFill>
              <a:srgbClr val="E2E8F0"/>
            </a:solidFill>
          </a:ln>
        </p:spPr>
      </p:cxnSp>
      <p:sp>
        <p:nvSpPr>
          <p:cNvPr id="35" name="label:L1:t"/>
          <p:cNvSpPr txBox="1"/>
          <p:nvPr/>
        </p:nvSpPr>
        <p:spPr>
          <a:xfrm>
            <a:off x="685800" y="4741164"/>
            <a:ext cx="557784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TEMPORAL INTEGRITY · 5개 항목 위반 0건 (3,711 페어)</a:t>
            </a:r>
          </a:p>
        </p:txBody>
      </p:sp>
      <p:sp>
        <p:nvSpPr>
          <p:cNvPr id="36" name="body:L5:checks"/>
          <p:cNvSpPr txBox="1"/>
          <p:nvPr/>
        </p:nvSpPr>
        <p:spPr>
          <a:xfrm>
            <a:off x="685800" y="4973066"/>
            <a:ext cx="5577840" cy="97790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① 케이스 내 모든 업무 쌍의 순서 위반 0건</a:t>
            </a:r>
          </a:p>
          <a:p>
            <a:pPr algn="l">
              <a:lnSpc>
                <a:spcPts val="1540"/>
              </a:lnSpc>
              <a:spcBef>
                <a:spcPts val="0"/>
              </a:spcBef>
              <a:buNone/>
            </a:pPr>
            <a:r>
              <a:rPr lang="ko-KR" sz="1100" b="0" dirty="0">
                <a:solidFill>
                  <a:srgbClr val="334155"/>
                </a:solidFill>
                <a:latin typeface="맑은 고딕"/>
                <a:ea typeface="맑은 고딕"/>
                <a:cs typeface="맑은 고딕"/>
              </a:rPr>
              <a:t>② 재작업 시작·완료 교대 위반 0건</a:t>
            </a:r>
          </a:p>
          <a:p>
            <a:pPr algn="l">
              <a:lnSpc>
                <a:spcPts val="1540"/>
              </a:lnSpc>
              <a:spcBef>
                <a:spcPts val="0"/>
              </a:spcBef>
              <a:buNone/>
            </a:pPr>
            <a:r>
              <a:rPr lang="ko-KR" sz="1100" b="0" dirty="0">
                <a:solidFill>
                  <a:srgbClr val="334155"/>
                </a:solidFill>
                <a:latin typeface="맑은 고딕"/>
                <a:ea typeface="맑은 고딕"/>
                <a:cs typeface="맑은 고딕"/>
              </a:rPr>
              <a:t>③ FirstContact가 케이스 최초가 아닌 행 0건</a:t>
            </a:r>
          </a:p>
          <a:p>
            <a:pPr algn="l">
              <a:lnSpc>
                <a:spcPts val="1540"/>
              </a:lnSpc>
              <a:spcBef>
                <a:spcPts val="0"/>
              </a:spcBef>
              <a:buNone/>
            </a:pPr>
            <a:r>
              <a:rPr lang="ko-KR" sz="1100" b="0" dirty="0">
                <a:solidFill>
                  <a:srgbClr val="334155"/>
                </a:solidFill>
                <a:latin typeface="맑은 고딕"/>
                <a:ea typeface="맑은 고딕"/>
                <a:cs typeface="맑은 고딕"/>
              </a:rPr>
              <a:t>④ TicketReady가 케이스 최종이 아닌 행 0건</a:t>
            </a:r>
          </a:p>
          <a:p>
            <a:pPr algn="l">
              <a:lnSpc>
                <a:spcPts val="1540"/>
              </a:lnSpc>
              <a:spcBef>
                <a:spcPts val="0"/>
              </a:spcBef>
              <a:buNone/>
            </a:pPr>
            <a:r>
              <a:rPr lang="ko-KR" sz="1100" b="0" dirty="0">
                <a:solidFill>
                  <a:srgbClr val="334155"/>
                </a:solidFill>
                <a:latin typeface="맑은 고딕"/>
                <a:ea typeface="맑은 고딕"/>
                <a:cs typeface="맑은 고딕"/>
              </a:rPr>
              <a:t>⑤ 소요시간 음수(complete &lt; start) 0건</a:t>
            </a:r>
          </a:p>
        </p:txBody>
      </p:sp>
      <p:sp>
        <p:nvSpPr>
          <p:cNvPr id="37" name="op1"/>
          <p:cNvSpPr/>
          <p:nvPr/>
        </p:nvSpPr>
        <p:spPr>
          <a:xfrm>
            <a:off x="6629400" y="1554480"/>
            <a:ext cx="5059375" cy="209410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label:L1:t"/>
          <p:cNvSpPr txBox="1"/>
          <p:nvPr/>
        </p:nvSpPr>
        <p:spPr>
          <a:xfrm>
            <a:off x="6812280" y="1737360"/>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근무 형태</a:t>
            </a:r>
          </a:p>
        </p:txBody>
      </p:sp>
      <p:sp>
        <p:nvSpPr>
          <p:cNvPr id="39" name="body:L1:h1"/>
          <p:cNvSpPr txBox="1"/>
          <p:nvPr/>
        </p:nvSpPr>
        <p:spPr>
          <a:xfrm>
            <a:off x="6812280" y="1950974"/>
            <a:ext cx="4693615" cy="248920"/>
          </a:xfrm>
          <a:prstGeom prst="rect">
            <a:avLst/>
          </a:prstGeom>
          <a:noFill/>
        </p:spPr>
        <p:txBody>
          <a:bodyPr wrap="square" lIns="0" tIns="0" rIns="0" bIns="0" anchor="t">
            <a:noAutofit/>
          </a:bodyPr>
          <a:lstStyle/>
          <a:p>
            <a:pPr algn="l">
              <a:lnSpc>
                <a:spcPts val="1960"/>
              </a:lnSpc>
              <a:spcBef>
                <a:spcPts val="0"/>
              </a:spcBef>
              <a:buNone/>
            </a:pPr>
            <a:r>
              <a:rPr lang="ko-KR" sz="1400" b="1" dirty="0">
                <a:solidFill>
                  <a:srgbClr val="0F172A"/>
                </a:solidFill>
                <a:latin typeface="맑은 고딕"/>
                <a:ea typeface="맑은 고딕"/>
                <a:cs typeface="맑은 고딕"/>
              </a:rPr>
              <a:t>24시간 상시 접수, 야간 방치 가설 기각</a:t>
            </a:r>
          </a:p>
        </p:txBody>
      </p:sp>
      <p:sp>
        <p:nvSpPr>
          <p:cNvPr id="40" name="body:L1:n1"/>
          <p:cNvSpPr txBox="1"/>
          <p:nvPr/>
        </p:nvSpPr>
        <p:spPr>
          <a:xfrm>
            <a:off x="6812280" y="2254758"/>
            <a:ext cx="469361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24</a:t>
            </a:r>
            <a:r>
              <a:rPr lang="ko-KR" sz="1440" b="1" dirty="0">
                <a:solidFill>
                  <a:srgbClr val="0F172A"/>
                </a:solidFill>
                <a:latin typeface="맑은 고딕"/>
                <a:ea typeface="맑은 고딕"/>
                <a:cs typeface="맑은 고딕"/>
              </a:rPr>
              <a:t>개 시간대</a:t>
            </a:r>
          </a:p>
        </p:txBody>
      </p:sp>
      <p:sp>
        <p:nvSpPr>
          <p:cNvPr id="41" name="body:L1:t"/>
          <p:cNvSpPr txBox="1"/>
          <p:nvPr/>
        </p:nvSpPr>
        <p:spPr>
          <a:xfrm>
            <a:off x="6812280" y="2821432"/>
            <a:ext cx="4693615"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접수 이벤트 0~23시 전 시간대에서 발생</a:t>
            </a:r>
          </a:p>
        </p:txBody>
      </p:sp>
      <p:sp>
        <p:nvSpPr>
          <p:cNvPr id="42" name="body:L1:t"/>
          <p:cNvSpPr txBox="1"/>
          <p:nvPr/>
        </p:nvSpPr>
        <p:spPr>
          <a:xfrm>
            <a:off x="6812280" y="3080766"/>
            <a:ext cx="4693615"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지연 원인은 영업 외 방치가 아닌 일정 조율 마찰</a:t>
            </a:r>
          </a:p>
        </p:txBody>
      </p:sp>
      <p:sp>
        <p:nvSpPr>
          <p:cNvPr id="43" name="op2"/>
          <p:cNvSpPr/>
          <p:nvPr/>
        </p:nvSpPr>
        <p:spPr>
          <a:xfrm>
            <a:off x="6629400" y="3776599"/>
            <a:ext cx="5059375" cy="251447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label:L1:t"/>
          <p:cNvSpPr txBox="1"/>
          <p:nvPr/>
        </p:nvSpPr>
        <p:spPr>
          <a:xfrm>
            <a:off x="6812280" y="3959479"/>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조직 구조</a:t>
            </a:r>
          </a:p>
        </p:txBody>
      </p:sp>
      <p:sp>
        <p:nvSpPr>
          <p:cNvPr id="45" name="body:L1:h2"/>
          <p:cNvSpPr txBox="1"/>
          <p:nvPr/>
        </p:nvSpPr>
        <p:spPr>
          <a:xfrm>
            <a:off x="6812280" y="4173093"/>
            <a:ext cx="4693615" cy="248920"/>
          </a:xfrm>
          <a:prstGeom prst="rect">
            <a:avLst/>
          </a:prstGeom>
          <a:noFill/>
        </p:spPr>
        <p:txBody>
          <a:bodyPr wrap="square" lIns="0" tIns="0" rIns="0" bIns="0" anchor="t">
            <a:noAutofit/>
          </a:bodyPr>
          <a:lstStyle/>
          <a:p>
            <a:pPr algn="l">
              <a:lnSpc>
                <a:spcPts val="1960"/>
              </a:lnSpc>
              <a:spcBef>
                <a:spcPts val="0"/>
              </a:spcBef>
              <a:buNone/>
            </a:pPr>
            <a:r>
              <a:rPr lang="ko-KR" sz="1400" b="1" dirty="0">
                <a:solidFill>
                  <a:srgbClr val="0F172A"/>
                </a:solidFill>
                <a:latin typeface="맑은 고딕"/>
                <a:ea typeface="맑은 고딕"/>
                <a:cs typeface="맑은 고딕"/>
              </a:rPr>
              <a:t>지역 전담제 X, 단일 공유 풀</a:t>
            </a:r>
          </a:p>
        </p:txBody>
      </p:sp>
      <p:sp>
        <p:nvSpPr>
          <p:cNvPr id="46" name="body:L1:n2"/>
          <p:cNvSpPr txBox="1"/>
          <p:nvPr/>
        </p:nvSpPr>
        <p:spPr>
          <a:xfrm>
            <a:off x="6812280" y="4476877"/>
            <a:ext cx="469361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46.9 : 53.1</a:t>
            </a:r>
            <a:r>
              <a:rPr lang="ko-KR" sz="1440" b="1" dirty="0">
                <a:solidFill>
                  <a:srgbClr val="E11D48"/>
                </a:solidFill>
                <a:latin typeface="맑은 고딕"/>
                <a:ea typeface="맑은 고딕"/>
                <a:cs typeface="맑은 고딕"/>
              </a:rPr>
              <a:t>%</a:t>
            </a:r>
          </a:p>
        </p:txBody>
      </p:sp>
      <p:sp>
        <p:nvSpPr>
          <p:cNvPr id="47" name="body:L1:t"/>
          <p:cNvSpPr txBox="1"/>
          <p:nvPr/>
        </p:nvSpPr>
        <p:spPr>
          <a:xfrm>
            <a:off x="6812280" y="5043551"/>
            <a:ext cx="4693615"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정상 접수 케이스 접수 비중 (Dian : Monica)</a:t>
            </a:r>
          </a:p>
        </p:txBody>
      </p:sp>
      <p:sp>
        <p:nvSpPr>
          <p:cNvPr id="48" name="body:L3:t"/>
          <p:cNvSpPr txBox="1"/>
          <p:nvPr/>
        </p:nvSpPr>
        <p:spPr>
          <a:xfrm>
            <a:off x="6812280" y="5302885"/>
            <a:ext cx="4693615" cy="624839"/>
          </a:xfrm>
          <a:prstGeom prst="rect">
            <a:avLst/>
          </a:prstGeom>
          <a:noFill/>
        </p:spPr>
        <p:txBody>
          <a:bodyPr wrap="square" lIns="0" tIns="0" rIns="0" bIns="0" anchor="t">
            <a:noAutofit/>
          </a:bodyPr>
          <a:lstStyle/>
          <a:p>
            <a:pPr algn="l" marL="164592" indent="-164592">
              <a:lnSpc>
                <a:spcPts val="1540"/>
              </a:lnSpc>
              <a:spcBef>
                <a:spcPts val="0"/>
              </a:spcBef>
              <a:buClr>
                <a:srgbClr val="2563EB"/>
              </a:buClr>
              <a:buFont typeface="맑은 고딕"/>
              <a:buChar char="•"/>
            </a:pPr>
            <a:r>
              <a:rPr lang="ko-KR" sz="1100" b="0" dirty="0">
                <a:solidFill>
                  <a:srgbClr val="334155"/>
                </a:solidFill>
                <a:latin typeface="맑은 고딕"/>
                <a:ea typeface="맑은 고딕"/>
                <a:cs typeface="맑은 고딕"/>
              </a:rPr>
              <a:t>배정 현장 기사 고르게 분산 (접수원별 기사 출동 비율: 평균 46.9%)</a:t>
            </a:r>
          </a:p>
          <a:p>
            <a:pPr algn="l" marL="164592" indent="-164592">
              <a:lnSpc>
                <a:spcPts val="1540"/>
              </a:lnSpc>
              <a:spcBef>
                <a:spcPts val="300"/>
              </a:spcBef>
              <a:buClr>
                <a:srgbClr val="2563EB"/>
              </a:buClr>
              <a:buFont typeface="맑은 고딕"/>
              <a:buChar char="•"/>
            </a:pPr>
            <a:r>
              <a:rPr lang="ko-KR" sz="1100" b="0" dirty="0">
                <a:solidFill>
                  <a:srgbClr val="334155"/>
                </a:solidFill>
                <a:latin typeface="맑은 고딕"/>
                <a:ea typeface="맑은 고딕"/>
                <a:cs typeface="맑은 고딕"/>
              </a:rPr>
              <a:t>2회 이상 접수 주택 35채 중 62.9%(22채)는 초기</a:t>
            </a:r>
            <a:br>
              <a:rPr lang="ko-KR" sz="1100" b="0" dirty="0">
                <a:solidFill>
                  <a:srgbClr val="334155"/>
                </a:solidFill>
                <a:latin typeface="맑은 고딕"/>
                <a:ea typeface="맑은 고딕"/>
                <a:cs typeface="맑은 고딕"/>
              </a:rPr>
            </a:br>
            <a:r>
              <a:rPr lang="ko-KR" sz="1100" b="0" dirty="0">
                <a:solidFill>
                  <a:srgbClr val="334155"/>
                </a:solidFill>
                <a:latin typeface="맑은 고딕"/>
                <a:ea typeface="맑은 고딕"/>
                <a:cs typeface="맑은 고딕"/>
              </a:rPr>
              <a:t>접수 담당자에게 비인계</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[ 02 · AS-IS 심층 분석 · P.07 ]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수리 프로세스(E2E) 라인</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 맵의 '+5.11h'는 채널 통제 OLS 계수, S09의 +6.7h는 단순 평균 차이 · 노드 수치는 수리 시작 이벤트 기준</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07 / 19</a:t>
            </a:r>
          </a:p>
        </p:txBody>
      </p:sp>
      <p:sp>
        <p:nvSpPr>
          <p:cNvPr id="8" name="map-card"/>
          <p:cNvSpPr/>
          <p:nvPr/>
        </p:nvSpPr>
        <p:spPr>
          <a:xfrm>
            <a:off x="502920" y="1527048"/>
            <a:ext cx="11185855" cy="311251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630936" y="165506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FIG.07 · E2E 기준 프로세스 맵 (접수 → 현장 → 정산) · 케이스 기준 927건</a:t>
            </a:r>
          </a:p>
        </p:txBody>
      </p:sp>
      <p:pic>
        <p:nvPicPr>
          <p:cNvPr id="10" name="pic:map" descr="process_map_deck.png"/>
          <p:cNvPicPr>
            <a:picLocks noChangeAspect="1"/>
          </p:cNvPicPr>
          <p:nvPr/>
        </p:nvPicPr>
        <p:blipFill>
          <a:blip r:embed="rId2"/>
          <a:stretch>
            <a:fillRect/>
          </a:stretch>
        </p:blipFill>
        <p:spPr>
          <a:xfrm>
            <a:off x="630936" y="1868678"/>
            <a:ext cx="10929823" cy="2642867"/>
          </a:xfrm>
          <a:prstGeom prst="rect">
            <a:avLst/>
          </a:prstGeom>
        </p:spPr>
      </p:pic>
      <p:sp>
        <p:nvSpPr>
          <p:cNvPr id="11" name="c1"/>
          <p:cNvSpPr/>
          <p:nvPr/>
        </p:nvSpPr>
        <p:spPr>
          <a:xfrm>
            <a:off x="502920" y="4776721"/>
            <a:ext cx="2885358" cy="12308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label:L1:t"/>
          <p:cNvSpPr txBox="1"/>
          <p:nvPr/>
        </p:nvSpPr>
        <p:spPr>
          <a:xfrm>
            <a:off x="685800" y="4959601"/>
            <a:ext cx="251959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접수</a:t>
            </a:r>
          </a:p>
        </p:txBody>
      </p:sp>
      <p:sp>
        <p:nvSpPr>
          <p:cNvPr id="13" name="body:L2:c1t"/>
          <p:cNvSpPr txBox="1"/>
          <p:nvPr/>
        </p:nvSpPr>
        <p:spPr>
          <a:xfrm>
            <a:off x="685800" y="5173215"/>
            <a:ext cx="2519598"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73건(7.3%) </a:t>
            </a:r>
            <a:r>
              <a:rPr lang="ko-KR" sz="1150" b="0" dirty="0">
                <a:solidFill>
                  <a:srgbClr val="334155"/>
                </a:solidFill>
                <a:latin typeface="맑은 고딕"/>
                <a:ea typeface="맑은 고딕"/>
                <a:cs typeface="맑은 고딕"/>
              </a:rPr>
              <a:t>오접수 격리</a:t>
            </a:r>
          </a:p>
          <a:p>
            <a:pPr algn="l">
              <a:lnSpc>
                <a:spcPts val="1610"/>
              </a:lnSpc>
              <a:spcBef>
                <a:spcPts val="0"/>
              </a:spcBef>
              <a:buNone/>
            </a:pPr>
            <a:r>
              <a:rPr lang="ko-KR" sz="1150" b="0" dirty="0">
                <a:solidFill>
                  <a:srgbClr val="334155"/>
                </a:solidFill>
                <a:latin typeface="맑은 고딕"/>
                <a:ea typeface="맑은 고딕"/>
                <a:cs typeface="맑은 고딕"/>
              </a:rPr>
              <a:t>→ 정상 접수 </a:t>
            </a:r>
            <a:r>
              <a:rPr lang="ko-KR" sz="1150" b="1" dirty="0">
                <a:solidFill>
                  <a:srgbClr val="2563EB"/>
                </a:solidFill>
                <a:latin typeface="맑은 고딕"/>
                <a:ea typeface="맑은 고딕"/>
                <a:cs typeface="맑은 고딕"/>
              </a:rPr>
              <a:t>927건</a:t>
            </a:r>
          </a:p>
        </p:txBody>
      </p:sp>
      <p:sp>
        <p:nvSpPr>
          <p:cNvPr id="14" name="c2"/>
          <p:cNvSpPr/>
          <p:nvPr/>
        </p:nvSpPr>
        <p:spPr>
          <a:xfrm>
            <a:off x="3571158" y="4776721"/>
            <a:ext cx="3967368" cy="12308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label:L1:t"/>
          <p:cNvSpPr txBox="1"/>
          <p:nvPr/>
        </p:nvSpPr>
        <p:spPr>
          <a:xfrm>
            <a:off x="3754038" y="4959601"/>
            <a:ext cx="360160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02 · 현장 · 단방향 에스컬레이션</a:t>
            </a:r>
          </a:p>
        </p:txBody>
      </p:sp>
      <p:sp>
        <p:nvSpPr>
          <p:cNvPr id="16" name="body:L3:esc"/>
          <p:cNvSpPr txBox="1"/>
          <p:nvPr/>
        </p:nvSpPr>
        <p:spPr>
          <a:xfrm>
            <a:off x="3754038" y="5173215"/>
            <a:ext cx="3601608" cy="61341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즉시 → 사내 → 외주</a:t>
            </a:r>
            <a:r>
              <a:rPr lang="ko-KR" sz="1150" b="0" dirty="0">
                <a:solidFill>
                  <a:srgbClr val="334155"/>
                </a:solidFill>
                <a:latin typeface="맑은 고딕"/>
                <a:ea typeface="맑은 고딕"/>
                <a:cs typeface="맑은 고딕"/>
              </a:rPr>
              <a:t>로만 인계되는 단방향</a:t>
            </a:r>
          </a:p>
          <a:p>
            <a:pPr algn="l">
              <a:lnSpc>
                <a:spcPts val="1610"/>
              </a:lnSpc>
              <a:spcBef>
                <a:spcPts val="0"/>
              </a:spcBef>
              <a:buNone/>
            </a:pPr>
            <a:r>
              <a:rPr lang="ko-KR" sz="1150" b="0" dirty="0">
                <a:solidFill>
                  <a:srgbClr val="334155"/>
                </a:solidFill>
                <a:latin typeface="맑은 고딕"/>
                <a:ea typeface="맑은 고딕"/>
                <a:cs typeface="맑은 고딕"/>
              </a:rPr>
              <a:t>즉시→사내 23 · 즉시→외주 38 · 사내→외주 35</a:t>
            </a:r>
          </a:p>
          <a:p>
            <a:pPr algn="ctr">
              <a:lnSpc>
                <a:spcPts val="1610"/>
              </a:lnSpc>
              <a:spcBef>
                <a:spcPts val="0"/>
              </a:spcBef>
              <a:buNone/>
            </a:pPr>
            <a:r>
              <a:rPr lang="ko-KR" sz="1150" b="0" dirty="0">
                <a:solidFill>
                  <a:srgbClr val="334155"/>
                </a:solidFill>
                <a:latin typeface="맑은 고딕"/>
                <a:ea typeface="맑은 고딕"/>
                <a:cs typeface="맑은 고딕"/>
              </a:rPr>
              <a:t>총 96회 · </a:t>
            </a:r>
            <a:r>
              <a:rPr lang="ko-KR" sz="1150" b="1" dirty="0">
                <a:solidFill>
                  <a:srgbClr val="E11D48"/>
                </a:solidFill>
                <a:latin typeface="맑은 고딕"/>
                <a:ea typeface="맑은 고딕"/>
                <a:cs typeface="맑은 고딕"/>
              </a:rPr>
              <a:t>역행 0건</a:t>
            </a:r>
          </a:p>
        </p:txBody>
      </p:sp>
      <p:sp>
        <p:nvSpPr>
          <p:cNvPr id="17" name="c3"/>
          <p:cNvSpPr/>
          <p:nvPr/>
        </p:nvSpPr>
        <p:spPr>
          <a:xfrm>
            <a:off x="7721406" y="4776721"/>
            <a:ext cx="3967368" cy="12308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label:L1:t"/>
          <p:cNvSpPr txBox="1"/>
          <p:nvPr/>
        </p:nvSpPr>
        <p:spPr>
          <a:xfrm>
            <a:off x="7904286" y="4959601"/>
            <a:ext cx="360160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정산</a:t>
            </a:r>
          </a:p>
        </p:txBody>
      </p:sp>
      <p:sp>
        <p:nvSpPr>
          <p:cNvPr id="19" name="body:L3:t"/>
          <p:cNvSpPr txBox="1"/>
          <p:nvPr/>
        </p:nvSpPr>
        <p:spPr>
          <a:xfrm>
            <a:off x="7904286" y="5173215"/>
            <a:ext cx="3601608" cy="65151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수리 완료 후 </a:t>
            </a:r>
            <a:r>
              <a:rPr lang="ko-KR" sz="1150" b="1" dirty="0">
                <a:solidFill>
                  <a:srgbClr val="2563EB"/>
                </a:solidFill>
                <a:latin typeface="맑은 고딕"/>
                <a:ea typeface="맑은 고딕"/>
                <a:cs typeface="맑은 고딕"/>
              </a:rPr>
              <a:t>고객 통보·재무 전송 </a:t>
            </a:r>
            <a:r>
              <a:rPr lang="ko-KR" sz="1150" b="0" dirty="0">
                <a:solidFill>
                  <a:srgbClr val="334155"/>
                </a:solidFill>
                <a:latin typeface="맑은 고딕"/>
                <a:ea typeface="맑은 고딕"/>
                <a:cs typeface="맑은 고딕"/>
              </a:rPr>
              <a:t>병렬 시행</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티켓 발행 ≥ 병렬 종료 시각 </a:t>
            </a:r>
            <a:r>
              <a:rPr lang="ko-KR" sz="1150" b="1" dirty="0">
                <a:solidFill>
                  <a:srgbClr val="2563EB"/>
                </a:solidFill>
                <a:latin typeface="맑은 고딕"/>
                <a:ea typeface="맑은 고딕"/>
                <a:cs typeface="맑은 고딕"/>
              </a:rPr>
              <a:t>927건(100%)</a:t>
            </a:r>
            <a:r>
              <a:rPr lang="ko-KR" sz="1150" b="0" dirty="0">
                <a:solidFill>
                  <a:srgbClr val="334155"/>
                </a:solidFill>
                <a:latin typeface="맑은 고딕"/>
                <a:ea typeface="맑은 고딕"/>
                <a:cs typeface="맑은 고딕"/>
              </a:rPr>
              <a:t>, 역전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0건: 동시 925건 · 결측 복원 2건(+1분)</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[ 02 · AS-IS 심층 분석 · P.08 ]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리드타임 105.9h의 90.5%는 공정 간 대기</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대기 = 105.9h − 작업(4.6h 현장 실작업 + 5.5h 정산 처리) = 95.8h · 현장 국면이 대기의 97.8%</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L1206~1395 · 접수 2.1h는 일정 조율 구간이 대부분이라 전부 대기로 산정(현장 실작업만 작업이면 95.7%)</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08 / 19</a:t>
            </a:r>
          </a:p>
        </p:txBody>
      </p:sp>
      <p:sp>
        <p:nvSpPr>
          <p:cNvPr id="9" name="macro-card"/>
          <p:cNvSpPr/>
          <p:nvPr/>
        </p:nvSpPr>
        <p:spPr>
          <a:xfrm>
            <a:off x="502920" y="1618488"/>
            <a:ext cx="11185855" cy="312140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4650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FIG.08 · 3대 국면별 실작업 vs 단순 대기 (정정본)</a:t>
            </a:r>
          </a:p>
        </p:txBody>
      </p:sp>
      <p:pic>
        <p:nvPicPr>
          <p:cNvPr id="11" name="pic:macro" descr="slide08_macro_leadtime_breakdown.png"/>
          <p:cNvPicPr>
            <a:picLocks noChangeAspect="1"/>
          </p:cNvPicPr>
          <p:nvPr/>
        </p:nvPicPr>
        <p:blipFill>
          <a:blip r:embed="rId2"/>
          <a:stretch>
            <a:fillRect/>
          </a:stretch>
        </p:blipFill>
        <p:spPr>
          <a:xfrm>
            <a:off x="1997315" y="1960118"/>
            <a:ext cx="8197063" cy="2651760"/>
          </a:xfrm>
          <a:prstGeom prst="rect">
            <a:avLst/>
          </a:prstGeom>
        </p:spPr>
      </p:pic>
      <p:sp>
        <p:nvSpPr>
          <p:cNvPr id="12" name="c1"/>
          <p:cNvSpPr/>
          <p:nvPr/>
        </p:nvSpPr>
        <p:spPr>
          <a:xfrm>
            <a:off x="502920" y="4877054"/>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85800"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접수</a:t>
            </a:r>
          </a:p>
        </p:txBody>
      </p:sp>
      <p:sp>
        <p:nvSpPr>
          <p:cNvPr id="14" name="body:L1:a"/>
          <p:cNvSpPr txBox="1"/>
          <p:nvPr/>
        </p:nvSpPr>
        <p:spPr>
          <a:xfrm>
            <a:off x="685800"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2.1</a:t>
            </a:r>
            <a:r>
              <a:rPr lang="ko-KR" sz="1440" b="1" dirty="0">
                <a:solidFill>
                  <a:srgbClr val="0F172A"/>
                </a:solidFill>
                <a:latin typeface="맑은 고딕"/>
                <a:ea typeface="맑은 고딕"/>
                <a:cs typeface="맑은 고딕"/>
              </a:rPr>
              <a:t>h</a:t>
            </a:r>
          </a:p>
        </p:txBody>
      </p:sp>
      <p:sp>
        <p:nvSpPr>
          <p:cNvPr id="15" name="body:L1:t"/>
          <p:cNvSpPr txBox="1"/>
          <p:nvPr/>
        </p:nvSpPr>
        <p:spPr>
          <a:xfrm>
            <a:off x="685800"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일정 조율 구간. 교차 인계 시 6.6배 지연 (p.9)</a:t>
            </a:r>
          </a:p>
        </p:txBody>
      </p:sp>
      <p:sp>
        <p:nvSpPr>
          <p:cNvPr id="16" name="c2"/>
          <p:cNvSpPr/>
          <p:nvPr/>
        </p:nvSpPr>
        <p:spPr>
          <a:xfrm>
            <a:off x="4292498" y="4877054"/>
            <a:ext cx="3606698" cy="1341627"/>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4475378"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현장 국면 · 1위 병목</a:t>
            </a:r>
          </a:p>
        </p:txBody>
      </p:sp>
      <p:sp>
        <p:nvSpPr>
          <p:cNvPr id="18" name="body:L1:b"/>
          <p:cNvSpPr txBox="1"/>
          <p:nvPr/>
        </p:nvSpPr>
        <p:spPr>
          <a:xfrm>
            <a:off x="4475378"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76.8</a:t>
            </a:r>
            <a:r>
              <a:rPr lang="ko-KR" sz="1440" b="1" dirty="0">
                <a:solidFill>
                  <a:srgbClr val="E11D48"/>
                </a:solidFill>
                <a:latin typeface="맑은 고딕"/>
                <a:ea typeface="맑은 고딕"/>
                <a:cs typeface="맑은 고딕"/>
              </a:rPr>
              <a:t>h</a:t>
            </a:r>
          </a:p>
        </p:txBody>
      </p:sp>
      <p:sp>
        <p:nvSpPr>
          <p:cNvPr id="19" name="body:L1:t"/>
          <p:cNvSpPr txBox="1"/>
          <p:nvPr/>
        </p:nvSpPr>
        <p:spPr>
          <a:xfrm>
            <a:off x="4475378"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실사 방문 대기. 현장 시간의 78.2%를 독점</a:t>
            </a:r>
          </a:p>
        </p:txBody>
      </p:sp>
      <p:sp>
        <p:nvSpPr>
          <p:cNvPr id="20" name="c3"/>
          <p:cNvSpPr/>
          <p:nvPr/>
        </p:nvSpPr>
        <p:spPr>
          <a:xfrm>
            <a:off x="8082076" y="4877054"/>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264956"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수리 착수 대기</a:t>
            </a:r>
          </a:p>
        </p:txBody>
      </p:sp>
      <p:sp>
        <p:nvSpPr>
          <p:cNvPr id="22" name="body:L1:c"/>
          <p:cNvSpPr txBox="1"/>
          <p:nvPr/>
        </p:nvSpPr>
        <p:spPr>
          <a:xfrm>
            <a:off x="8264956"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30.5</a:t>
            </a:r>
            <a:r>
              <a:rPr lang="ko-KR" sz="1440" b="1" dirty="0">
                <a:solidFill>
                  <a:srgbClr val="E11D48"/>
                </a:solidFill>
                <a:latin typeface="맑은 고딕"/>
                <a:ea typeface="맑은 고딕"/>
                <a:cs typeface="맑은 고딕"/>
              </a:rPr>
              <a:t>h</a:t>
            </a:r>
          </a:p>
        </p:txBody>
      </p:sp>
      <p:sp>
        <p:nvSpPr>
          <p:cNvPr id="23" name="body:L1:t"/>
          <p:cNvSpPr txBox="1"/>
          <p:nvPr/>
        </p:nvSpPr>
        <p:spPr>
          <a:xfrm>
            <a:off x="8264956"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사내수리 485건만 자재 대기, 즉시·외주는 0.0h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[ 02 · AS-IS 심층 분석 · P.09 ]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지연은 물량이 아닌 교차 인계 탓</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소요시간 = 최초 접수 → 방문 일정 확정 · 15분 이내는 ≤15분 · 인계 효과 +6.7h(단순 차이), +5.11h(OLS)</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L863~1135 · hypothesis 노트북 Cell 9 (접수 OLS R²=0.3000, F=131.9, VIF 최대 1.20)</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09 / 19</a:t>
            </a:r>
          </a:p>
        </p:txBody>
      </p:sp>
      <p:sp>
        <p:nvSpPr>
          <p:cNvPr id="9" name="rec-recA"/>
          <p:cNvSpPr/>
          <p:nvPr/>
        </p:nvSpPr>
        <p:spPr>
          <a:xfrm>
            <a:off x="502920" y="1618488"/>
            <a:ext cx="3606698" cy="2480045"/>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46504"/>
            <a:ext cx="335066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FIG.09-A · 단독 vs 교차 인계 · 평균 접수시간</a:t>
            </a:r>
          </a:p>
        </p:txBody>
      </p:sp>
      <p:pic>
        <p:nvPicPr>
          <p:cNvPr id="11" name="pic:recA" descr="slide09a_handover.png"/>
          <p:cNvPicPr>
            <a:picLocks noChangeAspect="1"/>
          </p:cNvPicPr>
          <p:nvPr/>
        </p:nvPicPr>
        <p:blipFill>
          <a:blip r:embed="rId2"/>
          <a:stretch>
            <a:fillRect/>
          </a:stretch>
        </p:blipFill>
        <p:spPr>
          <a:xfrm>
            <a:off x="630936" y="1960118"/>
            <a:ext cx="3350666" cy="2010399"/>
          </a:xfrm>
          <a:prstGeom prst="rect">
            <a:avLst/>
          </a:prstGeom>
        </p:spPr>
      </p:pic>
      <p:sp>
        <p:nvSpPr>
          <p:cNvPr id="12" name="rec-recB"/>
          <p:cNvSpPr/>
          <p:nvPr/>
        </p:nvSpPr>
        <p:spPr>
          <a:xfrm>
            <a:off x="4292498" y="1618488"/>
            <a:ext cx="3606698" cy="2480045"/>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4420514" y="1746504"/>
            <a:ext cx="335066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FIG.09-B · 채널별 15분 이내 · 60분 초과 비율</a:t>
            </a:r>
          </a:p>
        </p:txBody>
      </p:sp>
      <p:pic>
        <p:nvPicPr>
          <p:cNvPr id="14" name="pic:recB" descr="slide09b_channel_cohort.png"/>
          <p:cNvPicPr>
            <a:picLocks noChangeAspect="1"/>
          </p:cNvPicPr>
          <p:nvPr/>
        </p:nvPicPr>
        <p:blipFill>
          <a:blip r:embed="rId3"/>
          <a:stretch>
            <a:fillRect/>
          </a:stretch>
        </p:blipFill>
        <p:spPr>
          <a:xfrm>
            <a:off x="4420514" y="1960118"/>
            <a:ext cx="3350666" cy="2010399"/>
          </a:xfrm>
          <a:prstGeom prst="rect">
            <a:avLst/>
          </a:prstGeom>
        </p:spPr>
      </p:pic>
      <p:sp>
        <p:nvSpPr>
          <p:cNvPr id="15" name="rec-recC"/>
          <p:cNvSpPr/>
          <p:nvPr/>
        </p:nvSpPr>
        <p:spPr>
          <a:xfrm>
            <a:off x="8082076" y="1618488"/>
            <a:ext cx="3606698" cy="2480045"/>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label:L1:t"/>
          <p:cNvSpPr txBox="1"/>
          <p:nvPr/>
        </p:nvSpPr>
        <p:spPr>
          <a:xfrm>
            <a:off x="8210092" y="1746504"/>
            <a:ext cx="335066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FIG.09-C · 패스트 트랙(15분 내) 채널별 평균</a:t>
            </a:r>
          </a:p>
        </p:txBody>
      </p:sp>
      <p:pic>
        <p:nvPicPr>
          <p:cNvPr id="17" name="pic:recC" descr="slide09c_fast_channel.png"/>
          <p:cNvPicPr>
            <a:picLocks noChangeAspect="1"/>
          </p:cNvPicPr>
          <p:nvPr/>
        </p:nvPicPr>
        <p:blipFill>
          <a:blip r:embed="rId4"/>
          <a:stretch>
            <a:fillRect/>
          </a:stretch>
        </p:blipFill>
        <p:spPr>
          <a:xfrm>
            <a:off x="8210092" y="1960118"/>
            <a:ext cx="3350666" cy="2010399"/>
          </a:xfrm>
          <a:prstGeom prst="rect">
            <a:avLst/>
          </a:prstGeom>
        </p:spPr>
      </p:pic>
      <p:sp>
        <p:nvSpPr>
          <p:cNvPr id="18" name="c1"/>
          <p:cNvSpPr/>
          <p:nvPr/>
        </p:nvSpPr>
        <p:spPr>
          <a:xfrm>
            <a:off x="502920" y="4235693"/>
            <a:ext cx="3606698" cy="160985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label:L1:t"/>
          <p:cNvSpPr txBox="1"/>
          <p:nvPr/>
        </p:nvSpPr>
        <p:spPr>
          <a:xfrm>
            <a:off x="685800" y="4418573"/>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핵심 원인 · 교차 인계</a:t>
            </a:r>
          </a:p>
        </p:txBody>
      </p:sp>
      <p:sp>
        <p:nvSpPr>
          <p:cNvPr id="20" name="body:L1:a"/>
          <p:cNvSpPr txBox="1"/>
          <p:nvPr/>
        </p:nvSpPr>
        <p:spPr>
          <a:xfrm>
            <a:off x="685800" y="4632187"/>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6.6</a:t>
            </a:r>
            <a:r>
              <a:rPr lang="ko-KR" sz="1440" b="1" dirty="0">
                <a:solidFill>
                  <a:srgbClr val="E11D48"/>
                </a:solidFill>
                <a:latin typeface="맑은 고딕"/>
                <a:ea typeface="맑은 고딕"/>
                <a:cs typeface="맑은 고딕"/>
              </a:rPr>
              <a:t>배</a:t>
            </a:r>
          </a:p>
        </p:txBody>
      </p:sp>
      <p:sp>
        <p:nvSpPr>
          <p:cNvPr id="21" name="body:L2:t"/>
          <p:cNvSpPr txBox="1"/>
          <p:nvPr/>
        </p:nvSpPr>
        <p:spPr>
          <a:xfrm>
            <a:off x="685800" y="5198861"/>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단독 804건 1.20h → 인계 123건 7.87h.</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인계는 전부 웹 69 · 우편 54</a:t>
            </a:r>
          </a:p>
        </p:txBody>
      </p:sp>
      <p:sp>
        <p:nvSpPr>
          <p:cNvPr id="22" name="c2"/>
          <p:cNvSpPr/>
          <p:nvPr/>
        </p:nvSpPr>
        <p:spPr>
          <a:xfrm>
            <a:off x="4292498" y="4235693"/>
            <a:ext cx="3606698" cy="160985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label:L1:t"/>
          <p:cNvSpPr txBox="1"/>
          <p:nvPr/>
        </p:nvSpPr>
        <p:spPr>
          <a:xfrm>
            <a:off x="4475378" y="4418573"/>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이봉 분포 · 단기 지연이 아니다</a:t>
            </a:r>
          </a:p>
        </p:txBody>
      </p:sp>
      <p:sp>
        <p:nvSpPr>
          <p:cNvPr id="24" name="body:L4:bi"/>
          <p:cNvSpPr txBox="1"/>
          <p:nvPr/>
        </p:nvSpPr>
        <p:spPr>
          <a:xfrm>
            <a:off x="4475378" y="4632187"/>
            <a:ext cx="3240938" cy="93218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웹·우편 </a:t>
            </a:r>
            <a:r>
              <a:rPr lang="ko-KR" sz="1150" b="1" dirty="0">
                <a:solidFill>
                  <a:srgbClr val="E11D48"/>
                </a:solidFill>
                <a:latin typeface="맑은 고딕"/>
                <a:ea typeface="맑은 고딕"/>
                <a:cs typeface="맑은 고딕"/>
              </a:rPr>
              <a:t>패스트 트랙(15분 이내) 49.6%</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웹·우편 </a:t>
            </a:r>
            <a:r>
              <a:rPr lang="ko-KR" sz="1150" b="1" dirty="0">
                <a:solidFill>
                  <a:srgbClr val="E11D48"/>
                </a:solidFill>
                <a:latin typeface="맑은 고딕"/>
                <a:ea typeface="맑은 고딕"/>
                <a:cs typeface="맑은 고딕"/>
              </a:rPr>
              <a:t>장기 대기(60분 초과) 50.4%</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15~60분 구간 0건</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인계 123건 전부 60분 초과 (최소 72분)</a:t>
            </a:r>
          </a:p>
        </p:txBody>
      </p:sp>
      <p:sp>
        <p:nvSpPr>
          <p:cNvPr id="25" name="c3"/>
          <p:cNvSpPr/>
          <p:nvPr/>
        </p:nvSpPr>
        <p:spPr>
          <a:xfrm>
            <a:off x="8082076" y="4235693"/>
            <a:ext cx="3606698" cy="160985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label:L1:t"/>
          <p:cNvSpPr txBox="1"/>
          <p:nvPr/>
        </p:nvSpPr>
        <p:spPr>
          <a:xfrm>
            <a:off x="8264956" y="4418573"/>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반전 · 웹은 느리지 않다</a:t>
            </a:r>
          </a:p>
        </p:txBody>
      </p:sp>
      <p:sp>
        <p:nvSpPr>
          <p:cNvPr id="27" name="body:L1:c"/>
          <p:cNvSpPr txBox="1"/>
          <p:nvPr/>
        </p:nvSpPr>
        <p:spPr>
          <a:xfrm>
            <a:off x="8264956" y="4632187"/>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6.8</a:t>
            </a:r>
            <a:r>
              <a:rPr lang="ko-KR" sz="1440" b="1" dirty="0">
                <a:solidFill>
                  <a:srgbClr val="0F172A"/>
                </a:solidFill>
                <a:latin typeface="맑은 고딕"/>
                <a:ea typeface="맑은 고딕"/>
                <a:cs typeface="맑은 고딕"/>
              </a:rPr>
              <a:t>분</a:t>
            </a:r>
          </a:p>
        </p:txBody>
      </p:sp>
      <p:sp>
        <p:nvSpPr>
          <p:cNvPr id="28" name="body:L1:t"/>
          <p:cNvSpPr txBox="1"/>
          <p:nvPr/>
        </p:nvSpPr>
        <p:spPr>
          <a:xfrm>
            <a:off x="8264956" y="5198861"/>
            <a:ext cx="3240938"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빠른 건 평균: 웹 6.8분 &lt; 실시간 채널 8.3분</a:t>
            </a:r>
          </a:p>
        </p:txBody>
      </p:sp>
      <p:sp>
        <p:nvSpPr>
          <p:cNvPr id="29" name="body:L1:t"/>
          <p:cNvSpPr txBox="1"/>
          <p:nvPr/>
        </p:nvSpPr>
        <p:spPr>
          <a:xfrm>
            <a:off x="8264956" y="5458195"/>
            <a:ext cx="3240938"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병목 = 일정 조율 공백</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[ 02 · AS-IS 심층 분석 · P.10 ]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시간은 인계·채널과 연동, 물량과는 무관</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국면 9개 변수의 피어슨 상관: 방향을 보여주고, 다음 장의 OLS가 순수 효과를 분리한다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7 (피어슨 r, N=927) · 전 칸 재계산 일치 · 소요시간 = 최초 접수 → 방문 일정 확정(조율 완료)</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10 / 19</a:t>
            </a:r>
          </a:p>
        </p:txBody>
      </p:sp>
      <p:sp>
        <p:nvSpPr>
          <p:cNvPr id="9" name="heat-card"/>
          <p:cNvSpPr/>
          <p:nvPr/>
        </p:nvSpPr>
        <p:spPr>
          <a:xfrm>
            <a:off x="502920" y="1554480"/>
            <a:ext cx="5257800" cy="470916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500176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FIG.10 · 접수 국면 9대 변수 상관 매트릭스</a:t>
            </a:r>
          </a:p>
        </p:txBody>
      </p:sp>
      <p:pic>
        <p:nvPicPr>
          <p:cNvPr id="11" name="pic:heat" descr="reception_detailed_correlation_heatmap.png"/>
          <p:cNvPicPr>
            <a:picLocks noChangeAspect="1"/>
          </p:cNvPicPr>
          <p:nvPr/>
        </p:nvPicPr>
        <p:blipFill>
          <a:blip r:embed="rId2"/>
          <a:stretch>
            <a:fillRect/>
          </a:stretch>
        </p:blipFill>
        <p:spPr>
          <a:xfrm>
            <a:off x="843092" y="1896110"/>
            <a:ext cx="4577454" cy="4142232"/>
          </a:xfrm>
          <a:prstGeom prst="rect">
            <a:avLst/>
          </a:prstGeom>
        </p:spPr>
      </p:pic>
      <p:sp>
        <p:nvSpPr>
          <p:cNvPr id="12" name="s1"/>
          <p:cNvSpPr/>
          <p:nvPr/>
        </p:nvSpPr>
        <p:spPr>
          <a:xfrm>
            <a:off x="5943600" y="1554480"/>
            <a:ext cx="5745175" cy="109499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071616" y="1682496"/>
            <a:ext cx="548914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교차 인계 ↔ 접수 시간</a:t>
            </a:r>
          </a:p>
        </p:txBody>
      </p:sp>
      <p:sp>
        <p:nvSpPr>
          <p:cNvPr id="14" name="body:L1:a"/>
          <p:cNvSpPr txBox="1"/>
          <p:nvPr/>
        </p:nvSpPr>
        <p:spPr>
          <a:xfrm>
            <a:off x="6071616" y="1896110"/>
            <a:ext cx="5489143"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r = +0.48</a:t>
            </a:r>
          </a:p>
        </p:txBody>
      </p:sp>
      <p:sp>
        <p:nvSpPr>
          <p:cNvPr id="15" name="body:L1:t"/>
          <p:cNvSpPr txBox="1"/>
          <p:nvPr/>
        </p:nvSpPr>
        <p:spPr>
          <a:xfrm>
            <a:off x="6071616" y="2292604"/>
            <a:ext cx="5489143"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양(+)의 상관: 인계 시 접수가 길어진다 (인계 123건)</a:t>
            </a:r>
          </a:p>
        </p:txBody>
      </p:sp>
      <p:sp>
        <p:nvSpPr>
          <p:cNvPr id="16" name="s2"/>
          <p:cNvSpPr/>
          <p:nvPr/>
        </p:nvSpPr>
        <p:spPr>
          <a:xfrm>
            <a:off x="5943600" y="2759202"/>
            <a:ext cx="5745175" cy="109499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6071616" y="2887218"/>
            <a:ext cx="548914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실시간 채널 ↔ 접수 시간</a:t>
            </a:r>
          </a:p>
        </p:txBody>
      </p:sp>
      <p:sp>
        <p:nvSpPr>
          <p:cNvPr id="18" name="body:L1:b"/>
          <p:cNvSpPr txBox="1"/>
          <p:nvPr/>
        </p:nvSpPr>
        <p:spPr>
          <a:xfrm>
            <a:off x="6071616" y="3100832"/>
            <a:ext cx="5489143"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2563EB"/>
                </a:solidFill>
                <a:latin typeface="Consolas"/>
                <a:ea typeface="맑은 고딕"/>
                <a:cs typeface="Consolas"/>
              </a:rPr>
              <a:t>r = −0.43</a:t>
            </a:r>
          </a:p>
        </p:txBody>
      </p:sp>
      <p:sp>
        <p:nvSpPr>
          <p:cNvPr id="19" name="body:L1:t"/>
          <p:cNvSpPr txBox="1"/>
          <p:nvPr/>
        </p:nvSpPr>
        <p:spPr>
          <a:xfrm>
            <a:off x="6071616" y="3497326"/>
            <a:ext cx="5489143"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전화·대면은 빠르고 웹·우편은 느리다</a:t>
            </a:r>
          </a:p>
        </p:txBody>
      </p:sp>
      <p:sp>
        <p:nvSpPr>
          <p:cNvPr id="20" name="s3"/>
          <p:cNvSpPr/>
          <p:nvPr/>
        </p:nvSpPr>
        <p:spPr>
          <a:xfrm>
            <a:off x="5943600" y="3963924"/>
            <a:ext cx="5745175" cy="109499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6071616" y="4091939"/>
            <a:ext cx="548914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일별 접수량 ↔ 접수 시간</a:t>
            </a:r>
          </a:p>
        </p:txBody>
      </p:sp>
      <p:sp>
        <p:nvSpPr>
          <p:cNvPr id="22" name="body:L1:c"/>
          <p:cNvSpPr txBox="1"/>
          <p:nvPr/>
        </p:nvSpPr>
        <p:spPr>
          <a:xfrm>
            <a:off x="6071616" y="4305554"/>
            <a:ext cx="5489143"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94A3B8"/>
                </a:solidFill>
                <a:latin typeface="Consolas"/>
                <a:ea typeface="맑은 고딕"/>
                <a:cs typeface="Consolas"/>
              </a:rPr>
              <a:t>r = 0.01</a:t>
            </a:r>
          </a:p>
        </p:txBody>
      </p:sp>
      <p:sp>
        <p:nvSpPr>
          <p:cNvPr id="23" name="body:L1:t"/>
          <p:cNvSpPr txBox="1"/>
          <p:nvPr/>
        </p:nvSpPr>
        <p:spPr>
          <a:xfrm>
            <a:off x="6071616" y="4702048"/>
            <a:ext cx="5489143"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물량 무관 · 현장 실사 대기와는 r = 0.17</a:t>
            </a:r>
          </a:p>
        </p:txBody>
      </p:sp>
      <p:sp>
        <p:nvSpPr>
          <p:cNvPr id="24" name="s4"/>
          <p:cNvSpPr/>
          <p:nvPr/>
        </p:nvSpPr>
        <p:spPr>
          <a:xfrm>
            <a:off x="5943600" y="5168646"/>
            <a:ext cx="5745175" cy="109499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label:L1:t"/>
          <p:cNvSpPr txBox="1"/>
          <p:nvPr/>
        </p:nvSpPr>
        <p:spPr>
          <a:xfrm>
            <a:off x="6071616" y="5296662"/>
            <a:ext cx="548914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교차 인계 ↔ 실시간 채널</a:t>
            </a:r>
          </a:p>
        </p:txBody>
      </p:sp>
      <p:sp>
        <p:nvSpPr>
          <p:cNvPr id="26" name="body:L1:d"/>
          <p:cNvSpPr txBox="1"/>
          <p:nvPr/>
        </p:nvSpPr>
        <p:spPr>
          <a:xfrm>
            <a:off x="6071616" y="5510276"/>
            <a:ext cx="5489143"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2563EB"/>
                </a:solidFill>
                <a:latin typeface="Consolas"/>
                <a:ea typeface="맑은 고딕"/>
                <a:cs typeface="Consolas"/>
              </a:rPr>
              <a:t>r = −0.40</a:t>
            </a:r>
          </a:p>
        </p:txBody>
      </p:sp>
      <p:sp>
        <p:nvSpPr>
          <p:cNvPr id="27" name="body:L1:t"/>
          <p:cNvSpPr txBox="1"/>
          <p:nvPr/>
        </p:nvSpPr>
        <p:spPr>
          <a:xfrm>
            <a:off x="6071616" y="5906770"/>
            <a:ext cx="5489143"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인계 123건 전부 웹·우편 → 두 변수가 얽혀 OLS로 분리</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[ 02 · AS-IS 심층 분석 · P.11 ]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지연 요인: 교차 인계·비실시간 채널, 물량은 무관</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소요시간 OLS · R² 30.0% · F 131.9 · N 927 · VIF 최대 1.20</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9 (statsmodels OLS, 재계산 일치) · 종속변수 receipt_hours · 채널 세분화는 전화 기준</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11 / 19</a:t>
            </a:r>
          </a:p>
        </p:txBody>
      </p:sp>
      <p:sp>
        <p:nvSpPr>
          <p:cNvPr id="9" name="rols-card"/>
          <p:cNvSpPr/>
          <p:nvPr/>
        </p:nvSpPr>
        <p:spPr>
          <a:xfrm>
            <a:off x="502920" y="1554480"/>
            <a:ext cx="7818120" cy="383604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FIG.11 · 접수 단독 OLS 회귀계수와 95% 신뢰구간</a:t>
            </a:r>
          </a:p>
        </p:txBody>
      </p:sp>
      <p:pic>
        <p:nvPicPr>
          <p:cNvPr id="11" name="pic:ols" descr="reception_standalone_ols_coefficients.png"/>
          <p:cNvPicPr>
            <a:picLocks noChangeAspect="1"/>
          </p:cNvPicPr>
          <p:nvPr/>
        </p:nvPicPr>
        <p:blipFill>
          <a:blip r:embed="rId2"/>
          <a:stretch>
            <a:fillRect/>
          </a:stretch>
        </p:blipFill>
        <p:spPr>
          <a:xfrm>
            <a:off x="630936" y="1896110"/>
            <a:ext cx="7562088" cy="3366401"/>
          </a:xfrm>
          <a:prstGeom prst="rect">
            <a:avLst/>
          </a:prstGeom>
        </p:spPr>
      </p:pic>
      <p:sp>
        <p:nvSpPr>
          <p:cNvPr id="12" name="k1"/>
          <p:cNvSpPr/>
          <p:nvPr/>
        </p:nvSpPr>
        <p:spPr>
          <a:xfrm>
            <a:off x="8503920" y="1554480"/>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86800" y="1737360"/>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교차 인계 · 95% CI</a:t>
            </a:r>
          </a:p>
        </p:txBody>
      </p:sp>
      <p:sp>
        <p:nvSpPr>
          <p:cNvPr id="14" name="body:L1:a"/>
          <p:cNvSpPr txBox="1"/>
          <p:nvPr/>
        </p:nvSpPr>
        <p:spPr>
          <a:xfrm>
            <a:off x="8686800" y="1950974"/>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+5.11</a:t>
            </a:r>
            <a:r>
              <a:rPr lang="ko-KR" sz="1200" b="1" dirty="0">
                <a:solidFill>
                  <a:srgbClr val="E11D48"/>
                </a:solidFill>
                <a:latin typeface="맑은 고딕"/>
                <a:ea typeface="맑은 고딕"/>
                <a:cs typeface="맑은 고딕"/>
              </a:rPr>
              <a:t>h</a:t>
            </a:r>
          </a:p>
        </p:txBody>
      </p:sp>
      <p:sp>
        <p:nvSpPr>
          <p:cNvPr id="15" name="body:L1:t"/>
          <p:cNvSpPr txBox="1"/>
          <p:nvPr/>
        </p:nvSpPr>
        <p:spPr>
          <a:xfrm>
            <a:off x="8686800" y="2347468"/>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CI 4.30~5.92h (p &lt; 0.001)</a:t>
            </a:r>
          </a:p>
        </p:txBody>
      </p:sp>
      <p:sp>
        <p:nvSpPr>
          <p:cNvPr id="16" name="k2"/>
          <p:cNvSpPr/>
          <p:nvPr/>
        </p:nvSpPr>
        <p:spPr>
          <a:xfrm>
            <a:off x="8503920" y="2869738"/>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86800" y="3052618"/>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비실시간 채널 · 웹·우편</a:t>
            </a:r>
          </a:p>
        </p:txBody>
      </p:sp>
      <p:sp>
        <p:nvSpPr>
          <p:cNvPr id="18" name="body:L1:b"/>
          <p:cNvSpPr txBox="1"/>
          <p:nvPr/>
        </p:nvSpPr>
        <p:spPr>
          <a:xfrm>
            <a:off x="8686800" y="3266232"/>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+2.62</a:t>
            </a:r>
            <a:r>
              <a:rPr lang="ko-KR" sz="1200" b="1" dirty="0">
                <a:solidFill>
                  <a:srgbClr val="0F172A"/>
                </a:solidFill>
                <a:latin typeface="맑은 고딕"/>
                <a:ea typeface="맑은 고딕"/>
                <a:cs typeface="맑은 고딕"/>
              </a:rPr>
              <a:t>h</a:t>
            </a:r>
          </a:p>
        </p:txBody>
      </p:sp>
      <p:sp>
        <p:nvSpPr>
          <p:cNvPr id="19" name="body:L1:t"/>
          <p:cNvSpPr txBox="1"/>
          <p:nvPr/>
        </p:nvSpPr>
        <p:spPr>
          <a:xfrm>
            <a:off x="8686800" y="3662726"/>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웹 +2.99h · 우편 +2.21h</a:t>
            </a:r>
          </a:p>
        </p:txBody>
      </p:sp>
      <p:sp>
        <p:nvSpPr>
          <p:cNvPr id="20" name="k3"/>
          <p:cNvSpPr/>
          <p:nvPr/>
        </p:nvSpPr>
        <p:spPr>
          <a:xfrm>
            <a:off x="8503920" y="4184997"/>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86800" y="4367877"/>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일별 접수량 · +1건당</a:t>
            </a:r>
          </a:p>
        </p:txBody>
      </p:sp>
      <p:sp>
        <p:nvSpPr>
          <p:cNvPr id="22" name="body:L1:c"/>
          <p:cNvSpPr txBox="1"/>
          <p:nvPr/>
        </p:nvSpPr>
        <p:spPr>
          <a:xfrm>
            <a:off x="8686800" y="4581491"/>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+0.0016</a:t>
            </a:r>
            <a:r>
              <a:rPr lang="ko-KR" sz="1200" b="1" dirty="0">
                <a:solidFill>
                  <a:srgbClr val="0F172A"/>
                </a:solidFill>
                <a:latin typeface="맑은 고딕"/>
                <a:ea typeface="맑은 고딕"/>
                <a:cs typeface="맑은 고딕"/>
              </a:rPr>
              <a:t>h</a:t>
            </a:r>
          </a:p>
        </p:txBody>
      </p:sp>
      <p:sp>
        <p:nvSpPr>
          <p:cNvPr id="23" name="body:L1:t"/>
          <p:cNvSpPr txBox="1"/>
          <p:nvPr/>
        </p:nvSpPr>
        <p:spPr>
          <a:xfrm>
            <a:off x="8686800" y="4977985"/>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p = 0.752 · 기각, 물량 무관</a:t>
            </a:r>
          </a:p>
        </p:txBody>
      </p:sp>
      <p:sp>
        <p:nvSpPr>
          <p:cNvPr id="24" name="take-card"/>
          <p:cNvSpPr/>
          <p:nvPr/>
        </p:nvSpPr>
        <p:spPr>
          <a:xfrm>
            <a:off x="502920" y="5527687"/>
            <a:ext cx="11185855" cy="58801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85800" y="5710567"/>
            <a:ext cx="10820095" cy="2222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인계·채널이 접수 시간 변동의 </a:t>
            </a:r>
            <a:r>
              <a:rPr lang="ko-KR" sz="1250" b="1" dirty="0">
                <a:solidFill>
                  <a:srgbClr val="2563EB"/>
                </a:solidFill>
                <a:latin typeface="맑은 고딕"/>
                <a:ea typeface="맑은 고딕"/>
                <a:cs typeface="맑은 고딕"/>
              </a:rPr>
              <a:t>30.0%</a:t>
            </a:r>
            <a:r>
              <a:rPr lang="ko-KR" sz="1250" b="0" dirty="0">
                <a:solidFill>
                  <a:srgbClr val="0F172A"/>
                </a:solidFill>
                <a:latin typeface="맑은 고딕"/>
                <a:ea typeface="맑은 고딕"/>
                <a:cs typeface="맑은 고딕"/>
              </a:rPr>
              <a:t>를 설명하고 물량은 기여하지 않는다. 병목은 용량이 아니라 </a:t>
            </a:r>
            <a:r>
              <a:rPr lang="ko-KR" sz="1250" b="1" dirty="0">
                <a:solidFill>
                  <a:srgbClr val="2563EB"/>
                </a:solidFill>
                <a:latin typeface="맑은 고딕"/>
                <a:ea typeface="맑은 고딕"/>
                <a:cs typeface="맑은 고딕"/>
              </a:rPr>
              <a:t>소통 구조</a:t>
            </a:r>
            <a:r>
              <a:rPr lang="ko-KR" sz="1250" b="0" dirty="0">
                <a:solidFill>
                  <a:srgbClr val="0F172A"/>
                </a:solidFill>
                <a:latin typeface="맑은 고딕"/>
                <a:ea typeface="맑은 고딕"/>
                <a:cs typeface="맑은 고딕"/>
              </a:rPr>
              <a:t>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[ 02 · AS-IS 심층 분석 · P.12 ]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현장 지연 요인: 현장 98.3h 중 실사 방문 대기 78.2%</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현장 대기 93.7h = 현장 시간의 95.3% · 기사의 실작업은 4.7%(4.6h)에 불과</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L1246~1395 · hypothesis 노트북 Cell 11·13 (Wait 2는 재수리 인계 대기 포함 정의)</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12 / 19</a:t>
            </a:r>
          </a:p>
        </p:txBody>
      </p:sp>
      <p:sp>
        <p:nvSpPr>
          <p:cNvPr id="9" name="donut-card"/>
          <p:cNvSpPr/>
          <p:nvPr/>
        </p:nvSpPr>
        <p:spPr>
          <a:xfrm>
            <a:off x="502920" y="1554480"/>
            <a:ext cx="4617720" cy="470916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43616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FIG.10 · 현장 4대 소요시간 구조 분해</a:t>
            </a:r>
          </a:p>
        </p:txBody>
      </p:sp>
      <p:pic>
        <p:nvPicPr>
          <p:cNvPr id="11" name="pic:donut" descr="slide10_field_donut_breakdown.png"/>
          <p:cNvPicPr>
            <a:picLocks noChangeAspect="1"/>
          </p:cNvPicPr>
          <p:nvPr/>
        </p:nvPicPr>
        <p:blipFill>
          <a:blip r:embed="rId2"/>
          <a:stretch>
            <a:fillRect/>
          </a:stretch>
        </p:blipFill>
        <p:spPr>
          <a:xfrm>
            <a:off x="630936" y="1896110"/>
            <a:ext cx="4361688" cy="3950171"/>
          </a:xfrm>
          <a:prstGeom prst="rect">
            <a:avLst/>
          </a:prstGeom>
        </p:spPr>
      </p:pic>
      <p:sp>
        <p:nvSpPr>
          <p:cNvPr id="12" name="strip-① "/>
          <p:cNvSpPr/>
          <p:nvPr/>
        </p:nvSpPr>
        <p:spPr>
          <a:xfrm>
            <a:off x="5303520" y="1554480"/>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5486400" y="1737360"/>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① WAIT 1</a:t>
            </a:r>
          </a:p>
        </p:txBody>
      </p:sp>
      <p:sp>
        <p:nvSpPr>
          <p:cNvPr id="14" name="body:L1:nm"/>
          <p:cNvSpPr txBox="1"/>
          <p:nvPr/>
        </p:nvSpPr>
        <p:spPr>
          <a:xfrm>
            <a:off x="5486400" y="1941830"/>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실사 방문 대기</a:t>
            </a:r>
          </a:p>
        </p:txBody>
      </p:sp>
      <p:sp>
        <p:nvSpPr>
          <p:cNvPr id="15" name="body:L1:n"/>
          <p:cNvSpPr txBox="1"/>
          <p:nvPr/>
        </p:nvSpPr>
        <p:spPr>
          <a:xfrm>
            <a:off x="5486400" y="2218690"/>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76.8</a:t>
            </a:r>
            <a:r>
              <a:rPr lang="ko-KR" sz="1200" b="1" dirty="0">
                <a:solidFill>
                  <a:srgbClr val="E11D48"/>
                </a:solidFill>
                <a:latin typeface="맑은 고딕"/>
                <a:ea typeface="맑은 고딕"/>
                <a:cs typeface="맑은 고딕"/>
              </a:rPr>
              <a:t>h</a:t>
            </a:r>
          </a:p>
        </p:txBody>
      </p:sp>
      <p:sp>
        <p:nvSpPr>
          <p:cNvPr id="16" name="body:L1:nt"/>
          <p:cNvSpPr txBox="1"/>
          <p:nvPr/>
        </p:nvSpPr>
        <p:spPr>
          <a:xfrm>
            <a:off x="5486400" y="2663190"/>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현장 시간의 78.2% · 약 3.2일</a:t>
            </a:r>
          </a:p>
        </p:txBody>
      </p:sp>
      <p:sp>
        <p:nvSpPr>
          <p:cNvPr id="17" name="bar-track"/>
          <p:cNvSpPr/>
          <p:nvPr/>
        </p:nvSpPr>
        <p:spPr>
          <a:xfrm>
            <a:off x="5486400" y="2904490"/>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ar-fill"/>
          <p:cNvSpPr/>
          <p:nvPr/>
        </p:nvSpPr>
        <p:spPr>
          <a:xfrm>
            <a:off x="5486400" y="2904490"/>
            <a:ext cx="2160556" cy="82296"/>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strip-② "/>
          <p:cNvSpPr/>
          <p:nvPr/>
        </p:nvSpPr>
        <p:spPr>
          <a:xfrm>
            <a:off x="8560155" y="1554480"/>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label:L1:t"/>
          <p:cNvSpPr txBox="1"/>
          <p:nvPr/>
        </p:nvSpPr>
        <p:spPr>
          <a:xfrm>
            <a:off x="8743035" y="1737360"/>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② WAIT 2</a:t>
            </a:r>
          </a:p>
        </p:txBody>
      </p:sp>
      <p:sp>
        <p:nvSpPr>
          <p:cNvPr id="21" name="body:L1:nm"/>
          <p:cNvSpPr txBox="1"/>
          <p:nvPr/>
        </p:nvSpPr>
        <p:spPr>
          <a:xfrm>
            <a:off x="8743035" y="1941830"/>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수리 착수·공정 대기</a:t>
            </a:r>
          </a:p>
        </p:txBody>
      </p:sp>
      <p:sp>
        <p:nvSpPr>
          <p:cNvPr id="22" name="body:L1:n"/>
          <p:cNvSpPr txBox="1"/>
          <p:nvPr/>
        </p:nvSpPr>
        <p:spPr>
          <a:xfrm>
            <a:off x="8743035" y="2218690"/>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16.9</a:t>
            </a:r>
            <a:r>
              <a:rPr lang="ko-KR" sz="1200" b="1" dirty="0">
                <a:solidFill>
                  <a:srgbClr val="E11D48"/>
                </a:solidFill>
                <a:latin typeface="맑은 고딕"/>
                <a:ea typeface="맑은 고딕"/>
                <a:cs typeface="맑은 고딕"/>
              </a:rPr>
              <a:t>h</a:t>
            </a:r>
          </a:p>
        </p:txBody>
      </p:sp>
      <p:sp>
        <p:nvSpPr>
          <p:cNvPr id="23" name="body:L1:nt"/>
          <p:cNvSpPr txBox="1"/>
          <p:nvPr/>
        </p:nvSpPr>
        <p:spPr>
          <a:xfrm>
            <a:off x="8743035" y="2663190"/>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17.2% · 재수리 인계 대기 포함</a:t>
            </a:r>
          </a:p>
        </p:txBody>
      </p:sp>
      <p:sp>
        <p:nvSpPr>
          <p:cNvPr id="24" name="bar-track"/>
          <p:cNvSpPr/>
          <p:nvPr/>
        </p:nvSpPr>
        <p:spPr>
          <a:xfrm>
            <a:off x="8743035" y="2904490"/>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ar-fill"/>
          <p:cNvSpPr/>
          <p:nvPr/>
        </p:nvSpPr>
        <p:spPr>
          <a:xfrm>
            <a:off x="8743035" y="2904490"/>
            <a:ext cx="475211" cy="82296"/>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strip-③ "/>
          <p:cNvSpPr/>
          <p:nvPr/>
        </p:nvSpPr>
        <p:spPr>
          <a:xfrm>
            <a:off x="5303520" y="3297682"/>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label:L1:t"/>
          <p:cNvSpPr txBox="1"/>
          <p:nvPr/>
        </p:nvSpPr>
        <p:spPr>
          <a:xfrm>
            <a:off x="5486400" y="3480562"/>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③ WORK</a:t>
            </a:r>
          </a:p>
        </p:txBody>
      </p:sp>
      <p:sp>
        <p:nvSpPr>
          <p:cNvPr id="28" name="body:L1:nm"/>
          <p:cNvSpPr txBox="1"/>
          <p:nvPr/>
        </p:nvSpPr>
        <p:spPr>
          <a:xfrm>
            <a:off x="5486400" y="3685032"/>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본수리 실작업</a:t>
            </a:r>
          </a:p>
        </p:txBody>
      </p:sp>
      <p:sp>
        <p:nvSpPr>
          <p:cNvPr id="29" name="body:L1:n"/>
          <p:cNvSpPr txBox="1"/>
          <p:nvPr/>
        </p:nvSpPr>
        <p:spPr>
          <a:xfrm>
            <a:off x="5486400" y="3961892"/>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64748B"/>
                </a:solidFill>
                <a:latin typeface="Consolas"/>
                <a:ea typeface="맑은 고딕"/>
                <a:cs typeface="Consolas"/>
              </a:rPr>
              <a:t>3.9</a:t>
            </a:r>
            <a:r>
              <a:rPr lang="ko-KR" sz="1200" b="1" dirty="0">
                <a:solidFill>
                  <a:srgbClr val="64748B"/>
                </a:solidFill>
                <a:latin typeface="맑은 고딕"/>
                <a:ea typeface="맑은 고딕"/>
                <a:cs typeface="맑은 고딕"/>
              </a:rPr>
              <a:t>h</a:t>
            </a:r>
          </a:p>
        </p:txBody>
      </p:sp>
      <p:sp>
        <p:nvSpPr>
          <p:cNvPr id="30" name="body:L1:nt"/>
          <p:cNvSpPr txBox="1"/>
          <p:nvPr/>
        </p:nvSpPr>
        <p:spPr>
          <a:xfrm>
            <a:off x="5486400" y="4406392"/>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4.0%</a:t>
            </a:r>
          </a:p>
        </p:txBody>
      </p:sp>
      <p:sp>
        <p:nvSpPr>
          <p:cNvPr id="31" name="bar-track"/>
          <p:cNvSpPr/>
          <p:nvPr/>
        </p:nvSpPr>
        <p:spPr>
          <a:xfrm>
            <a:off x="5486400" y="4647692"/>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bar-fill"/>
          <p:cNvSpPr/>
          <p:nvPr/>
        </p:nvSpPr>
        <p:spPr>
          <a:xfrm>
            <a:off x="5486400" y="4647692"/>
            <a:ext cx="110514" cy="82296"/>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strip-④ "/>
          <p:cNvSpPr/>
          <p:nvPr/>
        </p:nvSpPr>
        <p:spPr>
          <a:xfrm>
            <a:off x="8560155" y="3297682"/>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label:L1:t"/>
          <p:cNvSpPr txBox="1"/>
          <p:nvPr/>
        </p:nvSpPr>
        <p:spPr>
          <a:xfrm>
            <a:off x="8743035" y="3480562"/>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94A3B8"/>
                </a:solidFill>
                <a:latin typeface="Consolas"/>
                <a:ea typeface="맑은 고딕"/>
                <a:cs typeface="Consolas"/>
              </a:rPr>
              <a:t>④ WORK</a:t>
            </a:r>
          </a:p>
        </p:txBody>
      </p:sp>
      <p:sp>
        <p:nvSpPr>
          <p:cNvPr id="35" name="body:L1:nm"/>
          <p:cNvSpPr txBox="1"/>
          <p:nvPr/>
        </p:nvSpPr>
        <p:spPr>
          <a:xfrm>
            <a:off x="8743035" y="3685032"/>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실사 점검 실작업</a:t>
            </a:r>
          </a:p>
        </p:txBody>
      </p:sp>
      <p:sp>
        <p:nvSpPr>
          <p:cNvPr id="36" name="body:L1:n"/>
          <p:cNvSpPr txBox="1"/>
          <p:nvPr/>
        </p:nvSpPr>
        <p:spPr>
          <a:xfrm>
            <a:off x="8743035" y="3961892"/>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94A3B8"/>
                </a:solidFill>
                <a:latin typeface="Consolas"/>
                <a:ea typeface="맑은 고딕"/>
                <a:cs typeface="Consolas"/>
              </a:rPr>
              <a:t>0.7</a:t>
            </a:r>
            <a:r>
              <a:rPr lang="ko-KR" sz="1200" b="1" dirty="0">
                <a:solidFill>
                  <a:srgbClr val="94A3B8"/>
                </a:solidFill>
                <a:latin typeface="맑은 고딕"/>
                <a:ea typeface="맑은 고딕"/>
                <a:cs typeface="맑은 고딕"/>
              </a:rPr>
              <a:t>h</a:t>
            </a:r>
          </a:p>
        </p:txBody>
      </p:sp>
      <p:sp>
        <p:nvSpPr>
          <p:cNvPr id="37" name="body:L1:nt"/>
          <p:cNvSpPr txBox="1"/>
          <p:nvPr/>
        </p:nvSpPr>
        <p:spPr>
          <a:xfrm>
            <a:off x="8743035" y="4406392"/>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0.7% · 40.5분</a:t>
            </a:r>
          </a:p>
        </p:txBody>
      </p:sp>
      <p:sp>
        <p:nvSpPr>
          <p:cNvPr id="38" name="bar-track"/>
          <p:cNvSpPr/>
          <p:nvPr/>
        </p:nvSpPr>
        <p:spPr>
          <a:xfrm>
            <a:off x="8743035" y="4647692"/>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bar-fill"/>
          <p:cNvSpPr/>
          <p:nvPr/>
        </p:nvSpPr>
        <p:spPr>
          <a:xfrm>
            <a:off x="8743035" y="4647692"/>
            <a:ext cx="19340" cy="82296"/>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ake-card"/>
          <p:cNvSpPr/>
          <p:nvPr/>
        </p:nvSpPr>
        <p:spPr>
          <a:xfrm>
            <a:off x="5303520" y="5040883"/>
            <a:ext cx="6385255" cy="1222756"/>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label:L1:t"/>
          <p:cNvSpPr txBox="1"/>
          <p:nvPr/>
        </p:nvSpPr>
        <p:spPr>
          <a:xfrm>
            <a:off x="5468112" y="5205475"/>
            <a:ext cx="60560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TAKEAWAY</a:t>
            </a:r>
          </a:p>
        </p:txBody>
      </p:sp>
      <p:sp>
        <p:nvSpPr>
          <p:cNvPr id="42" name="body:L2:take"/>
          <p:cNvSpPr txBox="1"/>
          <p:nvPr/>
        </p:nvSpPr>
        <p:spPr>
          <a:xfrm>
            <a:off x="5468112" y="5409945"/>
            <a:ext cx="6056071" cy="533400"/>
          </a:xfrm>
          <a:prstGeom prst="rect">
            <a:avLst/>
          </a:prstGeom>
          <a:noFill/>
        </p:spPr>
        <p:txBody>
          <a:bodyPr wrap="square" lIns="0" tIns="0" rIns="0" bIns="0" anchor="t">
            <a:noAutofit/>
          </a:bodyPr>
          <a:lstStyle/>
          <a:p>
            <a:pPr algn="l">
              <a:lnSpc>
                <a:spcPts val="2100"/>
              </a:lnSpc>
              <a:spcBef>
                <a:spcPts val="0"/>
              </a:spcBef>
              <a:buNone/>
            </a:pPr>
            <a:r>
              <a:rPr lang="ko-KR" sz="1500" b="0" dirty="0">
                <a:solidFill>
                  <a:srgbClr val="0F172A"/>
                </a:solidFill>
                <a:latin typeface="맑은 고딕"/>
                <a:ea typeface="맑은 고딕"/>
                <a:cs typeface="맑은 고딕"/>
              </a:rPr>
              <a:t>대기 합계 </a:t>
            </a:r>
            <a:r>
              <a:rPr lang="ko-KR" sz="1500" b="1" dirty="0">
                <a:solidFill>
                  <a:srgbClr val="E11D48"/>
                </a:solidFill>
                <a:latin typeface="맑은 고딕"/>
                <a:ea typeface="맑은 고딕"/>
                <a:cs typeface="맑은 고딕"/>
              </a:rPr>
              <a:t>93.7h = 현장 시간의 95.3%</a:t>
            </a:r>
            <a:r>
              <a:rPr lang="ko-KR" sz="1500" b="0" dirty="0">
                <a:solidFill>
                  <a:srgbClr val="0F172A"/>
                </a:solidFill>
                <a:latin typeface="맑은 고딕"/>
                <a:ea typeface="맑은 고딕"/>
                <a:cs typeface="맑은 고딕"/>
              </a:rPr>
              <a:t>.</a:t>
            </a:r>
          </a:p>
          <a:p>
            <a:pPr algn="l">
              <a:lnSpc>
                <a:spcPts val="2100"/>
              </a:lnSpc>
              <a:spcBef>
                <a:spcPts val="0"/>
              </a:spcBef>
              <a:buNone/>
            </a:pPr>
            <a:r>
              <a:rPr lang="ko-KR" sz="1500" b="0" dirty="0">
                <a:solidFill>
                  <a:srgbClr val="0F172A"/>
                </a:solidFill>
                <a:latin typeface="맑은 고딕"/>
                <a:ea typeface="맑은 고딕"/>
                <a:cs typeface="맑은 고딕"/>
              </a:rPr>
              <a:t>병목은 기사의 작업 속도가 아니라 방문 전 대기 관리다.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[ 02 · AS-IS 심층 분석 · P.13 ]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Wait 1 원인: 일 유입 134.3건 vs CAPA 68.0건, 최대 적체 물량 403건</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실사 대기의 원인: 927건 전수가 방문 실사를 거치는 구조 · 소화율 50.6% (같은 구간 기준 52.5%)</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L1556~1670·L1978~1981 · 유입 1/2~1/7 평균, CAPA 1/1~1/8 평균(기사 11인) · hypothesis 노트북 Cell 15</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13 / 19</a:t>
            </a:r>
          </a:p>
        </p:txBody>
      </p:sp>
      <p:sp>
        <p:nvSpPr>
          <p:cNvPr id="9" name="wip-card"/>
          <p:cNvSpPr/>
          <p:nvPr/>
        </p:nvSpPr>
        <p:spPr>
          <a:xfrm>
            <a:off x="502920" y="1554480"/>
            <a:ext cx="7818120" cy="38986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FIG.11 · 일별 유입 vs 실사 CAPA 및 적체 대기열(WIP)</a:t>
            </a:r>
          </a:p>
        </p:txBody>
      </p:sp>
      <p:pic>
        <p:nvPicPr>
          <p:cNvPr id="11" name="pic:wip" descr="slide10_field_bottleneck_wip.png"/>
          <p:cNvPicPr>
            <a:picLocks noChangeAspect="1"/>
          </p:cNvPicPr>
          <p:nvPr/>
        </p:nvPicPr>
        <p:blipFill>
          <a:blip r:embed="rId2"/>
          <a:stretch>
            <a:fillRect/>
          </a:stretch>
        </p:blipFill>
        <p:spPr>
          <a:xfrm>
            <a:off x="859591" y="1896110"/>
            <a:ext cx="7104776" cy="3429000"/>
          </a:xfrm>
          <a:prstGeom prst="rect">
            <a:avLst/>
          </a:prstGeom>
        </p:spPr>
      </p:pic>
      <p:sp>
        <p:nvSpPr>
          <p:cNvPr id="12" name="m1"/>
          <p:cNvSpPr/>
          <p:nvPr/>
        </p:nvSpPr>
        <p:spPr>
          <a:xfrm>
            <a:off x="8503920" y="1554480"/>
            <a:ext cx="3184855" cy="12263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86800" y="1737360"/>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일일 유입</a:t>
            </a:r>
          </a:p>
        </p:txBody>
      </p:sp>
      <p:sp>
        <p:nvSpPr>
          <p:cNvPr id="14" name="body:L1:a"/>
          <p:cNvSpPr txBox="1"/>
          <p:nvPr/>
        </p:nvSpPr>
        <p:spPr>
          <a:xfrm>
            <a:off x="8686800" y="1950974"/>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134.3</a:t>
            </a:r>
            <a:r>
              <a:rPr lang="ko-KR" sz="1200" b="1" dirty="0">
                <a:solidFill>
                  <a:srgbClr val="0F172A"/>
                </a:solidFill>
                <a:latin typeface="맑은 고딕"/>
                <a:ea typeface="맑은 고딕"/>
                <a:cs typeface="맑은 고딕"/>
              </a:rPr>
              <a:t>건/일</a:t>
            </a:r>
          </a:p>
        </p:txBody>
      </p:sp>
      <p:sp>
        <p:nvSpPr>
          <p:cNvPr id="15" name="body:L1:t"/>
          <p:cNvSpPr txBox="1"/>
          <p:nvPr/>
        </p:nvSpPr>
        <p:spPr>
          <a:xfrm>
            <a:off x="8686800" y="2347468"/>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접수 → 현장 이관 (1/2~1/7 평균)</a:t>
            </a:r>
          </a:p>
        </p:txBody>
      </p:sp>
      <p:sp>
        <p:nvSpPr>
          <p:cNvPr id="16" name="m2"/>
          <p:cNvSpPr/>
          <p:nvPr/>
        </p:nvSpPr>
        <p:spPr>
          <a:xfrm>
            <a:off x="8503920" y="2890604"/>
            <a:ext cx="3184855" cy="12263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86800" y="3073484"/>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실사 CAPA · 기사 11인</a:t>
            </a:r>
          </a:p>
        </p:txBody>
      </p:sp>
      <p:sp>
        <p:nvSpPr>
          <p:cNvPr id="18" name="body:L1:b"/>
          <p:cNvSpPr txBox="1"/>
          <p:nvPr/>
        </p:nvSpPr>
        <p:spPr>
          <a:xfrm>
            <a:off x="8686800" y="3287098"/>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68.0</a:t>
            </a:r>
            <a:r>
              <a:rPr lang="ko-KR" sz="1200" b="1" dirty="0">
                <a:solidFill>
                  <a:srgbClr val="0F172A"/>
                </a:solidFill>
                <a:latin typeface="맑은 고딕"/>
                <a:ea typeface="맑은 고딕"/>
                <a:cs typeface="맑은 고딕"/>
              </a:rPr>
              <a:t>건/일</a:t>
            </a:r>
          </a:p>
        </p:txBody>
      </p:sp>
      <p:sp>
        <p:nvSpPr>
          <p:cNvPr id="19" name="body:L1:t"/>
          <p:cNvSpPr txBox="1"/>
          <p:nvPr/>
        </p:nvSpPr>
        <p:spPr>
          <a:xfrm>
            <a:off x="8686800" y="3683592"/>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실사 착수 (1/1~1/8 평균) · 소화율 50.6%</a:t>
            </a:r>
          </a:p>
        </p:txBody>
      </p:sp>
      <p:sp>
        <p:nvSpPr>
          <p:cNvPr id="20" name="m3"/>
          <p:cNvSpPr/>
          <p:nvPr/>
        </p:nvSpPr>
        <p:spPr>
          <a:xfrm>
            <a:off x="8503920" y="4226729"/>
            <a:ext cx="3184855" cy="1226396"/>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86800" y="4409609"/>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적체 피크 (DAY 7)</a:t>
            </a:r>
          </a:p>
        </p:txBody>
      </p:sp>
      <p:sp>
        <p:nvSpPr>
          <p:cNvPr id="22" name="body:L1:c"/>
          <p:cNvSpPr txBox="1"/>
          <p:nvPr/>
        </p:nvSpPr>
        <p:spPr>
          <a:xfrm>
            <a:off x="8686800" y="4623223"/>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403</a:t>
            </a:r>
            <a:r>
              <a:rPr lang="ko-KR" sz="1200" b="1" dirty="0">
                <a:solidFill>
                  <a:srgbClr val="E11D48"/>
                </a:solidFill>
                <a:latin typeface="맑은 고딕"/>
                <a:ea typeface="맑은 고딕"/>
                <a:cs typeface="맑은 고딕"/>
              </a:rPr>
              <a:t>건</a:t>
            </a:r>
          </a:p>
        </p:txBody>
      </p:sp>
      <p:sp>
        <p:nvSpPr>
          <p:cNvPr id="23" name="body:L1:t"/>
          <p:cNvSpPr txBox="1"/>
          <p:nvPr/>
        </p:nvSpPr>
        <p:spPr>
          <a:xfrm>
            <a:off x="8686800" y="5019717"/>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Day 1의 20건에서 20배</a:t>
            </a:r>
          </a:p>
        </p:txBody>
      </p:sp>
      <p:sp>
        <p:nvSpPr>
          <p:cNvPr id="24" name="take-card"/>
          <p:cNvSpPr/>
          <p:nvPr/>
        </p:nvSpPr>
        <p:spPr>
          <a:xfrm>
            <a:off x="502920" y="5590286"/>
            <a:ext cx="11185855" cy="59690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85800" y="5773166"/>
            <a:ext cx="10820095"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E11D48"/>
                </a:solidFill>
                <a:latin typeface="맑은 고딕"/>
                <a:ea typeface="맑은 고딕"/>
                <a:cs typeface="맑은 고딕"/>
              </a:rPr>
              <a:t>유입이 실사 처리 용량(CAPA)을 넘는 구조</a:t>
            </a:r>
            <a:r>
              <a:rPr lang="ko-KR" sz="1300" b="0" dirty="0">
                <a:solidFill>
                  <a:srgbClr val="0F172A"/>
                </a:solidFill>
                <a:latin typeface="맑은 고딕"/>
                <a:ea typeface="맑은 고딕"/>
                <a:cs typeface="맑은 고딕"/>
              </a:rPr>
              <a:t>가 적체와 76.8h 대기의 원인 · 초과분이 하루 약 66.3건씩 누적</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[ 02 · AS-IS 심층 분석 · P.14 ]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Wait 2 요인: 사내수리는 자재 조달 30.5h, 재수리 시 +32.9h 지연</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사내 재수리 26건은 평균 총 리드타임 171.6h · 전체 평균의 1.6배</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L1403~1546 · hypothesis 노트북 Cell 16~17 (정정 차트: 최대 지연과 평균 리드타임 라벨 분리)</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14 / 19</a:t>
            </a:r>
          </a:p>
        </p:txBody>
      </p:sp>
      <p:sp>
        <p:nvSpPr>
          <p:cNvPr id="9" name="rw-card"/>
          <p:cNvSpPr/>
          <p:nvPr/>
        </p:nvSpPr>
        <p:spPr>
          <a:xfrm>
            <a:off x="502920" y="1554480"/>
            <a:ext cx="7818120" cy="38529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FIG.13 · 수리 방식별 착수 대기와 사내 재수리 루프</a:t>
            </a:r>
          </a:p>
        </p:txBody>
      </p:sp>
      <p:pic>
        <p:nvPicPr>
          <p:cNvPr id="11" name="pic:rw" descr="slide11_repair_delay_rework.png"/>
          <p:cNvPicPr>
            <a:picLocks noChangeAspect="1"/>
          </p:cNvPicPr>
          <p:nvPr/>
        </p:nvPicPr>
        <p:blipFill>
          <a:blip r:embed="rId2"/>
          <a:stretch>
            <a:fillRect/>
          </a:stretch>
        </p:blipFill>
        <p:spPr>
          <a:xfrm>
            <a:off x="873345" y="1896110"/>
            <a:ext cx="7077269" cy="3383280"/>
          </a:xfrm>
          <a:prstGeom prst="rect">
            <a:avLst/>
          </a:prstGeom>
        </p:spPr>
      </p:pic>
      <p:sp>
        <p:nvSpPr>
          <p:cNvPr id="12" name="k1"/>
          <p:cNvSpPr/>
          <p:nvPr/>
        </p:nvSpPr>
        <p:spPr>
          <a:xfrm>
            <a:off x="8503920" y="1554480"/>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59368" y="1709928"/>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사내수리 자재 대기</a:t>
            </a:r>
          </a:p>
        </p:txBody>
      </p:sp>
      <p:sp>
        <p:nvSpPr>
          <p:cNvPr id="14" name="body:L1:a"/>
          <p:cNvSpPr txBox="1"/>
          <p:nvPr/>
        </p:nvSpPr>
        <p:spPr>
          <a:xfrm>
            <a:off x="8659368" y="1923542"/>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30.5</a:t>
            </a:r>
            <a:r>
              <a:rPr lang="ko-KR" sz="1200" b="1" dirty="0">
                <a:solidFill>
                  <a:srgbClr val="E11D48"/>
                </a:solidFill>
                <a:latin typeface="맑은 고딕"/>
                <a:ea typeface="맑은 고딕"/>
                <a:cs typeface="맑은 고딕"/>
              </a:rPr>
              <a:t>h</a:t>
            </a:r>
          </a:p>
        </p:txBody>
      </p:sp>
      <p:sp>
        <p:nvSpPr>
          <p:cNvPr id="15" name="body:L1:t"/>
          <p:cNvSpPr txBox="1"/>
          <p:nvPr/>
        </p:nvSpPr>
        <p:spPr>
          <a:xfrm>
            <a:off x="8659368" y="2320036"/>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사내수리 485건만 대기. 즉시·외주는 0.0h</a:t>
            </a:r>
          </a:p>
        </p:txBody>
      </p:sp>
      <p:sp>
        <p:nvSpPr>
          <p:cNvPr id="16" name="k2"/>
          <p:cNvSpPr/>
          <p:nvPr/>
        </p:nvSpPr>
        <p:spPr>
          <a:xfrm>
            <a:off x="8503920" y="2875364"/>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59368" y="3030812"/>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 재수리</a:t>
            </a:r>
          </a:p>
        </p:txBody>
      </p:sp>
      <p:sp>
        <p:nvSpPr>
          <p:cNvPr id="18" name="body:L1:b"/>
          <p:cNvSpPr txBox="1"/>
          <p:nvPr/>
        </p:nvSpPr>
        <p:spPr>
          <a:xfrm>
            <a:off x="8659368" y="3244426"/>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26</a:t>
            </a:r>
            <a:r>
              <a:rPr lang="ko-KR" sz="1200" b="1" dirty="0">
                <a:solidFill>
                  <a:srgbClr val="E11D48"/>
                </a:solidFill>
                <a:latin typeface="맑은 고딕"/>
                <a:ea typeface="맑은 고딕"/>
                <a:cs typeface="맑은 고딕"/>
              </a:rPr>
              <a:t>건</a:t>
            </a:r>
          </a:p>
        </p:txBody>
      </p:sp>
      <p:sp>
        <p:nvSpPr>
          <p:cNvPr id="19" name="body:L1:t"/>
          <p:cNvSpPr txBox="1"/>
          <p:nvPr/>
        </p:nvSpPr>
        <p:spPr>
          <a:xfrm>
            <a:off x="8659368" y="3640920"/>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추가 대기 평균 +32.9h, 최대 241.6h(10.1일)</a:t>
            </a:r>
          </a:p>
        </p:txBody>
      </p:sp>
      <p:sp>
        <p:nvSpPr>
          <p:cNvPr id="20" name="k3"/>
          <p:cNvSpPr/>
          <p:nvPr/>
        </p:nvSpPr>
        <p:spPr>
          <a:xfrm>
            <a:off x="8503920" y="4196249"/>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59368" y="4351697"/>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E-1 · E-2 코드 집중</a:t>
            </a:r>
          </a:p>
        </p:txBody>
      </p:sp>
      <p:sp>
        <p:nvSpPr>
          <p:cNvPr id="22" name="body:L1:c"/>
          <p:cNvSpPr txBox="1"/>
          <p:nvPr/>
        </p:nvSpPr>
        <p:spPr>
          <a:xfrm>
            <a:off x="8659368" y="4565311"/>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22</a:t>
            </a:r>
            <a:r>
              <a:rPr lang="ko-KR" sz="1200" b="1" dirty="0">
                <a:solidFill>
                  <a:srgbClr val="E11D48"/>
                </a:solidFill>
                <a:latin typeface="맑은 고딕"/>
                <a:ea typeface="맑은 고딕"/>
                <a:cs typeface="맑은 고딕"/>
              </a:rPr>
              <a:t>건 · 84.6%</a:t>
            </a:r>
          </a:p>
        </p:txBody>
      </p:sp>
      <p:sp>
        <p:nvSpPr>
          <p:cNvPr id="23" name="body:L1:t"/>
          <p:cNvSpPr txBox="1"/>
          <p:nvPr/>
        </p:nvSpPr>
        <p:spPr>
          <a:xfrm>
            <a:off x="8659368" y="4961805"/>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E-1 16건 + E-2 6건 → 정밀검사 대상</a:t>
            </a:r>
          </a:p>
        </p:txBody>
      </p:sp>
      <p:sp>
        <p:nvSpPr>
          <p:cNvPr id="24" name="take-card"/>
          <p:cNvSpPr/>
          <p:nvPr/>
        </p:nvSpPr>
        <p:spPr>
          <a:xfrm>
            <a:off x="502920" y="5544566"/>
            <a:ext cx="11185855" cy="5331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58368" y="5700014"/>
            <a:ext cx="10874959" cy="2222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1차 수리 완료 뒤 재수리 착수까지 </a:t>
            </a:r>
            <a:r>
              <a:rPr lang="ko-KR" sz="1250" b="1" dirty="0">
                <a:solidFill>
                  <a:srgbClr val="E11D48"/>
                </a:solidFill>
                <a:latin typeface="맑은 고딕"/>
                <a:ea typeface="맑은 고딕"/>
                <a:cs typeface="맑은 고딕"/>
              </a:rPr>
              <a:t>평균 +32.9h</a:t>
            </a:r>
            <a:r>
              <a:rPr lang="ko-KR" sz="1250" b="0" dirty="0">
                <a:solidFill>
                  <a:srgbClr val="0F172A"/>
                </a:solidFill>
                <a:latin typeface="맑은 고딕"/>
                <a:ea typeface="맑은 고딕"/>
                <a:cs typeface="맑은 고딕"/>
              </a:rPr>
              <a:t>, 가장 길게는 </a:t>
            </a:r>
            <a:r>
              <a:rPr lang="ko-KR" sz="1250" b="1" dirty="0">
                <a:solidFill>
                  <a:srgbClr val="E11D48"/>
                </a:solidFill>
                <a:latin typeface="맑은 고딕"/>
                <a:ea typeface="맑은 고딕"/>
                <a:cs typeface="맑은 고딕"/>
              </a:rPr>
              <a:t>10.1일</a:t>
            </a:r>
            <a:r>
              <a:rPr lang="ko-KR" sz="1250" b="0" dirty="0">
                <a:solidFill>
                  <a:srgbClr val="0F172A"/>
                </a:solidFill>
                <a:latin typeface="맑은 고딕"/>
                <a:ea typeface="맑은 고딕"/>
                <a:cs typeface="맑은 고딕"/>
              </a:rPr>
              <a:t>을 더 기다린다.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[ 02 · AS-IS 심층 분석 · P.15 ]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E2E 리드타임 영향 요인: 실사 방문 대기 ≫ 사내수리 배정</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E2E 리드타임 OLS · R² 87.8% · F 1,652.8 · N 927 · VIF 최대 1.02</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19 (statsmodels OLS, 재계산 일치) · 종속변수 total_hours</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15 / 19</a:t>
            </a:r>
          </a:p>
        </p:txBody>
      </p:sp>
      <p:sp>
        <p:nvSpPr>
          <p:cNvPr id="9" name="ols-card"/>
          <p:cNvSpPr/>
          <p:nvPr/>
        </p:nvSpPr>
        <p:spPr>
          <a:xfrm>
            <a:off x="502920" y="1554480"/>
            <a:ext cx="7818120" cy="36700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FIG.12 · E2E 리드타임 결정 요인 회귀계수</a:t>
            </a:r>
          </a:p>
        </p:txBody>
      </p:sp>
      <p:pic>
        <p:nvPicPr>
          <p:cNvPr id="11" name="pic:ols" descr="slide11_regression_leadtime_drivers.png"/>
          <p:cNvPicPr>
            <a:picLocks noChangeAspect="1"/>
          </p:cNvPicPr>
          <p:nvPr/>
        </p:nvPicPr>
        <p:blipFill>
          <a:blip r:embed="rId2"/>
          <a:stretch>
            <a:fillRect/>
          </a:stretch>
        </p:blipFill>
        <p:spPr>
          <a:xfrm>
            <a:off x="972094" y="1896110"/>
            <a:ext cx="6879771" cy="3200400"/>
          </a:xfrm>
          <a:prstGeom prst="rect">
            <a:avLst/>
          </a:prstGeom>
        </p:spPr>
      </p:pic>
      <p:sp>
        <p:nvSpPr>
          <p:cNvPr id="12" name="k1"/>
          <p:cNvSpPr/>
          <p:nvPr/>
        </p:nvSpPr>
        <p:spPr>
          <a:xfrm>
            <a:off x="8503920" y="1554480"/>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59368" y="1709928"/>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실사 방문 대기 · 1시간당</a:t>
            </a:r>
          </a:p>
        </p:txBody>
      </p:sp>
      <p:sp>
        <p:nvSpPr>
          <p:cNvPr id="14" name="body:L1:a"/>
          <p:cNvSpPr txBox="1"/>
          <p:nvPr/>
        </p:nvSpPr>
        <p:spPr>
          <a:xfrm>
            <a:off x="8659368" y="1923542"/>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+1.12</a:t>
            </a:r>
            <a:r>
              <a:rPr lang="ko-KR" sz="1200" b="1" dirty="0">
                <a:solidFill>
                  <a:srgbClr val="0F172A"/>
                </a:solidFill>
                <a:latin typeface="맑은 고딕"/>
                <a:ea typeface="맑은 고딕"/>
                <a:cs typeface="맑은 고딕"/>
              </a:rPr>
              <a:t>h/h</a:t>
            </a:r>
          </a:p>
        </p:txBody>
      </p:sp>
      <p:sp>
        <p:nvSpPr>
          <p:cNvPr id="15" name="body:L1:t"/>
          <p:cNvSpPr txBox="1"/>
          <p:nvPr/>
        </p:nvSpPr>
        <p:spPr>
          <a:xfrm>
            <a:off x="8659368" y="2320036"/>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1시간 단축 시 전체 1.12h 감소 (p &lt; 0.001)</a:t>
            </a:r>
          </a:p>
        </p:txBody>
      </p:sp>
      <p:sp>
        <p:nvSpPr>
          <p:cNvPr id="16" name="k2"/>
          <p:cNvSpPr/>
          <p:nvPr/>
        </p:nvSpPr>
        <p:spPr>
          <a:xfrm>
            <a:off x="8503920" y="2814404"/>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59368" y="2969852"/>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사내수리 배정 · vs 즉시·외주</a:t>
            </a:r>
          </a:p>
        </p:txBody>
      </p:sp>
      <p:sp>
        <p:nvSpPr>
          <p:cNvPr id="18" name="body:L1:b"/>
          <p:cNvSpPr txBox="1"/>
          <p:nvPr/>
        </p:nvSpPr>
        <p:spPr>
          <a:xfrm>
            <a:off x="8659368" y="3183466"/>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+31.75</a:t>
            </a:r>
            <a:r>
              <a:rPr lang="ko-KR" sz="1200" b="1" dirty="0">
                <a:solidFill>
                  <a:srgbClr val="E11D48"/>
                </a:solidFill>
                <a:latin typeface="맑은 고딕"/>
                <a:ea typeface="맑은 고딕"/>
                <a:cs typeface="맑은 고딕"/>
              </a:rPr>
              <a:t>h</a:t>
            </a:r>
          </a:p>
        </p:txBody>
      </p:sp>
      <p:sp>
        <p:nvSpPr>
          <p:cNvPr id="19" name="body:L1:t"/>
          <p:cNvSpPr txBox="1"/>
          <p:nvPr/>
        </p:nvSpPr>
        <p:spPr>
          <a:xfrm>
            <a:off x="8659368" y="3579960"/>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자재 조달·일정 조율 대기 (p &lt; 0.001)</a:t>
            </a:r>
          </a:p>
        </p:txBody>
      </p:sp>
      <p:sp>
        <p:nvSpPr>
          <p:cNvPr id="20" name="k3"/>
          <p:cNvSpPr/>
          <p:nvPr/>
        </p:nvSpPr>
        <p:spPr>
          <a:xfrm>
            <a:off x="8503920" y="4074329"/>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59368" y="4229777"/>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비실시간 채널 · 웹·우편</a:t>
            </a:r>
          </a:p>
        </p:txBody>
      </p:sp>
      <p:sp>
        <p:nvSpPr>
          <p:cNvPr id="22" name="body:L1:c"/>
          <p:cNvSpPr txBox="1"/>
          <p:nvPr/>
        </p:nvSpPr>
        <p:spPr>
          <a:xfrm>
            <a:off x="8659368" y="4443391"/>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+4.89</a:t>
            </a:r>
            <a:r>
              <a:rPr lang="ko-KR" sz="1200" b="1" dirty="0">
                <a:solidFill>
                  <a:srgbClr val="E11D48"/>
                </a:solidFill>
                <a:latin typeface="맑은 고딕"/>
                <a:ea typeface="맑은 고딕"/>
                <a:cs typeface="맑은 고딕"/>
              </a:rPr>
              <a:t>h</a:t>
            </a:r>
          </a:p>
        </p:txBody>
      </p:sp>
      <p:sp>
        <p:nvSpPr>
          <p:cNvPr id="23" name="body:L1:t"/>
          <p:cNvSpPr txBox="1"/>
          <p:nvPr/>
        </p:nvSpPr>
        <p:spPr>
          <a:xfrm>
            <a:off x="8659368" y="4839885"/>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웹·우편 접수, p = 0.030</a:t>
            </a:r>
          </a:p>
        </p:txBody>
      </p:sp>
      <p:sp>
        <p:nvSpPr>
          <p:cNvPr id="24" name="take-card"/>
          <p:cNvSpPr/>
          <p:nvPr/>
        </p:nvSpPr>
        <p:spPr>
          <a:xfrm>
            <a:off x="502920" y="5361686"/>
            <a:ext cx="11185855" cy="7553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2:take"/>
          <p:cNvSpPr txBox="1"/>
          <p:nvPr/>
        </p:nvSpPr>
        <p:spPr>
          <a:xfrm>
            <a:off x="658368" y="5517134"/>
            <a:ext cx="10874959" cy="44450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평균 기여(계수 × 평균값)로 환산하면 </a:t>
            </a:r>
            <a:r>
              <a:rPr lang="ko-KR" sz="1250" b="1" dirty="0">
                <a:solidFill>
                  <a:srgbClr val="2563EB"/>
                </a:solidFill>
                <a:latin typeface="맑은 고딕"/>
                <a:ea typeface="맑은 고딕"/>
                <a:cs typeface="맑은 고딕"/>
              </a:rPr>
              <a:t>실사 지연 86.3h</a:t>
            </a:r>
            <a:r>
              <a:rPr lang="ko-KR" sz="1250" b="0" dirty="0">
                <a:solidFill>
                  <a:srgbClr val="0F172A"/>
                </a:solidFill>
                <a:latin typeface="맑은 고딕"/>
                <a:ea typeface="맑은 고딕"/>
                <a:cs typeface="맑은 고딕"/>
              </a:rPr>
              <a:t>(1.12 × 76.8h)가 사내수리 16.6h(31.75 × 52.3%)보다 훨씬 크다.</a:t>
            </a:r>
          </a:p>
          <a:p>
            <a:pPr algn="l">
              <a:lnSpc>
                <a:spcPts val="1750"/>
              </a:lnSpc>
              <a:spcBef>
                <a:spcPts val="0"/>
              </a:spcBef>
              <a:buNone/>
            </a:pPr>
            <a:r>
              <a:rPr lang="ko-KR" sz="1250" b="0" dirty="0">
                <a:solidFill>
                  <a:srgbClr val="0F172A"/>
                </a:solidFill>
                <a:latin typeface="맑은 고딕"/>
                <a:ea typeface="맑은 고딕"/>
                <a:cs typeface="맑은 고딕"/>
              </a:rPr>
              <a:t>2차 에스컬레이션(+5.96h)은 p = 0.079로 비유의.</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[ 03 · TO-BE 개선 방안 · P.16 ]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적중률은 높은데 정보 해상도가 끊겨 있다</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알파벳 분류가 실제 수리 방식과 맞는데도(E→사내 100.0%, P→즉시 83.1%) 모든 건이 실사 큐 한 줄에 선다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L1888~1928 · case_pivot_table.csv 재계산 · 큐 점유시간 = 실사 착수 후 기사가 그 건에 묶이는 시간(즉시 수리는 실사+수리)</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16 / 19</a:t>
            </a:r>
          </a:p>
        </p:txBody>
      </p:sp>
      <p:sp>
        <p:nvSpPr>
          <p:cNvPr id="9" name="c1"/>
          <p:cNvSpPr/>
          <p:nvPr/>
        </p:nvSpPr>
        <p:spPr>
          <a:xfrm>
            <a:off x="502920" y="1554480"/>
            <a:ext cx="3606698" cy="380263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85800"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데이터 팩트</a:t>
            </a:r>
          </a:p>
        </p:txBody>
      </p:sp>
      <p:sp>
        <p:nvSpPr>
          <p:cNvPr id="11" name="body:L1:h"/>
          <p:cNvSpPr txBox="1"/>
          <p:nvPr/>
        </p:nvSpPr>
        <p:spPr>
          <a:xfrm>
            <a:off x="685800" y="1960118"/>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사전 적중률은 높다</a:t>
            </a:r>
          </a:p>
        </p:txBody>
      </p:sp>
      <p:pic>
        <p:nvPicPr>
          <p:cNvPr id="12" name="pic:donut" descr="slide12_intake_matching_donut.png"/>
          <p:cNvPicPr>
            <a:picLocks noChangeAspect="1"/>
          </p:cNvPicPr>
          <p:nvPr/>
        </p:nvPicPr>
        <p:blipFill>
          <a:blip r:embed="rId2"/>
          <a:stretch>
            <a:fillRect/>
          </a:stretch>
        </p:blipFill>
        <p:spPr>
          <a:xfrm>
            <a:off x="1079018" y="2290826"/>
            <a:ext cx="2454501" cy="2286000"/>
          </a:xfrm>
          <a:prstGeom prst="rect">
            <a:avLst/>
          </a:prstGeom>
        </p:spPr>
      </p:pic>
      <p:sp>
        <p:nvSpPr>
          <p:cNvPr id="13" name="body:L2:n"/>
          <p:cNvSpPr txBox="1"/>
          <p:nvPr/>
        </p:nvSpPr>
        <p:spPr>
          <a:xfrm>
            <a:off x="685800" y="4640834"/>
            <a:ext cx="3240938" cy="533400"/>
          </a:xfrm>
          <a:prstGeom prst="rect">
            <a:avLst/>
          </a:prstGeom>
          <a:noFill/>
        </p:spPr>
        <p:txBody>
          <a:bodyPr wrap="square" lIns="0" tIns="0" rIns="0" bIns="0" anchor="t">
            <a:noAutofit/>
          </a:bodyPr>
          <a:lstStyle/>
          <a:p>
            <a:pPr algn="l">
              <a:lnSpc>
                <a:spcPts val="2100"/>
              </a:lnSpc>
              <a:spcBef>
                <a:spcPts val="0"/>
              </a:spcBef>
              <a:buNone/>
            </a:pPr>
            <a:r>
              <a:rPr lang="ko-KR" sz="1500" b="0" dirty="0">
                <a:solidFill>
                  <a:srgbClr val="0F172A"/>
                </a:solidFill>
                <a:latin typeface="맑은 고딕"/>
                <a:ea typeface="맑은 고딕"/>
                <a:cs typeface="맑은 고딕"/>
              </a:rPr>
              <a:t>E → 사내수리 </a:t>
            </a:r>
            <a:r>
              <a:rPr lang="ko-KR" sz="1500" b="1" dirty="0">
                <a:solidFill>
                  <a:srgbClr val="2563EB"/>
                </a:solidFill>
                <a:latin typeface="맑은 고딕"/>
                <a:ea typeface="맑은 고딕"/>
                <a:cs typeface="맑은 고딕"/>
              </a:rPr>
              <a:t>100.0% </a:t>
            </a:r>
            <a:r>
              <a:rPr lang="ko-KR" sz="1500" b="0" dirty="0">
                <a:solidFill>
                  <a:srgbClr val="0F172A"/>
                </a:solidFill>
                <a:latin typeface="맑은 고딕"/>
                <a:ea typeface="맑은 고딕"/>
                <a:cs typeface="맑은 고딕"/>
              </a:rPr>
              <a:t>(370/370건)</a:t>
            </a:r>
          </a:p>
          <a:p>
            <a:pPr algn="l">
              <a:lnSpc>
                <a:spcPts val="2100"/>
              </a:lnSpc>
              <a:spcBef>
                <a:spcPts val="0"/>
              </a:spcBef>
              <a:buNone/>
            </a:pPr>
            <a:r>
              <a:rPr lang="ko-KR" sz="1500" b="0" dirty="0">
                <a:solidFill>
                  <a:srgbClr val="0F172A"/>
                </a:solidFill>
                <a:latin typeface="맑은 고딕"/>
                <a:ea typeface="맑은 고딕"/>
                <a:cs typeface="맑은 고딕"/>
              </a:rPr>
              <a:t>P → 즉시수리 </a:t>
            </a:r>
            <a:r>
              <a:rPr lang="ko-KR" sz="1500" b="1" dirty="0">
                <a:solidFill>
                  <a:srgbClr val="2563EB"/>
                </a:solidFill>
                <a:latin typeface="맑은 고딕"/>
                <a:ea typeface="맑은 고딕"/>
                <a:cs typeface="맑은 고딕"/>
              </a:rPr>
              <a:t>83.1% </a:t>
            </a:r>
            <a:r>
              <a:rPr lang="ko-KR" sz="1500" b="0" dirty="0">
                <a:solidFill>
                  <a:srgbClr val="0F172A"/>
                </a:solidFill>
                <a:latin typeface="맑은 고딕"/>
                <a:ea typeface="맑은 고딕"/>
                <a:cs typeface="맑은 고딕"/>
              </a:rPr>
              <a:t>(365/439건)</a:t>
            </a:r>
          </a:p>
        </p:txBody>
      </p:sp>
      <p:sp>
        <p:nvSpPr>
          <p:cNvPr id="14" name="c2"/>
          <p:cNvSpPr/>
          <p:nvPr/>
        </p:nvSpPr>
        <p:spPr>
          <a:xfrm>
            <a:off x="4292498" y="1554480"/>
            <a:ext cx="3606698" cy="380263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label:L1:t"/>
          <p:cNvSpPr txBox="1"/>
          <p:nvPr/>
        </p:nvSpPr>
        <p:spPr>
          <a:xfrm>
            <a:off x="4475378"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원인 규명</a:t>
            </a:r>
          </a:p>
        </p:txBody>
      </p:sp>
      <p:sp>
        <p:nvSpPr>
          <p:cNvPr id="16" name="body:L1:h"/>
          <p:cNvSpPr txBox="1"/>
          <p:nvPr/>
        </p:nvSpPr>
        <p:spPr>
          <a:xfrm>
            <a:off x="4475378" y="1987550"/>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정보 해상도 단절 → 한 줄</a:t>
            </a:r>
          </a:p>
        </p:txBody>
      </p:sp>
      <p:sp>
        <p:nvSpPr>
          <p:cNvPr id="17" name="boxA"/>
          <p:cNvSpPr/>
          <p:nvPr/>
        </p:nvSpPr>
        <p:spPr>
          <a:xfrm>
            <a:off x="4475378" y="2345690"/>
            <a:ext cx="3240938" cy="878586"/>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label:L1:t"/>
          <p:cNvSpPr txBox="1"/>
          <p:nvPr/>
        </p:nvSpPr>
        <p:spPr>
          <a:xfrm>
            <a:off x="4603394" y="2473706"/>
            <a:ext cx="298490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접수 (현행)</a:t>
            </a:r>
          </a:p>
        </p:txBody>
      </p:sp>
      <p:sp>
        <p:nvSpPr>
          <p:cNvPr id="19" name="body:L2:t"/>
          <p:cNvSpPr txBox="1"/>
          <p:nvPr/>
        </p:nvSpPr>
        <p:spPr>
          <a:xfrm>
            <a:off x="4603394" y="2687320"/>
            <a:ext cx="2984906"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알파벳 3분류(B·P·E)만 수집 → 즉시</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수리 여부를 가릴 수 없음</a:t>
            </a:r>
          </a:p>
        </p:txBody>
      </p:sp>
      <p:sp>
        <p:nvSpPr>
          <p:cNvPr id="20" name="boxB"/>
          <p:cNvSpPr/>
          <p:nvPr/>
        </p:nvSpPr>
        <p:spPr>
          <a:xfrm>
            <a:off x="4475378" y="3315716"/>
            <a:ext cx="3240938" cy="674116"/>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4603394" y="3443732"/>
            <a:ext cx="298490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현장 (현행)</a:t>
            </a:r>
          </a:p>
        </p:txBody>
      </p:sp>
      <p:sp>
        <p:nvSpPr>
          <p:cNvPr id="22" name="body:L1:t"/>
          <p:cNvSpPr txBox="1"/>
          <p:nvPr/>
        </p:nvSpPr>
        <p:spPr>
          <a:xfrm>
            <a:off x="4603394" y="3657346"/>
            <a:ext cx="2984906"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40.5분 방문 실사 후 세부 코드(1~4) 판정</a:t>
            </a:r>
          </a:p>
        </p:txBody>
      </p:sp>
      <p:sp>
        <p:nvSpPr>
          <p:cNvPr id="23" name="body:L1:res"/>
          <p:cNvSpPr txBox="1"/>
          <p:nvPr/>
        </p:nvSpPr>
        <p:spPr>
          <a:xfrm>
            <a:off x="4475378" y="4540123"/>
            <a:ext cx="3240938" cy="266700"/>
          </a:xfrm>
          <a:prstGeom prst="rect">
            <a:avLst/>
          </a:prstGeom>
          <a:noFill/>
        </p:spPr>
        <p:txBody>
          <a:bodyPr wrap="square" lIns="0" tIns="0" rIns="0" bIns="0" anchor="t">
            <a:noAutofit/>
          </a:bodyPr>
          <a:lstStyle/>
          <a:p>
            <a:pPr algn="ctr">
              <a:lnSpc>
                <a:spcPts val="2100"/>
              </a:lnSpc>
              <a:spcBef>
                <a:spcPts val="0"/>
              </a:spcBef>
              <a:buNone/>
            </a:pPr>
            <a:r>
              <a:rPr lang="ko-KR" sz="1500" b="0" dirty="0">
                <a:solidFill>
                  <a:srgbClr val="0F172A"/>
                </a:solidFill>
                <a:latin typeface="맑은 고딕"/>
                <a:ea typeface="맑은 고딕"/>
                <a:cs typeface="맑은 고딕"/>
              </a:rPr>
              <a:t>채널이 달라도 </a:t>
            </a:r>
            <a:r>
              <a:rPr lang="ko-KR" sz="1500" b="1" dirty="0">
                <a:solidFill>
                  <a:srgbClr val="2563EB"/>
                </a:solidFill>
                <a:latin typeface="맑은 고딕"/>
                <a:ea typeface="맑은 고딕"/>
                <a:cs typeface="맑은 고딕"/>
              </a:rPr>
              <a:t>실사 대기 큐는 한 줄</a:t>
            </a:r>
          </a:p>
        </p:txBody>
      </p:sp>
      <p:sp>
        <p:nvSpPr>
          <p:cNvPr id="24" name="c3"/>
          <p:cNvSpPr/>
          <p:nvPr/>
        </p:nvSpPr>
        <p:spPr>
          <a:xfrm>
            <a:off x="8082076" y="1554480"/>
            <a:ext cx="3606698" cy="380263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label:L1:t"/>
          <p:cNvSpPr txBox="1"/>
          <p:nvPr/>
        </p:nvSpPr>
        <p:spPr>
          <a:xfrm>
            <a:off x="8264956"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분리 근거</a:t>
            </a:r>
          </a:p>
        </p:txBody>
      </p:sp>
      <p:sp>
        <p:nvSpPr>
          <p:cNvPr id="26" name="body:L1:h"/>
          <p:cNvSpPr txBox="1"/>
          <p:nvPr/>
        </p:nvSpPr>
        <p:spPr>
          <a:xfrm>
            <a:off x="8264956" y="1969262"/>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즉시 수리 건을 따로 뺀다</a:t>
            </a:r>
          </a:p>
        </p:txBody>
      </p:sp>
      <p:sp>
        <p:nvSpPr>
          <p:cNvPr id="27" name="body:L1:n"/>
          <p:cNvSpPr txBox="1"/>
          <p:nvPr/>
        </p:nvSpPr>
        <p:spPr>
          <a:xfrm>
            <a:off x="8264956" y="2309114"/>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365</a:t>
            </a:r>
            <a:r>
              <a:rPr lang="ko-KR" sz="1440" b="1" dirty="0">
                <a:solidFill>
                  <a:srgbClr val="0F172A"/>
                </a:solidFill>
                <a:latin typeface="맑은 고딕"/>
                <a:ea typeface="맑은 고딕"/>
                <a:cs typeface="맑은 고딕"/>
              </a:rPr>
              <a:t>건 · 39.4%</a:t>
            </a:r>
          </a:p>
        </p:txBody>
      </p:sp>
      <p:sp>
        <p:nvSpPr>
          <p:cNvPr id="28" name="body:L2:t"/>
          <p:cNvSpPr txBox="1"/>
          <p:nvPr/>
        </p:nvSpPr>
        <p:spPr>
          <a:xfrm>
            <a:off x="8264956" y="2894076"/>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접수 코드 P-1·3: 건수는 39.4%인데</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실사 큐 점유시간은 73.3%</a:t>
            </a:r>
          </a:p>
        </p:txBody>
      </p:sp>
      <p:sp>
        <p:nvSpPr>
          <p:cNvPr id="29" name="body:L2:t"/>
          <p:cNvSpPr txBox="1"/>
          <p:nvPr/>
        </p:nvSpPr>
        <p:spPr>
          <a:xfrm>
            <a:off x="8264956" y="3376168"/>
            <a:ext cx="3240938" cy="44704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실사→수리 간격 0.00h, 같은 기사 100.0%</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건당 점유 2.75h, 나머지(0.65h)의 4.2배</a:t>
            </a:r>
          </a:p>
        </p:txBody>
      </p:sp>
      <p:sp>
        <p:nvSpPr>
          <p:cNvPr id="30" name="sowhat"/>
          <p:cNvSpPr/>
          <p:nvPr/>
        </p:nvSpPr>
        <p:spPr>
          <a:xfrm>
            <a:off x="502920" y="5494274"/>
            <a:ext cx="11185855" cy="815085"/>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label:L1:t"/>
          <p:cNvSpPr txBox="1"/>
          <p:nvPr/>
        </p:nvSpPr>
        <p:spPr>
          <a:xfrm>
            <a:off x="667512" y="5658866"/>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SO WHAT</a:t>
            </a:r>
          </a:p>
        </p:txBody>
      </p:sp>
      <p:sp>
        <p:nvSpPr>
          <p:cNvPr id="32" name="body:L1:sw"/>
          <p:cNvSpPr txBox="1"/>
          <p:nvPr/>
        </p:nvSpPr>
        <p:spPr>
          <a:xfrm>
            <a:off x="667512" y="5863336"/>
            <a:ext cx="10856671" cy="266700"/>
          </a:xfrm>
          <a:prstGeom prst="rect">
            <a:avLst/>
          </a:prstGeom>
          <a:noFill/>
        </p:spPr>
        <p:txBody>
          <a:bodyPr wrap="square" lIns="0" tIns="0" rIns="0" bIns="0" anchor="t">
            <a:noAutofit/>
          </a:bodyPr>
          <a:lstStyle/>
          <a:p>
            <a:pPr algn="l">
              <a:lnSpc>
                <a:spcPts val="2100"/>
              </a:lnSpc>
              <a:spcBef>
                <a:spcPts val="0"/>
              </a:spcBef>
              <a:buNone/>
            </a:pPr>
            <a:r>
              <a:rPr lang="ko-KR" sz="1500" b="0" dirty="0">
                <a:solidFill>
                  <a:srgbClr val="0F172A"/>
                </a:solidFill>
                <a:latin typeface="맑은 고딕"/>
                <a:ea typeface="맑은 고딕"/>
                <a:cs typeface="맑은 고딕"/>
              </a:rPr>
              <a:t>접수 단계에서 </a:t>
            </a:r>
            <a:r>
              <a:rPr lang="ko-KR" sz="1500" b="1" dirty="0">
                <a:solidFill>
                  <a:srgbClr val="2563EB"/>
                </a:solidFill>
                <a:latin typeface="맑은 고딕"/>
                <a:ea typeface="맑은 고딕"/>
                <a:cs typeface="맑은 고딕"/>
              </a:rPr>
              <a:t>해상도를 높여 </a:t>
            </a:r>
            <a:r>
              <a:rPr lang="ko-KR" sz="1500" b="1" dirty="0">
                <a:solidFill>
                  <a:srgbClr val="2563EB"/>
                </a:solidFill>
                <a:latin typeface="맑은 고딕"/>
                <a:ea typeface="맑은 고딕"/>
                <a:cs typeface="맑은 고딕"/>
              </a:rPr>
              <a:t>실사 대기 적체(WIP) 부담</a:t>
            </a:r>
            <a:r>
              <a:rPr lang="ko-KR" sz="1500" b="0" dirty="0">
                <a:solidFill>
                  <a:srgbClr val="0F172A"/>
                </a:solidFill>
                <a:latin typeface="맑은 고딕"/>
                <a:ea typeface="맑은 고딕"/>
                <a:cs typeface="맑은 고딕"/>
              </a:rPr>
              <a:t>을 줄여야 한다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[ 03 · TO-BE 개선 방안 · P.17 ]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Direct Booking 전략: 하나의 병목 줄을 두 갈래로</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코드를 세분화해 즉시 수리 건을 실사 대기 줄에서 빼고, 기사 캘린더로 바로 예약해 Direct Booking 줄로 보낸다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L1888~1928(사전 분류) · case_pivot_table.csv 재계산 · UI는 제안이며 효과는 다음 장에서 가정과 실험 설계로 다룸</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17 / 19</a:t>
            </a:r>
          </a:p>
        </p:txBody>
      </p:sp>
      <p:sp>
        <p:nvSpPr>
          <p:cNvPr id="9" name="db-card"/>
          <p:cNvSpPr/>
          <p:nvPr/>
        </p:nvSpPr>
        <p:spPr>
          <a:xfrm>
            <a:off x="502920" y="1554480"/>
            <a:ext cx="7589520" cy="336092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85800" y="1737360"/>
            <a:ext cx="722376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PROCESS · 접수 → 줄 분리 → 일정 확정 → 방문</a:t>
            </a:r>
          </a:p>
        </p:txBody>
      </p:sp>
      <p:sp>
        <p:nvSpPr>
          <p:cNvPr id="11" name="label:L1:db-h"/>
          <p:cNvSpPr txBox="1"/>
          <p:nvPr/>
        </p:nvSpPr>
        <p:spPr>
          <a:xfrm>
            <a:off x="777240" y="2005838"/>
            <a:ext cx="72009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구분</a:t>
            </a:r>
          </a:p>
        </p:txBody>
      </p:sp>
      <p:sp>
        <p:nvSpPr>
          <p:cNvPr id="12" name="label:L1:db-h"/>
          <p:cNvSpPr txBox="1"/>
          <p:nvPr/>
        </p:nvSpPr>
        <p:spPr>
          <a:xfrm>
            <a:off x="1680210" y="2005838"/>
            <a:ext cx="2616327"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AS-IS (현행)</a:t>
            </a:r>
          </a:p>
        </p:txBody>
      </p:sp>
      <p:sp>
        <p:nvSpPr>
          <p:cNvPr id="13" name="label:L1:db-h"/>
          <p:cNvSpPr txBox="1"/>
          <p:nvPr/>
        </p:nvSpPr>
        <p:spPr>
          <a:xfrm>
            <a:off x="4479417" y="2005838"/>
            <a:ext cx="333870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 (Direct Booking)</a:t>
            </a:r>
          </a:p>
        </p:txBody>
      </p:sp>
      <p:cxnSp>
        <p:nvCxnSpPr>
          <p:cNvPr id="14" name="rule"/>
          <p:cNvCxnSpPr/>
          <p:nvPr/>
        </p:nvCxnSpPr>
        <p:spPr>
          <a:xfrm>
            <a:off x="685800" y="2243582"/>
            <a:ext cx="7223760" cy="0"/>
          </a:xfrm>
          <a:prstGeom prst="line">
            <a:avLst/>
          </a:prstGeom>
          <a:ln w="9525">
            <a:solidFill>
              <a:srgbClr val="E2E8F0"/>
            </a:solidFill>
          </a:ln>
        </p:spPr>
      </p:cxnSp>
      <p:sp>
        <p:nvSpPr>
          <p:cNvPr id="15" name="body:L1:t"/>
          <p:cNvSpPr txBox="1"/>
          <p:nvPr/>
        </p:nvSpPr>
        <p:spPr>
          <a:xfrm>
            <a:off x="777240" y="2298446"/>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정보 입력</a:t>
            </a:r>
          </a:p>
        </p:txBody>
      </p:sp>
      <p:sp>
        <p:nvSpPr>
          <p:cNvPr id="16" name="body:L2:t"/>
          <p:cNvSpPr txBox="1"/>
          <p:nvPr/>
        </p:nvSpPr>
        <p:spPr>
          <a:xfrm>
            <a:off x="1680210" y="2298446"/>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B·P·E 알파벳 3분류만 수집,</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텍스트 입력</a:t>
            </a:r>
          </a:p>
        </p:txBody>
      </p:sp>
      <p:sp>
        <p:nvSpPr>
          <p:cNvPr id="17" name="body:L3:t"/>
          <p:cNvSpPr txBox="1"/>
          <p:nvPr/>
        </p:nvSpPr>
        <p:spPr>
          <a:xfrm>
            <a:off x="4479417" y="2298446"/>
            <a:ext cx="3338703" cy="61341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세부 코드(1~4) </a:t>
            </a:r>
            <a:r>
              <a:rPr lang="ko-KR" sz="1150" b="0" dirty="0">
                <a:solidFill>
                  <a:srgbClr val="0F172A"/>
                </a:solidFill>
                <a:latin typeface="맑은 고딕"/>
                <a:ea typeface="맑은 고딕"/>
                <a:cs typeface="맑은 고딕"/>
              </a:rPr>
              <a:t>구조화 입력</a:t>
            </a:r>
          </a:p>
          <a:p>
            <a:pPr algn="l">
              <a:lnSpc>
                <a:spcPts val="1610"/>
              </a:lnSpc>
              <a:spcBef>
                <a:spcPts val="0"/>
              </a:spcBef>
              <a:buNone/>
            </a:pPr>
            <a:r>
              <a:rPr lang="ko-KR" sz="1150" b="0" dirty="0">
                <a:solidFill>
                  <a:srgbClr val="0F172A"/>
                </a:solidFill>
                <a:latin typeface="맑은 고딕"/>
                <a:ea typeface="맑은 고딕"/>
                <a:cs typeface="맑은 고딕"/>
              </a:rPr>
              <a:t>웹 양식 포맷을 </a:t>
            </a:r>
            <a:r>
              <a:rPr lang="ko-KR" sz="1150" b="1" dirty="0">
                <a:solidFill>
                  <a:srgbClr val="2563EB"/>
                </a:solidFill>
                <a:latin typeface="맑은 고딕"/>
                <a:ea typeface="맑은 고딕"/>
                <a:cs typeface="맑은 고딕"/>
              </a:rPr>
              <a:t>전 채널에 동일 적용</a:t>
            </a:r>
          </a:p>
          <a:p>
            <a:pPr algn="l">
              <a:lnSpc>
                <a:spcPts val="1610"/>
              </a:lnSpc>
              <a:spcBef>
                <a:spcPts val="0"/>
              </a:spcBef>
              <a:buNone/>
            </a:pPr>
            <a:r>
              <a:rPr lang="ko-KR" sz="1150" b="0" dirty="0">
                <a:solidFill>
                  <a:srgbClr val="334155"/>
                </a:solidFill>
                <a:latin typeface="맑은 고딕"/>
                <a:ea typeface="맑은 고딕"/>
                <a:cs typeface="맑은 고딕"/>
              </a:rPr>
              <a:t>(빠른 건 평균 6.8분, 전 채널 최속)</a:t>
            </a:r>
          </a:p>
        </p:txBody>
      </p:sp>
      <p:cxnSp>
        <p:nvCxnSpPr>
          <p:cNvPr id="18" name="rule"/>
          <p:cNvCxnSpPr/>
          <p:nvPr/>
        </p:nvCxnSpPr>
        <p:spPr>
          <a:xfrm>
            <a:off x="685800" y="2966720"/>
            <a:ext cx="7223760" cy="0"/>
          </a:xfrm>
          <a:prstGeom prst="line">
            <a:avLst/>
          </a:prstGeom>
          <a:ln w="9525">
            <a:solidFill>
              <a:srgbClr val="E2E8F0"/>
            </a:solidFill>
          </a:ln>
        </p:spPr>
      </p:cxnSp>
      <p:sp>
        <p:nvSpPr>
          <p:cNvPr id="19" name="body:L1:t"/>
          <p:cNvSpPr txBox="1"/>
          <p:nvPr/>
        </p:nvSpPr>
        <p:spPr>
          <a:xfrm>
            <a:off x="777240" y="3021584"/>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줄 분리</a:t>
            </a:r>
          </a:p>
        </p:txBody>
      </p:sp>
      <p:sp>
        <p:nvSpPr>
          <p:cNvPr id="20" name="body:L2:t"/>
          <p:cNvSpPr txBox="1"/>
          <p:nvPr/>
        </p:nvSpPr>
        <p:spPr>
          <a:xfrm>
            <a:off x="1680210" y="3021584"/>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채널이 달라도 927건 전부</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실사 큐 한 줄</a:t>
            </a:r>
          </a:p>
        </p:txBody>
      </p:sp>
      <p:sp>
        <p:nvSpPr>
          <p:cNvPr id="21" name="body:L2:t"/>
          <p:cNvSpPr txBox="1"/>
          <p:nvPr/>
        </p:nvSpPr>
        <p:spPr>
          <a:xfrm>
            <a:off x="4479417" y="3021584"/>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즉시 수리 코드(P-1·3) </a:t>
            </a:r>
            <a:r>
              <a:rPr lang="ko-KR" sz="1150" b="0" dirty="0">
                <a:solidFill>
                  <a:srgbClr val="0F172A"/>
                </a:solidFill>
                <a:latin typeface="맑은 고딕"/>
                <a:ea typeface="맑은 고딕"/>
                <a:cs typeface="맑은 고딕"/>
              </a:rPr>
              <a:t>건은 실사 대기</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줄에서 빼 </a:t>
            </a:r>
            <a:r>
              <a:rPr lang="ko-KR" sz="1150" b="1" dirty="0">
                <a:solidFill>
                  <a:srgbClr val="2563EB"/>
                </a:solidFill>
                <a:latin typeface="맑은 고딕"/>
                <a:ea typeface="맑은 고딕"/>
                <a:cs typeface="맑은 고딕"/>
              </a:rPr>
              <a:t>Direct Booking 줄</a:t>
            </a:r>
            <a:r>
              <a:rPr lang="ko-KR" sz="1150" b="0" dirty="0">
                <a:solidFill>
                  <a:srgbClr val="0F172A"/>
                </a:solidFill>
                <a:latin typeface="맑은 고딕"/>
                <a:ea typeface="맑은 고딕"/>
                <a:cs typeface="맑은 고딕"/>
              </a:rPr>
              <a:t>로 직행</a:t>
            </a:r>
          </a:p>
        </p:txBody>
      </p:sp>
      <p:cxnSp>
        <p:nvCxnSpPr>
          <p:cNvPr id="22" name="rule"/>
          <p:cNvCxnSpPr/>
          <p:nvPr/>
        </p:nvCxnSpPr>
        <p:spPr>
          <a:xfrm>
            <a:off x="685800" y="3485388"/>
            <a:ext cx="7223760" cy="0"/>
          </a:xfrm>
          <a:prstGeom prst="line">
            <a:avLst/>
          </a:prstGeom>
          <a:ln w="9525">
            <a:solidFill>
              <a:srgbClr val="E2E8F0"/>
            </a:solidFill>
          </a:ln>
        </p:spPr>
      </p:cxnSp>
      <p:sp>
        <p:nvSpPr>
          <p:cNvPr id="23" name="body:L1:t"/>
          <p:cNvSpPr txBox="1"/>
          <p:nvPr/>
        </p:nvSpPr>
        <p:spPr>
          <a:xfrm>
            <a:off x="777240" y="3540252"/>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일정 확정</a:t>
            </a:r>
          </a:p>
        </p:txBody>
      </p:sp>
      <p:sp>
        <p:nvSpPr>
          <p:cNvPr id="24" name="body:L2:t"/>
          <p:cNvSpPr txBox="1"/>
          <p:nvPr/>
        </p:nvSpPr>
        <p:spPr>
          <a:xfrm>
            <a:off x="1680210" y="3540252"/>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상담원 일정 회신(비동기), 교차</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인계 123건 (1.20h → 7.87h)</a:t>
            </a:r>
          </a:p>
        </p:txBody>
      </p:sp>
      <p:sp>
        <p:nvSpPr>
          <p:cNvPr id="25" name="body:L2:t"/>
          <p:cNvSpPr txBox="1"/>
          <p:nvPr/>
        </p:nvSpPr>
        <p:spPr>
          <a:xfrm>
            <a:off x="4479417" y="3540252"/>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기사 캘린더</a:t>
            </a:r>
            <a:r>
              <a:rPr lang="ko-KR" sz="1150" b="0" dirty="0">
                <a:solidFill>
                  <a:srgbClr val="0F172A"/>
                </a:solidFill>
                <a:latin typeface="맑은 고딕"/>
                <a:ea typeface="맑은 고딕"/>
                <a:cs typeface="맑은 고딕"/>
              </a:rPr>
              <a:t>에서 고객이 슬롯을 직접</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선택 · 상담원 개입 0</a:t>
            </a:r>
          </a:p>
        </p:txBody>
      </p:sp>
      <p:cxnSp>
        <p:nvCxnSpPr>
          <p:cNvPr id="26" name="rule"/>
          <p:cNvCxnSpPr/>
          <p:nvPr/>
        </p:nvCxnSpPr>
        <p:spPr>
          <a:xfrm>
            <a:off x="685800" y="4004055"/>
            <a:ext cx="7223760" cy="0"/>
          </a:xfrm>
          <a:prstGeom prst="line">
            <a:avLst/>
          </a:prstGeom>
          <a:ln w="9525">
            <a:solidFill>
              <a:srgbClr val="E2E8F0"/>
            </a:solidFill>
          </a:ln>
        </p:spPr>
      </p:cxnSp>
      <p:sp>
        <p:nvSpPr>
          <p:cNvPr id="27" name="body:L1:t"/>
          <p:cNvSpPr txBox="1"/>
          <p:nvPr/>
        </p:nvSpPr>
        <p:spPr>
          <a:xfrm>
            <a:off x="777240" y="4058919"/>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방문</a:t>
            </a:r>
          </a:p>
        </p:txBody>
      </p:sp>
      <p:sp>
        <p:nvSpPr>
          <p:cNvPr id="28" name="body:L2:t"/>
          <p:cNvSpPr txBox="1"/>
          <p:nvPr/>
        </p:nvSpPr>
        <p:spPr>
          <a:xfrm>
            <a:off x="1680210" y="4058919"/>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실사 대기 후 방문, 사내수리는</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부품 주문 → 재방문</a:t>
            </a:r>
          </a:p>
        </p:txBody>
      </p:sp>
      <p:sp>
        <p:nvSpPr>
          <p:cNvPr id="29" name="body:L2:t"/>
          <p:cNvSpPr txBox="1"/>
          <p:nvPr/>
        </p:nvSpPr>
        <p:spPr>
          <a:xfrm>
            <a:off x="4479417" y="4058919"/>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0F172A"/>
                </a:solidFill>
                <a:latin typeface="맑은 고딕"/>
                <a:ea typeface="맑은 고딕"/>
                <a:cs typeface="맑은 고딕"/>
              </a:rPr>
              <a:t>즉시 건은 </a:t>
            </a:r>
            <a:r>
              <a:rPr lang="ko-KR" sz="1150" b="1" dirty="0">
                <a:solidFill>
                  <a:srgbClr val="2563EB"/>
                </a:solidFill>
                <a:latin typeface="맑은 고딕"/>
                <a:ea typeface="맑은 고딕"/>
                <a:cs typeface="맑은 고딕"/>
              </a:rPr>
              <a:t>기본 키트로 1회 방문 수리</a:t>
            </a:r>
            <a:r>
              <a:rPr lang="ko-KR" sz="1150" b="0" dirty="0">
                <a:solidFill>
                  <a:srgbClr val="0F172A"/>
                </a:solidFill>
                <a:latin typeface="맑은 고딕"/>
                <a:ea typeface="맑은 고딕"/>
                <a:cs typeface="맑은 고딕"/>
              </a:rPr>
              <a:t>,</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그 외는 </a:t>
            </a:r>
            <a:r>
              <a:rPr lang="ko-KR" sz="1150" b="1" dirty="0">
                <a:solidFill>
                  <a:srgbClr val="2563EB"/>
                </a:solidFill>
                <a:latin typeface="맑은 고딕"/>
                <a:ea typeface="맑은 고딕"/>
                <a:cs typeface="맑은 고딕"/>
              </a:rPr>
              <a:t>기존 실사 유지</a:t>
            </a:r>
          </a:p>
        </p:txBody>
      </p:sp>
      <p:sp>
        <p:nvSpPr>
          <p:cNvPr id="30" name="elig"/>
          <p:cNvSpPr/>
          <p:nvPr/>
        </p:nvSpPr>
        <p:spPr>
          <a:xfrm>
            <a:off x="8275320" y="1554480"/>
            <a:ext cx="3413455" cy="155498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label:L1:t"/>
          <p:cNvSpPr txBox="1"/>
          <p:nvPr/>
        </p:nvSpPr>
        <p:spPr>
          <a:xfrm>
            <a:off x="8458200" y="1737360"/>
            <a:ext cx="30476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DIRECT 대상 · 즉시 수리 코드</a:t>
            </a:r>
          </a:p>
        </p:txBody>
      </p:sp>
      <p:sp>
        <p:nvSpPr>
          <p:cNvPr id="32" name="body:L1:n"/>
          <p:cNvSpPr txBox="1"/>
          <p:nvPr/>
        </p:nvSpPr>
        <p:spPr>
          <a:xfrm>
            <a:off x="8458200" y="1950974"/>
            <a:ext cx="304769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365</a:t>
            </a:r>
            <a:r>
              <a:rPr lang="ko-KR" sz="1440" b="1" dirty="0">
                <a:solidFill>
                  <a:srgbClr val="0F172A"/>
                </a:solidFill>
                <a:latin typeface="맑은 고딕"/>
                <a:ea typeface="맑은 고딕"/>
                <a:cs typeface="맑은 고딕"/>
              </a:rPr>
              <a:t>건</a:t>
            </a:r>
          </a:p>
        </p:txBody>
      </p:sp>
      <p:sp>
        <p:nvSpPr>
          <p:cNvPr id="33" name="body:L2:t"/>
          <p:cNvSpPr txBox="1"/>
          <p:nvPr/>
        </p:nvSpPr>
        <p:spPr>
          <a:xfrm>
            <a:off x="8458200" y="2517648"/>
            <a:ext cx="3047695"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P-1·3, 전체의 39.4%. 수리 1.99h로</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사내수리(4.25h)의 47%</a:t>
            </a:r>
          </a:p>
        </p:txBody>
      </p:sp>
      <p:sp>
        <p:nvSpPr>
          <p:cNvPr id="34" name="guard"/>
          <p:cNvSpPr/>
          <p:nvPr/>
        </p:nvSpPr>
        <p:spPr>
          <a:xfrm>
            <a:off x="8275320" y="3237484"/>
            <a:ext cx="3413455" cy="167792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label:L1:t"/>
          <p:cNvSpPr txBox="1"/>
          <p:nvPr/>
        </p:nvSpPr>
        <p:spPr>
          <a:xfrm>
            <a:off x="8458200" y="3420364"/>
            <a:ext cx="30476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보조 개선안 · 반복 리워크 방지</a:t>
            </a:r>
          </a:p>
        </p:txBody>
      </p:sp>
      <p:sp>
        <p:nvSpPr>
          <p:cNvPr id="36" name="body:L5:t"/>
          <p:cNvSpPr txBox="1"/>
          <p:nvPr/>
        </p:nvSpPr>
        <p:spPr>
          <a:xfrm>
            <a:off x="8458200" y="3633978"/>
            <a:ext cx="3047695" cy="10985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세부 코드로 </a:t>
            </a:r>
            <a:r>
              <a:rPr lang="ko-KR" sz="1150" b="1" dirty="0">
                <a:solidFill>
                  <a:srgbClr val="2563EB"/>
                </a:solidFill>
                <a:latin typeface="맑은 고딕"/>
                <a:ea typeface="맑은 고딕"/>
                <a:cs typeface="맑은 고딕"/>
              </a:rPr>
              <a:t>정밀검사 대상 </a:t>
            </a:r>
            <a:r>
              <a:rPr lang="ko-KR" sz="1150" b="0" dirty="0">
                <a:solidFill>
                  <a:srgbClr val="334155"/>
                </a:solidFill>
                <a:latin typeface="맑은 고딕"/>
                <a:ea typeface="맑은 고딕"/>
                <a:cs typeface="맑은 고딕"/>
              </a:rPr>
              <a:t>판별,</a:t>
            </a:r>
            <a:br>
              <a:rPr lang="ko-KR" sz="1150" b="1" dirty="0">
                <a:solidFill>
                  <a:srgbClr val="2563EB"/>
                </a:solidFill>
                <a:latin typeface="맑은 고딕"/>
                <a:ea typeface="맑은 고딕"/>
                <a:cs typeface="맑은 고딕"/>
              </a:rPr>
            </a:br>
            <a:r>
              <a:rPr lang="ko-KR" sz="1150" b="1" dirty="0">
                <a:solidFill>
                  <a:srgbClr val="2563EB"/>
                </a:solidFill>
                <a:latin typeface="맑은 고딕"/>
                <a:ea typeface="맑은 고딕"/>
                <a:cs typeface="맑은 고딕"/>
              </a:rPr>
              <a:t>정밀 실사</a:t>
            </a:r>
            <a:r>
              <a:rPr lang="ko-KR" sz="1150" b="0" dirty="0">
                <a:solidFill>
                  <a:srgbClr val="334155"/>
                </a:solidFill>
                <a:latin typeface="맑은 고딕"/>
                <a:ea typeface="맑은 고딕"/>
                <a:cs typeface="맑은 고딕"/>
              </a:rPr>
              <a:t>로 변경</a:t>
            </a:r>
          </a:p>
          <a:p>
            <a:pPr algn="l" marL="164592" indent="-164592">
              <a:lnSpc>
                <a:spcPts val="1610"/>
              </a:lnSpc>
              <a:spcBef>
                <a:spcPts val="300"/>
              </a:spcBef>
              <a:buClr>
                <a:srgbClr val="2563EB"/>
              </a:buClr>
              <a:buFont typeface="맑은 고딕"/>
              <a:buChar char="•"/>
            </a:pPr>
            <a:r>
              <a:rPr lang="ko-KR" sz="1150" b="1" dirty="0">
                <a:solidFill>
                  <a:srgbClr val="2563EB"/>
                </a:solidFill>
                <a:latin typeface="맑은 고딕"/>
                <a:ea typeface="맑은 고딕"/>
                <a:cs typeface="맑은 고딕"/>
              </a:rPr>
              <a:t>E-1·E-2 </a:t>
            </a:r>
            <a:r>
              <a:rPr lang="ko-KR" sz="1150" b="0" dirty="0">
                <a:solidFill>
                  <a:srgbClr val="334155"/>
                </a:solidFill>
                <a:latin typeface="맑은 고딕"/>
                <a:ea typeface="맑은 고딕"/>
                <a:cs typeface="맑은 고딕"/>
              </a:rPr>
              <a:t>(22/26건, 84.6%): 연계 부품</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점검, 재수리 +32.9h 방지</a:t>
            </a:r>
          </a:p>
          <a:p>
            <a:pPr algn="l" marL="164592" indent="-164592">
              <a:lnSpc>
                <a:spcPts val="1610"/>
              </a:lnSpc>
              <a:spcBef>
                <a:spcPts val="300"/>
              </a:spcBef>
              <a:buClr>
                <a:srgbClr val="2563EB"/>
              </a:buClr>
              <a:buFont typeface="맑은 고딕"/>
              <a:buChar char="•"/>
            </a:pPr>
            <a:r>
              <a:rPr lang="ko-KR" sz="1150" b="1" dirty="0">
                <a:solidFill>
                  <a:srgbClr val="2563EB"/>
                </a:solidFill>
                <a:latin typeface="맑은 고딕"/>
                <a:ea typeface="맑은 고딕"/>
                <a:cs typeface="맑은 고딕"/>
              </a:rPr>
              <a:t>P-4·B-4 외주 위탁 </a:t>
            </a:r>
            <a:r>
              <a:rPr lang="ko-KR" sz="1150" b="0" dirty="0">
                <a:solidFill>
                  <a:srgbClr val="334155"/>
                </a:solidFill>
                <a:latin typeface="맑은 고딕"/>
                <a:ea typeface="맑은 고딕"/>
                <a:cs typeface="맑은 고딕"/>
              </a:rPr>
              <a:t>(59건): 외주 사전 확정</a:t>
            </a:r>
          </a:p>
        </p:txBody>
      </p:sp>
      <p:sp>
        <p:nvSpPr>
          <p:cNvPr id="37" name="common"/>
          <p:cNvSpPr/>
          <p:nvPr/>
        </p:nvSpPr>
        <p:spPr>
          <a:xfrm>
            <a:off x="502920" y="5052568"/>
            <a:ext cx="11185855" cy="12567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label:L1:t"/>
          <p:cNvSpPr txBox="1"/>
          <p:nvPr/>
        </p:nvSpPr>
        <p:spPr>
          <a:xfrm>
            <a:off x="667512" y="5217160"/>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TWO LANES · 줄을 하나에서 둘로</a:t>
            </a:r>
          </a:p>
        </p:txBody>
      </p:sp>
      <p:sp>
        <p:nvSpPr>
          <p:cNvPr id="39" name="body:L3:t"/>
          <p:cNvSpPr txBox="1"/>
          <p:nvPr/>
        </p:nvSpPr>
        <p:spPr>
          <a:xfrm>
            <a:off x="75895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AS-IS · 줄 1개</a:t>
            </a:r>
          </a:p>
          <a:p>
            <a:pPr algn="l">
              <a:lnSpc>
                <a:spcPts val="1610"/>
              </a:lnSpc>
              <a:spcBef>
                <a:spcPts val="0"/>
              </a:spcBef>
              <a:buNone/>
            </a:pPr>
            <a:r>
              <a:rPr lang="ko-KR" sz="1150" b="1" dirty="0">
                <a:solidFill>
                  <a:srgbClr val="2563EB"/>
                </a:solidFill>
                <a:latin typeface="맑은 고딕"/>
                <a:ea typeface="맑은 고딕"/>
                <a:cs typeface="맑은 고딕"/>
              </a:rPr>
              <a:t>927건 전부 실사 큐 한 줄</a:t>
            </a:r>
          </a:p>
          <a:p>
            <a:pPr algn="l">
              <a:lnSpc>
                <a:spcPts val="1610"/>
              </a:lnSpc>
              <a:spcBef>
                <a:spcPts val="0"/>
              </a:spcBef>
              <a:buNone/>
            </a:pPr>
            <a:r>
              <a:rPr lang="ko-KR" sz="1150" b="0" dirty="0">
                <a:solidFill>
                  <a:srgbClr val="334155"/>
                </a:solidFill>
                <a:latin typeface="맑은 고딕"/>
                <a:ea typeface="맑은 고딕"/>
                <a:cs typeface="맑은 고딕"/>
              </a:rPr>
              <a:t>일 유입 134.3건 vs CAPA 68.0건</a:t>
            </a:r>
          </a:p>
        </p:txBody>
      </p:sp>
      <p:sp>
        <p:nvSpPr>
          <p:cNvPr id="40" name="body:L3:t"/>
          <p:cNvSpPr txBox="1"/>
          <p:nvPr/>
        </p:nvSpPr>
        <p:spPr>
          <a:xfrm>
            <a:off x="437784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TO-BE · 실사 대기 줄 (정밀 실사)</a:t>
            </a:r>
          </a:p>
          <a:p>
            <a:pPr algn="l">
              <a:lnSpc>
                <a:spcPts val="1610"/>
              </a:lnSpc>
              <a:spcBef>
                <a:spcPts val="0"/>
              </a:spcBef>
              <a:buNone/>
            </a:pPr>
            <a:r>
              <a:rPr lang="ko-KR" sz="1150" b="1" dirty="0">
                <a:solidFill>
                  <a:srgbClr val="2563EB"/>
                </a:solidFill>
                <a:latin typeface="맑은 고딕"/>
                <a:ea typeface="맑은 고딕"/>
                <a:cs typeface="맑은 고딕"/>
              </a:rPr>
              <a:t>562건</a:t>
            </a:r>
            <a:r>
              <a:rPr lang="ko-KR" sz="1150" b="0" dirty="0">
                <a:solidFill>
                  <a:srgbClr val="334155"/>
                </a:solidFill>
                <a:latin typeface="맑은 고딕"/>
                <a:ea typeface="맑은 고딕"/>
                <a:cs typeface="맑은 고딕"/>
              </a:rPr>
              <a:t>: 일 유입 134.3→81.4건(39.4% 감소)</a:t>
            </a:r>
          </a:p>
          <a:p>
            <a:pPr algn="l">
              <a:lnSpc>
                <a:spcPts val="1610"/>
              </a:lnSpc>
              <a:spcBef>
                <a:spcPts val="0"/>
              </a:spcBef>
              <a:buNone/>
            </a:pPr>
            <a:r>
              <a:rPr lang="ko-KR" sz="1150" b="0" dirty="0">
                <a:solidFill>
                  <a:srgbClr val="334155"/>
                </a:solidFill>
                <a:latin typeface="맑은 고딕"/>
                <a:ea typeface="맑은 고딕"/>
                <a:cs typeface="맑은 고딕"/>
              </a:rPr>
              <a:t>B형 118건 · 외주 전환 59건 · 재수리 집중 E형</a:t>
            </a:r>
          </a:p>
        </p:txBody>
      </p:sp>
      <p:sp>
        <p:nvSpPr>
          <p:cNvPr id="41" name="body:L3:t"/>
          <p:cNvSpPr txBox="1"/>
          <p:nvPr/>
        </p:nvSpPr>
        <p:spPr>
          <a:xfrm>
            <a:off x="799673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TO-BE · Direct Booking 줄 (즉시)</a:t>
            </a:r>
          </a:p>
          <a:p>
            <a:pPr algn="l">
              <a:lnSpc>
                <a:spcPts val="1610"/>
              </a:lnSpc>
              <a:spcBef>
                <a:spcPts val="0"/>
              </a:spcBef>
              <a:buNone/>
            </a:pPr>
            <a:r>
              <a:rPr lang="ko-KR" sz="1150" b="1" dirty="0">
                <a:solidFill>
                  <a:srgbClr val="2563EB"/>
                </a:solidFill>
                <a:latin typeface="맑은 고딕"/>
                <a:ea typeface="맑은 고딕"/>
                <a:cs typeface="맑은 고딕"/>
              </a:rPr>
              <a:t>365건</a:t>
            </a:r>
            <a:r>
              <a:rPr lang="ko-KR" sz="1150" b="0" dirty="0">
                <a:solidFill>
                  <a:srgbClr val="334155"/>
                </a:solidFill>
                <a:latin typeface="맑은 고딕"/>
                <a:ea typeface="맑은 고딕"/>
                <a:cs typeface="맑은 고딕"/>
              </a:rPr>
              <a:t>: 기본 키트로 1회 방문</a:t>
            </a:r>
          </a:p>
          <a:p>
            <a:pPr algn="l">
              <a:lnSpc>
                <a:spcPts val="1610"/>
              </a:lnSpc>
              <a:spcBef>
                <a:spcPts val="0"/>
              </a:spcBef>
              <a:buNone/>
            </a:pPr>
            <a:r>
              <a:rPr lang="ko-KR" sz="1150" b="0" dirty="0">
                <a:solidFill>
                  <a:srgbClr val="334155"/>
                </a:solidFill>
                <a:latin typeface="맑은 고딕"/>
                <a:ea typeface="맑은 고딕"/>
                <a:cs typeface="맑은 고딕"/>
              </a:rPr>
              <a:t>실사 0.76h 생략, 수리 1.99h</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[ 03 · TO-BE 개선 방안 · P.18 ]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실사 대기 20% 단축 시 평균 리드타임 </a:t>
            </a:r>
            <a:r>
              <a:rPr lang="ko-KR" sz="1612" b="1" dirty="0">
                <a:solidFill>
                  <a:srgbClr val="0F172A"/>
                </a:solidFill>
                <a:latin typeface="맑은 고딕"/>
                <a:ea typeface="맑은 고딕"/>
                <a:cs typeface="맑은 고딕"/>
              </a:rPr>
              <a:t>▼</a:t>
            </a:r>
            <a:r>
              <a:rPr lang="ko-KR" sz="2600" b="1" dirty="0">
                <a:solidFill>
                  <a:srgbClr val="0F172A"/>
                </a:solidFill>
                <a:latin typeface="맑은 고딕"/>
                <a:ea typeface="맑은 고딕"/>
                <a:cs typeface="맑은 고딕"/>
              </a:rPr>
              <a:t>14.5%</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줄 분리의 순수 효과는 로그로 식별할 수 없어 단축률을 가정하고, 실험으로 검증한다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case_pivot_table.csv 재계산 · 실사 대기는 리드타임의 구성요소라 1:1 반영(OLS 계수 미적용) · 단축률은 가정</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18 / 19</a:t>
            </a:r>
          </a:p>
        </p:txBody>
      </p:sp>
      <p:sp>
        <p:nvSpPr>
          <p:cNvPr id="9" name="bars-card"/>
          <p:cNvSpPr/>
          <p:nvPr/>
        </p:nvSpPr>
        <p:spPr>
          <a:xfrm>
            <a:off x="502920" y="1554480"/>
            <a:ext cx="5669280" cy="47548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704088" y="1755648"/>
            <a:ext cx="526694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실사 대기 단축 20% 가정</a:t>
            </a:r>
          </a:p>
        </p:txBody>
      </p:sp>
      <p:sp>
        <p:nvSpPr>
          <p:cNvPr id="11" name="label:L1:b-AS-IS"/>
          <p:cNvSpPr txBox="1"/>
          <p:nvPr/>
        </p:nvSpPr>
        <p:spPr>
          <a:xfrm>
            <a:off x="704088" y="2133854"/>
            <a:ext cx="5669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AS-IS</a:t>
            </a:r>
          </a:p>
        </p:txBody>
      </p:sp>
      <p:sp>
        <p:nvSpPr>
          <p:cNvPr id="12" name="b-AS-IS-bar"/>
          <p:cNvSpPr/>
          <p:nvPr/>
        </p:nvSpPr>
        <p:spPr>
          <a:xfrm>
            <a:off x="1344168" y="2060702"/>
            <a:ext cx="3392424" cy="420624"/>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body:L1:b-AS-IS-v"/>
          <p:cNvSpPr txBox="1"/>
          <p:nvPr/>
        </p:nvSpPr>
        <p:spPr>
          <a:xfrm>
            <a:off x="4809744" y="2133854"/>
            <a:ext cx="1005840" cy="251460"/>
          </a:xfrm>
          <a:prstGeom prst="rect">
            <a:avLst/>
          </a:prstGeom>
          <a:noFill/>
        </p:spPr>
        <p:txBody>
          <a:bodyPr wrap="square" lIns="0" tIns="0" rIns="0" bIns="0" anchor="t">
            <a:noAutofit/>
          </a:bodyPr>
          <a:lstStyle/>
          <a:p>
            <a:pPr algn="l">
              <a:lnSpc>
                <a:spcPts val="1980"/>
              </a:lnSpc>
              <a:spcBef>
                <a:spcPts val="0"/>
              </a:spcBef>
              <a:buNone/>
            </a:pPr>
            <a:r>
              <a:rPr lang="ko-KR" sz="1500" b="1" dirty="0">
                <a:solidFill>
                  <a:srgbClr val="0F172A"/>
                </a:solidFill>
                <a:latin typeface="Consolas"/>
                <a:ea typeface="맑은 고딕"/>
                <a:cs typeface="Consolas"/>
              </a:rPr>
              <a:t>105.9h</a:t>
            </a:r>
          </a:p>
        </p:txBody>
      </p:sp>
      <p:sp>
        <p:nvSpPr>
          <p:cNvPr id="14" name="label:L1:b-TO-BE"/>
          <p:cNvSpPr txBox="1"/>
          <p:nvPr/>
        </p:nvSpPr>
        <p:spPr>
          <a:xfrm>
            <a:off x="704088" y="2700782"/>
            <a:ext cx="5669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a:t>
            </a:r>
          </a:p>
        </p:txBody>
      </p:sp>
      <p:sp>
        <p:nvSpPr>
          <p:cNvPr id="15" name="b-TO-BE-bar"/>
          <p:cNvSpPr/>
          <p:nvPr/>
        </p:nvSpPr>
        <p:spPr>
          <a:xfrm>
            <a:off x="1344168" y="2627630"/>
            <a:ext cx="2899096" cy="420624"/>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body:L1:b-TO-BE-v"/>
          <p:cNvSpPr txBox="1"/>
          <p:nvPr/>
        </p:nvSpPr>
        <p:spPr>
          <a:xfrm>
            <a:off x="4316416" y="2700782"/>
            <a:ext cx="1005840" cy="251460"/>
          </a:xfrm>
          <a:prstGeom prst="rect">
            <a:avLst/>
          </a:prstGeom>
          <a:noFill/>
        </p:spPr>
        <p:txBody>
          <a:bodyPr wrap="square" lIns="0" tIns="0" rIns="0" bIns="0" anchor="t">
            <a:noAutofit/>
          </a:bodyPr>
          <a:lstStyle/>
          <a:p>
            <a:pPr algn="l">
              <a:lnSpc>
                <a:spcPts val="1980"/>
              </a:lnSpc>
              <a:spcBef>
                <a:spcPts val="0"/>
              </a:spcBef>
              <a:buNone/>
            </a:pPr>
            <a:r>
              <a:rPr lang="ko-KR" sz="1500" b="1" dirty="0">
                <a:solidFill>
                  <a:srgbClr val="0F172A"/>
                </a:solidFill>
                <a:latin typeface="Consolas"/>
                <a:ea typeface="맑은 고딕"/>
                <a:cs typeface="Consolas"/>
              </a:rPr>
              <a:t>90.5h</a:t>
            </a:r>
          </a:p>
        </p:txBody>
      </p:sp>
      <p:sp>
        <p:nvSpPr>
          <p:cNvPr id="17" name="body:L1:b-delta"/>
          <p:cNvSpPr txBox="1"/>
          <p:nvPr/>
        </p:nvSpPr>
        <p:spPr>
          <a:xfrm>
            <a:off x="1344168" y="3231134"/>
            <a:ext cx="4626864" cy="302260"/>
          </a:xfrm>
          <a:prstGeom prst="rect">
            <a:avLst/>
          </a:prstGeom>
          <a:noFill/>
        </p:spPr>
        <p:txBody>
          <a:bodyPr wrap="square" lIns="0" tIns="0" rIns="0" bIns="0" anchor="t">
            <a:noAutofit/>
          </a:bodyPr>
          <a:lstStyle/>
          <a:p>
            <a:pPr algn="l">
              <a:lnSpc>
                <a:spcPts val="2380"/>
              </a:lnSpc>
              <a:spcBef>
                <a:spcPts val="0"/>
              </a:spcBef>
              <a:buNone/>
            </a:pPr>
            <a:r>
              <a:rPr lang="ko-KR" sz="1800" b="1" dirty="0">
                <a:solidFill>
                  <a:srgbClr val="059669"/>
                </a:solidFill>
                <a:latin typeface="Consolas"/>
                <a:ea typeface="맑은 고딕"/>
                <a:cs typeface="Consolas"/>
              </a:rPr>
              <a:t>▼ 14.5% (−15.4h)</a:t>
            </a:r>
          </a:p>
        </p:txBody>
      </p:sp>
      <p:cxnSp>
        <p:nvCxnSpPr>
          <p:cNvPr id="18" name="rule"/>
          <p:cNvCxnSpPr/>
          <p:nvPr/>
        </p:nvCxnSpPr>
        <p:spPr>
          <a:xfrm>
            <a:off x="704088" y="3843782"/>
            <a:ext cx="5266943" cy="0"/>
          </a:xfrm>
          <a:prstGeom prst="line">
            <a:avLst/>
          </a:prstGeom>
          <a:ln w="9525">
            <a:solidFill>
              <a:srgbClr val="E2E8F0"/>
            </a:solidFill>
          </a:ln>
        </p:spPr>
      </p:cxnSp>
      <p:sp>
        <p:nvSpPr>
          <p:cNvPr id="19" name="label:L1:t"/>
          <p:cNvSpPr txBox="1"/>
          <p:nvPr/>
        </p:nvSpPr>
        <p:spPr>
          <a:xfrm>
            <a:off x="704088" y="3999230"/>
            <a:ext cx="526694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SENSITIVITY · 단축률별 효과</a:t>
            </a:r>
          </a:p>
        </p:txBody>
      </p:sp>
      <p:sp>
        <p:nvSpPr>
          <p:cNvPr id="20" name="label:L1:sens-h"/>
          <p:cNvSpPr txBox="1"/>
          <p:nvPr/>
        </p:nvSpPr>
        <p:spPr>
          <a:xfrm>
            <a:off x="795528" y="4340860"/>
            <a:ext cx="101835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실사 대기 단축</a:t>
            </a:r>
          </a:p>
        </p:txBody>
      </p:sp>
      <p:sp>
        <p:nvSpPr>
          <p:cNvPr id="21" name="label:L1:sens-h"/>
          <p:cNvSpPr txBox="1"/>
          <p:nvPr/>
        </p:nvSpPr>
        <p:spPr>
          <a:xfrm>
            <a:off x="1996760" y="4340860"/>
            <a:ext cx="268159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평균 리드타임</a:t>
            </a:r>
          </a:p>
        </p:txBody>
      </p:sp>
      <p:sp>
        <p:nvSpPr>
          <p:cNvPr id="22" name="label:L1:sens-h"/>
          <p:cNvSpPr txBox="1"/>
          <p:nvPr/>
        </p:nvSpPr>
        <p:spPr>
          <a:xfrm>
            <a:off x="4861239" y="4340860"/>
            <a:ext cx="101835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감소율</a:t>
            </a:r>
          </a:p>
        </p:txBody>
      </p:sp>
      <p:cxnSp>
        <p:nvCxnSpPr>
          <p:cNvPr id="23" name="rule"/>
          <p:cNvCxnSpPr/>
          <p:nvPr/>
        </p:nvCxnSpPr>
        <p:spPr>
          <a:xfrm>
            <a:off x="704088" y="4578603"/>
            <a:ext cx="5266943" cy="0"/>
          </a:xfrm>
          <a:prstGeom prst="line">
            <a:avLst/>
          </a:prstGeom>
          <a:ln w="9525">
            <a:solidFill>
              <a:srgbClr val="E2E8F0"/>
            </a:solidFill>
          </a:ln>
        </p:spPr>
      </p:cxnSp>
      <p:sp>
        <p:nvSpPr>
          <p:cNvPr id="24" name="body:L1:t"/>
          <p:cNvSpPr txBox="1"/>
          <p:nvPr/>
        </p:nvSpPr>
        <p:spPr>
          <a:xfrm>
            <a:off x="795528" y="4724908"/>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10%</a:t>
            </a:r>
          </a:p>
        </p:txBody>
      </p:sp>
      <p:sp>
        <p:nvSpPr>
          <p:cNvPr id="25" name="body:L1:t"/>
          <p:cNvSpPr txBox="1"/>
          <p:nvPr/>
        </p:nvSpPr>
        <p:spPr>
          <a:xfrm>
            <a:off x="1996760" y="4724908"/>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105.9 → 98.2h (−7.7h)</a:t>
            </a:r>
          </a:p>
        </p:txBody>
      </p:sp>
      <p:sp>
        <p:nvSpPr>
          <p:cNvPr id="26" name="body:L1:t"/>
          <p:cNvSpPr txBox="1"/>
          <p:nvPr/>
        </p:nvSpPr>
        <p:spPr>
          <a:xfrm>
            <a:off x="4861239" y="4724908"/>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 7.3%</a:t>
            </a:r>
          </a:p>
        </p:txBody>
      </p:sp>
      <p:cxnSp>
        <p:nvCxnSpPr>
          <p:cNvPr id="27" name="rule"/>
          <p:cNvCxnSpPr/>
          <p:nvPr/>
        </p:nvCxnSpPr>
        <p:spPr>
          <a:xfrm>
            <a:off x="704088" y="5075681"/>
            <a:ext cx="5266943" cy="0"/>
          </a:xfrm>
          <a:prstGeom prst="line">
            <a:avLst/>
          </a:prstGeom>
          <a:ln w="9525">
            <a:solidFill>
              <a:srgbClr val="E2E8F0"/>
            </a:solidFill>
          </a:ln>
        </p:spPr>
      </p:cxnSp>
      <p:sp>
        <p:nvSpPr>
          <p:cNvPr id="28" name="sens-fill"/>
          <p:cNvSpPr/>
          <p:nvPr/>
        </p:nvSpPr>
        <p:spPr>
          <a:xfrm>
            <a:off x="704088" y="5084825"/>
            <a:ext cx="5266944" cy="487934"/>
          </a:xfrm>
          <a:prstGeom prst="rect">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body:L1:t"/>
          <p:cNvSpPr txBox="1"/>
          <p:nvPr/>
        </p:nvSpPr>
        <p:spPr>
          <a:xfrm>
            <a:off x="795528" y="5221985"/>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20% · 기준</a:t>
            </a:r>
          </a:p>
        </p:txBody>
      </p:sp>
      <p:sp>
        <p:nvSpPr>
          <p:cNvPr id="30" name="body:L1:t"/>
          <p:cNvSpPr txBox="1"/>
          <p:nvPr/>
        </p:nvSpPr>
        <p:spPr>
          <a:xfrm>
            <a:off x="1996760" y="5221985"/>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1" dirty="0">
                <a:solidFill>
                  <a:srgbClr val="059669"/>
                </a:solidFill>
                <a:latin typeface="Consolas"/>
                <a:ea typeface="맑은 고딕"/>
                <a:cs typeface="Consolas"/>
              </a:rPr>
              <a:t>105.9 → 90.5h (−15.4h)</a:t>
            </a:r>
          </a:p>
        </p:txBody>
      </p:sp>
      <p:sp>
        <p:nvSpPr>
          <p:cNvPr id="31" name="body:L1:t"/>
          <p:cNvSpPr txBox="1"/>
          <p:nvPr/>
        </p:nvSpPr>
        <p:spPr>
          <a:xfrm>
            <a:off x="4861239" y="5221985"/>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1" dirty="0">
                <a:solidFill>
                  <a:srgbClr val="059669"/>
                </a:solidFill>
                <a:latin typeface="Consolas"/>
                <a:ea typeface="맑은 고딕"/>
                <a:cs typeface="Consolas"/>
              </a:rPr>
              <a:t>▼ 14.5%</a:t>
            </a:r>
          </a:p>
        </p:txBody>
      </p:sp>
      <p:cxnSp>
        <p:nvCxnSpPr>
          <p:cNvPr id="32" name="rule"/>
          <p:cNvCxnSpPr/>
          <p:nvPr/>
        </p:nvCxnSpPr>
        <p:spPr>
          <a:xfrm>
            <a:off x="704088" y="5572759"/>
            <a:ext cx="5266943" cy="0"/>
          </a:xfrm>
          <a:prstGeom prst="line">
            <a:avLst/>
          </a:prstGeom>
          <a:ln w="9525">
            <a:solidFill>
              <a:srgbClr val="E2E8F0"/>
            </a:solidFill>
          </a:ln>
        </p:spPr>
      </p:cxnSp>
      <p:sp>
        <p:nvSpPr>
          <p:cNvPr id="33" name="body:L1:t"/>
          <p:cNvSpPr txBox="1"/>
          <p:nvPr/>
        </p:nvSpPr>
        <p:spPr>
          <a:xfrm>
            <a:off x="795528" y="5719063"/>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30%</a:t>
            </a:r>
          </a:p>
        </p:txBody>
      </p:sp>
      <p:sp>
        <p:nvSpPr>
          <p:cNvPr id="34" name="body:L1:t"/>
          <p:cNvSpPr txBox="1"/>
          <p:nvPr/>
        </p:nvSpPr>
        <p:spPr>
          <a:xfrm>
            <a:off x="1996760" y="5719063"/>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105.9 → 82.8h (−23.0h)</a:t>
            </a:r>
          </a:p>
        </p:txBody>
      </p:sp>
      <p:sp>
        <p:nvSpPr>
          <p:cNvPr id="35" name="body:L1:t"/>
          <p:cNvSpPr txBox="1"/>
          <p:nvPr/>
        </p:nvSpPr>
        <p:spPr>
          <a:xfrm>
            <a:off x="4861239" y="5719063"/>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 21.8%</a:t>
            </a:r>
          </a:p>
        </p:txBody>
      </p:sp>
      <p:sp>
        <p:nvSpPr>
          <p:cNvPr id="36" name="eff-card"/>
          <p:cNvSpPr/>
          <p:nvPr/>
        </p:nvSpPr>
        <p:spPr>
          <a:xfrm>
            <a:off x="6355080" y="1554480"/>
            <a:ext cx="5333695" cy="47548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label:L1:t"/>
          <p:cNvSpPr txBox="1"/>
          <p:nvPr/>
        </p:nvSpPr>
        <p:spPr>
          <a:xfrm>
            <a:off x="6537960" y="1737360"/>
            <a:ext cx="496793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실험 설계 구상</a:t>
            </a:r>
          </a:p>
        </p:txBody>
      </p:sp>
      <p:sp>
        <p:nvSpPr>
          <p:cNvPr id="38" name="body:L1:t"/>
          <p:cNvSpPr txBox="1"/>
          <p:nvPr/>
        </p:nvSpPr>
        <p:spPr>
          <a:xfrm>
            <a:off x="6629400" y="2426462"/>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대상</a:t>
            </a:r>
          </a:p>
        </p:txBody>
      </p:sp>
      <p:sp>
        <p:nvSpPr>
          <p:cNvPr id="39" name="body:L1:t"/>
          <p:cNvSpPr txBox="1"/>
          <p:nvPr/>
        </p:nvSpPr>
        <p:spPr>
          <a:xfrm>
            <a:off x="7549387" y="2426462"/>
            <a:ext cx="3865067" cy="2222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334155"/>
                </a:solidFill>
                <a:latin typeface="맑은 고딕"/>
                <a:ea typeface="맑은 고딕"/>
                <a:cs typeface="맑은 고딕"/>
              </a:rPr>
              <a:t>Direct Booking 케이스와 실사 대기 케이스</a:t>
            </a:r>
          </a:p>
        </p:txBody>
      </p:sp>
      <p:cxnSp>
        <p:nvCxnSpPr>
          <p:cNvPr id="40" name="rule"/>
          <p:cNvCxnSpPr/>
          <p:nvPr/>
        </p:nvCxnSpPr>
        <p:spPr>
          <a:xfrm>
            <a:off x="6537960" y="3069336"/>
            <a:ext cx="4967935" cy="0"/>
          </a:xfrm>
          <a:prstGeom prst="line">
            <a:avLst/>
          </a:prstGeom>
          <a:ln w="9525">
            <a:solidFill>
              <a:srgbClr val="E2E8F0"/>
            </a:solidFill>
          </a:ln>
        </p:spPr>
      </p:cxnSp>
      <p:sp>
        <p:nvSpPr>
          <p:cNvPr id="41" name="body:L1:t"/>
          <p:cNvSpPr txBox="1"/>
          <p:nvPr/>
        </p:nvSpPr>
        <p:spPr>
          <a:xfrm>
            <a:off x="6629400" y="3489960"/>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비교</a:t>
            </a:r>
          </a:p>
        </p:txBody>
      </p:sp>
      <p:sp>
        <p:nvSpPr>
          <p:cNvPr id="42" name="body:L2:t"/>
          <p:cNvSpPr txBox="1"/>
          <p:nvPr/>
        </p:nvSpPr>
        <p:spPr>
          <a:xfrm>
            <a:off x="7549387" y="3489960"/>
            <a:ext cx="3865067" cy="44450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334155"/>
                </a:solidFill>
                <a:latin typeface="맑은 고딕"/>
                <a:ea typeface="맑은 고딕"/>
                <a:cs typeface="맑은 고딕"/>
              </a:rPr>
              <a:t>동일 기간 내 Direct Booking으로 빠진 이후, 실사</a:t>
            </a:r>
            <a:br>
              <a:rPr lang="ko-KR" sz="1250" b="0" dirty="0">
                <a:solidFill>
                  <a:srgbClr val="334155"/>
                </a:solidFill>
                <a:latin typeface="맑은 고딕"/>
                <a:ea typeface="맑은 고딕"/>
                <a:cs typeface="맑은 고딕"/>
              </a:rPr>
            </a:br>
            <a:r>
              <a:rPr lang="ko-KR" sz="1250" b="0" dirty="0">
                <a:solidFill>
                  <a:srgbClr val="334155"/>
                </a:solidFill>
                <a:latin typeface="맑은 고딕"/>
                <a:ea typeface="맑은 고딕"/>
                <a:cs typeface="맑은 고딕"/>
              </a:rPr>
              <a:t>대기 케이스의 실사 대기 시간 증감 추이</a:t>
            </a:r>
          </a:p>
        </p:txBody>
      </p:sp>
      <p:cxnSp>
        <p:nvCxnSpPr>
          <p:cNvPr id="43" name="rule"/>
          <p:cNvCxnSpPr/>
          <p:nvPr/>
        </p:nvCxnSpPr>
        <p:spPr>
          <a:xfrm>
            <a:off x="6537960" y="4355084"/>
            <a:ext cx="4967935" cy="0"/>
          </a:xfrm>
          <a:prstGeom prst="line">
            <a:avLst/>
          </a:prstGeom>
          <a:ln w="9525">
            <a:solidFill>
              <a:srgbClr val="E2E8F0"/>
            </a:solidFill>
          </a:ln>
        </p:spPr>
      </p:cxnSp>
      <p:sp>
        <p:nvSpPr>
          <p:cNvPr id="44" name="body:L1:t"/>
          <p:cNvSpPr txBox="1"/>
          <p:nvPr/>
        </p:nvSpPr>
        <p:spPr>
          <a:xfrm>
            <a:off x="6629400" y="4775708"/>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평가</a:t>
            </a:r>
          </a:p>
        </p:txBody>
      </p:sp>
      <p:sp>
        <p:nvSpPr>
          <p:cNvPr id="45" name="body:L2:t"/>
          <p:cNvSpPr txBox="1"/>
          <p:nvPr/>
        </p:nvSpPr>
        <p:spPr>
          <a:xfrm>
            <a:off x="7549387" y="4775708"/>
            <a:ext cx="3865067" cy="44450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334155"/>
                </a:solidFill>
                <a:latin typeface="맑은 고딕"/>
                <a:ea typeface="맑은 고딕"/>
                <a:cs typeface="맑은 고딕"/>
              </a:rPr>
              <a:t>Direct Booking 유도 적중률 · 실사 대기 케이스의</a:t>
            </a:r>
            <a:br>
              <a:rPr lang="ko-KR" sz="1250" b="0" dirty="0">
                <a:solidFill>
                  <a:srgbClr val="334155"/>
                </a:solidFill>
                <a:latin typeface="맑은 고딕"/>
                <a:ea typeface="맑은 고딕"/>
                <a:cs typeface="맑은 고딕"/>
              </a:rPr>
            </a:br>
            <a:r>
              <a:rPr lang="ko-KR" sz="1250" b="0" dirty="0">
                <a:solidFill>
                  <a:srgbClr val="334155"/>
                </a:solidFill>
                <a:latin typeface="맑은 고딕"/>
                <a:ea typeface="맑은 고딕"/>
                <a:cs typeface="맑은 고딕"/>
              </a:rPr>
              <a:t>실사 대기 시간 감소폭 · 적체(WIP) 부담률 등</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[ 04 · 마무리 · P.19 ]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마무리 및 Q&amp;A</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퍼즐데이터 수리 프로세스 데이터 분석 과제 · 조승훈 · 2026.10.27</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19 / 19</a:t>
            </a:r>
          </a:p>
        </p:txBody>
      </p:sp>
      <p:sp>
        <p:nvSpPr>
          <p:cNvPr id="8" name="st-PA"/>
          <p:cNvSpPr/>
          <p:nvPr/>
        </p:nvSpPr>
        <p:spPr>
          <a:xfrm>
            <a:off x="502920" y="1554480"/>
            <a:ext cx="5760720" cy="13624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704088" y="1755648"/>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01 · 데이터 무결성</a:t>
            </a:r>
          </a:p>
        </p:txBody>
      </p:sp>
      <p:sp>
        <p:nvSpPr>
          <p:cNvPr id="10" name="body:L1:h"/>
          <p:cNvSpPr txBox="1"/>
          <p:nvPr/>
        </p:nvSpPr>
        <p:spPr>
          <a:xfrm>
            <a:off x="704088" y="1969262"/>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13,262행 전수 보존, 결측 20행 복원</a:t>
            </a:r>
          </a:p>
        </p:txBody>
      </p:sp>
      <p:sp>
        <p:nvSpPr>
          <p:cNvPr id="11" name="body:L1:t"/>
          <p:cNvSpPr txBox="1"/>
          <p:nvPr/>
        </p:nvSpPr>
        <p:spPr>
          <a:xfrm>
            <a:off x="704088" y="2290826"/>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삭제 0건 · 시간 역전 0건 · 정상 접수 927건, 오접수 73건</a:t>
            </a:r>
          </a:p>
        </p:txBody>
      </p:sp>
      <p:sp>
        <p:nvSpPr>
          <p:cNvPr id="12" name="st-PA"/>
          <p:cNvSpPr/>
          <p:nvPr/>
        </p:nvSpPr>
        <p:spPr>
          <a:xfrm>
            <a:off x="502920" y="3044952"/>
            <a:ext cx="5760720" cy="13624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704088" y="3246120"/>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02 · 병목 규명</a:t>
            </a:r>
          </a:p>
        </p:txBody>
      </p:sp>
      <p:sp>
        <p:nvSpPr>
          <p:cNvPr id="14" name="body:L1:h"/>
          <p:cNvSpPr txBox="1"/>
          <p:nvPr/>
        </p:nvSpPr>
        <p:spPr>
          <a:xfrm>
            <a:off x="704088" y="3459734"/>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실사 대기 76.8h, 적체 403건, 인계 6.6배</a:t>
            </a:r>
          </a:p>
        </p:txBody>
      </p:sp>
      <p:sp>
        <p:nvSpPr>
          <p:cNvPr id="15" name="body:L1:t"/>
          <p:cNvSpPr txBox="1"/>
          <p:nvPr/>
        </p:nvSpPr>
        <p:spPr>
          <a:xfrm>
            <a:off x="704088" y="3781298"/>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일 유입 134.3건 vs CAPA 68.0건 · 실사 대기 ≫ 사내수리</a:t>
            </a:r>
          </a:p>
        </p:txBody>
      </p:sp>
      <p:sp>
        <p:nvSpPr>
          <p:cNvPr id="16" name="st-PA"/>
          <p:cNvSpPr/>
          <p:nvPr/>
        </p:nvSpPr>
        <p:spPr>
          <a:xfrm>
            <a:off x="502920" y="4535424"/>
            <a:ext cx="5760720" cy="13624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704088" y="4736592"/>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03 · TO-BE 시나리오</a:t>
            </a:r>
          </a:p>
        </p:txBody>
      </p:sp>
      <p:sp>
        <p:nvSpPr>
          <p:cNvPr id="18" name="body:L1:h"/>
          <p:cNvSpPr txBox="1"/>
          <p:nvPr/>
        </p:nvSpPr>
        <p:spPr>
          <a:xfrm>
            <a:off x="704088" y="4950206"/>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전체 평균 ▼14.5% (105.9h → 90.5h)</a:t>
            </a:r>
          </a:p>
        </p:txBody>
      </p:sp>
      <p:sp>
        <p:nvSpPr>
          <p:cNvPr id="19" name="body:L1:t"/>
          <p:cNvSpPr txBox="1"/>
          <p:nvPr/>
        </p:nvSpPr>
        <p:spPr>
          <a:xfrm>
            <a:off x="704088" y="5271770"/>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Direct Booking 전략 · 하나의 병목 줄을 두 갈래로 · 단축률 가정</a:t>
            </a:r>
          </a:p>
        </p:txBody>
      </p:sp>
      <p:sp>
        <p:nvSpPr>
          <p:cNvPr id="20" name="hero"/>
          <p:cNvSpPr/>
          <p:nvPr/>
        </p:nvSpPr>
        <p:spPr>
          <a:xfrm>
            <a:off x="6446520" y="1554480"/>
            <a:ext cx="5242255" cy="434340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6720840" y="1828800"/>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QUESTION &amp; ANSWER</a:t>
            </a:r>
          </a:p>
        </p:txBody>
      </p:sp>
      <p:sp>
        <p:nvSpPr>
          <p:cNvPr id="22" name="body:L1:qa"/>
          <p:cNvSpPr txBox="1"/>
          <p:nvPr/>
        </p:nvSpPr>
        <p:spPr>
          <a:xfrm>
            <a:off x="6720840" y="2554477"/>
            <a:ext cx="4693615" cy="1073150"/>
          </a:xfrm>
          <a:prstGeom prst="rect">
            <a:avLst/>
          </a:prstGeom>
          <a:noFill/>
        </p:spPr>
        <p:txBody>
          <a:bodyPr wrap="square" lIns="0" tIns="0" rIns="0" bIns="0" anchor="t">
            <a:noAutofit/>
          </a:bodyPr>
          <a:lstStyle/>
          <a:p>
            <a:pPr algn="ctr">
              <a:lnSpc>
                <a:spcPts val="8450"/>
              </a:lnSpc>
              <a:spcBef>
                <a:spcPts val="0"/>
              </a:spcBef>
              <a:buNone/>
            </a:pPr>
            <a:r>
              <a:rPr lang="ko-KR" sz="6400" b="1" dirty="0">
                <a:solidFill>
                  <a:srgbClr val="0F172A"/>
                </a:solidFill>
                <a:latin typeface="Consolas"/>
                <a:ea typeface="맑은 고딕"/>
                <a:cs typeface="Consolas"/>
              </a:rPr>
              <a:t>Q &amp; A</a:t>
            </a:r>
          </a:p>
        </p:txBody>
      </p:sp>
      <p:sp>
        <p:nvSpPr>
          <p:cNvPr id="23" name="body:L1:thx"/>
          <p:cNvSpPr txBox="1"/>
          <p:nvPr/>
        </p:nvSpPr>
        <p:spPr>
          <a:xfrm>
            <a:off x="6720840" y="3773931"/>
            <a:ext cx="4693615" cy="391160"/>
          </a:xfrm>
          <a:prstGeom prst="rect">
            <a:avLst/>
          </a:prstGeom>
          <a:noFill/>
        </p:spPr>
        <p:txBody>
          <a:bodyPr wrap="square" lIns="0" tIns="0" rIns="0" bIns="0" anchor="t">
            <a:noAutofit/>
          </a:bodyPr>
          <a:lstStyle/>
          <a:p>
            <a:pPr algn="ctr">
              <a:lnSpc>
                <a:spcPts val="3080"/>
              </a:lnSpc>
              <a:spcBef>
                <a:spcPts val="0"/>
              </a:spcBef>
              <a:buNone/>
            </a:pPr>
            <a:r>
              <a:rPr lang="ko-KR" sz="2200" b="1" dirty="0">
                <a:solidFill>
                  <a:srgbClr val="0F172A"/>
                </a:solidFill>
                <a:latin typeface="맑은 고딕"/>
                <a:ea typeface="맑은 고딕"/>
                <a:cs typeface="맑은 고딕"/>
              </a:rPr>
              <a:t>검토해 주셔서 감사합니다</a:t>
            </a:r>
          </a:p>
        </p:txBody>
      </p:sp>
      <p:sp>
        <p:nvSpPr>
          <p:cNvPr id="24" name="body:L2:msg"/>
          <p:cNvSpPr txBox="1"/>
          <p:nvPr/>
        </p:nvSpPr>
        <p:spPr>
          <a:xfrm>
            <a:off x="6720840" y="4311396"/>
            <a:ext cx="4693615" cy="444500"/>
          </a:xfrm>
          <a:prstGeom prst="rect">
            <a:avLst/>
          </a:prstGeom>
          <a:noFill/>
        </p:spPr>
        <p:txBody>
          <a:bodyPr wrap="square" lIns="0" tIns="0" rIns="0" bIns="0" anchor="t">
            <a:noAutofit/>
          </a:bodyPr>
          <a:lstStyle/>
          <a:p>
            <a:pPr algn="ctr">
              <a:lnSpc>
                <a:spcPts val="1750"/>
              </a:lnSpc>
              <a:spcBef>
                <a:spcPts val="0"/>
              </a:spcBef>
              <a:buNone/>
            </a:pPr>
            <a:r>
              <a:rPr lang="ko-KR" sz="1250" b="0" dirty="0">
                <a:solidFill>
                  <a:srgbClr val="334155"/>
                </a:solidFill>
                <a:latin typeface="맑은 고딕"/>
                <a:ea typeface="맑은 고딕"/>
                <a:cs typeface="맑은 고딕"/>
              </a:rPr>
              <a:t>데이터 진단부터 병목 규명, 실행 전략까지</a:t>
            </a:r>
          </a:p>
          <a:p>
            <a:pPr algn="ctr">
              <a:lnSpc>
                <a:spcPts val="1750"/>
              </a:lnSpc>
              <a:spcBef>
                <a:spcPts val="0"/>
              </a:spcBef>
              <a:buNone/>
            </a:pPr>
            <a:r>
              <a:rPr lang="ko-KR" sz="1250" b="0" dirty="0">
                <a:solidFill>
                  <a:srgbClr val="334155"/>
                </a:solidFill>
                <a:latin typeface="맑은 고딕"/>
                <a:ea typeface="맑은 고딕"/>
                <a:cs typeface="맑은 고딕"/>
              </a:rPr>
              <a:t>문의 사항은 언제든지 연락 주십시오.</a:t>
            </a:r>
          </a:p>
        </p:txBody>
      </p:sp>
      <p:cxnSp>
        <p:nvCxnSpPr>
          <p:cNvPr id="25" name="rule"/>
          <p:cNvCxnSpPr/>
          <p:nvPr/>
        </p:nvCxnSpPr>
        <p:spPr>
          <a:xfrm>
            <a:off x="6720840" y="4911343"/>
            <a:ext cx="4693615" cy="0"/>
          </a:xfrm>
          <a:prstGeom prst="line">
            <a:avLst/>
          </a:prstGeom>
          <a:ln w="9525">
            <a:solidFill>
              <a:srgbClr val="E2E8F0"/>
            </a:solidFill>
          </a:ln>
        </p:spPr>
      </p:cxnSp>
      <p:sp>
        <p:nvSpPr>
          <p:cNvPr id="26" name="body:L1:who"/>
          <p:cNvSpPr txBox="1"/>
          <p:nvPr/>
        </p:nvSpPr>
        <p:spPr>
          <a:xfrm>
            <a:off x="6720840" y="5066791"/>
            <a:ext cx="4693615" cy="184150"/>
          </a:xfrm>
          <a:prstGeom prst="rect">
            <a:avLst/>
          </a:prstGeom>
          <a:noFill/>
        </p:spPr>
        <p:txBody>
          <a:bodyPr wrap="square" lIns="0" tIns="0" rIns="0" bIns="0" anchor="t">
            <a:noAutofit/>
          </a:bodyPr>
          <a:lstStyle/>
          <a:p>
            <a:pPr algn="ctr">
              <a:lnSpc>
                <a:spcPts val="1450"/>
              </a:lnSpc>
              <a:spcBef>
                <a:spcPts val="0"/>
              </a:spcBef>
              <a:buNone/>
            </a:pPr>
            <a:r>
              <a:rPr lang="ko-KR" sz="1100" b="0" dirty="0">
                <a:solidFill>
                  <a:srgbClr val="64748B"/>
                </a:solidFill>
                <a:latin typeface="Consolas"/>
                <a:ea typeface="맑은 고딕"/>
                <a:cs typeface="Consolas"/>
              </a:rPr>
              <a:t>조승훈 · 데이터 분석가 (신입) · 2026.10.27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공공임대주택 수리 프로세스 진단 및 운영 최적화 방안 — 퍼즐데이터 채용 과제</dc:title>
  <dc:subject>데이터 분석가(신입) 지원 · 프로세스 마이닝 기반 수리 프로세스 분석</dc:subject>
  <dc:creator>조승훈</dc:creator>
  <cp:keywords>Process Mining, Lead Time, Bottleneck, OLS, TO-BE</cp:keywords>
  <dc:description>generated using python-pptx</dc:description>
  <cp:lastModifiedBy>조승훈</cp:lastModifiedBy>
  <cp:revision>1</cp:revision>
  <dcterms:created xsi:type="dcterms:W3CDTF">2013-01-27T09:14:16Z</dcterms:created>
  <dcterms:modified xsi:type="dcterms:W3CDTF">2013-01-27T09:15:58Z</dcterms:modified>
  <cp:category/>
</cp:coreProperties>
</file>