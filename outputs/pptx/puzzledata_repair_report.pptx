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B6C2E8EC-86A9-432C-9A31-17E5B6DFD426}">
          <p14:sldIdLst>
            <p14:sldId id="256"/>
            <p14:sldId id="257"/>
            <p14:sldId id="258"/>
          </p14:sldIdLst>
        </p14:section>
        <p14:section name="Part 01 · 데이터 진단" id="{CEB3CB72-C665-4920-94AC-EAC1D05D0C04}">
          <p14:sldIdLst>
            <p14:sldId id="259"/>
            <p14:sldId id="260"/>
            <p14:sldId id="261"/>
          </p14:sldIdLst>
        </p14:section>
        <p14:section name="Part 02 · 병목 규명" id="{6A38E976-EEAA-4927-B70B-8E6FD469D265}">
          <p14:sldIdLst>
            <p14:sldId id="262"/>
            <p14:sldId id="263"/>
            <p14:sldId id="264"/>
            <p14:sldId id="265"/>
            <p14:sldId id="266"/>
            <p14:sldId id="267"/>
            <p14:sldId id="268"/>
            <p14:sldId id="269"/>
            <p14:sldId id="270"/>
          </p14:sldIdLst>
        </p14:section>
        <p14:section name="Part 03 · 개선 전략" id="{277AF0BF-DF6C-4A86-9A26-3781BEC1C868}">
          <p14:sldIdLst>
            <p14:sldId id="271"/>
            <p14:sldId id="272"/>
            <p14:sldId id="273"/>
          </p14:sldIdLst>
        </p14:section>
        <p14:section name="Part 04 · Q&amp;A" id="{813E3598-AD20-4692-A23B-65DDE4127F88}">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754케이스의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케이스의 접수 담당 비중(Dian:Monica)도 46.9:53.1로 고르게 분산돼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정상 접수가 됩니다. 현장은 단방향 에스컬레이션입니다. 즉시수리에서 사내수리로 23건, 즉시수리에서 외주로 38건, 사내수리에서 외주로 35건, 총 96회 인계되기만 하고 외주 이후 되돌아간 전이는 0건입니다. 정산은 고객 통보 469건 : 재무 전송 456건(50.6% : 49.2%)으로 대칭 선행하는 병렬 구조이며, 고객 통보와 재무 전송은 병렬이고, 티켓 발행이 병렬 종료보다 앞선 역전은 927건 중 0건입니다. 925건(99.8%)은 병렬 종료와 동시에 마감됐고, 나머지 2건(케이스 154·959)은 원본 티켓 시각이 결측·더미여서 정상 표본 중앙값 1분을 앞선 작업 시각에 더해 복원한 순차 마감입니다.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그런데 교차 인계와 실시간 채널여부 사이에도 r=−0.40의 상관이 있습니다. 인계 123건이 전부 웹·우편 접수라서 두 변수가 겹쳐 움직이기 때문입니다. 상관은 이런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재수리가 이어진 26건은 1차 수리 완료 뒤 재수리 착수까지 평균 32.9시간, 최대 241.6시간(10.1일)을 더 기다렸고, 이 케이스들의 평균 총 리드타임은 171.6시간입니다. 재수리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[적중 기준] 비교 대상은 세부코드가 아니라 접수 알파벳(B·P·E)과 실제 1차 수리 방식입니다. 세부코드 1~4는 현장 실사 후 판정되는 값이라 접수 시점에는 없습니다. E형 370건은 전부 사내수리(100.0%), P형 439건 중 즉시수리는 365건(83.1%)이며 즉시수리 기저율 41.3%의 약 2.0배입니다. 즉시수리 383건 중 P가 잡아낸 비율은 95.3%입니다(놓친 건은 B-1). [정정] 도넛의 87.3%는 E·P로 분류된 비율(809/927건)이지 예측 정확도가 아닙니다. 사내 완결(즉시·사내) 기준으로 외주 P-4(38건)를 빼면 83.2%(771건)지만, 아무 건이나 사내 완결로 찍어도 93.6%라 변별력이 약해 근거로 쓰지 않습니다. 엄격 기준(E→사내, P→즉시)의 일치는 E·P 기준 90.9%, 전체 기준 79.3%(735건)입니다. 주의: 사내 완결 83.2%(전체 기준)와 P 즉시 83.1%(P 기준)는 서로 다른 값입니다. [예상 질문] 알파벳 P·E·B의 의미는? → 원천에 정의서가 없어 실측 수리 방식 분포로 해석했습니다(E 전량 사내, P 대부분 즉시, B 혼합). 세부코드는 (알파벳, 코드) 조합마다 수리 방식이 하나로 정해져 사후 라벨일 수 있어 접수 시점 취득 가능성은 가정입니다.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또한 리워크 지연(+32.9h)은 사내 재수리 26건에서 발생했고 E-1·E-2에 22건이 몰려 있습니다. 외주 위탁 코드 P-4·B-4(59건)는 1차부터 외주로 가서 사내 재수리가 0건이므로, 이 코드의 정밀검사 목적은 리워크 방지가 아니라 외주 사전 확정입니다.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실험 설계를 구상했습니다. 대상은 Direct Booking 케이스와 실사 대기 케이스이고, 비교는 동일 기간 내 Direct Booking으로 빠진 이후 실사 대기 케이스의 실사 대기 시간 증감 추이이며(전후와 동시 비교를 결합한 이중차분 DID 형태로 확장 가능), 평가는 Direct Booking 유도 적중률, 실사 대기 케이스의 실사 대기 시간 감소폭, 적체 WIP 부담 등입니다. 자재 사전 확보, 재방문 방지, 접수 인계 제거는 근거가 부족해 효과에서 제외했고 상방 요인으로 남깁니다. [예상 질문] DID를 쓰면 되지 않나? → 동일 기간의 비교군과 전후 변화를 함께 보면 시간 효과를 제거할 수 있습니다. 다만 두 케이스가 기사 11명과 하나의 대기열을 공유해 비교군도 줄 분리의 혜택을 받으므로(파급), 추정치는 건별 효과가 아니라 시스템 효과로 해석하고, 평행 추세 가정과 일 단위 교대 적용을 함께 점검합니다.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순서로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754케이스(75.4%)로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재수리 시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순서로 결측과 오기입 교정 복원</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비정상 결측 20행에 더해 날짜 오기입 866행·더미 시각 15행까지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label:L1:unit-legend"/>
          <p:cNvSpPr txBox="1"/>
          <p:nvPr/>
        </p:nvSpPr>
        <p:spPr>
          <a:xfrm>
            <a:off x="5287975" y="1499616"/>
            <a:ext cx="6400800" cy="167640"/>
          </a:xfrm>
          <a:prstGeom prst="rect">
            <a:avLst/>
          </a:prstGeom>
          <a:noFill/>
        </p:spPr>
        <p:txBody>
          <a:bodyPr wrap="square" lIns="0" tIns="0" rIns="0" bIns="0" anchor="t">
            <a:noAutofit/>
          </a:bodyPr>
          <a:lstStyle/>
          <a:p>
            <a:pPr algn="r">
              <a:lnSpc>
                <a:spcPts val="1320"/>
              </a:lnSpc>
              <a:spcBef>
                <a:spcPts val="0"/>
              </a:spcBef>
              <a:buNone/>
            </a:pPr>
            <a:r>
              <a:rPr lang="ko-KR" sz="1000" b="0" dirty="0">
                <a:solidFill>
                  <a:srgbClr val="64748B"/>
                </a:solidFill>
                <a:latin typeface="Consolas"/>
                <a:ea typeface="맑은 고딕"/>
                <a:cs typeface="Consolas"/>
              </a:rPr>
              <a:t>단위 · 행 = 이벤트 로그 1행 / 케이스 = 수리 요청 1건</a:t>
            </a:r>
          </a:p>
        </p:txBody>
      </p:sp>
      <p:sp>
        <p:nvSpPr>
          <p:cNvPr id="10" name="cases-card"/>
          <p:cNvSpPr/>
          <p:nvPr/>
        </p:nvSpPr>
        <p:spPr>
          <a:xfrm>
            <a:off x="502920" y="1792224"/>
            <a:ext cx="11185855" cy="301396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abel:L1:cases-h"/>
          <p:cNvSpPr txBox="1"/>
          <p:nvPr/>
        </p:nvSpPr>
        <p:spPr>
          <a:xfrm>
            <a:off x="758952" y="1993392"/>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2" name="label:L1:cases-h"/>
          <p:cNvSpPr txBox="1"/>
          <p:nvPr/>
        </p:nvSpPr>
        <p:spPr>
          <a:xfrm>
            <a:off x="1510567" y="1993392"/>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3" name="label:L1:cases-h"/>
          <p:cNvSpPr txBox="1"/>
          <p:nvPr/>
        </p:nvSpPr>
        <p:spPr>
          <a:xfrm>
            <a:off x="4015953" y="1993392"/>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4" name="label:L1:cases-h"/>
          <p:cNvSpPr txBox="1"/>
          <p:nvPr/>
        </p:nvSpPr>
        <p:spPr>
          <a:xfrm>
            <a:off x="7607006" y="1993392"/>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5" name="rule"/>
          <p:cNvCxnSpPr/>
          <p:nvPr/>
        </p:nvCxnSpPr>
        <p:spPr>
          <a:xfrm>
            <a:off x="667512" y="2231136"/>
            <a:ext cx="10856671" cy="0"/>
          </a:xfrm>
          <a:prstGeom prst="line">
            <a:avLst/>
          </a:prstGeom>
          <a:ln w="9525">
            <a:solidFill>
              <a:srgbClr val="E2E8F0"/>
            </a:solidFill>
          </a:ln>
        </p:spPr>
      </p:cxnSp>
      <p:sp>
        <p:nvSpPr>
          <p:cNvPr id="16" name="label:L1:t"/>
          <p:cNvSpPr txBox="1"/>
          <p:nvPr/>
        </p:nvSpPr>
        <p:spPr>
          <a:xfrm>
            <a:off x="758952" y="226771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7" name="body:L2:t"/>
          <p:cNvSpPr txBox="1"/>
          <p:nvPr/>
        </p:nvSpPr>
        <p:spPr>
          <a:xfrm>
            <a:off x="1510567" y="226771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18" name="body:L2:t"/>
          <p:cNvSpPr txBox="1"/>
          <p:nvPr/>
        </p:nvSpPr>
        <p:spPr>
          <a:xfrm>
            <a:off x="4015953" y="2267712"/>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9" name="body:L1:t"/>
          <p:cNvSpPr txBox="1"/>
          <p:nvPr/>
        </p:nvSpPr>
        <p:spPr>
          <a:xfrm>
            <a:off x="7607006" y="226771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20" name="rule"/>
          <p:cNvCxnSpPr/>
          <p:nvPr/>
        </p:nvCxnSpPr>
        <p:spPr>
          <a:xfrm>
            <a:off x="667512" y="2713228"/>
            <a:ext cx="10856671" cy="0"/>
          </a:xfrm>
          <a:prstGeom prst="line">
            <a:avLst/>
          </a:prstGeom>
          <a:ln w="9525">
            <a:solidFill>
              <a:srgbClr val="E2E8F0"/>
            </a:solidFill>
          </a:ln>
        </p:spPr>
      </p:cxnSp>
      <p:sp>
        <p:nvSpPr>
          <p:cNvPr id="21" name="label:L1:t"/>
          <p:cNvSpPr txBox="1"/>
          <p:nvPr/>
        </p:nvSpPr>
        <p:spPr>
          <a:xfrm>
            <a:off x="758952" y="274980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2" name="body:L2:t"/>
          <p:cNvSpPr txBox="1"/>
          <p:nvPr/>
        </p:nvSpPr>
        <p:spPr>
          <a:xfrm>
            <a:off x="1510567" y="274980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2행</a:t>
            </a:r>
          </a:p>
        </p:txBody>
      </p:sp>
      <p:sp>
        <p:nvSpPr>
          <p:cNvPr id="23" name="body:L1:t"/>
          <p:cNvSpPr txBox="1"/>
          <p:nvPr/>
        </p:nvSpPr>
        <p:spPr>
          <a:xfrm>
            <a:off x="4015953" y="274980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4" name="body:L1:t"/>
          <p:cNvSpPr txBox="1"/>
          <p:nvPr/>
        </p:nvSpPr>
        <p:spPr>
          <a:xfrm>
            <a:off x="7607006" y="274980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5" name="rule"/>
          <p:cNvCxnSpPr/>
          <p:nvPr/>
        </p:nvCxnSpPr>
        <p:spPr>
          <a:xfrm>
            <a:off x="667512" y="3195320"/>
            <a:ext cx="10856671" cy="0"/>
          </a:xfrm>
          <a:prstGeom prst="line">
            <a:avLst/>
          </a:prstGeom>
          <a:ln w="9525">
            <a:solidFill>
              <a:srgbClr val="E2E8F0"/>
            </a:solidFill>
          </a:ln>
        </p:spPr>
      </p:cxnSp>
      <p:sp>
        <p:nvSpPr>
          <p:cNvPr id="26" name="label:L1:t"/>
          <p:cNvSpPr txBox="1"/>
          <p:nvPr/>
        </p:nvSpPr>
        <p:spPr>
          <a:xfrm>
            <a:off x="758952" y="323189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7" name="body:L2:t"/>
          <p:cNvSpPr txBox="1"/>
          <p:nvPr/>
        </p:nvSpPr>
        <p:spPr>
          <a:xfrm>
            <a:off x="1510567" y="323189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5행</a:t>
            </a:r>
          </a:p>
        </p:txBody>
      </p:sp>
      <p:sp>
        <p:nvSpPr>
          <p:cNvPr id="28" name="body:L1:t"/>
          <p:cNvSpPr txBox="1"/>
          <p:nvPr/>
        </p:nvSpPr>
        <p:spPr>
          <a:xfrm>
            <a:off x="4015953" y="3231896"/>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3행 + 마일스톤 단독 2행</a:t>
            </a:r>
          </a:p>
        </p:txBody>
      </p:sp>
      <p:sp>
        <p:nvSpPr>
          <p:cNvPr id="29" name="body:L1:t"/>
          <p:cNvSpPr txBox="1"/>
          <p:nvPr/>
        </p:nvSpPr>
        <p:spPr>
          <a:xfrm>
            <a:off x="7607006" y="323189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5행 전수 복원</a:t>
            </a:r>
          </a:p>
        </p:txBody>
      </p:sp>
      <p:cxnSp>
        <p:nvCxnSpPr>
          <p:cNvPr id="30" name="rule"/>
          <p:cNvCxnSpPr/>
          <p:nvPr/>
        </p:nvCxnSpPr>
        <p:spPr>
          <a:xfrm>
            <a:off x="667512" y="3677412"/>
            <a:ext cx="10856671" cy="0"/>
          </a:xfrm>
          <a:prstGeom prst="line">
            <a:avLst/>
          </a:prstGeom>
          <a:ln w="9525">
            <a:solidFill>
              <a:srgbClr val="E2E8F0"/>
            </a:solidFill>
          </a:ln>
        </p:spPr>
      </p:cxnSp>
      <p:sp>
        <p:nvSpPr>
          <p:cNvPr id="31" name="label:L1:t"/>
          <p:cNvSpPr txBox="1"/>
          <p:nvPr/>
        </p:nvSpPr>
        <p:spPr>
          <a:xfrm>
            <a:off x="758952" y="3713988"/>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2" name="body:L2:t"/>
          <p:cNvSpPr txBox="1"/>
          <p:nvPr/>
        </p:nvSpPr>
        <p:spPr>
          <a:xfrm>
            <a:off x="1510567" y="3713988"/>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879행 (결측 13 + 오기입 866)</a:t>
            </a:r>
          </a:p>
        </p:txBody>
      </p:sp>
      <p:sp>
        <p:nvSpPr>
          <p:cNvPr id="33" name="body:L2:t"/>
          <p:cNvSpPr txBox="1"/>
          <p:nvPr/>
        </p:nvSpPr>
        <p:spPr>
          <a:xfrm>
            <a:off x="4015953" y="3713988"/>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4" name="body:L2:t"/>
          <p:cNvSpPr txBox="1"/>
          <p:nvPr/>
        </p:nvSpPr>
        <p:spPr>
          <a:xfrm>
            <a:off x="7607006" y="3713988"/>
            <a:ext cx="3825737"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640행 + 앵커 최근접</a:t>
            </a:r>
            <a:br>
              <a:rPr lang="ko-KR" sz="1150" b="1" dirty="0">
                <a:solidFill>
                  <a:srgbClr val="059669"/>
                </a:solidFill>
                <a:latin typeface="맑은 고딕"/>
                <a:ea typeface="맑은 고딕"/>
                <a:cs typeface="맑은 고딕"/>
              </a:rPr>
            </a:br>
            <a:r>
              <a:rPr lang="ko-KR" sz="1150" b="1" dirty="0">
                <a:solidFill>
                  <a:srgbClr val="059669"/>
                </a:solidFill>
                <a:latin typeface="맑은 고딕"/>
                <a:ea typeface="맑은 고딕"/>
                <a:cs typeface="맑은 고딕"/>
              </a:rPr>
              <a:t>219행 (1970년 통일)</a:t>
            </a:r>
          </a:p>
        </p:txBody>
      </p:sp>
      <p:cxnSp>
        <p:nvCxnSpPr>
          <p:cNvPr id="35" name="rule"/>
          <p:cNvCxnSpPr/>
          <p:nvPr/>
        </p:nvCxnSpPr>
        <p:spPr>
          <a:xfrm>
            <a:off x="667512" y="4159503"/>
            <a:ext cx="10856671" cy="0"/>
          </a:xfrm>
          <a:prstGeom prst="line">
            <a:avLst/>
          </a:prstGeom>
          <a:ln w="9525">
            <a:solidFill>
              <a:srgbClr val="E2E8F0"/>
            </a:solidFill>
          </a:ln>
        </p:spPr>
      </p:cxnSp>
      <p:sp>
        <p:nvSpPr>
          <p:cNvPr id="36" name="label:L1:t"/>
          <p:cNvSpPr txBox="1"/>
          <p:nvPr/>
        </p:nvSpPr>
        <p:spPr>
          <a:xfrm>
            <a:off x="758952" y="419608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7" name="body:L2:t"/>
          <p:cNvSpPr txBox="1"/>
          <p:nvPr/>
        </p:nvSpPr>
        <p:spPr>
          <a:xfrm>
            <a:off x="1510567" y="419608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28행 (결측 13 + 더미 15)</a:t>
            </a:r>
          </a:p>
        </p:txBody>
      </p:sp>
      <p:sp>
        <p:nvSpPr>
          <p:cNvPr id="38" name="body:L2:t"/>
          <p:cNvSpPr txBox="1"/>
          <p:nvPr/>
        </p:nvSpPr>
        <p:spPr>
          <a:xfrm>
            <a:off x="4015953" y="419608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754케이스의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9" name="body:L1:t"/>
          <p:cNvSpPr txBox="1"/>
          <p:nvPr/>
        </p:nvSpPr>
        <p:spPr>
          <a:xfrm>
            <a:off x="7607006" y="419608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7행 보존 + 역산 추정 21행</a:t>
            </a:r>
          </a:p>
        </p:txBody>
      </p:sp>
      <p:sp>
        <p:nvSpPr>
          <p:cNvPr id="40" name="bd1"/>
          <p:cNvSpPr/>
          <p:nvPr/>
        </p:nvSpPr>
        <p:spPr>
          <a:xfrm>
            <a:off x="502920"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685800"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2" name="body:L1:b1"/>
          <p:cNvSpPr txBox="1"/>
          <p:nvPr/>
        </p:nvSpPr>
        <p:spPr>
          <a:xfrm>
            <a:off x="685800"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3" name="body:L1:t"/>
          <p:cNvSpPr txBox="1"/>
          <p:nvPr/>
        </p:nvSpPr>
        <p:spPr>
          <a:xfrm>
            <a:off x="685800"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4" name="bd2"/>
          <p:cNvSpPr/>
          <p:nvPr/>
        </p:nvSpPr>
        <p:spPr>
          <a:xfrm>
            <a:off x="4292498"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label:L1:t"/>
          <p:cNvSpPr txBox="1"/>
          <p:nvPr/>
        </p:nvSpPr>
        <p:spPr>
          <a:xfrm>
            <a:off x="4475378"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6" name="body:L1:b2"/>
          <p:cNvSpPr txBox="1"/>
          <p:nvPr/>
        </p:nvSpPr>
        <p:spPr>
          <a:xfrm>
            <a:off x="4475378"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7" name="body:L1:t"/>
          <p:cNvSpPr txBox="1"/>
          <p:nvPr/>
        </p:nvSpPr>
        <p:spPr>
          <a:xfrm>
            <a:off x="4475378"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8" name="bd3"/>
          <p:cNvSpPr/>
          <p:nvPr/>
        </p:nvSpPr>
        <p:spPr>
          <a:xfrm>
            <a:off x="8082076" y="4943348"/>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label:L1:t"/>
          <p:cNvSpPr txBox="1"/>
          <p:nvPr/>
        </p:nvSpPr>
        <p:spPr>
          <a:xfrm>
            <a:off x="8264956" y="5126228"/>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50" name="body:L1:b3"/>
          <p:cNvSpPr txBox="1"/>
          <p:nvPr/>
        </p:nvSpPr>
        <p:spPr>
          <a:xfrm>
            <a:off x="8264956" y="5339842"/>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케이스</a:t>
            </a:r>
          </a:p>
        </p:txBody>
      </p:sp>
      <p:sp>
        <p:nvSpPr>
          <p:cNvPr id="51" name="body:L1:t"/>
          <p:cNvSpPr txBox="1"/>
          <p:nvPr/>
        </p:nvSpPr>
        <p:spPr>
          <a:xfrm>
            <a:off x="8264956" y="5906516"/>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시간 역전 0건,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순서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866행</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9410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1:t"/>
          <p:cNvSpPr txBox="1"/>
          <p:nvPr/>
        </p:nvSpPr>
        <p:spPr>
          <a:xfrm>
            <a:off x="6812280" y="2821432"/>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 0~23시 전 시간대에서 발생</a:t>
            </a:r>
          </a:p>
        </p:txBody>
      </p:sp>
      <p:sp>
        <p:nvSpPr>
          <p:cNvPr id="42" name="body:L1:t"/>
          <p:cNvSpPr txBox="1"/>
          <p:nvPr/>
        </p:nvSpPr>
        <p:spPr>
          <a:xfrm>
            <a:off x="6812280" y="3080766"/>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지연 원인은 영업 외 방치가 아닌 일정 조율 마찰</a:t>
            </a:r>
          </a:p>
        </p:txBody>
      </p:sp>
      <p:sp>
        <p:nvSpPr>
          <p:cNvPr id="43" name="op2"/>
          <p:cNvSpPr/>
          <p:nvPr/>
        </p:nvSpPr>
        <p:spPr>
          <a:xfrm>
            <a:off x="6629400" y="3776599"/>
            <a:ext cx="5059375" cy="251447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6812280" y="3959479"/>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5" name="body:L1:h2"/>
          <p:cNvSpPr txBox="1"/>
          <p:nvPr/>
        </p:nvSpPr>
        <p:spPr>
          <a:xfrm>
            <a:off x="6812280" y="4173093"/>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X, 단일 공유 풀</a:t>
            </a:r>
          </a:p>
        </p:txBody>
      </p:sp>
      <p:sp>
        <p:nvSpPr>
          <p:cNvPr id="46" name="body:L1:n2"/>
          <p:cNvSpPr txBox="1"/>
          <p:nvPr/>
        </p:nvSpPr>
        <p:spPr>
          <a:xfrm>
            <a:off x="6812280" y="4476877"/>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7" name="body:L1:t"/>
          <p:cNvSpPr txBox="1"/>
          <p:nvPr/>
        </p:nvSpPr>
        <p:spPr>
          <a:xfrm>
            <a:off x="6812280" y="5043551"/>
            <a:ext cx="4693615"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케이스 접수 비중 (Dian : Monica)</a:t>
            </a:r>
          </a:p>
        </p:txBody>
      </p:sp>
      <p:sp>
        <p:nvSpPr>
          <p:cNvPr id="48" name="body:L3:t"/>
          <p:cNvSpPr txBox="1"/>
          <p:nvPr/>
        </p:nvSpPr>
        <p:spPr>
          <a:xfrm>
            <a:off x="6812280" y="5302885"/>
            <a:ext cx="4693615" cy="62483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배정 현장 기사 고르게 분산 (접수원별 기사 출동 비율: 평균 46.9%)</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2회 이상 접수 주택 35채 중 62.9%(22채)는 초기</a:t>
            </a:r>
            <a:br>
              <a:rPr lang="ko-KR" sz="1100" b="0" dirty="0">
                <a:solidFill>
                  <a:srgbClr val="334155"/>
                </a:solidFill>
                <a:latin typeface="맑은 고딕"/>
                <a:ea typeface="맑은 고딕"/>
                <a:cs typeface="맑은 고딕"/>
              </a:rPr>
            </a:br>
            <a:r>
              <a:rPr lang="ko-KR" sz="1100" b="0" dirty="0">
                <a:solidFill>
                  <a:srgbClr val="334155"/>
                </a:solidFill>
                <a:latin typeface="맑은 고딕"/>
                <a:ea typeface="맑은 고딕"/>
                <a:cs typeface="맑은 고딕"/>
              </a:rPr>
              <a:t>접수 담당자에게 비인계</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288535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2519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3" name="body:L2:c1t"/>
          <p:cNvSpPr txBox="1"/>
          <p:nvPr/>
        </p:nvSpPr>
        <p:spPr>
          <a:xfrm>
            <a:off x="685800" y="5456428"/>
            <a:ext cx="251959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격리</a:t>
            </a:r>
          </a:p>
          <a:p>
            <a:pPr algn="l">
              <a:lnSpc>
                <a:spcPts val="1610"/>
              </a:lnSpc>
              <a:spcBef>
                <a:spcPts val="0"/>
              </a:spcBef>
              <a:buNone/>
            </a:pPr>
            <a:r>
              <a:rPr lang="ko-KR" sz="1150" b="0" dirty="0">
                <a:solidFill>
                  <a:srgbClr val="334155"/>
                </a:solidFill>
                <a:latin typeface="맑은 고딕"/>
                <a:ea typeface="맑은 고딕"/>
                <a:cs typeface="맑은 고딕"/>
              </a:rPr>
              <a:t>→ 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3571158"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3754038"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 단방향 에스컬레이션</a:t>
            </a:r>
          </a:p>
        </p:txBody>
      </p:sp>
      <p:sp>
        <p:nvSpPr>
          <p:cNvPr id="16" name="body:L3:esc"/>
          <p:cNvSpPr txBox="1"/>
          <p:nvPr/>
        </p:nvSpPr>
        <p:spPr>
          <a:xfrm>
            <a:off x="3754038" y="5456428"/>
            <a:ext cx="360160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인계되는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 사내→외주 35</a:t>
            </a:r>
          </a:p>
          <a:p>
            <a:pPr algn="ctr">
              <a:lnSpc>
                <a:spcPts val="1610"/>
              </a:lnSpc>
              <a:spcBef>
                <a:spcPts val="0"/>
              </a:spcBef>
              <a:buNone/>
            </a:pPr>
            <a:r>
              <a:rPr lang="ko-KR" sz="1150" b="0" dirty="0">
                <a:solidFill>
                  <a:srgbClr val="334155"/>
                </a:solidFill>
                <a:latin typeface="맑은 고딕"/>
                <a:ea typeface="맑은 고딕"/>
                <a:cs typeface="맑은 고딕"/>
              </a:rPr>
              <a:t>총 96회 · </a:t>
            </a:r>
            <a:r>
              <a:rPr lang="ko-KR" sz="1150" b="1" dirty="0">
                <a:solidFill>
                  <a:srgbClr val="E11D48"/>
                </a:solidFill>
                <a:latin typeface="맑은 고딕"/>
                <a:ea typeface="맑은 고딕"/>
                <a:cs typeface="맑은 고딕"/>
              </a:rPr>
              <a:t>역행 0건</a:t>
            </a:r>
          </a:p>
        </p:txBody>
      </p:sp>
      <p:sp>
        <p:nvSpPr>
          <p:cNvPr id="17" name="c3"/>
          <p:cNvSpPr/>
          <p:nvPr/>
        </p:nvSpPr>
        <p:spPr>
          <a:xfrm>
            <a:off x="7721406" y="5059934"/>
            <a:ext cx="3967368" cy="12308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7904286" y="5242814"/>
            <a:ext cx="360160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a:t>
            </a:r>
          </a:p>
        </p:txBody>
      </p:sp>
      <p:sp>
        <p:nvSpPr>
          <p:cNvPr id="19" name="body:L3:t"/>
          <p:cNvSpPr txBox="1"/>
          <p:nvPr/>
        </p:nvSpPr>
        <p:spPr>
          <a:xfrm>
            <a:off x="7904286" y="5456428"/>
            <a:ext cx="3601608" cy="65151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수리 완료 후 </a:t>
            </a:r>
            <a:r>
              <a:rPr lang="ko-KR" sz="1150" b="1" dirty="0">
                <a:solidFill>
                  <a:srgbClr val="2563EB"/>
                </a:solidFill>
                <a:latin typeface="맑은 고딕"/>
                <a:ea typeface="맑은 고딕"/>
                <a:cs typeface="맑은 고딕"/>
              </a:rPr>
              <a:t>고객 통보·재무 전송 </a:t>
            </a:r>
            <a:r>
              <a:rPr lang="ko-KR" sz="1150" b="0" dirty="0">
                <a:solidFill>
                  <a:srgbClr val="334155"/>
                </a:solidFill>
                <a:latin typeface="맑은 고딕"/>
                <a:ea typeface="맑은 고딕"/>
                <a:cs typeface="맑은 고딕"/>
              </a:rPr>
              <a:t>병렬 시행</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티켓 발행 ≥ 병렬 종료 시각 </a:t>
            </a:r>
            <a:r>
              <a:rPr lang="ko-KR" sz="1150" b="1" dirty="0">
                <a:solidFill>
                  <a:srgbClr val="2563EB"/>
                </a:solidFill>
                <a:latin typeface="맑은 고딕"/>
                <a:ea typeface="맑은 고딕"/>
                <a:cs typeface="맑은 고딕"/>
              </a:rPr>
              <a:t>927건(100%)</a:t>
            </a:r>
            <a:r>
              <a:rPr lang="ko-KR" sz="1150" b="0" dirty="0">
                <a:solidFill>
                  <a:srgbClr val="334155"/>
                </a:solidFill>
                <a:latin typeface="맑은 고딕"/>
                <a:ea typeface="맑은 고딕"/>
                <a:cs typeface="맑은 고딕"/>
              </a:rPr>
              <a:t>, 역전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0건 — 동시 925건 · 결측 복원 2건(+1분)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8470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패스트 트랙(15분 내) 평균)</a:t>
            </a:r>
          </a:p>
        </p:txBody>
      </p:sp>
      <p:pic>
        <p:nvPicPr>
          <p:cNvPr id="11" name="pic:rec" descr="slide09_reception_bottleneck_3panel.png"/>
          <p:cNvPicPr>
            <a:picLocks noChangeAspect="1"/>
          </p:cNvPicPr>
          <p:nvPr/>
        </p:nvPicPr>
        <p:blipFill>
          <a:blip r:embed="rId2"/>
          <a:stretch>
            <a:fillRect/>
          </a:stretch>
        </p:blipFill>
        <p:spPr>
          <a:xfrm>
            <a:off x="1753380" y="1960118"/>
            <a:ext cx="8684933" cy="2377440"/>
          </a:xfrm>
          <a:prstGeom prst="rect">
            <a:avLst/>
          </a:prstGeom>
        </p:spPr>
      </p:pic>
      <p:sp>
        <p:nvSpPr>
          <p:cNvPr id="12" name="c1"/>
          <p:cNvSpPr/>
          <p:nvPr/>
        </p:nvSpPr>
        <p:spPr>
          <a:xfrm>
            <a:off x="502920"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56590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4:bi"/>
          <p:cNvSpPr txBox="1"/>
          <p:nvPr/>
        </p:nvSpPr>
        <p:spPr>
          <a:xfrm>
            <a:off x="4475378" y="4999228"/>
            <a:ext cx="3240938" cy="93218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패스트 트랙(15분 이내) 49.6%</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웹·우편 </a:t>
            </a:r>
            <a:r>
              <a:rPr lang="ko-KR" sz="1150" b="1" dirty="0">
                <a:solidFill>
                  <a:srgbClr val="E11D48"/>
                </a:solidFill>
                <a:latin typeface="맑은 고딕"/>
                <a:ea typeface="맑은 고딕"/>
                <a:cs typeface="맑은 고딕"/>
              </a:rPr>
              <a:t>장기 대기(60분 초과) 50.4%</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15~60분 구간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인계 123건 전부 60분 초과 (최소 72분)</a:t>
            </a:r>
          </a:p>
        </p:txBody>
      </p:sp>
      <p:sp>
        <p:nvSpPr>
          <p:cNvPr id="19" name="c3"/>
          <p:cNvSpPr/>
          <p:nvPr/>
        </p:nvSpPr>
        <p:spPr>
          <a:xfrm>
            <a:off x="8082076" y="4602734"/>
            <a:ext cx="3606698" cy="160985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264956" y="47856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1" name="body:L1:c"/>
          <p:cNvSpPr txBox="1"/>
          <p:nvPr/>
        </p:nvSpPr>
        <p:spPr>
          <a:xfrm>
            <a:off x="8264956" y="499922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2" name="body:L1:t"/>
          <p:cNvSpPr txBox="1"/>
          <p:nvPr/>
        </p:nvSpPr>
        <p:spPr>
          <a:xfrm>
            <a:off x="8264956" y="556590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 평균: 웹 6.8분 &lt; 실시간 채널 8.3분</a:t>
            </a:r>
          </a:p>
        </p:txBody>
      </p:sp>
      <p:sp>
        <p:nvSpPr>
          <p:cNvPr id="23" name="body:L1:t"/>
          <p:cNvSpPr txBox="1"/>
          <p:nvPr/>
        </p:nvSpPr>
        <p:spPr>
          <a:xfrm>
            <a:off x="8264956" y="5825236"/>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병목 =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71616" y="1682496"/>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71616" y="1896110"/>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71616" y="2292604"/>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59202"/>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71616" y="2887218"/>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71616" y="3100832"/>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71616" y="3497326"/>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3963924"/>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71616" y="4091939"/>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71616" y="4305554"/>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71616" y="4702048"/>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s4"/>
          <p:cNvSpPr/>
          <p:nvPr/>
        </p:nvSpPr>
        <p:spPr>
          <a:xfrm>
            <a:off x="5943600" y="5168646"/>
            <a:ext cx="5745175" cy="109499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71616" y="5296662"/>
            <a:ext cx="548914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실시간 채널</a:t>
            </a:r>
          </a:p>
        </p:txBody>
      </p:sp>
      <p:sp>
        <p:nvSpPr>
          <p:cNvPr id="26" name="body:L1:d"/>
          <p:cNvSpPr txBox="1"/>
          <p:nvPr/>
        </p:nvSpPr>
        <p:spPr>
          <a:xfrm>
            <a:off x="6071616" y="5510276"/>
            <a:ext cx="5489143"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−0.40</a:t>
            </a:r>
          </a:p>
        </p:txBody>
      </p:sp>
      <p:sp>
        <p:nvSpPr>
          <p:cNvPr id="27" name="body:L1:t"/>
          <p:cNvSpPr txBox="1"/>
          <p:nvPr/>
        </p:nvSpPr>
        <p:spPr>
          <a:xfrm>
            <a:off x="6071616" y="5906770"/>
            <a:ext cx="5489143"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인계 123건 전부 웹·우편 — 두 변수가 얽혀 OLS로 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 요인: 교차 인계·비실시간 채널, 물량은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지연 요인: 현장 98.3h 중 실사 방문 대기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a:t>
            </a:r>
          </a:p>
          <a:p>
            <a:pPr algn="l">
              <a:lnSpc>
                <a:spcPts val="2100"/>
              </a:lnSpc>
              <a:spcBef>
                <a:spcPts val="0"/>
              </a:spcBef>
              <a:buNone/>
            </a:pPr>
            <a:r>
              <a:rPr lang="ko-KR" sz="1500" b="0" dirty="0">
                <a:solidFill>
                  <a:srgbClr val="0F172A"/>
                </a:solidFill>
                <a:latin typeface="맑은 고딕"/>
                <a:ea typeface="맑은 고딕"/>
                <a:cs typeface="맑은 고딕"/>
              </a:rPr>
              <a:t>병목은 기사의 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1 원인: 일 유입 134.3건 vs CAPA 68.0건, 최대 적체 물량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E11D48"/>
                </a:solidFill>
                <a:latin typeface="맑은 고딕"/>
                <a:ea typeface="맑은 고딕"/>
                <a:cs typeface="맑은 고딕"/>
              </a:rPr>
              <a:t>유입이 실사 처리 용량(CAPA)을 넘는 구조</a:t>
            </a:r>
            <a:r>
              <a:rPr lang="ko-KR" sz="1300" b="0" dirty="0">
                <a:solidFill>
                  <a:srgbClr val="0F172A"/>
                </a:solidFill>
                <a:latin typeface="맑은 고딕"/>
                <a:ea typeface="맑은 고딕"/>
                <a:cs typeface="맑은 고딕"/>
              </a:rPr>
              <a:t>가 적체와 76.8h 대기의 원인 — 초과분이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Wait 2 요인: 사내수리는 자재 조달 30.5h, 재수리 시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재수리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사내 재수리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재수리</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완료 뒤 재수리 착수까지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E2E 리드타임 영향 요인: 실사 방문 대기 ≫ 사내수리 배정</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 훨씬 크다.</a:t>
            </a:r>
          </a:p>
          <a:p>
            <a:pPr algn="l">
              <a:lnSpc>
                <a:spcPts val="1750"/>
              </a:lnSpc>
              <a:spcBef>
                <a:spcPts val="0"/>
              </a:spcBef>
              <a:buNone/>
            </a:pPr>
            <a:r>
              <a:rPr lang="ko-KR" sz="1250" b="0" dirty="0">
                <a:solidFill>
                  <a:srgbClr val="0F172A"/>
                </a:solidFill>
                <a:latin typeface="맑은 고딕"/>
                <a:ea typeface="맑은 고딕"/>
                <a:cs typeface="맑은 고딕"/>
              </a:rPr>
              <a:t>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알파벳 분류가 실제 수리 방식과 맞는데도(E→사내 100.0%, P→즉시 83.1%)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79018" y="2290826"/>
            <a:ext cx="2454501" cy="2286000"/>
          </a:xfrm>
          <a:prstGeom prst="rect">
            <a:avLst/>
          </a:prstGeom>
        </p:spPr>
      </p:pic>
      <p:sp>
        <p:nvSpPr>
          <p:cNvPr id="13" name="body:L2:n"/>
          <p:cNvSpPr txBox="1"/>
          <p:nvPr/>
        </p:nvSpPr>
        <p:spPr>
          <a:xfrm>
            <a:off x="685800" y="4640834"/>
            <a:ext cx="3240938"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E → 사내수리 </a:t>
            </a:r>
            <a:r>
              <a:rPr lang="ko-KR" sz="1500" b="1" dirty="0">
                <a:solidFill>
                  <a:srgbClr val="2563EB"/>
                </a:solidFill>
                <a:latin typeface="맑은 고딕"/>
                <a:ea typeface="맑은 고딕"/>
                <a:cs typeface="맑은 고딕"/>
              </a:rPr>
              <a:t>100.0% </a:t>
            </a:r>
            <a:r>
              <a:rPr lang="ko-KR" sz="1500" b="0" dirty="0">
                <a:solidFill>
                  <a:srgbClr val="0F172A"/>
                </a:solidFill>
                <a:latin typeface="맑은 고딕"/>
                <a:ea typeface="맑은 고딕"/>
                <a:cs typeface="맑은 고딕"/>
              </a:rPr>
              <a:t>(370/370건)</a:t>
            </a:r>
          </a:p>
          <a:p>
            <a:pPr algn="l">
              <a:lnSpc>
                <a:spcPts val="2100"/>
              </a:lnSpc>
              <a:spcBef>
                <a:spcPts val="0"/>
              </a:spcBef>
              <a:buNone/>
            </a:pPr>
            <a:r>
              <a:rPr lang="ko-KR" sz="1500" b="0" dirty="0">
                <a:solidFill>
                  <a:srgbClr val="0F172A"/>
                </a:solidFill>
                <a:latin typeface="맑은 고딕"/>
                <a:ea typeface="맑은 고딕"/>
                <a:cs typeface="맑은 고딕"/>
              </a:rPr>
              <a:t>P → 즉시수리 </a:t>
            </a:r>
            <a:r>
              <a:rPr lang="ko-KR" sz="1500" b="1" dirty="0">
                <a:solidFill>
                  <a:srgbClr val="2563EB"/>
                </a:solidFill>
                <a:latin typeface="맑은 고딕"/>
                <a:ea typeface="맑은 고딕"/>
                <a:cs typeface="맑은 고딕"/>
              </a:rPr>
              <a:t>83.1% </a:t>
            </a:r>
            <a:r>
              <a:rPr lang="ko-KR" sz="1500" b="0" dirty="0">
                <a:solidFill>
                  <a:srgbClr val="0F172A"/>
                </a:solidFill>
                <a:latin typeface="맑은 고딕"/>
                <a:ea typeface="맑은 고딕"/>
                <a:cs typeface="맑은 고딕"/>
              </a:rPr>
              <a:t>(365/439건)</a:t>
            </a:r>
          </a:p>
        </p:txBody>
      </p:sp>
      <p:sp>
        <p:nvSpPr>
          <p:cNvPr id="14" name="c2"/>
          <p:cNvSpPr/>
          <p:nvPr/>
        </p:nvSpPr>
        <p:spPr>
          <a:xfrm>
            <a:off x="4292498"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6"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7"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19"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0"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2"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3" name="body:L1:res"/>
          <p:cNvSpPr txBox="1"/>
          <p:nvPr/>
        </p:nvSpPr>
        <p:spPr>
          <a:xfrm>
            <a:off x="4475378" y="4540123"/>
            <a:ext cx="3240938" cy="266700"/>
          </a:xfrm>
          <a:prstGeom prst="rect">
            <a:avLst/>
          </a:prstGeom>
          <a:noFill/>
        </p:spPr>
        <p:txBody>
          <a:bodyPr wrap="square" lIns="0" tIns="0" rIns="0" bIns="0" anchor="t">
            <a:noAutofit/>
          </a:bodyPr>
          <a:lstStyle/>
          <a:p>
            <a:pPr algn="ctr">
              <a:lnSpc>
                <a:spcPts val="2100"/>
              </a:lnSpc>
              <a:spcBef>
                <a:spcPts val="0"/>
              </a:spcBef>
              <a:buNone/>
            </a:pPr>
            <a:r>
              <a:rPr lang="ko-KR" sz="1500" b="0" dirty="0">
                <a:solidFill>
                  <a:srgbClr val="0F172A"/>
                </a:solidFill>
                <a:latin typeface="맑은 고딕"/>
                <a:ea typeface="맑은 고딕"/>
                <a:cs typeface="맑은 고딕"/>
              </a:rPr>
              <a:t>채널이 달라도 </a:t>
            </a:r>
            <a:r>
              <a:rPr lang="ko-KR" sz="1500" b="1" dirty="0">
                <a:solidFill>
                  <a:srgbClr val="2563EB"/>
                </a:solidFill>
                <a:latin typeface="맑은 고딕"/>
                <a:ea typeface="맑은 고딕"/>
                <a:cs typeface="맑은 고딕"/>
              </a:rPr>
              <a:t>실사 대기 큐는 한 줄</a:t>
            </a:r>
          </a:p>
        </p:txBody>
      </p:sp>
      <p:sp>
        <p:nvSpPr>
          <p:cNvPr id="24" name="c3"/>
          <p:cNvSpPr/>
          <p:nvPr/>
        </p:nvSpPr>
        <p:spPr>
          <a:xfrm>
            <a:off x="8082076" y="1554480"/>
            <a:ext cx="3606698" cy="380263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6"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7"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8"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29"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0" name="sowhat"/>
          <p:cNvSpPr/>
          <p:nvPr/>
        </p:nvSpPr>
        <p:spPr>
          <a:xfrm>
            <a:off x="502920" y="5494274"/>
            <a:ext cx="11185855" cy="815085"/>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667512" y="5658866"/>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2" name="body:L1:sw"/>
          <p:cNvSpPr txBox="1"/>
          <p:nvPr/>
        </p:nvSpPr>
        <p:spPr>
          <a:xfrm>
            <a:off x="667512" y="5863336"/>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a:t>
            </a:r>
          </a:p>
          <a:p>
            <a:pPr algn="l">
              <a:lnSpc>
                <a:spcPts val="1610"/>
              </a:lnSpc>
              <a:spcBef>
                <a:spcPts val="0"/>
              </a:spcBef>
              <a:buNone/>
            </a:pPr>
            <a:r>
              <a:rPr lang="ko-KR" sz="1150" b="0" dirty="0">
                <a:solidFill>
                  <a:srgbClr val="0F172A"/>
                </a:solidFill>
                <a:latin typeface="맑은 고딕"/>
                <a:ea typeface="맑은 고딕"/>
                <a:cs typeface="맑은 고딕"/>
              </a:rPr>
              <a:t>웹 양식 포맷을 </a:t>
            </a:r>
            <a:r>
              <a:rPr lang="ko-KR" sz="1150" b="1" dirty="0">
                <a:solidFill>
                  <a:srgbClr val="2563EB"/>
                </a:solidFill>
                <a:latin typeface="맑은 고딕"/>
                <a:ea typeface="맑은 고딕"/>
                <a:cs typeface="맑은 고딕"/>
              </a:rPr>
              <a:t>전 채널에 동일 적용</a:t>
            </a:r>
          </a:p>
          <a:p>
            <a:pPr algn="l">
              <a:lnSpc>
                <a:spcPts val="1610"/>
              </a:lnSpc>
              <a:spcBef>
                <a:spcPts val="0"/>
              </a:spcBef>
              <a:buNone/>
            </a:pPr>
            <a:r>
              <a:rPr lang="ko-KR" sz="1150" b="0" dirty="0">
                <a:solidFill>
                  <a:srgbClr val="334155"/>
                </a:solidFill>
                <a:latin typeface="맑은 고딕"/>
                <a:ea typeface="맑은 고딕"/>
                <a:cs typeface="맑은 고딕"/>
              </a:rPr>
              <a:t>(빠른 건 평균 6.8분, 전 채널 최속)</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기존 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보조 개선안 · 반복 리워크 방지</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세부 코드로 </a:t>
            </a:r>
            <a:r>
              <a:rPr lang="ko-KR" sz="1150" b="1" dirty="0">
                <a:solidFill>
                  <a:srgbClr val="2563EB"/>
                </a:solidFill>
                <a:latin typeface="맑은 고딕"/>
                <a:ea typeface="맑은 고딕"/>
                <a:cs typeface="맑은 고딕"/>
              </a:rPr>
              <a:t>정밀검사 대상 </a:t>
            </a:r>
            <a:r>
              <a:rPr lang="ko-KR" sz="1150" b="0" dirty="0">
                <a:solidFill>
                  <a:srgbClr val="334155"/>
                </a:solidFill>
                <a:latin typeface="맑은 고딕"/>
                <a:ea typeface="맑은 고딕"/>
                <a:cs typeface="맑은 고딕"/>
              </a:rPr>
              <a:t>판별,</a:t>
            </a:r>
            <a:br>
              <a:rPr lang="ko-KR" sz="1150" b="1" dirty="0">
                <a:solidFill>
                  <a:srgbClr val="2563EB"/>
                </a:solidFill>
                <a:latin typeface="맑은 고딕"/>
                <a:ea typeface="맑은 고딕"/>
                <a:cs typeface="맑은 고딕"/>
              </a:rPr>
            </a:br>
            <a:r>
              <a:rPr lang="ko-KR" sz="1150" b="1" dirty="0">
                <a:solidFill>
                  <a:srgbClr val="2563EB"/>
                </a:solidFill>
                <a:latin typeface="맑은 고딕"/>
                <a:ea typeface="맑은 고딕"/>
                <a:cs typeface="맑은 고딕"/>
              </a:rPr>
              <a:t>정밀 실사</a:t>
            </a:r>
            <a:r>
              <a:rPr lang="ko-KR" sz="1150" b="0" dirty="0">
                <a:solidFill>
                  <a:srgbClr val="334155"/>
                </a:solidFill>
                <a:latin typeface="맑은 고딕"/>
                <a:ea typeface="맑은 고딕"/>
                <a:cs typeface="맑은 고딕"/>
              </a:rPr>
              <a:t>로 변경</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E-1·E-2 </a:t>
            </a:r>
            <a:r>
              <a:rPr lang="ko-KR" sz="1150" b="0" dirty="0">
                <a:solidFill>
                  <a:srgbClr val="334155"/>
                </a:solidFill>
                <a:latin typeface="맑은 고딕"/>
                <a:ea typeface="맑은 고딕"/>
                <a:cs typeface="맑은 고딕"/>
              </a:rPr>
              <a:t>(22/26건, 84.6%): 연계 부품</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점검, 재수리 +32.9h 방지</a:t>
            </a:r>
          </a:p>
          <a:p>
            <a:pPr algn="l" marL="164592" indent="-164592">
              <a:lnSpc>
                <a:spcPts val="1610"/>
              </a:lnSpc>
              <a:spcBef>
                <a:spcPts val="300"/>
              </a:spcBef>
              <a:buClr>
                <a:srgbClr val="2563EB"/>
              </a:buClr>
              <a:buFont typeface="맑은 고딕"/>
              <a:buChar char="•"/>
            </a:pPr>
            <a:r>
              <a:rPr lang="ko-KR" sz="1150" b="1" dirty="0">
                <a:solidFill>
                  <a:srgbClr val="2563EB"/>
                </a:solidFill>
                <a:latin typeface="맑은 고딕"/>
                <a:ea typeface="맑은 고딕"/>
                <a:cs typeface="맑은 고딕"/>
              </a:rPr>
              <a:t>P-4·B-4 외주 위탁 </a:t>
            </a:r>
            <a:r>
              <a:rPr lang="ko-KR" sz="1150" b="0" dirty="0">
                <a:solidFill>
                  <a:srgbClr val="334155"/>
                </a:solidFill>
                <a:latin typeface="맑은 고딕"/>
                <a:ea typeface="맑은 고딕"/>
                <a:cs typeface="맑은 고딕"/>
              </a:rPr>
              <a:t>(59건): 외주 사전 확정</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실험으로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대기 단축 20% 가정</a:t>
            </a:r>
          </a:p>
        </p:txBody>
      </p:sp>
      <p:sp>
        <p:nvSpPr>
          <p:cNvPr id="11" name="label:L1:b-AS-IS"/>
          <p:cNvSpPr txBox="1"/>
          <p:nvPr/>
        </p:nvSpPr>
        <p:spPr>
          <a:xfrm>
            <a:off x="704088" y="213385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60702"/>
            <a:ext cx="3392424" cy="420624"/>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133854"/>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105.9h</a:t>
            </a:r>
          </a:p>
        </p:txBody>
      </p:sp>
      <p:sp>
        <p:nvSpPr>
          <p:cNvPr id="14" name="label:L1:b-TO-BE"/>
          <p:cNvSpPr txBox="1"/>
          <p:nvPr/>
        </p:nvSpPr>
        <p:spPr>
          <a:xfrm>
            <a:off x="704088" y="2700782"/>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627630"/>
            <a:ext cx="2899096"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700782"/>
            <a:ext cx="1005840"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F172A"/>
                </a:solidFill>
                <a:latin typeface="Consolas"/>
                <a:ea typeface="맑은 고딕"/>
                <a:cs typeface="Consolas"/>
              </a:rPr>
              <a:t>90.5h</a:t>
            </a:r>
          </a:p>
        </p:txBody>
      </p:sp>
      <p:sp>
        <p:nvSpPr>
          <p:cNvPr id="17" name="body:L1:b-delta"/>
          <p:cNvSpPr txBox="1"/>
          <p:nvPr/>
        </p:nvSpPr>
        <p:spPr>
          <a:xfrm>
            <a:off x="1344168" y="3231134"/>
            <a:ext cx="4626864" cy="302260"/>
          </a:xfrm>
          <a:prstGeom prst="rect">
            <a:avLst/>
          </a:prstGeom>
          <a:noFill/>
        </p:spPr>
        <p:txBody>
          <a:bodyPr wrap="square" lIns="0" tIns="0" rIns="0" bIns="0" anchor="t">
            <a:noAutofit/>
          </a:bodyPr>
          <a:lstStyle/>
          <a:p>
            <a:pPr algn="l">
              <a:lnSpc>
                <a:spcPts val="2380"/>
              </a:lnSpc>
              <a:spcBef>
                <a:spcPts val="0"/>
              </a:spcBef>
              <a:buNone/>
            </a:pPr>
            <a:r>
              <a:rPr lang="ko-KR" sz="1800" b="1" dirty="0">
                <a:solidFill>
                  <a:srgbClr val="059669"/>
                </a:solidFill>
                <a:latin typeface="Consolas"/>
                <a:ea typeface="맑은 고딕"/>
                <a:cs typeface="Consolas"/>
              </a:rPr>
              <a:t>▼ 14.5% (−15.4h)</a:t>
            </a:r>
          </a:p>
        </p:txBody>
      </p:sp>
      <p:cxnSp>
        <p:nvCxnSpPr>
          <p:cNvPr id="18" name="rule"/>
          <p:cNvCxnSpPr/>
          <p:nvPr/>
        </p:nvCxnSpPr>
        <p:spPr>
          <a:xfrm>
            <a:off x="704088" y="3843782"/>
            <a:ext cx="5266943" cy="0"/>
          </a:xfrm>
          <a:prstGeom prst="line">
            <a:avLst/>
          </a:prstGeom>
          <a:ln w="9525">
            <a:solidFill>
              <a:srgbClr val="E2E8F0"/>
            </a:solidFill>
          </a:ln>
        </p:spPr>
      </p:cxnSp>
      <p:sp>
        <p:nvSpPr>
          <p:cNvPr id="19" name="label:L1:t"/>
          <p:cNvSpPr txBox="1"/>
          <p:nvPr/>
        </p:nvSpPr>
        <p:spPr>
          <a:xfrm>
            <a:off x="704088" y="3999230"/>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4340860"/>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4340860"/>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4578603"/>
            <a:ext cx="5266943" cy="0"/>
          </a:xfrm>
          <a:prstGeom prst="line">
            <a:avLst/>
          </a:prstGeom>
          <a:ln w="9525">
            <a:solidFill>
              <a:srgbClr val="E2E8F0"/>
            </a:solidFill>
          </a:ln>
        </p:spPr>
      </p:cxnSp>
      <p:sp>
        <p:nvSpPr>
          <p:cNvPr id="24" name="body:L1:t"/>
          <p:cNvSpPr txBox="1"/>
          <p:nvPr/>
        </p:nvSpPr>
        <p:spPr>
          <a:xfrm>
            <a:off x="795528" y="4724908"/>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4724908"/>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4724908"/>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5075681"/>
            <a:ext cx="5266943" cy="0"/>
          </a:xfrm>
          <a:prstGeom prst="line">
            <a:avLst/>
          </a:prstGeom>
          <a:ln w="9525">
            <a:solidFill>
              <a:srgbClr val="E2E8F0"/>
            </a:solidFill>
          </a:ln>
        </p:spPr>
      </p:cxnSp>
      <p:sp>
        <p:nvSpPr>
          <p:cNvPr id="28" name="sens-fill"/>
          <p:cNvSpPr/>
          <p:nvPr/>
        </p:nvSpPr>
        <p:spPr>
          <a:xfrm>
            <a:off x="704088" y="5084825"/>
            <a:ext cx="5266944" cy="487934"/>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5221985"/>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5221985"/>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5221985"/>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5572759"/>
            <a:ext cx="5266943" cy="0"/>
          </a:xfrm>
          <a:prstGeom prst="line">
            <a:avLst/>
          </a:prstGeom>
          <a:ln w="9525">
            <a:solidFill>
              <a:srgbClr val="E2E8F0"/>
            </a:solidFill>
          </a:ln>
        </p:spPr>
      </p:cxnSp>
      <p:sp>
        <p:nvSpPr>
          <p:cNvPr id="33" name="body:L1:t"/>
          <p:cNvSpPr txBox="1"/>
          <p:nvPr/>
        </p:nvSpPr>
        <p:spPr>
          <a:xfrm>
            <a:off x="795528" y="5719063"/>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5719063"/>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5719063"/>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47548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실험 설계 구상</a:t>
            </a:r>
          </a:p>
        </p:txBody>
      </p:sp>
      <p:sp>
        <p:nvSpPr>
          <p:cNvPr id="38" name="body:L1:t"/>
          <p:cNvSpPr txBox="1"/>
          <p:nvPr/>
        </p:nvSpPr>
        <p:spPr>
          <a:xfrm>
            <a:off x="6629400" y="242646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1:t"/>
          <p:cNvSpPr txBox="1"/>
          <p:nvPr/>
        </p:nvSpPr>
        <p:spPr>
          <a:xfrm>
            <a:off x="7549387" y="2426462"/>
            <a:ext cx="3865067"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케이스와 실사 대기 케이스</a:t>
            </a:r>
          </a:p>
        </p:txBody>
      </p:sp>
      <p:cxnSp>
        <p:nvCxnSpPr>
          <p:cNvPr id="40" name="rule"/>
          <p:cNvCxnSpPr/>
          <p:nvPr/>
        </p:nvCxnSpPr>
        <p:spPr>
          <a:xfrm>
            <a:off x="6537960" y="3069336"/>
            <a:ext cx="4967935" cy="0"/>
          </a:xfrm>
          <a:prstGeom prst="line">
            <a:avLst/>
          </a:prstGeom>
          <a:ln w="9525">
            <a:solidFill>
              <a:srgbClr val="E2E8F0"/>
            </a:solidFill>
          </a:ln>
        </p:spPr>
      </p:cxnSp>
      <p:sp>
        <p:nvSpPr>
          <p:cNvPr id="41" name="body:L1:t"/>
          <p:cNvSpPr txBox="1"/>
          <p:nvPr/>
        </p:nvSpPr>
        <p:spPr>
          <a:xfrm>
            <a:off x="6629400" y="348996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2:t"/>
          <p:cNvSpPr txBox="1"/>
          <p:nvPr/>
        </p:nvSpPr>
        <p:spPr>
          <a:xfrm>
            <a:off x="7549387" y="3489960"/>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동일 기간 내 Direct Booking으로 빠진 이후, 실사</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대기 케이스의 실사 대기 시간 증감 추이</a:t>
            </a:r>
          </a:p>
        </p:txBody>
      </p:sp>
      <p:cxnSp>
        <p:nvCxnSpPr>
          <p:cNvPr id="43" name="rule"/>
          <p:cNvCxnSpPr/>
          <p:nvPr/>
        </p:nvCxnSpPr>
        <p:spPr>
          <a:xfrm>
            <a:off x="6537960" y="4355084"/>
            <a:ext cx="4967935" cy="0"/>
          </a:xfrm>
          <a:prstGeom prst="line">
            <a:avLst/>
          </a:prstGeom>
          <a:ln w="9525">
            <a:solidFill>
              <a:srgbClr val="E2E8F0"/>
            </a:solidFill>
          </a:ln>
        </p:spPr>
      </p:cxnSp>
      <p:sp>
        <p:nvSpPr>
          <p:cNvPr id="44" name="body:L1:t"/>
          <p:cNvSpPr txBox="1"/>
          <p:nvPr/>
        </p:nvSpPr>
        <p:spPr>
          <a:xfrm>
            <a:off x="6629400" y="477570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평가</a:t>
            </a:r>
          </a:p>
        </p:txBody>
      </p:sp>
      <p:sp>
        <p:nvSpPr>
          <p:cNvPr id="45" name="body:L2:t"/>
          <p:cNvSpPr txBox="1"/>
          <p:nvPr/>
        </p:nvSpPr>
        <p:spPr>
          <a:xfrm>
            <a:off x="7549387" y="4775708"/>
            <a:ext cx="3865067"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334155"/>
                </a:solidFill>
                <a:latin typeface="맑은 고딕"/>
                <a:ea typeface="맑은 고딕"/>
                <a:cs typeface="맑은 고딕"/>
              </a:rPr>
              <a:t>Direct Booking 유도 적중률 · 실사 대기 케이스의</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실사 대기 시간 감소폭 · 적체(WIP) 부담률 등</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