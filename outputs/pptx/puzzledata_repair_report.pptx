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68324E73-1E46-4B75-8283-026181378BD4}">
          <p14:sldIdLst>
            <p14:sldId id="256"/>
            <p14:sldId id="257"/>
            <p14:sldId id="258"/>
          </p14:sldIdLst>
        </p14:section>
        <p14:section name="Part 01 · 데이터 진단" id="{269640DF-18FA-44C5-9AF3-F3720A6B48B2}">
          <p14:sldIdLst>
            <p14:sldId id="259"/>
            <p14:sldId id="260"/>
            <p14:sldId id="261"/>
          </p14:sldIdLst>
        </p14:section>
        <p14:section name="Part 02 · 병목 규명" id="{76BC0F13-AE88-4498-826E-2E39D26895AA}">
          <p14:sldIdLst>
            <p14:sldId id="262"/>
            <p14:sldId id="263"/>
            <p14:sldId id="264"/>
            <p14:sldId id="265"/>
            <p14:sldId id="266"/>
            <p14:sldId id="267"/>
            <p14:sldId id="268"/>
            <p14:sldId id="269"/>
            <p14:sldId id="270"/>
          </p14:sldIdLst>
        </p14:section>
        <p14:section name="Part 03 · 개선 전략" id="{B6D713F4-E1A6-4619-A2CF-8A147650B058}">
          <p14:sldIdLst>
            <p14:sldId id="271"/>
            <p14:sldId id="272"/>
            <p14:sldId id="273"/>
          </p14:sldIdLst>
        </p14:section>
        <p14:section name="Part 04 · Q&amp;A" id="{74809749-8C35-4CB1-9F29-7FE72F86C697}">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최종 보고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1874519"/>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25856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sub:L1:sub"/>
          <p:cNvSpPr txBox="1"/>
          <p:nvPr/>
        </p:nvSpPr>
        <p:spPr>
          <a:xfrm>
            <a:off x="502920" y="3813048"/>
            <a:ext cx="6675120"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334155"/>
                </a:solidFill>
                <a:latin typeface="맑은 고딕"/>
                <a:ea typeface="맑은 고딕"/>
                <a:cs typeface="맑은 고딕"/>
              </a:rPr>
              <a:t>프로세스 마이닝 기반 · 무손실 전처리 · 대기 병목 규명 · TO-BE 전략</a:t>
            </a:r>
          </a:p>
        </p:txBody>
      </p:sp>
      <p:sp>
        <p:nvSpPr>
          <p:cNvPr id="7" name="label:L1:meta"/>
          <p:cNvSpPr txBox="1"/>
          <p:nvPr/>
        </p:nvSpPr>
        <p:spPr>
          <a:xfrm>
            <a:off x="502920" y="562356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13,262 EVENTS · 1,000 CASES · 927 ANALYSIS COHORT</a:t>
            </a:r>
          </a:p>
        </p:txBody>
      </p:sp>
      <p:sp>
        <p:nvSpPr>
          <p:cNvPr id="8" name="applicant"/>
          <p:cNvSpPr/>
          <p:nvPr/>
        </p:nvSpPr>
        <p:spPr>
          <a:xfrm>
            <a:off x="7756855" y="1783080"/>
            <a:ext cx="3931920" cy="431647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8031175" y="2057400"/>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POSITION</a:t>
            </a:r>
          </a:p>
        </p:txBody>
      </p:sp>
      <p:sp>
        <p:nvSpPr>
          <p:cNvPr id="10" name="body:L1:v-POSITION"/>
          <p:cNvSpPr txBox="1"/>
          <p:nvPr/>
        </p:nvSpPr>
        <p:spPr>
          <a:xfrm>
            <a:off x="8031175" y="2298446"/>
            <a:ext cx="3383279" cy="391160"/>
          </a:xfrm>
          <a:prstGeom prst="rect">
            <a:avLst/>
          </a:prstGeom>
          <a:noFill/>
        </p:spPr>
        <p:txBody>
          <a:bodyPr wrap="square" lIns="0" tIns="0" rIns="0" bIns="0" anchor="t">
            <a:noAutofit/>
          </a:bodyPr>
          <a:lstStyle/>
          <a:p>
            <a:pPr algn="l">
              <a:lnSpc>
                <a:spcPts val="3080"/>
              </a:lnSpc>
              <a:spcBef>
                <a:spcPts val="0"/>
              </a:spcBef>
              <a:buNone/>
            </a:pPr>
            <a:r>
              <a:rPr lang="ko-KR" sz="2200" b="1" dirty="0">
                <a:solidFill>
                  <a:srgbClr val="0F172A"/>
                </a:solidFill>
                <a:latin typeface="맑은 고딕"/>
                <a:ea typeface="맑은 고딕"/>
                <a:cs typeface="맑은 고딕"/>
              </a:rPr>
              <a:t>데이터 분석가</a:t>
            </a:r>
          </a:p>
        </p:txBody>
      </p:sp>
      <p:cxnSp>
        <p:nvCxnSpPr>
          <p:cNvPr id="11" name="rule"/>
          <p:cNvCxnSpPr/>
          <p:nvPr/>
        </p:nvCxnSpPr>
        <p:spPr>
          <a:xfrm>
            <a:off x="8031175" y="2899917"/>
            <a:ext cx="3383280" cy="0"/>
          </a:xfrm>
          <a:prstGeom prst="line">
            <a:avLst/>
          </a:prstGeom>
          <a:ln w="9525">
            <a:solidFill>
              <a:srgbClr val="E2E8F0"/>
            </a:solidFill>
          </a:ln>
        </p:spPr>
      </p:cxnSp>
      <p:sp>
        <p:nvSpPr>
          <p:cNvPr id="12" name="label:L1:t"/>
          <p:cNvSpPr txBox="1"/>
          <p:nvPr/>
        </p:nvSpPr>
        <p:spPr>
          <a:xfrm>
            <a:off x="8031175" y="3110229"/>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LEVEL</a:t>
            </a:r>
          </a:p>
        </p:txBody>
      </p:sp>
      <p:sp>
        <p:nvSpPr>
          <p:cNvPr id="13" name="body:L1:v-LEVEL"/>
          <p:cNvSpPr txBox="1"/>
          <p:nvPr/>
        </p:nvSpPr>
        <p:spPr>
          <a:xfrm>
            <a:off x="8031175" y="3351275"/>
            <a:ext cx="3383279" cy="391160"/>
          </a:xfrm>
          <a:prstGeom prst="rect">
            <a:avLst/>
          </a:prstGeom>
          <a:noFill/>
        </p:spPr>
        <p:txBody>
          <a:bodyPr wrap="square" lIns="0" tIns="0" rIns="0" bIns="0" anchor="t">
            <a:noAutofit/>
          </a:bodyPr>
          <a:lstStyle/>
          <a:p>
            <a:pPr algn="l">
              <a:lnSpc>
                <a:spcPts val="3080"/>
              </a:lnSpc>
              <a:spcBef>
                <a:spcPts val="0"/>
              </a:spcBef>
              <a:buNone/>
            </a:pPr>
            <a:r>
              <a:rPr lang="ko-KR" sz="2200" b="1" dirty="0">
                <a:solidFill>
                  <a:srgbClr val="0F172A"/>
                </a:solidFill>
                <a:latin typeface="맑은 고딕"/>
                <a:ea typeface="맑은 고딕"/>
                <a:cs typeface="맑은 고딕"/>
              </a:rPr>
              <a:t>신입</a:t>
            </a:r>
          </a:p>
        </p:txBody>
      </p:sp>
      <p:cxnSp>
        <p:nvCxnSpPr>
          <p:cNvPr id="14" name="rule"/>
          <p:cNvCxnSpPr/>
          <p:nvPr/>
        </p:nvCxnSpPr>
        <p:spPr>
          <a:xfrm>
            <a:off x="8031175" y="3952747"/>
            <a:ext cx="3383280" cy="0"/>
          </a:xfrm>
          <a:prstGeom prst="line">
            <a:avLst/>
          </a:prstGeom>
          <a:ln w="9525">
            <a:solidFill>
              <a:srgbClr val="E2E8F0"/>
            </a:solidFill>
          </a:ln>
        </p:spPr>
      </p:cxnSp>
      <p:sp>
        <p:nvSpPr>
          <p:cNvPr id="15" name="label:L1:t"/>
          <p:cNvSpPr txBox="1"/>
          <p:nvPr/>
        </p:nvSpPr>
        <p:spPr>
          <a:xfrm>
            <a:off x="8031175" y="4163059"/>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NAME</a:t>
            </a:r>
          </a:p>
        </p:txBody>
      </p:sp>
      <p:sp>
        <p:nvSpPr>
          <p:cNvPr id="16" name="body:L1:v-NAME"/>
          <p:cNvSpPr txBox="1"/>
          <p:nvPr/>
        </p:nvSpPr>
        <p:spPr>
          <a:xfrm>
            <a:off x="8031175" y="4404106"/>
            <a:ext cx="3383279" cy="391160"/>
          </a:xfrm>
          <a:prstGeom prst="rect">
            <a:avLst/>
          </a:prstGeom>
          <a:noFill/>
        </p:spPr>
        <p:txBody>
          <a:bodyPr wrap="square" lIns="0" tIns="0" rIns="0" bIns="0" anchor="t">
            <a:noAutofit/>
          </a:bodyPr>
          <a:lstStyle/>
          <a:p>
            <a:pPr algn="l">
              <a:lnSpc>
                <a:spcPts val="3080"/>
              </a:lnSpc>
              <a:spcBef>
                <a:spcPts val="0"/>
              </a:spcBef>
              <a:buNone/>
            </a:pPr>
            <a:r>
              <a:rPr lang="ko-KR" sz="2200" b="1" dirty="0">
                <a:solidFill>
                  <a:srgbClr val="0F172A"/>
                </a:solidFill>
                <a:latin typeface="맑은 고딕"/>
                <a:ea typeface="맑은 고딕"/>
                <a:cs typeface="맑은 고딕"/>
              </a:rPr>
              <a:t>조승훈</a:t>
            </a:r>
          </a:p>
        </p:txBody>
      </p:sp>
      <p:cxnSp>
        <p:nvCxnSpPr>
          <p:cNvPr id="17" name="rule"/>
          <p:cNvCxnSpPr/>
          <p:nvPr/>
        </p:nvCxnSpPr>
        <p:spPr>
          <a:xfrm>
            <a:off x="8031175" y="5005578"/>
            <a:ext cx="3383280" cy="0"/>
          </a:xfrm>
          <a:prstGeom prst="line">
            <a:avLst/>
          </a:prstGeom>
          <a:ln w="9525">
            <a:solidFill>
              <a:srgbClr val="E2E8F0"/>
            </a:solidFill>
          </a:ln>
        </p:spPr>
      </p:cxnSp>
      <p:sp>
        <p:nvSpPr>
          <p:cNvPr id="18" name="label:L1:t"/>
          <p:cNvSpPr txBox="1"/>
          <p:nvPr/>
        </p:nvSpPr>
        <p:spPr>
          <a:xfrm>
            <a:off x="8031175" y="5215890"/>
            <a:ext cx="3383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DATE</a:t>
            </a:r>
          </a:p>
        </p:txBody>
      </p:sp>
      <p:sp>
        <p:nvSpPr>
          <p:cNvPr id="19" name="body:L1:v-date"/>
          <p:cNvSpPr txBox="1"/>
          <p:nvPr/>
        </p:nvSpPr>
        <p:spPr>
          <a:xfrm>
            <a:off x="8031175" y="5456936"/>
            <a:ext cx="3383279" cy="368300"/>
          </a:xfrm>
          <a:prstGeom prst="rect">
            <a:avLst/>
          </a:prstGeom>
          <a:noFill/>
        </p:spPr>
        <p:txBody>
          <a:bodyPr wrap="square" lIns="0" tIns="0" rIns="0" bIns="0" anchor="t">
            <a:noAutofit/>
          </a:bodyPr>
          <a:lstStyle/>
          <a:p>
            <a:pPr algn="l">
              <a:lnSpc>
                <a:spcPts val="2900"/>
              </a:lnSpc>
              <a:spcBef>
                <a:spcPts val="0"/>
              </a:spcBef>
              <a:buNone/>
            </a:pPr>
            <a:r>
              <a:rPr lang="ko-KR" sz="2200" b="1" dirty="0">
                <a:solidFill>
                  <a:srgbClr val="0F172A"/>
                </a:solidFill>
                <a:latin typeface="Consolas"/>
                <a:ea typeface="맑은 고딕"/>
                <a:cs typeface="Consolas"/>
              </a:rPr>
              <a:t>2026.10.27</a:t>
            </a:r>
          </a:p>
        </p:txBody>
      </p:sp>
      <p:cxnSp>
        <p:nvCxnSpPr>
          <p:cNvPr id="20" name="foot-rule"/>
          <p:cNvCxnSpPr/>
          <p:nvPr/>
        </p:nvCxnSpPr>
        <p:spPr>
          <a:xfrm>
            <a:off x="502920" y="6382512"/>
            <a:ext cx="11185855" cy="0"/>
          </a:xfrm>
          <a:prstGeom prst="line">
            <a:avLst/>
          </a:prstGeom>
          <a:ln w="9525">
            <a:solidFill>
              <a:srgbClr val="E2E8F0"/>
            </a:solidFill>
          </a:ln>
        </p:spPr>
      </p:cxnSp>
      <p:sp>
        <p:nvSpPr>
          <p:cNvPr id="21"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전처리부터 TO-BE까지, 4개 파트로 보고합니다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6:t"/>
          <p:cNvSpPr txBox="1"/>
          <p:nvPr/>
        </p:nvSpPr>
        <p:spPr>
          <a:xfrm>
            <a:off x="722376"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업무 인과 기반 결측</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프로세스 심층 분석</a:t>
            </a:r>
          </a:p>
        </p:txBody>
      </p:sp>
      <p:sp>
        <p:nvSpPr>
          <p:cNvPr id="20" name="body:L5:t"/>
          <p:cNvSpPr txBox="1"/>
          <p:nvPr/>
        </p:nvSpPr>
        <p:spPr>
          <a:xfrm>
            <a:off x="3564559"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3대 병목: 접수 · 실사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착수</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최적화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