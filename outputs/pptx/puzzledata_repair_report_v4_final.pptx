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00 · 인트로" id="{58946DF0-A2DE-4033-95B7-BB1DC2EFD59F}">
          <p14:sldIdLst>
            <p14:sldId id="256"/>
            <p14:sldId id="257"/>
            <p14:sldId id="258"/>
          </p14:sldIdLst>
        </p14:section>
        <p14:section name="Part 01 · 데이터 진단·전처리" id="{0D5920E5-C77C-486C-8791-D8272374CB7F}">
          <p14:sldIdLst>
            <p14:sldId id="259"/>
            <p14:sldId id="260"/>
            <p14:sldId id="261"/>
          </p14:sldIdLst>
        </p14:section>
        <p14:section name="Part 02 · 프로세스 마이닝 분석" id="{948B302D-CE5D-483F-B7E4-F4825AC992A7}">
          <p14:sldIdLst>
            <p14:sldId id="262"/>
            <p14:sldId id="263"/>
            <p14:sldId id="264"/>
            <p14:sldId id="265"/>
            <p14:sldId id="266"/>
          </p14:sldIdLst>
        </p14:section>
        <p14:section name="Part 03 · TO-BE 전략" id="{A8E0635C-6D69-4DD3-B6BA-51FB59CBCBBB}">
          <p14:sldIdLst>
            <p14:sldId id="267"/>
            <p14:sldId id="268"/>
          </p14:sldIdLst>
        </p14:section>
        <p14:section name="Part 04 · Q&amp;A" id="{D8C82C96-EF62-48DD-AB82-AABC4F98C7A2}">
          <p14:sldIdLst>
            <p14:sldId id="269"/>
          </p14:sldIdLst>
        </p14:section>
        <p14:section name="Appendix · 참고 자료" id="{CF03766E-EF08-4F3F-A7AD-4B0CAC955870}">
          <p14:sldIdLst>
            <p14:sldId id="270"/>
            <p14:sldId id="271"/>
            <p14:sldId id="272"/>
            <p14:sldId id="27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퍼즐데이터 수리 프로세스 데이터 분석 결과 발표를 맡은 지원자입니다. 본 보고서는 네덜란드 공공임대주택 1,000건의 수리 로그를 바탕으로, 단순 통계를 넘어 프로세스 마이닝 관점에서 대기시간 약 90%의 구조적 원인을 밝히고 실질적 개선안을 제시합니다.</a:t>
            </a:r>
          </a:p>
          <a:p/>
          <a:p>
            <a:r>
              <a:t>[수치 메모] 90.5% = (105.9h − 현장 실작업 4.6h − 정산 시스템 처리 5.5h) ÷ 105.9h. 접수 구간(2.1h)은 대부분 일정 조율(1.9h)이므로 대기·조율에 포함했고, 정산 5.5h는 시스템 자동 처리로 보아 제외한 산정입니다. start→complete 구간만 작업으로 보는 엄격 정의에서는 94.6%이므로 어느 정의로도 '대기가 압도적'이라는 결론은 같습니다. ▼64%는 목표치(가정 기반)이며 검증된 하한은 −17.2h(−16%)입니다.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발표는 4개 파트로 진행됩니다. 질문 1의 데이터 무손실 전처리를 거쳐, 질문 2의 프로세스 병목과 원인을 규명하고, 질문 3에서 실질적 개선안과 정량적 효과를 제시하며 마무리하겠습니다.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분석을 관통하는 핵심 가설은 명확합니다. 수리가 늦어지는 것은 현장 기사가 느려서가 아니라, 공정 사이의 대기·조율 시간과 접수 단계의 비동기 소통 지연 때문입니다. 이 두 가지를 통제하여 전체 프로세스를 획기적으로 개선하는 여정을 보여드리겠습니다.</a:t>
            </a:r>
          </a:p>
          <a:p/>
          <a:p>
            <a:r>
              <a:t>[예상 질문] '대기·조율 90.5%'를 어떻게 정의했나? → E2E 105.9h에서 현장 실작업 4.6h와 정산 시스템 처리 5.5h를 뺀 시간입니다. 정산을 작업으로 보지 않고 start→complete 구간만 작업으로 보면 94.6%이므로, 90.5%는 보수적인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데이터를 열어보았을 때 가장 먼저 확인한 것은 구조였습니다. 본 데이터는 공정마다 행이 쌓이는 이벤트 로그로, 90% 안팎의 결측치는 후속 수리가 발생하지 않아 생긴 자연스러운 정상 결측입니다. 반면 필수 속성임에도 비어 있는 값은 13,262행 중 단 20행에 불과했습니다. 이 20행만을 정밀 복원 타겟으로 특정했습니다.</a:t>
            </a:r>
          </a:p>
          <a:p/>
          <a:p>
            <a:r>
              <a:t>[예상 질문] 왜 결측을 일괄 대체하지 않았나? → 86~93% 결측은 '후속 공정이 없어서' 생기는 구조적 값이라 채우면 오히려 왜곡입니다. 0.1%~86% 사이에 컬럼이 하나도 없는 양극단 분포라 정상/비정상 구분 기준이 자의적이지 않다는 점이 근거입니다.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복원 시 단 한 행도 버리지 않았습니다. 시작-완료 담당자의 100% 일치성, 태스크 고유 속성을 활용했고, 일시는 표본 34% 축소 한계를 극복하여 확보한 751건 정상 모수의 대표값을 앵커로부터 역산 적용했습니다. 덕분에 시간 역전 0건의 완벽한 데이터셋을 완성했습니다.</a:t>
            </a:r>
          </a:p>
          <a:p/>
          <a:p>
            <a:r>
              <a:t>[수치 메모] '결측 20행'은 5개 속성에서 값이 비어 있던 실제 행 수이고, CASE 4의 오기입 866건(미래·1905년 연도)과 CASE 5의 더미 시각 15건은 값은 있으나 이상치인 별도 유형입니다.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5대 전처리를 완료한 결과, 단 한 건의 결측과 시간 역전도 없는 완전무결한 13,262행 정제 데이터셋이 완성되었습니다. 정제된 데이터를 프로파일링하여 타 기관 관할 오접수 73건을 격리하고, 실제 현장 수리가 이루어진 '927건의 클린 분석 코호트'를 확립했습니다. 이제 질문 2, 대기가 집중된 현장의 진짜 병목을 파헤치겠습니다.</a:t>
            </a:r>
          </a:p>
          <a:p/>
          <a:p>
            <a:r>
              <a:t>[예상 질문] 오접수 73건을 왜 제외했나? → 타 기관 관할 주택(InformClientWrongPlace)이라 접수 직후 종결되어 현장·정산 공정이 존재하지 않습니다. 포함하면 리드타임 분포가 왜곡되므로 927건을 분석 코호트로 확정했습니다. 927건의 채널 분포(27/26/25/22%)가 고르다는 점도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상세 병목 분석에 앞서, 모든 분석의 기준선이 될 'E2E 기준 프로세스 모델'입니다. 이 모델은 데이터의 3가지 명확한 실측 근거를 바탕으로 도출되었습니다.</a:t>
            </a:r>
          </a:p>
          <a:p>
            <a:r>
              <a:t>첫째, 접수 단계는 1,000건 중 관할 외 73건의 조기 이탈과 시스템 자동 알림 앵커로 경계가 확립되었습니다.</a:t>
            </a:r>
          </a:p>
          <a:p>
            <a:r>
              <a:t>둘째, 현장 수리 흐름은 철저한 단방향 에스컬레이션입니다. 사내 기사는 물론 외주 기사 역시 수리를 마친 뒤 완료 커밋을 하면 시스템이 RepairReady를 발송합니다. 외주로 넘어간 후 사내로 되돌아온 역류 케이스는 단 0건입니다.</a:t>
            </a:r>
          </a:p>
          <a:p>
            <a:r>
              <a:t>셋째, 정산 공정은 고객 통보와 재무 처리가 50.6% 대 49.2%로 대칭 선행하는 병렬 구조이며, 최종 티켓 마감은 늦게 끝난 시각과 99.8% 일치하여 0초에 자동 종결됩니다.</a:t>
            </a:r>
          </a:p>
          <a:p>
            <a:r>
              <a:t>이처럼 검증된 기준 지도를 토대로, 다음 장부터 90.5%의 대기·조율 시간이 어디서 발생하는지 거시적 분해로 들어가겠습니다. [읽는 법] 화살표 굵기는 1차 수리 케이스 수, 색은 평균 대기시간입니다. 가장 굵은 빨간 화살표가 접수에서 실사까지의 76.8시간(중앙값 48.8시간)이고, 사내수리 착수 30.5시간이 그다음입니다.</a:t>
            </a:r>
          </a:p>
          <a:p/>
          <a:p>
            <a:r>
              <a:t>[예상 질문] 이 지도에서 재작업(루프)은 어디인가? → 현장 국면의 InternRepair 노드(547 EV / 508 케이스)가 케이스당 복수 발생하는 곳입니다. 사내수리 반복 39회, 하자 재방문(사내→사내) 26건은 슬라이드 11에서 다룹니다. 교차 인계 123건(건당 +5.11h)은 접수 국면 MakeTicket 노드에서 발생합니다.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수리 프로세스가 지연되는 진짜 원인은 무엇일까요? 기사가 작업을 느리게 해서일까요? 데이터를 쪼개보니 완전히 달랐습니다.</a:t>
            </a:r>
          </a:p>
          <a:p>
            <a:r>
              <a:t>전체 105.9시간(약 4.4일) 중 현장 실작업과 정산 시스템 처리 시간은 10.1시간(9.5%)에 불과하며, 나머지 95.8시간(90.5%)은 공정 사이에서 멈춰 서 있거나 일정 조율에 쓰인 대기·조율 시간이었습니다. 특히 정산 국면은 인간 개입 없이 시스템이 100% 자동 처리하므로 대기가 0시간이며, 대기·조율의 97.8%가 '현장 국면'에 집중되어 있었습니다.</a:t>
            </a:r>
          </a:p>
          <a:p>
            <a:r>
              <a:t>이 대기시간의 발원지를 3대 병목으로 정리했습니다. 첫째, 웹·우편의 비동기 소통 부재로 일정이 늘어지는 '일정 조율 병목(평균 2.0시간, 중앙값 4분)'. 둘째, 현장 국면의 78%가 쏠려 있는 압도적 1위의 '실사 방문 대기 병목(76.8h)'. 셋째, 사내 수리 시 자재 조달과 재작업으로 인한 '수리 준비 대기(30.5h) 및 하자 루프(최대 10일)'입니다.</a:t>
            </a:r>
          </a:p>
          <a:p>
            <a:r>
              <a:t>그렇다면 프로세스의 첫 관문인 접수 국면에서 왜 6.6배의 시간 폭증이 일어났는지, 다음 장에서 살펴보겠습니다.</a:t>
            </a:r>
          </a:p>
          <a:p/>
          <a:p>
            <a:r>
              <a:t>[예상 질문] 90.5%의 정의는? → 정산 5.5h를 시스템 처리(비대기)로 본 보수적 값입니다. start→complete 구간만 작업으로 보면 94.6%이며, 어느 쪽이든 '대기가 압도적'이라는 결론은 동일합니다.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접수 국면의 지연은 왜 발생했을까요? 특정 날짜에 접수량이 몰려서였을까요? 데이터를 분석해보니 일별 접수량과 소요시간은 전혀 상관이 없었습니다(r=0.01, 회귀계수 p=0.752). 물량 문제가 아니었습니다.</a:t>
            </a:r>
          </a:p>
          <a:p>
            <a:r>
              <a:t>좌측 Panel 1을 보시면, 진짜 원인은 상담원 간의 '교차 인계(Handover)'였습니다. 단독으로 처리할 때는 1.2시간이면 끝나던 접수가, 상담원 2명 이상 개입되는 순간 7.9시간으로 6.6배 폭증했습니다.</a:t>
            </a:r>
          </a:p>
          <a:p>
            <a:r>
              <a:t>그렇다면 이 인계는 어디서 발생했을까요? 가운데 Panel 2를 보시면 전화와 대면은 15분 이내 완료율이 사실상 100%였고 인계가 0건이었습니다. 반면 웹과 우편은 약 50%가 60분을 초과하는 장기 지체에 빠졌으며, 발생한 인계 123건 전수가 오직 웹과 우편에서만 나왔습니다.</a:t>
            </a:r>
          </a:p>
          <a:p>
            <a:r>
              <a:t>그렇다면 웹 채널이 비효율적인 시스템일까요? 우측 Panel 3을 주목해 주십시오. 15분 이내 완료 건만 비교하면, 웹은 평균 6.8분으로 전화(8.2분)나 대면(8.5분)보다 오히려 가장 빨랐습니다.</a:t>
            </a:r>
          </a:p>
          <a:p>
            <a:r>
              <a:t>즉, 웹 시스템 자체가 느린 게 아닙니다. 신청 접수 후 실시간으로 방문 일정을 확정하지 못해 고객 회신을 기다리다 담당자가 교체되는 '비동기 일정 조율 공백'이 6.6배 지연의 본질이었습니다.</a:t>
            </a:r>
          </a:p>
          <a:p>
            <a:r>
              <a:t>이제 전체 대기의 대부분이 집중된 최대 핵심 병목, '현장 국면'으로 넘어가겠습니다.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 국면의 문제점을 살펴보겠습니다. 좌측 도넛 차트를 보시면, 현장에서 보낸 98.3시간 중 기사가 땀 흘려 일한 순수 작업 시간은 4.7%(수리 3.9h, 점검 0.7h)에 불과합니다. 나머지 95.3%(93.7시간)가 전부 대기시간이었습니다.</a:t>
            </a:r>
          </a:p>
          <a:p>
            <a:r>
              <a:t>특히 전체 리드타임의 72.5%를 단독 차지한 '실사 방문 대기(76.8시간, 3.2일)'는 왜 발생했을까요?</a:t>
            </a:r>
          </a:p>
          <a:p>
            <a:r>
              <a:t>우측 통합 차트를 보시면 물리적 원인이 드러납니다. 파란색 막대인 일일 현장 이관 유입량은 매일 134건씩 쏟아졌지만, 회색 막대인 현장 기사 11명이 하루에 소화한 실사는 68건에 불과했습니다.</a:t>
            </a:r>
          </a:p>
          <a:p>
            <a:r>
              <a:t>유입이 처리 능력을 2배 가까이 초과하자, 빨간색 꺾은선인 '미처리 적체 대기열(WIP)'은 첫날 20건에서 7일 만에 403건으로 20배 폭증합니다. 저수조에 물이 넘치듯 403건이 쌓이니, 뒤늦게 방문받는 세입자는 평균 3일 넘게 기다릴 수밖에 없었습니다. 즉, 기사가 게으른 것이 아니라 'CAPA를 초과하는 전수 방문 실사 관행'이 현장 병목의 진짜 원인이었습니다.</a:t>
            </a:r>
          </a:p>
          <a:p/>
          <a:p>
            <a:r>
              <a:t>[예상 질문] 유입 134.3건과 CAPA 68.0건의 산출 창? → 유입은 인입이 안정된 1/2~1/7(6일) 평균 현장 이관량, CAPA는 1/1~1/8 평균 실사 착수량입니다. 14일 지속 평균으로 보면 CAPA는 63.7건/일(소화율 47%)로 더 낮아져 결론은 동일합니다.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11은 리드타임을 결정하는 핵심 요인과 품질 결함으로 인한 리워크 문제를 함께 보여줍니다.</a:t>
            </a:r>
          </a:p>
          <a:p>
            <a:r>
              <a:t>좌측의 다중 회귀 모델(설명력 87.8%)에서 각 요인의 회귀계수에 평균값을 곱해 평균 기여를 계산했습니다. 실사 방문 대기는 시간당 1.12시간씩 리드타임을 늘리는데, 평균 대기가 76.8시간이라 평균 약 86시간, 즉 전체 105.9시간의 81%를 차지합니다. 사내수리 배정은 건당 +31.8시간이지만 전체의 52%에만 해당해 평균 17시간(16%), 비실시간 접수는 평균 2.4시간입니다. 계수만 보면 사내수리가 가장 커 보이지만, 평균 기여로 보면 실사 대기가 압도적입니다.</a:t>
            </a:r>
          </a:p>
          <a:p>
            <a:r>
              <a:t>우측을 보시면, 즉시수리와 외주는 대기가 0시간이지만 사내수리는 부품 준비로 기본 30.5시간이 걸립니다. 특히 1차 수리 실패로 다시 사내수리에 들어간 26건은 부품을 다시 조달하느라 평균 32.9시간, 최대 10일(241.6시간)이나 더 갇히게 됩니다.</a:t>
            </a:r>
          </a:p>
          <a:p>
            <a:r>
              <a:t>이제 사전 분류의 높은 정합도를 활용하여 이 병목들을 해소하는 전략으로 넘어가겠습니다.</a:t>
            </a:r>
          </a:p>
          <a:p/>
          <a:p>
            <a:r>
              <a:t>[예상 질문] 회귀가 인과를 증명하나? → 관측 데이터 기반 연관이며, 시뮬레이션 효과는 이 계수를 가정하고 보수적으로(20%) 적용했습니다. 평균 기여는 회귀 분해이지 분산 설명력이 아닙니다. 2차 에스컬레이션 계수는 p=0.079로 비유의입니다.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앞선 분석을 종합하면, 병목을 없애기 위한 핵심은 명확합니다. 실사 CAPA의 적체 부담을 덜어내고, 수리 품목 준비 기간을 줄여야 합니다.</a:t>
            </a:r>
          </a:p>
          <a:p>
            <a:r>
              <a:t>Card 1에서 보시듯, 접수원의 사전 분류는 이미 실제 수리와 매우 높게 일치하고 있었습니다. E형과 P형을 합치면 809건, 87.3%이고, 외주로 빠지는 P-4 38건을 빼는 보수적 기준으로도 83.2%입니다. 특히 E형은 100% 사내수리였습니다.</a:t>
            </a:r>
          </a:p>
          <a:p>
            <a:r>
              <a:t>이렇게 잘 맞추면서 왜 굳이 40분짜리 실사를 먼저 보내 400건의 대기열을 만들었을까요?</a:t>
            </a:r>
          </a:p>
          <a:p>
            <a:r>
              <a:t>Card 2의 '정보 해상도의 한계' 때문이었습니다. 접수부는 단순 알파벳(B, P, E)만 넘겨주고, 현장 기술자는 1~4 세부 코드를 써야 부품을 알 수 있어 차에 실을 수가 없었습니다.</a:t>
            </a:r>
          </a:p>
          <a:p>
            <a:r>
              <a:t>따라서 Card 3의 해결책을 제시합니다. 가장 보수적으로 100% 사내수리인 E형만 실사 없이 직행시켜도, 실사 유입은 40% 줄고 적체 누적 속도는 81% 격감합니다. 여기서 실사 대기를 단 20%만 줄인다고 보수적으로 잡아도 15.4시간이 줄며, 앞선 OLS 계수 1.12에 따라 전체 리드타임 17.2시간 단축이 기대됩니다.</a:t>
            </a:r>
          </a:p>
          <a:p>
            <a:r>
              <a:t>다음 장에서 두 번째 과제인 '수리 품목 준비 단축 및 리워크 방지'의 구체적 실행 방안을 설명해 드리겠습니다.</a:t>
            </a:r>
          </a:p>
          <a:p/>
          <a:p>
            <a:r>
              <a:t>[예상 질문] 87.3%는 '적중률'인가? → E형+P형이 차지하는 비중(809/927)으로 낙관 상한입니다. 사내 완결이 확정된 771건 기준 보수 정합도는 83.2%이며 발표에서는 두 값을 함께 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12에서 제시한 두 번째 과제, '수리 품목 준비 기간 단축과 리워크 방지'의 구체적 실행 방안입니다.</a:t>
            </a:r>
          </a:p>
          <a:p>
            <a:r>
              <a:t>Card 1을 보시면, 접수 단계에서 스마트폰 사진 1장을 의무 등록받아 부품 모델 라벨을 사전에 특정합니다. 기사가 부품을 미리 알고 챙겨 나가기 때문에, 30.5시간이나 걸리던 자재 대기를 사전에 크게 압축할 수 있습니다.</a:t>
            </a:r>
          </a:p>
          <a:p>
            <a:r>
              <a:t>Card 2는 품질 리워크의 해결책입니다. 10일씩 걸리기도 하는 사내 리워크 26건의 85%(22건)가 E-1과 E-2 코드에 쏠려 있었습니다. 따라서 E코드 건에 대해서는 '인접 배관 2차 정밀검사 체크리스트' 작성을 의무화하여, 추가 하자를 현장에서 즉시 잡아냅니다.</a:t>
            </a:r>
          </a:p>
          <a:p>
            <a:r>
              <a:t>마지막 Card 3처럼 연관 부품을 묶은 '모듈형 번들 키트'를 들고 나가고, 사진상 외주 공사(P-4)는 즉시 외주업체로 패스트트랙 이관하면, 자재 대기(30.5h)와 리워크 루프(+32.9h)를 함께 줄일 수 있습니다.</a:t>
            </a:r>
          </a:p>
          <a:p/>
          <a:p>
            <a:r>
              <a:t>[예상 질문] 38시간 목표의 근거는? → 시뮬레이션으로 검증된 값은 '실사 대기 20% 단축 → −17.2h(−16%)'입니다. 자재 대기 사전화와 리워크 차단까지 더한 통합 목표(약 60% 이상)는 가정에 기반한 목표치이며, 파일럿 후 실측으로 확정해야 합니다. 496.1h는 E형 370건 + P형 즉시 365건(735건) × 40.5분입니다.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공공임대주택 수리 프로세스 데이터 분석 및 운영 최적화 방안 발표를 모두 마칩니다. 13,262행의 무손실 전처리부터 76.8시간의 실사 대기 병목 규명, 그리고 현장에 즉시 적용 가능한 3대 최적화 전략까지 전 과정에 대해 궁금하신 점이나 추가 논의하고 싶으신 부분에 대해 편하게 질문해 주시기 바랍니다. 경청해 주셔서 대단히 감사합니다.</a:t>
            </a:r>
          </a:p>
          <a:p/>
          <a:p>
            <a:r>
              <a:t>[핵심 숫자 치트시트] 13,262행·1,000케이스·927건 코호트(오접수 73건) / E2E 105.9h = 현장 98.3h + 접수 2.1h + 정산 5.5h / 대기·조율 90.5%(엄격 94.6%) / 실사 대기 76.8h(현장의 78.2%) / 유입 134.3건·CAPA 68.0건·WIP 피크 403건 / 교차 인계 123건 6.6배(1.2h→7.9h) / 사내수리 착수 대기 30.5h·리워크 26건 +32.9h·E-1/E-2 22건(84.6%) / 정합도 83.2~87.3% / 검증 하한 -17.2h(-16%), 통합 목표 약 38h(-64%, 가정).</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본문 7쪽의 맵은 케이스 수와 평균 대기를 중심으로 다시 그린 것이고, 이 장은 원본 맵(이벤트 수 기준)입니다. 질문이 나오면 노드별 이벤트 수와 반복 구간의 근거로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'대기·조율 90.5%'는 정산 5.5h를 시스템 처리로 보고 제외한 값이며, start→complete 구간만 작업으로 보면 94.6%입니다. 모든 수치는 scripts/verify_deck_facts.py로 원천(case_pivot_table.csv, repair_cleaned.csv)에서 재계산했습니다.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전처리 원칙은 두 가지입니다. 첫째, 행을 지우거나 평균으로 일괄 대체하지 않고 업무 인과(담당자 일치, 태스크 고유 속성, 선후행 순서)로 복원했습니다. 둘째, 후속 공정이 없어서 비어 있는 정상 결측은 보존했습니다. 복원 후 시간 역전은 0건입니다.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결론의 적용 범위를 정직하게 밝혀 두었습니다. 검증된 효과는 17.2시간 단축이고, 통합 목표인 약 38시간은 가정에 기반한 목표라 파일럿에서 확정해야 한다는 점을 질문받으면 이 장으로 답합니다.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4.xml"/><Relationship Id="rId4" Type="http://schemas.openxmlformats.org/officeDocument/2006/relationships/slide" Target="slide7.xml"/><Relationship Id="rId5" Type="http://schemas.openxmlformats.org/officeDocument/2006/relationships/slide" Target="slide12.xml"/><Relationship Id="rId6" Type="http://schemas.openxmlformats.org/officeDocument/2006/relationships/slide" Target="slide14.xml"/><Relationship Id="rId7" Type="http://schemas.openxmlformats.org/officeDocument/2006/relationships/slide" Target="slide1.xml"/><Relationship Id="rId8" Type="http://schemas.openxmlformats.org/officeDocument/2006/relationships/slide" Target="slide2.xml"/><Relationship Id="rId9" Type="http://schemas.openxmlformats.org/officeDocument/2006/relationships/slide" Target="slide3.xml"/><Relationship Id="rId10" Type="http://schemas.openxmlformats.org/officeDocument/2006/relationships/slide" Target="slide5.xml"/><Relationship Id="rId11" Type="http://schemas.openxmlformats.org/officeDocument/2006/relationships/slide" Target="slide6.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5.xml"/><Relationship Id="rId8" Type="http://schemas.openxmlformats.org/officeDocument/2006/relationships/slide" Target="slide6.xml"/><Relationship Id="rId9" Type="http://schemas.openxmlformats.org/officeDocument/2006/relationships/slide" Target="slide7.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2.xml"/><Relationship Id="rId15" Type="http://schemas.openxmlformats.org/officeDocument/2006/relationships/slide" Target="slide13.xml"/><Relationship Id="rId16" Type="http://schemas.openxmlformats.org/officeDocument/2006/relationships/slide" Target="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 Id="rId4" Type="http://schemas.openxmlformats.org/officeDocument/2006/relationships/slide" Target="slide1.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2.xml"/><Relationship Id="rId16" Type="http://schemas.openxmlformats.org/officeDocument/2006/relationships/slide" Target="slide13.xml"/><Relationship Id="rId17" Type="http://schemas.openxmlformats.org/officeDocument/2006/relationships/slide" Target="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slide" Target="slide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5.xml"/><Relationship Id="rId8" Type="http://schemas.openxmlformats.org/officeDocument/2006/relationships/slide" Target="slide6.xml"/><Relationship Id="rId9" Type="http://schemas.openxmlformats.org/officeDocument/2006/relationships/slide" Target="slide7.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2.xml"/><Relationship Id="rId15" Type="http://schemas.openxmlformats.org/officeDocument/2006/relationships/slide" Target="slide13.xml"/><Relationship Id="rId16" Type="http://schemas.openxmlformats.org/officeDocument/2006/relationships/slide" Target="slide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5.xml"/><Relationship Id="rId8" Type="http://schemas.openxmlformats.org/officeDocument/2006/relationships/slide" Target="slide6.xml"/><Relationship Id="rId9" Type="http://schemas.openxmlformats.org/officeDocument/2006/relationships/slide" Target="slide7.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2.xml"/><Relationship Id="rId15" Type="http://schemas.openxmlformats.org/officeDocument/2006/relationships/slide" Target="slide13.xml"/><Relationship Id="rId16" Type="http://schemas.openxmlformats.org/officeDocument/2006/relationships/slide" Target="slide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 Id="rId4" Type="http://schemas.openxmlformats.org/officeDocument/2006/relationships/slide" Target="slide1.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2.xml"/><Relationship Id="rId16" Type="http://schemas.openxmlformats.org/officeDocument/2006/relationships/slide" Target="slide13.xml"/><Relationship Id="rId17" Type="http://schemas.openxmlformats.org/officeDocument/2006/relationships/slide" Target="slide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 Id="rId4" Type="http://schemas.openxmlformats.org/officeDocument/2006/relationships/slide" Target="slide1.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2.xml"/><Relationship Id="rId16" Type="http://schemas.openxmlformats.org/officeDocument/2006/relationships/slide" Target="slide13.xml"/><Relationship Id="rId17" Type="http://schemas.openxmlformats.org/officeDocument/2006/relationships/slide" Target="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 Id="rId4" Type="http://schemas.openxmlformats.org/officeDocument/2006/relationships/slide" Target="slide1.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2.xml"/><Relationship Id="rId16" Type="http://schemas.openxmlformats.org/officeDocument/2006/relationships/slide" Target="slide13.xml"/><Relationship Id="rId17" Type="http://schemas.openxmlformats.org/officeDocument/2006/relationships/slide" Target="slide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0.xml"/><Relationship Id="rId5" Type="http://schemas.openxmlformats.org/officeDocument/2006/relationships/slide" Target="slide1.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1.xml"/><Relationship Id="rId5" Type="http://schemas.openxmlformats.org/officeDocument/2006/relationships/slide" Target="slide1.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 Id="rId4" Type="http://schemas.openxmlformats.org/officeDocument/2006/relationships/slide" Target="slide1.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2.xml"/><Relationship Id="rId16" Type="http://schemas.openxmlformats.org/officeDocument/2006/relationships/slide" Target="slide13.xml"/><Relationship Id="rId17" Type="http://schemas.openxmlformats.org/officeDocument/2006/relationships/slide" Target="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slide" Target="slide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5.xml"/><Relationship Id="rId8" Type="http://schemas.openxmlformats.org/officeDocument/2006/relationships/slide" Target="slide6.xml"/><Relationship Id="rId9" Type="http://schemas.openxmlformats.org/officeDocument/2006/relationships/slide" Target="slide7.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2.xml"/><Relationship Id="rId15" Type="http://schemas.openxmlformats.org/officeDocument/2006/relationships/slide" Target="slide13.xml"/><Relationship Id="rId16" Type="http://schemas.openxmlformats.org/officeDocument/2006/relationships/slide" Target="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slide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5.xml"/><Relationship Id="rId8" Type="http://schemas.openxmlformats.org/officeDocument/2006/relationships/slide" Target="slide6.xml"/><Relationship Id="rId9" Type="http://schemas.openxmlformats.org/officeDocument/2006/relationships/slide" Target="slide7.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2.xml"/><Relationship Id="rId15" Type="http://schemas.openxmlformats.org/officeDocument/2006/relationships/slide" Target="slide13.xml"/><Relationship Id="rId16" Type="http://schemas.openxmlformats.org/officeDocument/2006/relationships/slide" Target="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Pill-채용 과제 전형 최종 "/>
          <p:cNvSpPr/>
          <p:nvPr/>
        </p:nvSpPr>
        <p:spPr>
          <a:xfrm>
            <a:off x="731520" y="868680"/>
            <a:ext cx="2098040" cy="292608"/>
          </a:xfrm>
          <a:prstGeom prst="roundRect">
            <a:avLst>
              <a:gd name="adj" fmla="val 5000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100" b="1" i="0">
                <a:solidFill>
                  <a:srgbClr val="1D4ED8"/>
                </a:solidFill>
                <a:latin typeface="맑은 고딕"/>
                <a:ea typeface="맑은 고딕"/>
                <a:cs typeface="맑은 고딕"/>
              </a:rPr>
              <a:t>채용 과제 전형 최종 보고서</a:t>
            </a:r>
          </a:p>
        </p:txBody>
      </p:sp>
      <p:sp>
        <p:nvSpPr>
          <p:cNvPr id="3" name="CoverTitle"/>
          <p:cNvSpPr txBox="1"/>
          <p:nvPr/>
        </p:nvSpPr>
        <p:spPr>
          <a:xfrm>
            <a:off x="731520" y="1325880"/>
            <a:ext cx="7040880" cy="2103120"/>
          </a:xfrm>
          <a:prstGeom prst="rect">
            <a:avLst/>
          </a:prstGeom>
          <a:noFill/>
        </p:spPr>
        <p:txBody>
          <a:bodyPr wrap="square" lIns="0" tIns="0" rIns="0" bIns="0" anchor="t"/>
          <a:lstStyle/>
          <a:p>
            <a:pPr algn="l" eaLnBrk="0">
              <a:lnSpc>
                <a:spcPct val="95000"/>
              </a:lnSpc>
              <a:spcBef>
                <a:spcPts val="0"/>
              </a:spcBef>
              <a:spcAft>
                <a:spcPts val="0"/>
              </a:spcAft>
              <a:buNone/>
            </a:pPr>
            <a:r>
              <a:rPr sz="3800" b="1" i="0">
                <a:solidFill>
                  <a:srgbClr val="0F172A"/>
                </a:solidFill>
                <a:latin typeface="맑은 고딕"/>
                <a:ea typeface="맑은 고딕"/>
                <a:cs typeface="맑은 고딕"/>
              </a:rPr>
              <a:t>프로세스 마이닝 기반</a:t>
            </a:r>
            <a:br/>
            <a:r>
              <a:rPr sz="3800" b="1" i="0">
                <a:solidFill>
                  <a:srgbClr val="0F172A"/>
                </a:solidFill>
                <a:latin typeface="맑은 고딕"/>
                <a:ea typeface="맑은 고딕"/>
                <a:cs typeface="맑은 고딕"/>
              </a:rPr>
              <a:t>공공임대주택 수리 프로세스</a:t>
            </a:r>
            <a:br/>
            <a:r>
              <a:rPr sz="3800" b="1" i="0">
                <a:solidFill>
                  <a:srgbClr val="0F172A"/>
                </a:solidFill>
                <a:latin typeface="맑은 고딕"/>
                <a:ea typeface="맑은 고딕"/>
                <a:cs typeface="맑은 고딕"/>
              </a:rPr>
              <a:t>진단 및 운영 최적화 방안</a:t>
            </a:r>
          </a:p>
        </p:txBody>
      </p:sp>
      <p:sp>
        <p:nvSpPr>
          <p:cNvPr id="4" name="CoverSub"/>
          <p:cNvSpPr txBox="1"/>
          <p:nvPr/>
        </p:nvSpPr>
        <p:spPr>
          <a:xfrm>
            <a:off x="731520" y="3520440"/>
            <a:ext cx="6766560" cy="777240"/>
          </a:xfrm>
          <a:prstGeom prst="rect">
            <a:avLst/>
          </a:prstGeom>
          <a:noFill/>
        </p:spPr>
        <p:txBody>
          <a:bodyPr wrap="square" lIns="0" tIns="0" rIns="0" bIns="0" anchor="t"/>
          <a:lstStyle/>
          <a:p>
            <a:pPr algn="l" eaLnBrk="0">
              <a:lnSpc>
                <a:spcPct val="100000"/>
              </a:lnSpc>
              <a:spcBef>
                <a:spcPts val="0"/>
              </a:spcBef>
              <a:spcAft>
                <a:spcPts val="0"/>
              </a:spcAft>
              <a:buNone/>
            </a:pPr>
            <a:r>
              <a:rPr sz="1700" b="0" i="0">
                <a:solidFill>
                  <a:srgbClr val="475569"/>
                </a:solidFill>
                <a:latin typeface="맑은 고딕"/>
                <a:ea typeface="맑은 고딕"/>
                <a:cs typeface="맑은 고딕"/>
              </a:rPr>
              <a:t>5대 무손실 전처리, 실사 대기 병목(76.8h) 원인 규명 및 3대 데이터</a:t>
            </a:r>
            <a:br/>
            <a:r>
              <a:rPr sz="1700" b="0" i="0">
                <a:solidFill>
                  <a:srgbClr val="475569"/>
                </a:solidFill>
                <a:latin typeface="맑은 고딕"/>
                <a:ea typeface="맑은 고딕"/>
                <a:cs typeface="맑은 고딕"/>
              </a:rPr>
              <a:t>기반 TO-BE 전략</a:t>
            </a:r>
          </a:p>
        </p:txBody>
      </p:sp>
      <p:sp>
        <p:nvSpPr>
          <p:cNvPr id="5" name="TextBox 4"/>
          <p:cNvSpPr txBox="1"/>
          <p:nvPr/>
        </p:nvSpPr>
        <p:spPr>
          <a:xfrm>
            <a:off x="731520" y="4526280"/>
            <a:ext cx="6766560" cy="256032"/>
          </a:xfrm>
          <a:prstGeom prst="rect">
            <a:avLst/>
          </a:prstGeom>
          <a:noFill/>
        </p:spPr>
        <p:txBody>
          <a:bodyPr wrap="square" lIns="0" tIns="0" rIns="0" bIns="0" anchor="t"/>
          <a:lstStyle/>
          <a:p>
            <a:pPr algn="l" eaLnBrk="0">
              <a:lnSpc>
                <a:spcPct val="100000"/>
              </a:lnSpc>
              <a:spcBef>
                <a:spcPts val="0"/>
              </a:spcBef>
              <a:spcAft>
                <a:spcPts val="0"/>
              </a:spcAft>
              <a:buNone/>
            </a:pPr>
            <a:r>
              <a:rPr sz="1100" b="1" i="0">
                <a:solidFill>
                  <a:srgbClr val="475569"/>
                </a:solidFill>
                <a:latin typeface="맑은 고딕"/>
                <a:ea typeface="맑은 고딕"/>
                <a:cs typeface="맑은 고딕"/>
              </a:rPr>
              <a:t>E2E 리드타임 105.9h의 구성</a:t>
            </a:r>
          </a:p>
        </p:txBody>
      </p:sp>
      <p:sp>
        <p:nvSpPr>
          <p:cNvPr id="6" name="LeadBar-1"/>
          <p:cNvSpPr/>
          <p:nvPr/>
        </p:nvSpPr>
        <p:spPr>
          <a:xfrm>
            <a:off x="731520" y="4828032"/>
            <a:ext cx="264654" cy="32918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adBar-2"/>
          <p:cNvSpPr/>
          <p:nvPr/>
        </p:nvSpPr>
        <p:spPr>
          <a:xfrm>
            <a:off x="1023606" y="4828032"/>
            <a:ext cx="324733" cy="329184"/>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eadBar-3"/>
          <p:cNvSpPr/>
          <p:nvPr/>
        </p:nvSpPr>
        <p:spPr>
          <a:xfrm>
            <a:off x="1375771" y="4828032"/>
            <a:ext cx="6122308" cy="32918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248656"/>
            <a:ext cx="6766560" cy="274320"/>
          </a:xfrm>
          <a:prstGeom prst="rect">
            <a:avLst/>
          </a:prstGeom>
          <a:noFill/>
        </p:spPr>
        <p:txBody>
          <a:bodyPr wrap="square" lIns="0" tIns="0" rIns="0" bIns="0" anchor="t"/>
          <a:lstStyle/>
          <a:p>
            <a:pPr algn="l" eaLnBrk="0">
              <a:lnSpc>
                <a:spcPct val="100000"/>
              </a:lnSpc>
              <a:spcBef>
                <a:spcPts val="0"/>
              </a:spcBef>
              <a:spcAft>
                <a:spcPts val="0"/>
              </a:spcAft>
              <a:buNone/>
            </a:pPr>
            <a:r>
              <a:rPr sz="1100" b="1" i="0">
                <a:solidFill>
                  <a:srgbClr val="2563EB"/>
                </a:solidFill>
                <a:latin typeface="맑은 고딕"/>
                <a:ea typeface="맑은 고딕"/>
                <a:cs typeface="맑은 고딕"/>
              </a:rPr>
              <a:t>■ </a:t>
            </a:r>
            <a:r>
              <a:rPr sz="1050" b="0" i="0">
                <a:solidFill>
                  <a:srgbClr val="475569"/>
                </a:solidFill>
                <a:latin typeface="맑은 고딕"/>
                <a:ea typeface="맑은 고딕"/>
                <a:cs typeface="맑은 고딕"/>
              </a:rPr>
              <a:t>현장 실작업 4.6h   </a:t>
            </a:r>
            <a:r>
              <a:rPr sz="1100" b="1" i="0">
                <a:solidFill>
                  <a:srgbClr val="059669"/>
                </a:solidFill>
                <a:latin typeface="맑은 고딕"/>
                <a:ea typeface="맑은 고딕"/>
                <a:cs typeface="맑은 고딕"/>
              </a:rPr>
              <a:t>■ </a:t>
            </a:r>
            <a:r>
              <a:rPr sz="1050" b="0" i="0">
                <a:solidFill>
                  <a:srgbClr val="475569"/>
                </a:solidFill>
                <a:latin typeface="맑은 고딕"/>
                <a:ea typeface="맑은 고딕"/>
                <a:cs typeface="맑은 고딕"/>
              </a:rPr>
              <a:t>정산 시스템 처리 5.5h   </a:t>
            </a:r>
            <a:r>
              <a:rPr sz="1100" b="1" i="0">
                <a:solidFill>
                  <a:srgbClr val="DC2626"/>
                </a:solidFill>
                <a:latin typeface="맑은 고딕"/>
                <a:ea typeface="맑은 고딕"/>
                <a:cs typeface="맑은 고딕"/>
              </a:rPr>
              <a:t>■ </a:t>
            </a:r>
            <a:r>
              <a:rPr sz="1050" b="1" i="0">
                <a:solidFill>
                  <a:srgbClr val="1E293B"/>
                </a:solidFill>
                <a:latin typeface="맑은 고딕"/>
                <a:ea typeface="맑은 고딕"/>
                <a:cs typeface="맑은 고딕"/>
              </a:rPr>
              <a:t>대기·조율 95.8h (90.5%)</a:t>
            </a:r>
          </a:p>
        </p:txBody>
      </p:sp>
      <p:sp>
        <p:nvSpPr>
          <p:cNvPr id="10" name="CoverMeta"/>
          <p:cNvSpPr txBox="1"/>
          <p:nvPr/>
        </p:nvSpPr>
        <p:spPr>
          <a:xfrm>
            <a:off x="731520" y="5989320"/>
            <a:ext cx="6949440" cy="274320"/>
          </a:xfrm>
          <a:prstGeom prst="rect">
            <a:avLst/>
          </a:prstGeom>
          <a:noFill/>
        </p:spPr>
        <p:txBody>
          <a:bodyPr wrap="square" lIns="0" tIns="0" rIns="0" bIns="0" anchor="t"/>
          <a:lstStyle/>
          <a:p>
            <a:pPr algn="l" eaLnBrk="0">
              <a:lnSpc>
                <a:spcPct val="100000"/>
              </a:lnSpc>
              <a:spcBef>
                <a:spcPts val="0"/>
              </a:spcBef>
              <a:spcAft>
                <a:spcPts val="0"/>
              </a:spcAft>
              <a:buNone/>
            </a:pPr>
            <a:r>
              <a:rPr sz="1100" b="0" i="0">
                <a:solidFill>
                  <a:srgbClr val="64748B"/>
                </a:solidFill>
                <a:latin typeface="맑은 고딕"/>
                <a:ea typeface="맑은 고딕"/>
                <a:cs typeface="맑은 고딕"/>
              </a:rPr>
              <a:t>퍼즐데이터 수리 프로세스 데이터 분석 과제  |  제출일 2026. 10. 27</a:t>
            </a:r>
          </a:p>
        </p:txBody>
      </p:sp>
      <p:sp>
        <p:nvSpPr>
          <p:cNvPr id="11" name="KPI-1"/>
          <p:cNvSpPr/>
          <p:nvPr/>
        </p:nvSpPr>
        <p:spPr>
          <a:xfrm>
            <a:off x="8092440" y="868680"/>
            <a:ext cx="3611880" cy="1627632"/>
          </a:xfrm>
          <a:prstGeom prst="roundRect">
            <a:avLst>
              <a:gd name="adj" fmla="val 7865"/>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014983"/>
            <a:ext cx="3108960" cy="566928"/>
          </a:xfrm>
          <a:prstGeom prst="rect">
            <a:avLst/>
          </a:prstGeom>
          <a:noFill/>
        </p:spPr>
        <p:txBody>
          <a:bodyPr wrap="square" lIns="0" tIns="0" rIns="0" bIns="0" anchor="t"/>
          <a:lstStyle/>
          <a:p>
            <a:pPr algn="l" eaLnBrk="0">
              <a:lnSpc>
                <a:spcPct val="100000"/>
              </a:lnSpc>
              <a:spcBef>
                <a:spcPts val="0"/>
              </a:spcBef>
              <a:spcAft>
                <a:spcPts val="0"/>
              </a:spcAft>
              <a:buNone/>
            </a:pPr>
            <a:r>
              <a:rPr sz="3400" b="1" i="0">
                <a:solidFill>
                  <a:srgbClr val="2563EB"/>
                </a:solidFill>
                <a:latin typeface="Consolas"/>
                <a:ea typeface="맑은 고딕"/>
                <a:cs typeface="맑은 고딕"/>
              </a:rPr>
              <a:t>13,262행</a:t>
            </a:r>
          </a:p>
        </p:txBody>
      </p:sp>
      <p:sp>
        <p:nvSpPr>
          <p:cNvPr id="13" name="TextBox 12"/>
          <p:cNvSpPr txBox="1"/>
          <p:nvPr/>
        </p:nvSpPr>
        <p:spPr>
          <a:xfrm>
            <a:off x="8366760" y="1636776"/>
            <a:ext cx="3108960" cy="457200"/>
          </a:xfrm>
          <a:prstGeom prst="rect">
            <a:avLst/>
          </a:prstGeom>
          <a:noFill/>
        </p:spPr>
        <p:txBody>
          <a:bodyPr wrap="square" lIns="0" tIns="0" rIns="0" bIns="0" anchor="t"/>
          <a:lstStyle/>
          <a:p>
            <a:pPr algn="l" eaLnBrk="0">
              <a:lnSpc>
                <a:spcPct val="100000"/>
              </a:lnSpc>
              <a:spcBef>
                <a:spcPts val="0"/>
              </a:spcBef>
              <a:spcAft>
                <a:spcPts val="0"/>
              </a:spcAft>
              <a:buNone/>
            </a:pPr>
            <a:r>
              <a:rPr sz="1150" b="0" i="0">
                <a:solidFill>
                  <a:srgbClr val="475569"/>
                </a:solidFill>
                <a:latin typeface="맑은 고딕"/>
                <a:ea typeface="맑은 고딕"/>
                <a:cs typeface="맑은 고딕"/>
              </a:rPr>
              <a:t>전체 이벤트 로그 · 1,000 케이스 무손실 복원</a:t>
            </a:r>
          </a:p>
        </p:txBody>
      </p:sp>
      <p:sp>
        <p:nvSpPr>
          <p:cNvPr id="14" name="Pill-#ProcessMini"/>
          <p:cNvSpPr/>
          <p:nvPr/>
        </p:nvSpPr>
        <p:spPr>
          <a:xfrm>
            <a:off x="8366760" y="2130552"/>
            <a:ext cx="1203325"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1E40AF"/>
                </a:solidFill>
                <a:latin typeface="Consolas"/>
                <a:ea typeface="맑은 고딕"/>
                <a:cs typeface="맑은 고딕"/>
              </a:rPr>
              <a:t>#ProcessMining</a:t>
            </a:r>
          </a:p>
        </p:txBody>
      </p:sp>
      <p:sp>
        <p:nvSpPr>
          <p:cNvPr id="15" name="KPI-2"/>
          <p:cNvSpPr/>
          <p:nvPr/>
        </p:nvSpPr>
        <p:spPr>
          <a:xfrm>
            <a:off x="8092440" y="2679191"/>
            <a:ext cx="3611880" cy="1627632"/>
          </a:xfrm>
          <a:prstGeom prst="roundRect">
            <a:avLst>
              <a:gd name="adj" fmla="val 7865"/>
            </a:avLst>
          </a:prstGeom>
          <a:solidFill>
            <a:srgbClr val="FFFFFF"/>
          </a:solidFill>
          <a:ln w="12700">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2825496"/>
            <a:ext cx="3108960" cy="566928"/>
          </a:xfrm>
          <a:prstGeom prst="rect">
            <a:avLst/>
          </a:prstGeom>
          <a:noFill/>
        </p:spPr>
        <p:txBody>
          <a:bodyPr wrap="square" lIns="0" tIns="0" rIns="0" bIns="0" anchor="t"/>
          <a:lstStyle/>
          <a:p>
            <a:pPr algn="l" eaLnBrk="0">
              <a:lnSpc>
                <a:spcPct val="100000"/>
              </a:lnSpc>
              <a:spcBef>
                <a:spcPts val="0"/>
              </a:spcBef>
              <a:spcAft>
                <a:spcPts val="0"/>
              </a:spcAft>
              <a:buNone/>
            </a:pPr>
            <a:r>
              <a:rPr sz="3400" b="1" i="0">
                <a:solidFill>
                  <a:srgbClr val="EA580C"/>
                </a:solidFill>
                <a:latin typeface="Consolas"/>
                <a:ea typeface="맑은 고딕"/>
                <a:cs typeface="맑은 고딕"/>
              </a:rPr>
              <a:t>90.5%</a:t>
            </a:r>
          </a:p>
        </p:txBody>
      </p:sp>
      <p:sp>
        <p:nvSpPr>
          <p:cNvPr id="17" name="TextBox 16"/>
          <p:cNvSpPr txBox="1"/>
          <p:nvPr/>
        </p:nvSpPr>
        <p:spPr>
          <a:xfrm>
            <a:off x="8366760" y="3447287"/>
            <a:ext cx="3108960" cy="457200"/>
          </a:xfrm>
          <a:prstGeom prst="rect">
            <a:avLst/>
          </a:prstGeom>
          <a:noFill/>
        </p:spPr>
        <p:txBody>
          <a:bodyPr wrap="square" lIns="0" tIns="0" rIns="0" bIns="0" anchor="t"/>
          <a:lstStyle/>
          <a:p>
            <a:pPr algn="l" eaLnBrk="0">
              <a:lnSpc>
                <a:spcPct val="100000"/>
              </a:lnSpc>
              <a:spcBef>
                <a:spcPts val="0"/>
              </a:spcBef>
              <a:spcAft>
                <a:spcPts val="0"/>
              </a:spcAft>
              <a:buNone/>
            </a:pPr>
            <a:r>
              <a:rPr sz="1150" b="0" i="0">
                <a:solidFill>
                  <a:srgbClr val="475569"/>
                </a:solidFill>
                <a:latin typeface="맑은 고딕"/>
                <a:ea typeface="맑은 고딕"/>
                <a:cs typeface="맑은 고딕"/>
              </a:rPr>
              <a:t>리드타임(105.9h) 중 공정 간 대기·조율 시간</a:t>
            </a:r>
          </a:p>
        </p:txBody>
      </p:sp>
      <p:sp>
        <p:nvSpPr>
          <p:cNvPr id="18" name="Pill-#LeadTime_Wa"/>
          <p:cNvSpPr/>
          <p:nvPr/>
        </p:nvSpPr>
        <p:spPr>
          <a:xfrm>
            <a:off x="8366760" y="3941063"/>
            <a:ext cx="1203325"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Consolas"/>
                <a:ea typeface="맑은 고딕"/>
                <a:cs typeface="맑은 고딕"/>
              </a:rPr>
              <a:t>#LeadTime_Wait</a:t>
            </a:r>
          </a:p>
        </p:txBody>
      </p:sp>
      <p:sp>
        <p:nvSpPr>
          <p:cNvPr id="19" name="KPI-3"/>
          <p:cNvSpPr/>
          <p:nvPr/>
        </p:nvSpPr>
        <p:spPr>
          <a:xfrm>
            <a:off x="8092440" y="4489704"/>
            <a:ext cx="3611880" cy="1627632"/>
          </a:xfrm>
          <a:prstGeom prst="roundRect">
            <a:avLst>
              <a:gd name="adj" fmla="val 7865"/>
            </a:avLst>
          </a:prstGeom>
          <a:solidFill>
            <a:srgbClr val="FFFFFF"/>
          </a:solidFill>
          <a:ln w="12700">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4636008"/>
            <a:ext cx="3108960" cy="566928"/>
          </a:xfrm>
          <a:prstGeom prst="rect">
            <a:avLst/>
          </a:prstGeom>
          <a:noFill/>
        </p:spPr>
        <p:txBody>
          <a:bodyPr wrap="square" lIns="0" tIns="0" rIns="0" bIns="0" anchor="t"/>
          <a:lstStyle/>
          <a:p>
            <a:pPr algn="l" eaLnBrk="0">
              <a:lnSpc>
                <a:spcPct val="100000"/>
              </a:lnSpc>
              <a:spcBef>
                <a:spcPts val="0"/>
              </a:spcBef>
              <a:spcAft>
                <a:spcPts val="0"/>
              </a:spcAft>
              <a:buNone/>
            </a:pPr>
            <a:r>
              <a:rPr sz="2000" b="1" i="0">
                <a:solidFill>
                  <a:srgbClr val="059669"/>
                </a:solidFill>
                <a:latin typeface="맑은 고딕"/>
                <a:ea typeface="맑은 고딕"/>
                <a:cs typeface="맑은 고딕"/>
              </a:rPr>
              <a:t>▼ </a:t>
            </a:r>
            <a:r>
              <a:rPr sz="3400" b="1" i="0">
                <a:solidFill>
                  <a:srgbClr val="059669"/>
                </a:solidFill>
                <a:latin typeface="Consolas"/>
                <a:ea typeface="맑은 고딕"/>
                <a:cs typeface="맑은 고딕"/>
              </a:rPr>
              <a:t>64%</a:t>
            </a:r>
          </a:p>
        </p:txBody>
      </p:sp>
      <p:sp>
        <p:nvSpPr>
          <p:cNvPr id="21" name="TextBox 20"/>
          <p:cNvSpPr txBox="1"/>
          <p:nvPr/>
        </p:nvSpPr>
        <p:spPr>
          <a:xfrm>
            <a:off x="8366760" y="5257800"/>
            <a:ext cx="3108960" cy="457200"/>
          </a:xfrm>
          <a:prstGeom prst="rect">
            <a:avLst/>
          </a:prstGeom>
          <a:noFill/>
        </p:spPr>
        <p:txBody>
          <a:bodyPr wrap="square" lIns="0" tIns="0" rIns="0" bIns="0" anchor="t"/>
          <a:lstStyle/>
          <a:p>
            <a:pPr algn="l" eaLnBrk="0">
              <a:lnSpc>
                <a:spcPct val="100000"/>
              </a:lnSpc>
              <a:spcBef>
                <a:spcPts val="0"/>
              </a:spcBef>
              <a:spcAft>
                <a:spcPts val="0"/>
              </a:spcAft>
              <a:buNone/>
            </a:pPr>
            <a:r>
              <a:rPr sz="1150" b="0" i="0">
                <a:solidFill>
                  <a:srgbClr val="475569"/>
                </a:solidFill>
                <a:latin typeface="맑은 고딕"/>
                <a:ea typeface="맑은 고딕"/>
                <a:cs typeface="맑은 고딕"/>
              </a:rPr>
              <a:t>TO-BE 1회 방문 패스트트랙 리드타임 감축</a:t>
            </a:r>
            <a:br/>
            <a:r>
              <a:rPr sz="1150" b="0" i="0">
                <a:solidFill>
                  <a:srgbClr val="475569"/>
                </a:solidFill>
                <a:latin typeface="맑은 고딕"/>
                <a:ea typeface="맑은 고딕"/>
                <a:cs typeface="맑은 고딕"/>
              </a:rPr>
              <a:t>목표 (105.9h ➔ 38.0h)</a:t>
            </a:r>
          </a:p>
        </p:txBody>
      </p:sp>
      <p:sp>
        <p:nvSpPr>
          <p:cNvPr id="22" name="Pill-#TO-BE_ROI"/>
          <p:cNvSpPr/>
          <p:nvPr/>
        </p:nvSpPr>
        <p:spPr>
          <a:xfrm>
            <a:off x="8366760" y="5751576"/>
            <a:ext cx="937895"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Consolas"/>
                <a:ea typeface="맑은 고딕"/>
                <a:cs typeface="맑은 고딕"/>
              </a:rPr>
              <a:t>#TO-BE_ROI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148394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AGENDA · 전체 개요</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원천 데이터 전처리부터 TO-BE 전략까지, 4개 파트로 보고합니다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슬라이드 구성: 질문 1 (04–06) · 질문 2 (07–11) · 질문 3 (12–13) · 질의응답 (14) · 부록 (A-1~A-4)</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02 / 14</a:t>
            </a:r>
          </a:p>
        </p:txBody>
      </p:sp>
      <p:sp>
        <p:nvSpPr>
          <p:cNvPr id="20" name="Tile-01"/>
          <p:cNvSpPr/>
          <p:nvPr/>
        </p:nvSpPr>
        <p:spPr>
          <a:xfrm>
            <a:off x="502920" y="1691640"/>
            <a:ext cx="2633472" cy="4480560"/>
          </a:xfrm>
          <a:prstGeom prst="roundRect">
            <a:avLst>
              <a:gd name="adj" fmla="val 486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1828800"/>
            <a:ext cx="1280160" cy="640080"/>
          </a:xfrm>
          <a:prstGeom prst="rect">
            <a:avLst/>
          </a:prstGeom>
          <a:noFill/>
        </p:spPr>
        <p:txBody>
          <a:bodyPr wrap="square" lIns="0" tIns="0" rIns="0" bIns="0" anchor="t"/>
          <a:lstStyle/>
          <a:p>
            <a:pPr algn="l" eaLnBrk="0">
              <a:lnSpc>
                <a:spcPct val="100000"/>
              </a:lnSpc>
              <a:spcBef>
                <a:spcPts val="0"/>
              </a:spcBef>
              <a:spcAft>
                <a:spcPts val="0"/>
              </a:spcAft>
              <a:buNone/>
            </a:pPr>
            <a:r>
              <a:rPr sz="4000" b="1" i="0">
                <a:solidFill>
                  <a:srgbClr val="CBD5E1"/>
                </a:solidFill>
                <a:latin typeface="Consolas"/>
                <a:ea typeface="맑은 고딕"/>
                <a:cs typeface="맑은 고딕"/>
              </a:rPr>
              <a:t>01</a:t>
            </a:r>
          </a:p>
        </p:txBody>
      </p:sp>
      <p:sp>
        <p:nvSpPr>
          <p:cNvPr id="22" name="TextBox 21"/>
          <p:cNvSpPr txBox="1"/>
          <p:nvPr/>
        </p:nvSpPr>
        <p:spPr>
          <a:xfrm>
            <a:off x="1993391" y="1938528"/>
            <a:ext cx="914400" cy="228600"/>
          </a:xfrm>
          <a:prstGeom prst="rect">
            <a:avLst/>
          </a:prstGeom>
          <a:noFill/>
        </p:spPr>
        <p:txBody>
          <a:bodyPr wrap="square" lIns="0" tIns="0" rIns="0" bIns="0" anchor="t"/>
          <a:lstStyle/>
          <a:p>
            <a:pPr algn="r" eaLnBrk="0">
              <a:lnSpc>
                <a:spcPct val="100000"/>
              </a:lnSpc>
              <a:spcBef>
                <a:spcPts val="0"/>
              </a:spcBef>
              <a:spcAft>
                <a:spcPts val="0"/>
              </a:spcAft>
              <a:buNone/>
            </a:pPr>
            <a:r>
              <a:rPr sz="950" b="1" i="0">
                <a:solidFill>
                  <a:srgbClr val="64748B"/>
                </a:solidFill>
                <a:latin typeface="Consolas"/>
                <a:ea typeface="맑은 고딕"/>
                <a:cs typeface="맑은 고딕"/>
              </a:rPr>
              <a:t>Slide 04–06</a:t>
            </a:r>
          </a:p>
        </p:txBody>
      </p:sp>
      <p:sp>
        <p:nvSpPr>
          <p:cNvPr id="23" name="Pill-질문 1"/>
          <p:cNvSpPr/>
          <p:nvPr/>
        </p:nvSpPr>
        <p:spPr>
          <a:xfrm>
            <a:off x="731520" y="2606040"/>
            <a:ext cx="646430"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1E40AF"/>
                </a:solidFill>
                <a:latin typeface="맑은 고딕"/>
                <a:ea typeface="맑은 고딕"/>
                <a:cs typeface="맑은 고딕"/>
              </a:rPr>
              <a:t>질문 1</a:t>
            </a:r>
          </a:p>
        </p:txBody>
      </p:sp>
      <p:sp>
        <p:nvSpPr>
          <p:cNvPr id="24" name="TextBox 23"/>
          <p:cNvSpPr txBox="1"/>
          <p:nvPr/>
        </p:nvSpPr>
        <p:spPr>
          <a:xfrm>
            <a:off x="731520" y="2971800"/>
            <a:ext cx="2176272" cy="685800"/>
          </a:xfrm>
          <a:prstGeom prst="rect">
            <a:avLst/>
          </a:prstGeom>
          <a:noFill/>
        </p:spPr>
        <p:txBody>
          <a:bodyPr wrap="square" lIns="0" tIns="0" rIns="0" bIns="0" anchor="t"/>
          <a:lstStyle/>
          <a:p>
            <a:pPr algn="l" eaLnBrk="0">
              <a:lnSpc>
                <a:spcPct val="95000"/>
              </a:lnSpc>
              <a:spcBef>
                <a:spcPts val="0"/>
              </a:spcBef>
              <a:spcAft>
                <a:spcPts val="0"/>
              </a:spcAft>
              <a:buNone/>
            </a:pPr>
            <a:r>
              <a:rPr sz="1700" b="1" i="0">
                <a:solidFill>
                  <a:srgbClr val="0F172A"/>
                </a:solidFill>
                <a:latin typeface="맑은 고딕"/>
                <a:ea typeface="맑은 고딕"/>
                <a:cs typeface="맑은 고딕"/>
              </a:rPr>
              <a:t>데이터 진단 및</a:t>
            </a:r>
            <a:br/>
            <a:r>
              <a:rPr sz="1700" b="1" i="0">
                <a:solidFill>
                  <a:srgbClr val="0F172A"/>
                </a:solidFill>
                <a:latin typeface="맑은 고딕"/>
                <a:ea typeface="맑은 고딕"/>
                <a:cs typeface="맑은 고딕"/>
              </a:rPr>
              <a:t>전처리</a:t>
            </a:r>
          </a:p>
        </p:txBody>
      </p:sp>
      <p:sp>
        <p:nvSpPr>
          <p:cNvPr id="25" name="TextBox 24"/>
          <p:cNvSpPr txBox="1"/>
          <p:nvPr/>
        </p:nvSpPr>
        <p:spPr>
          <a:xfrm>
            <a:off x="731520" y="3657600"/>
            <a:ext cx="2176272" cy="1508760"/>
          </a:xfrm>
          <a:prstGeom prst="rect">
            <a:avLst/>
          </a:prstGeom>
          <a:noFill/>
        </p:spPr>
        <p:txBody>
          <a:bodyPr wrap="square" lIns="0" tIns="0" rIns="0" bIns="0" anchor="t"/>
          <a:lstStyle/>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13,262행 이벤트 로그 수사</a:t>
            </a:r>
            <a:br/>
            <a:r>
              <a:rPr sz="1150" b="0" i="0">
                <a:solidFill>
                  <a:srgbClr val="475569"/>
                </a:solidFill>
                <a:latin typeface="맑은 고딕"/>
                <a:ea typeface="맑은 고딕"/>
                <a:cs typeface="맑은 고딕"/>
              </a:rPr>
              <a:t>프로파일링</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도메인 인과 기반 5대 결측치</a:t>
            </a:r>
            <a:br/>
            <a:r>
              <a:rPr sz="1150" b="0" i="0">
                <a:solidFill>
                  <a:srgbClr val="475569"/>
                </a:solidFill>
                <a:latin typeface="맑은 고딕"/>
                <a:ea typeface="맑은 고딕"/>
                <a:cs typeface="맑은 고딕"/>
              </a:rPr>
              <a:t>100% 무손실 복원</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시간 역전 0건 입증 및 927건</a:t>
            </a:r>
            <a:br/>
            <a:r>
              <a:rPr sz="1150" b="0" i="0">
                <a:solidFill>
                  <a:srgbClr val="475569"/>
                </a:solidFill>
                <a:latin typeface="맑은 고딕"/>
                <a:ea typeface="맑은 고딕"/>
                <a:cs typeface="맑은 고딕"/>
              </a:rPr>
              <a:t>코호트 확립</a:t>
            </a:r>
          </a:p>
        </p:txBody>
      </p:sp>
      <p:sp>
        <p:nvSpPr>
          <p:cNvPr id="26" name="TextBox 25"/>
          <p:cNvSpPr txBox="1"/>
          <p:nvPr/>
        </p:nvSpPr>
        <p:spPr>
          <a:xfrm>
            <a:off x="731520" y="5230368"/>
            <a:ext cx="2176272" cy="457200"/>
          </a:xfrm>
          <a:prstGeom prst="rect">
            <a:avLst/>
          </a:prstGeom>
          <a:noFill/>
        </p:spPr>
        <p:txBody>
          <a:bodyPr wrap="square" lIns="0" tIns="0" rIns="0" bIns="0" anchor="t"/>
          <a:lstStyle/>
          <a:p>
            <a:pPr algn="l" eaLnBrk="0">
              <a:lnSpc>
                <a:spcPct val="100000"/>
              </a:lnSpc>
              <a:spcBef>
                <a:spcPts val="0"/>
              </a:spcBef>
              <a:spcAft>
                <a:spcPts val="0"/>
              </a:spcAft>
              <a:buNone/>
            </a:pPr>
            <a:r>
              <a:rPr sz="2400" b="1" i="0">
                <a:solidFill>
                  <a:srgbClr val="0F172A"/>
                </a:solidFill>
                <a:latin typeface="Consolas"/>
                <a:ea typeface="맑은 고딕"/>
                <a:cs typeface="맑은 고딕"/>
              </a:rPr>
              <a:t>927건</a:t>
            </a:r>
          </a:p>
        </p:txBody>
      </p:sp>
      <p:sp>
        <p:nvSpPr>
          <p:cNvPr id="27" name="TextBox 26"/>
          <p:cNvSpPr txBox="1"/>
          <p:nvPr/>
        </p:nvSpPr>
        <p:spPr>
          <a:xfrm>
            <a:off x="731520" y="5687568"/>
            <a:ext cx="2176272" cy="274320"/>
          </a:xfrm>
          <a:prstGeom prst="rect">
            <a:avLst/>
          </a:prstGeom>
          <a:noFill/>
        </p:spPr>
        <p:txBody>
          <a:bodyPr wrap="square" lIns="0" tIns="0" rIns="0" bIns="0" anchor="t"/>
          <a:lstStyle/>
          <a:p>
            <a:pPr algn="l" eaLnBrk="0">
              <a:lnSpc>
                <a:spcPct val="100000"/>
              </a:lnSpc>
              <a:spcBef>
                <a:spcPts val="0"/>
              </a:spcBef>
              <a:spcAft>
                <a:spcPts val="0"/>
              </a:spcAft>
              <a:buNone/>
            </a:pPr>
            <a:r>
              <a:rPr sz="1000" b="0" i="0">
                <a:solidFill>
                  <a:srgbClr val="64748B"/>
                </a:solidFill>
                <a:latin typeface="맑은 고딕"/>
                <a:ea typeface="맑은 고딕"/>
                <a:cs typeface="맑은 고딕"/>
              </a:rPr>
              <a:t>분석 코호트 · 시간 역전 0건</a:t>
            </a:r>
          </a:p>
        </p:txBody>
      </p:sp>
      <p:sp>
        <p:nvSpPr>
          <p:cNvPr id="28" name="Tile-02"/>
          <p:cNvSpPr/>
          <p:nvPr/>
        </p:nvSpPr>
        <p:spPr>
          <a:xfrm>
            <a:off x="3353714" y="1691640"/>
            <a:ext cx="2633472" cy="4480560"/>
          </a:xfrm>
          <a:prstGeom prst="roundRect">
            <a:avLst>
              <a:gd name="adj" fmla="val 486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82314" y="1828800"/>
            <a:ext cx="1280160" cy="640080"/>
          </a:xfrm>
          <a:prstGeom prst="rect">
            <a:avLst/>
          </a:prstGeom>
          <a:noFill/>
        </p:spPr>
        <p:txBody>
          <a:bodyPr wrap="square" lIns="0" tIns="0" rIns="0" bIns="0" anchor="t"/>
          <a:lstStyle/>
          <a:p>
            <a:pPr algn="l" eaLnBrk="0">
              <a:lnSpc>
                <a:spcPct val="100000"/>
              </a:lnSpc>
              <a:spcBef>
                <a:spcPts val="0"/>
              </a:spcBef>
              <a:spcAft>
                <a:spcPts val="0"/>
              </a:spcAft>
              <a:buNone/>
            </a:pPr>
            <a:r>
              <a:rPr sz="4000" b="1" i="0">
                <a:solidFill>
                  <a:srgbClr val="FDBA74"/>
                </a:solidFill>
                <a:latin typeface="Consolas"/>
                <a:ea typeface="맑은 고딕"/>
                <a:cs typeface="맑은 고딕"/>
              </a:rPr>
              <a:t>02</a:t>
            </a:r>
          </a:p>
        </p:txBody>
      </p:sp>
      <p:sp>
        <p:nvSpPr>
          <p:cNvPr id="30" name="TextBox 29"/>
          <p:cNvSpPr txBox="1"/>
          <p:nvPr/>
        </p:nvSpPr>
        <p:spPr>
          <a:xfrm>
            <a:off x="4844186" y="1938528"/>
            <a:ext cx="914400" cy="228600"/>
          </a:xfrm>
          <a:prstGeom prst="rect">
            <a:avLst/>
          </a:prstGeom>
          <a:noFill/>
        </p:spPr>
        <p:txBody>
          <a:bodyPr wrap="square" lIns="0" tIns="0" rIns="0" bIns="0" anchor="t"/>
          <a:lstStyle/>
          <a:p>
            <a:pPr algn="r" eaLnBrk="0">
              <a:lnSpc>
                <a:spcPct val="100000"/>
              </a:lnSpc>
              <a:spcBef>
                <a:spcPts val="0"/>
              </a:spcBef>
              <a:spcAft>
                <a:spcPts val="0"/>
              </a:spcAft>
              <a:buNone/>
            </a:pPr>
            <a:r>
              <a:rPr sz="950" b="1" i="0">
                <a:solidFill>
                  <a:srgbClr val="64748B"/>
                </a:solidFill>
                <a:latin typeface="Consolas"/>
                <a:ea typeface="맑은 고딕"/>
                <a:cs typeface="맑은 고딕"/>
              </a:rPr>
              <a:t>Slide 07–11</a:t>
            </a:r>
          </a:p>
        </p:txBody>
      </p:sp>
      <p:sp>
        <p:nvSpPr>
          <p:cNvPr id="31" name="Pill-질문 2"/>
          <p:cNvSpPr/>
          <p:nvPr/>
        </p:nvSpPr>
        <p:spPr>
          <a:xfrm>
            <a:off x="3582314" y="2606040"/>
            <a:ext cx="646430"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9A3412"/>
                </a:solidFill>
                <a:latin typeface="맑은 고딕"/>
                <a:ea typeface="맑은 고딕"/>
                <a:cs typeface="맑은 고딕"/>
              </a:rPr>
              <a:t>질문 2</a:t>
            </a:r>
          </a:p>
        </p:txBody>
      </p:sp>
      <p:sp>
        <p:nvSpPr>
          <p:cNvPr id="32" name="TextBox 31"/>
          <p:cNvSpPr txBox="1"/>
          <p:nvPr/>
        </p:nvSpPr>
        <p:spPr>
          <a:xfrm>
            <a:off x="3582314" y="2971800"/>
            <a:ext cx="2176272" cy="685800"/>
          </a:xfrm>
          <a:prstGeom prst="rect">
            <a:avLst/>
          </a:prstGeom>
          <a:noFill/>
        </p:spPr>
        <p:txBody>
          <a:bodyPr wrap="square" lIns="0" tIns="0" rIns="0" bIns="0" anchor="t"/>
          <a:lstStyle/>
          <a:p>
            <a:pPr algn="l" eaLnBrk="0">
              <a:lnSpc>
                <a:spcPct val="95000"/>
              </a:lnSpc>
              <a:spcBef>
                <a:spcPts val="0"/>
              </a:spcBef>
              <a:spcAft>
                <a:spcPts val="0"/>
              </a:spcAft>
              <a:buNone/>
            </a:pPr>
            <a:r>
              <a:rPr sz="1700" b="1" i="0">
                <a:solidFill>
                  <a:srgbClr val="0F172A"/>
                </a:solidFill>
                <a:latin typeface="맑은 고딕"/>
                <a:ea typeface="맑은 고딕"/>
                <a:cs typeface="맑은 고딕"/>
              </a:rPr>
              <a:t>프로세스 마이닝 심층</a:t>
            </a:r>
            <a:br/>
            <a:r>
              <a:rPr sz="1700" b="1" i="0">
                <a:solidFill>
                  <a:srgbClr val="0F172A"/>
                </a:solidFill>
                <a:latin typeface="맑은 고딕"/>
                <a:ea typeface="맑은 고딕"/>
                <a:cs typeface="맑은 고딕"/>
              </a:rPr>
              <a:t>분석</a:t>
            </a:r>
          </a:p>
        </p:txBody>
      </p:sp>
      <p:sp>
        <p:nvSpPr>
          <p:cNvPr id="33" name="TextBox 32"/>
          <p:cNvSpPr txBox="1"/>
          <p:nvPr/>
        </p:nvSpPr>
        <p:spPr>
          <a:xfrm>
            <a:off x="3582314" y="3657600"/>
            <a:ext cx="2176272" cy="1508760"/>
          </a:xfrm>
          <a:prstGeom prst="rect">
            <a:avLst/>
          </a:prstGeom>
          <a:noFill/>
        </p:spPr>
        <p:txBody>
          <a:bodyPr wrap="square" lIns="0" tIns="0" rIns="0" bIns="0" anchor="t"/>
          <a:lstStyle/>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AS-IS E2E 프로세스 표준</a:t>
            </a:r>
            <a:br/>
            <a:r>
              <a:rPr sz="1150" b="0" i="0">
                <a:solidFill>
                  <a:srgbClr val="475569"/>
                </a:solidFill>
                <a:latin typeface="맑은 고딕"/>
                <a:ea typeface="맑은 고딕"/>
                <a:cs typeface="맑은 고딕"/>
              </a:rPr>
              <a:t>모델 (맵)</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3대 대기 병목 분해 (접수</a:t>
            </a:r>
            <a:br/>
            <a:r>
              <a:rPr sz="1150" b="0" i="0">
                <a:solidFill>
                  <a:srgbClr val="475569"/>
                </a:solidFill>
                <a:latin typeface="맑은 고딕"/>
                <a:ea typeface="맑은 고딕"/>
                <a:cs typeface="맑은 고딕"/>
              </a:rPr>
              <a:t>6.6배 vs 현장 76.8h)</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OLS 영향인자 실증 &amp;</a:t>
            </a:r>
            <a:br/>
            <a:r>
              <a:rPr sz="1150" b="0" i="0">
                <a:solidFill>
                  <a:srgbClr val="475569"/>
                </a:solidFill>
                <a:latin typeface="맑은 고딕"/>
                <a:ea typeface="맑은 고딕"/>
                <a:cs typeface="맑은 고딕"/>
              </a:rPr>
              <a:t>수리·리워크</a:t>
            </a:r>
          </a:p>
        </p:txBody>
      </p:sp>
      <p:sp>
        <p:nvSpPr>
          <p:cNvPr id="34" name="TextBox 33"/>
          <p:cNvSpPr txBox="1"/>
          <p:nvPr/>
        </p:nvSpPr>
        <p:spPr>
          <a:xfrm>
            <a:off x="3582314" y="5230368"/>
            <a:ext cx="2176272" cy="457200"/>
          </a:xfrm>
          <a:prstGeom prst="rect">
            <a:avLst/>
          </a:prstGeom>
          <a:noFill/>
        </p:spPr>
        <p:txBody>
          <a:bodyPr wrap="square" lIns="0" tIns="0" rIns="0" bIns="0" anchor="t"/>
          <a:lstStyle/>
          <a:p>
            <a:pPr algn="l" eaLnBrk="0">
              <a:lnSpc>
                <a:spcPct val="100000"/>
              </a:lnSpc>
              <a:spcBef>
                <a:spcPts val="0"/>
              </a:spcBef>
              <a:spcAft>
                <a:spcPts val="0"/>
              </a:spcAft>
              <a:buNone/>
            </a:pPr>
            <a:r>
              <a:rPr sz="2400" b="1" i="0">
                <a:solidFill>
                  <a:srgbClr val="EA580C"/>
                </a:solidFill>
                <a:latin typeface="Consolas"/>
                <a:ea typeface="맑은 고딕"/>
                <a:cs typeface="맑은 고딕"/>
              </a:rPr>
              <a:t>90.5%</a:t>
            </a:r>
          </a:p>
        </p:txBody>
      </p:sp>
      <p:sp>
        <p:nvSpPr>
          <p:cNvPr id="35" name="TextBox 34"/>
          <p:cNvSpPr txBox="1"/>
          <p:nvPr/>
        </p:nvSpPr>
        <p:spPr>
          <a:xfrm>
            <a:off x="3582314" y="5687568"/>
            <a:ext cx="2176272" cy="274320"/>
          </a:xfrm>
          <a:prstGeom prst="rect">
            <a:avLst/>
          </a:prstGeom>
          <a:noFill/>
        </p:spPr>
        <p:txBody>
          <a:bodyPr wrap="square" lIns="0" tIns="0" rIns="0" bIns="0" anchor="t"/>
          <a:lstStyle/>
          <a:p>
            <a:pPr algn="l" eaLnBrk="0">
              <a:lnSpc>
                <a:spcPct val="100000"/>
              </a:lnSpc>
              <a:spcBef>
                <a:spcPts val="0"/>
              </a:spcBef>
              <a:spcAft>
                <a:spcPts val="0"/>
              </a:spcAft>
              <a:buNone/>
            </a:pPr>
            <a:r>
              <a:rPr sz="1000" b="0" i="0">
                <a:solidFill>
                  <a:srgbClr val="64748B"/>
                </a:solidFill>
                <a:latin typeface="맑은 고딕"/>
                <a:ea typeface="맑은 고딕"/>
                <a:cs typeface="맑은 고딕"/>
              </a:rPr>
              <a:t>리드타임 중 대기·조율</a:t>
            </a:r>
          </a:p>
        </p:txBody>
      </p:sp>
      <p:sp>
        <p:nvSpPr>
          <p:cNvPr id="36" name="Tile-03"/>
          <p:cNvSpPr/>
          <p:nvPr/>
        </p:nvSpPr>
        <p:spPr>
          <a:xfrm>
            <a:off x="6204508" y="1691640"/>
            <a:ext cx="2633472" cy="4480560"/>
          </a:xfrm>
          <a:prstGeom prst="roundRect">
            <a:avLst>
              <a:gd name="adj" fmla="val 486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33108" y="1828800"/>
            <a:ext cx="1280160" cy="640080"/>
          </a:xfrm>
          <a:prstGeom prst="rect">
            <a:avLst/>
          </a:prstGeom>
          <a:noFill/>
        </p:spPr>
        <p:txBody>
          <a:bodyPr wrap="square" lIns="0" tIns="0" rIns="0" bIns="0" anchor="t"/>
          <a:lstStyle/>
          <a:p>
            <a:pPr algn="l" eaLnBrk="0">
              <a:lnSpc>
                <a:spcPct val="100000"/>
              </a:lnSpc>
              <a:spcBef>
                <a:spcPts val="0"/>
              </a:spcBef>
              <a:spcAft>
                <a:spcPts val="0"/>
              </a:spcAft>
              <a:buNone/>
            </a:pPr>
            <a:r>
              <a:rPr sz="4000" b="1" i="0">
                <a:solidFill>
                  <a:srgbClr val="34D399"/>
                </a:solidFill>
                <a:latin typeface="Consolas"/>
                <a:ea typeface="맑은 고딕"/>
                <a:cs typeface="맑은 고딕"/>
              </a:rPr>
              <a:t>03</a:t>
            </a:r>
          </a:p>
        </p:txBody>
      </p:sp>
      <p:sp>
        <p:nvSpPr>
          <p:cNvPr id="38" name="TextBox 37"/>
          <p:cNvSpPr txBox="1"/>
          <p:nvPr/>
        </p:nvSpPr>
        <p:spPr>
          <a:xfrm>
            <a:off x="7694980" y="1938528"/>
            <a:ext cx="914400" cy="228600"/>
          </a:xfrm>
          <a:prstGeom prst="rect">
            <a:avLst/>
          </a:prstGeom>
          <a:noFill/>
        </p:spPr>
        <p:txBody>
          <a:bodyPr wrap="square" lIns="0" tIns="0" rIns="0" bIns="0" anchor="t"/>
          <a:lstStyle/>
          <a:p>
            <a:pPr algn="r" eaLnBrk="0">
              <a:lnSpc>
                <a:spcPct val="100000"/>
              </a:lnSpc>
              <a:spcBef>
                <a:spcPts val="0"/>
              </a:spcBef>
              <a:spcAft>
                <a:spcPts val="0"/>
              </a:spcAft>
              <a:buNone/>
            </a:pPr>
            <a:r>
              <a:rPr sz="950" b="1" i="0">
                <a:solidFill>
                  <a:srgbClr val="64748B"/>
                </a:solidFill>
                <a:latin typeface="Consolas"/>
                <a:ea typeface="맑은 고딕"/>
                <a:cs typeface="맑은 고딕"/>
              </a:rPr>
              <a:t>Slide 12–13</a:t>
            </a:r>
          </a:p>
        </p:txBody>
      </p:sp>
      <p:sp>
        <p:nvSpPr>
          <p:cNvPr id="39" name="Pill-질문 3"/>
          <p:cNvSpPr/>
          <p:nvPr/>
        </p:nvSpPr>
        <p:spPr>
          <a:xfrm>
            <a:off x="6433108" y="2606040"/>
            <a:ext cx="646430"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065F46"/>
                </a:solidFill>
                <a:latin typeface="맑은 고딕"/>
                <a:ea typeface="맑은 고딕"/>
                <a:cs typeface="맑은 고딕"/>
              </a:rPr>
              <a:t>질문 3</a:t>
            </a:r>
          </a:p>
        </p:txBody>
      </p:sp>
      <p:sp>
        <p:nvSpPr>
          <p:cNvPr id="40" name="TextBox 39"/>
          <p:cNvSpPr txBox="1"/>
          <p:nvPr/>
        </p:nvSpPr>
        <p:spPr>
          <a:xfrm>
            <a:off x="6433108" y="2971800"/>
            <a:ext cx="2176272" cy="685800"/>
          </a:xfrm>
          <a:prstGeom prst="rect">
            <a:avLst/>
          </a:prstGeom>
          <a:noFill/>
        </p:spPr>
        <p:txBody>
          <a:bodyPr wrap="square" lIns="0" tIns="0" rIns="0" bIns="0" anchor="t"/>
          <a:lstStyle/>
          <a:p>
            <a:pPr algn="l" eaLnBrk="0">
              <a:lnSpc>
                <a:spcPct val="95000"/>
              </a:lnSpc>
              <a:spcBef>
                <a:spcPts val="0"/>
              </a:spcBef>
              <a:spcAft>
                <a:spcPts val="0"/>
              </a:spcAft>
              <a:buNone/>
            </a:pPr>
            <a:r>
              <a:rPr sz="1700" b="1" i="0">
                <a:solidFill>
                  <a:srgbClr val="0F172A"/>
                </a:solidFill>
                <a:latin typeface="맑은 고딕"/>
                <a:ea typeface="맑은 고딕"/>
                <a:cs typeface="맑은 고딕"/>
              </a:rPr>
              <a:t>프로세스 최적화 방안</a:t>
            </a:r>
          </a:p>
        </p:txBody>
      </p:sp>
      <p:sp>
        <p:nvSpPr>
          <p:cNvPr id="41" name="TextBox 40"/>
          <p:cNvSpPr txBox="1"/>
          <p:nvPr/>
        </p:nvSpPr>
        <p:spPr>
          <a:xfrm>
            <a:off x="6433108" y="3657600"/>
            <a:ext cx="2176272" cy="1508760"/>
          </a:xfrm>
          <a:prstGeom prst="rect">
            <a:avLst/>
          </a:prstGeom>
          <a:noFill/>
        </p:spPr>
        <p:txBody>
          <a:bodyPr wrap="square" lIns="0" tIns="0" rIns="0" bIns="0" anchor="t"/>
          <a:lstStyle/>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사전 분류 정합 83~87%와</a:t>
            </a:r>
            <a:br/>
            <a:r>
              <a:rPr sz="1150" b="0" i="0">
                <a:solidFill>
                  <a:srgbClr val="475569"/>
                </a:solidFill>
                <a:latin typeface="맑은 고딕"/>
                <a:ea typeface="맑은 고딕"/>
                <a:cs typeface="맑은 고딕"/>
              </a:rPr>
              <a:t>정보 해상도 한계 규명</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E형 직행 ➔ 실사 대기</a:t>
            </a:r>
            <a:br/>
            <a:r>
              <a:rPr sz="1150" b="0" i="0">
                <a:solidFill>
                  <a:srgbClr val="475569"/>
                </a:solidFill>
                <a:latin typeface="맑은 고딕"/>
                <a:ea typeface="맑은 고딕"/>
                <a:cs typeface="맑은 고딕"/>
              </a:rPr>
              <a:t>20%(-15.4h) 단축</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체크리스트 고도화 &amp; E형</a:t>
            </a:r>
            <a:br/>
            <a:r>
              <a:rPr sz="1150" b="0" i="0">
                <a:solidFill>
                  <a:srgbClr val="475569"/>
                </a:solidFill>
                <a:latin typeface="맑은 고딕"/>
                <a:ea typeface="맑은 고딕"/>
                <a:cs typeface="맑은 고딕"/>
              </a:rPr>
              <a:t>정밀검사로 리워크 차단</a:t>
            </a:r>
          </a:p>
        </p:txBody>
      </p:sp>
      <p:sp>
        <p:nvSpPr>
          <p:cNvPr id="42" name="TextBox 41"/>
          <p:cNvSpPr txBox="1"/>
          <p:nvPr/>
        </p:nvSpPr>
        <p:spPr>
          <a:xfrm>
            <a:off x="6433108" y="5230368"/>
            <a:ext cx="2176272" cy="457200"/>
          </a:xfrm>
          <a:prstGeom prst="rect">
            <a:avLst/>
          </a:prstGeom>
          <a:noFill/>
        </p:spPr>
        <p:txBody>
          <a:bodyPr wrap="square" lIns="0" tIns="0" rIns="0" bIns="0" anchor="t"/>
          <a:lstStyle/>
          <a:p>
            <a:pPr algn="l" eaLnBrk="0">
              <a:lnSpc>
                <a:spcPct val="100000"/>
              </a:lnSpc>
              <a:spcBef>
                <a:spcPts val="0"/>
              </a:spcBef>
              <a:spcAft>
                <a:spcPts val="0"/>
              </a:spcAft>
              <a:buNone/>
            </a:pPr>
            <a:r>
              <a:rPr sz="2400" b="1" i="0">
                <a:solidFill>
                  <a:srgbClr val="059669"/>
                </a:solidFill>
                <a:latin typeface="Consolas"/>
                <a:ea typeface="맑은 고딕"/>
                <a:cs typeface="맑은 고딕"/>
              </a:rPr>
              <a:t>-17.2h</a:t>
            </a:r>
          </a:p>
        </p:txBody>
      </p:sp>
      <p:sp>
        <p:nvSpPr>
          <p:cNvPr id="43" name="TextBox 42"/>
          <p:cNvSpPr txBox="1"/>
          <p:nvPr/>
        </p:nvSpPr>
        <p:spPr>
          <a:xfrm>
            <a:off x="6433108" y="5687568"/>
            <a:ext cx="2176272" cy="274320"/>
          </a:xfrm>
          <a:prstGeom prst="rect">
            <a:avLst/>
          </a:prstGeom>
          <a:noFill/>
        </p:spPr>
        <p:txBody>
          <a:bodyPr wrap="square" lIns="0" tIns="0" rIns="0" bIns="0" anchor="t"/>
          <a:lstStyle/>
          <a:p>
            <a:pPr algn="l" eaLnBrk="0">
              <a:lnSpc>
                <a:spcPct val="100000"/>
              </a:lnSpc>
              <a:spcBef>
                <a:spcPts val="0"/>
              </a:spcBef>
              <a:spcAft>
                <a:spcPts val="0"/>
              </a:spcAft>
              <a:buNone/>
            </a:pPr>
            <a:r>
              <a:rPr sz="1000" b="0" i="0">
                <a:solidFill>
                  <a:srgbClr val="64748B"/>
                </a:solidFill>
                <a:latin typeface="맑은 고딕"/>
                <a:ea typeface="맑은 고딕"/>
                <a:cs typeface="맑은 고딕"/>
              </a:rPr>
              <a:t>검증된 TO-BE 하한</a:t>
            </a:r>
          </a:p>
        </p:txBody>
      </p:sp>
      <p:sp>
        <p:nvSpPr>
          <p:cNvPr id="44" name="Tile-04"/>
          <p:cNvSpPr/>
          <p:nvPr/>
        </p:nvSpPr>
        <p:spPr>
          <a:xfrm>
            <a:off x="9055303" y="1691640"/>
            <a:ext cx="2633472" cy="4480560"/>
          </a:xfrm>
          <a:prstGeom prst="roundRect">
            <a:avLst>
              <a:gd name="adj" fmla="val 486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83903" y="1828800"/>
            <a:ext cx="1280160" cy="640080"/>
          </a:xfrm>
          <a:prstGeom prst="rect">
            <a:avLst/>
          </a:prstGeom>
          <a:noFill/>
        </p:spPr>
        <p:txBody>
          <a:bodyPr wrap="square" lIns="0" tIns="0" rIns="0" bIns="0" anchor="t"/>
          <a:lstStyle/>
          <a:p>
            <a:pPr algn="l" eaLnBrk="0">
              <a:lnSpc>
                <a:spcPct val="100000"/>
              </a:lnSpc>
              <a:spcBef>
                <a:spcPts val="0"/>
              </a:spcBef>
              <a:spcAft>
                <a:spcPts val="0"/>
              </a:spcAft>
              <a:buNone/>
            </a:pPr>
            <a:r>
              <a:rPr sz="4000" b="1" i="0">
                <a:solidFill>
                  <a:srgbClr val="CBD5E1"/>
                </a:solidFill>
                <a:latin typeface="Consolas"/>
                <a:ea typeface="맑은 고딕"/>
                <a:cs typeface="맑은 고딕"/>
              </a:rPr>
              <a:t>04</a:t>
            </a:r>
          </a:p>
        </p:txBody>
      </p:sp>
      <p:sp>
        <p:nvSpPr>
          <p:cNvPr id="46" name="TextBox 45"/>
          <p:cNvSpPr txBox="1"/>
          <p:nvPr/>
        </p:nvSpPr>
        <p:spPr>
          <a:xfrm>
            <a:off x="10545775" y="1938528"/>
            <a:ext cx="914400" cy="228600"/>
          </a:xfrm>
          <a:prstGeom prst="rect">
            <a:avLst/>
          </a:prstGeom>
          <a:noFill/>
        </p:spPr>
        <p:txBody>
          <a:bodyPr wrap="square" lIns="0" tIns="0" rIns="0" bIns="0" anchor="t"/>
          <a:lstStyle/>
          <a:p>
            <a:pPr algn="r" eaLnBrk="0">
              <a:lnSpc>
                <a:spcPct val="100000"/>
              </a:lnSpc>
              <a:spcBef>
                <a:spcPts val="0"/>
              </a:spcBef>
              <a:spcAft>
                <a:spcPts val="0"/>
              </a:spcAft>
              <a:buNone/>
            </a:pPr>
            <a:r>
              <a:rPr sz="950" b="1" i="0">
                <a:solidFill>
                  <a:srgbClr val="64748B"/>
                </a:solidFill>
                <a:latin typeface="Consolas"/>
                <a:ea typeface="맑은 고딕"/>
                <a:cs typeface="맑은 고딕"/>
              </a:rPr>
              <a:t>Slide 14</a:t>
            </a:r>
          </a:p>
        </p:txBody>
      </p:sp>
      <p:sp>
        <p:nvSpPr>
          <p:cNvPr id="47" name="Pill-Q &amp; A"/>
          <p:cNvSpPr/>
          <p:nvPr/>
        </p:nvSpPr>
        <p:spPr>
          <a:xfrm>
            <a:off x="9283903" y="2606040"/>
            <a:ext cx="659765"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Q &amp; A</a:t>
            </a:r>
          </a:p>
        </p:txBody>
      </p:sp>
      <p:sp>
        <p:nvSpPr>
          <p:cNvPr id="48" name="TextBox 47"/>
          <p:cNvSpPr txBox="1"/>
          <p:nvPr/>
        </p:nvSpPr>
        <p:spPr>
          <a:xfrm>
            <a:off x="9283903" y="2971800"/>
            <a:ext cx="2176272" cy="685800"/>
          </a:xfrm>
          <a:prstGeom prst="rect">
            <a:avLst/>
          </a:prstGeom>
          <a:noFill/>
        </p:spPr>
        <p:txBody>
          <a:bodyPr wrap="square" lIns="0" tIns="0" rIns="0" bIns="0" anchor="t"/>
          <a:lstStyle/>
          <a:p>
            <a:pPr algn="l" eaLnBrk="0">
              <a:lnSpc>
                <a:spcPct val="95000"/>
              </a:lnSpc>
              <a:spcBef>
                <a:spcPts val="0"/>
              </a:spcBef>
              <a:spcAft>
                <a:spcPts val="0"/>
              </a:spcAft>
              <a:buNone/>
            </a:pPr>
            <a:r>
              <a:rPr sz="1700" b="1" i="0">
                <a:solidFill>
                  <a:srgbClr val="0F172A"/>
                </a:solidFill>
                <a:latin typeface="맑은 고딕"/>
                <a:ea typeface="맑은 고딕"/>
                <a:cs typeface="맑은 고딕"/>
              </a:rPr>
              <a:t>질의응답 (Q&amp;A)</a:t>
            </a:r>
          </a:p>
        </p:txBody>
      </p:sp>
      <p:sp>
        <p:nvSpPr>
          <p:cNvPr id="49" name="TextBox 48"/>
          <p:cNvSpPr txBox="1"/>
          <p:nvPr/>
        </p:nvSpPr>
        <p:spPr>
          <a:xfrm>
            <a:off x="9283903" y="3657600"/>
            <a:ext cx="2176272" cy="1508760"/>
          </a:xfrm>
          <a:prstGeom prst="rect">
            <a:avLst/>
          </a:prstGeom>
          <a:noFill/>
        </p:spPr>
        <p:txBody>
          <a:bodyPr wrap="square" lIns="0" tIns="0" rIns="0" bIns="0" anchor="t"/>
          <a:lstStyle/>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프로젝트 핵심 진단 및 3대</a:t>
            </a:r>
            <a:br/>
            <a:r>
              <a:rPr sz="1150" b="0" i="0">
                <a:solidFill>
                  <a:srgbClr val="475569"/>
                </a:solidFill>
                <a:latin typeface="맑은 고딕"/>
                <a:ea typeface="맑은 고딕"/>
                <a:cs typeface="맑은 고딕"/>
              </a:rPr>
              <a:t>전략 총괄</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데이터 기반 프로세스 혁신</a:t>
            </a:r>
            <a:br/>
            <a:r>
              <a:rPr sz="1150" b="0" i="0">
                <a:solidFill>
                  <a:srgbClr val="475569"/>
                </a:solidFill>
                <a:latin typeface="맑은 고딕"/>
                <a:ea typeface="맑은 고딕"/>
                <a:cs typeface="맑은 고딕"/>
              </a:rPr>
              <a:t>총평</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질의응답</a:t>
            </a:r>
          </a:p>
        </p:txBody>
      </p:sp>
      <p:sp>
        <p:nvSpPr>
          <p:cNvPr id="50" name="TextBox 49"/>
          <p:cNvSpPr txBox="1"/>
          <p:nvPr/>
        </p:nvSpPr>
        <p:spPr>
          <a:xfrm>
            <a:off x="9283903" y="5230368"/>
            <a:ext cx="2176272" cy="457200"/>
          </a:xfrm>
          <a:prstGeom prst="rect">
            <a:avLst/>
          </a:prstGeom>
          <a:noFill/>
        </p:spPr>
        <p:txBody>
          <a:bodyPr wrap="square" lIns="0" tIns="0" rIns="0" bIns="0" anchor="t"/>
          <a:lstStyle/>
          <a:p>
            <a:pPr algn="l" eaLnBrk="0">
              <a:lnSpc>
                <a:spcPct val="100000"/>
              </a:lnSpc>
              <a:spcBef>
                <a:spcPts val="0"/>
              </a:spcBef>
              <a:spcAft>
                <a:spcPts val="0"/>
              </a:spcAft>
              <a:buNone/>
            </a:pPr>
            <a:r>
              <a:rPr sz="2400" b="1" i="0">
                <a:solidFill>
                  <a:srgbClr val="334155"/>
                </a:solidFill>
                <a:latin typeface="Consolas"/>
                <a:ea typeface="맑은 고딕"/>
                <a:cs typeface="맑은 고딕"/>
              </a:rPr>
              <a:t>Q &amp; A</a:t>
            </a:r>
          </a:p>
        </p:txBody>
      </p:sp>
      <p:sp>
        <p:nvSpPr>
          <p:cNvPr id="51" name="TextBox 50"/>
          <p:cNvSpPr txBox="1"/>
          <p:nvPr/>
        </p:nvSpPr>
        <p:spPr>
          <a:xfrm>
            <a:off x="9283903" y="5687568"/>
            <a:ext cx="2176272" cy="274320"/>
          </a:xfrm>
          <a:prstGeom prst="rect">
            <a:avLst/>
          </a:prstGeom>
          <a:noFill/>
        </p:spPr>
        <p:txBody>
          <a:bodyPr wrap="square" lIns="0" tIns="0" rIns="0" bIns="0" anchor="t"/>
          <a:lstStyle/>
          <a:p>
            <a:pPr algn="l" eaLnBrk="0">
              <a:lnSpc>
                <a:spcPct val="100000"/>
              </a:lnSpc>
              <a:spcBef>
                <a:spcPts val="0"/>
              </a:spcBef>
              <a:spcAft>
                <a:spcPts val="0"/>
              </a:spcAft>
              <a:buNone/>
            </a:pPr>
            <a:r>
              <a:rPr sz="1000" b="0" i="0">
                <a:solidFill>
                  <a:srgbClr val="64748B"/>
                </a:solidFill>
                <a:latin typeface="맑은 고딕"/>
                <a:ea typeface="맑은 고딕"/>
                <a:cs typeface="맑은 고딕"/>
              </a:rPr>
              <a:t>자유 질의</a:t>
            </a:r>
          </a:p>
        </p:txBody>
      </p:sp>
      <p:sp>
        <p:nvSpPr>
          <p:cNvPr id="52" name="TileLink-4">
            <a:hlinkClick action="ppaction://hlinksldjump" r:id="rId3"/>
          </p:cNvPr>
          <p:cNvSpPr/>
          <p:nvPr/>
        </p:nvSpPr>
        <p:spPr>
          <a:xfrm>
            <a:off x="502920" y="1691640"/>
            <a:ext cx="2633472" cy="448056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ileLink-7">
            <a:hlinkClick action="ppaction://hlinksldjump" r:id="rId4"/>
          </p:cNvPr>
          <p:cNvSpPr/>
          <p:nvPr/>
        </p:nvSpPr>
        <p:spPr>
          <a:xfrm>
            <a:off x="3353714" y="1691640"/>
            <a:ext cx="2633472" cy="448056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ileLink-12">
            <a:hlinkClick action="ppaction://hlinksldjump" r:id="rId5"/>
          </p:cNvPr>
          <p:cNvSpPr/>
          <p:nvPr/>
        </p:nvSpPr>
        <p:spPr>
          <a:xfrm>
            <a:off x="6204508" y="1691640"/>
            <a:ext cx="2633472" cy="448056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ileLink-14">
            <a:hlinkClick action="ppaction://hlinksldjump" r:id="rId6"/>
          </p:cNvPr>
          <p:cNvSpPr/>
          <p:nvPr/>
        </p:nvSpPr>
        <p:spPr>
          <a:xfrm>
            <a:off x="9055303" y="1691640"/>
            <a:ext cx="2633472" cy="448056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Nav-1">
            <a:hlinkClick action="ppaction://hlinksldjump" r:id="rId7"/>
          </p:cNvPr>
          <p:cNvSpPr/>
          <p:nvPr/>
        </p:nvSpPr>
        <p:spPr>
          <a:xfrm>
            <a:off x="9201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Nav-2">
            <a:hlinkClick action="ppaction://hlinksldjump" r:id="rId8"/>
          </p:cNvPr>
          <p:cNvSpPr/>
          <p:nvPr/>
        </p:nvSpPr>
        <p:spPr>
          <a:xfrm>
            <a:off x="9315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av-3">
            <a:hlinkClick action="ppaction://hlinksldjump" r:id="rId9"/>
          </p:cNvPr>
          <p:cNvSpPr/>
          <p:nvPr/>
        </p:nvSpPr>
        <p:spPr>
          <a:xfrm>
            <a:off x="9430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Nav-4">
            <a:hlinkClick action="ppaction://hlinksldjump" r:id="rId3"/>
          </p:cNvPr>
          <p:cNvSpPr/>
          <p:nvPr/>
        </p:nvSpPr>
        <p:spPr>
          <a:xfrm>
            <a:off x="9544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Nav-5">
            <a:hlinkClick action="ppaction://hlinksldjump" r:id="rId10"/>
          </p:cNvPr>
          <p:cNvSpPr/>
          <p:nvPr/>
        </p:nvSpPr>
        <p:spPr>
          <a:xfrm>
            <a:off x="96588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Nav-6">
            <a:hlinkClick action="ppaction://hlinksldjump" r:id="rId11"/>
          </p:cNvPr>
          <p:cNvSpPr/>
          <p:nvPr/>
        </p:nvSpPr>
        <p:spPr>
          <a:xfrm>
            <a:off x="97731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Nav-7">
            <a:hlinkClick action="ppaction://hlinksldjump" r:id="rId4"/>
          </p:cNvPr>
          <p:cNvSpPr/>
          <p:nvPr/>
        </p:nvSpPr>
        <p:spPr>
          <a:xfrm>
            <a:off x="98874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Nav-8">
            <a:hlinkClick action="ppaction://hlinksldjump" r:id="rId12"/>
          </p:cNvPr>
          <p:cNvSpPr/>
          <p:nvPr/>
        </p:nvSpPr>
        <p:spPr>
          <a:xfrm>
            <a:off x="100017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Nav-9">
            <a:hlinkClick action="ppaction://hlinksldjump" r:id="rId13"/>
          </p:cNvPr>
          <p:cNvSpPr/>
          <p:nvPr/>
        </p:nvSpPr>
        <p:spPr>
          <a:xfrm>
            <a:off x="101160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Nav-10">
            <a:hlinkClick action="ppaction://hlinksldjump" r:id="rId14"/>
          </p:cNvPr>
          <p:cNvSpPr/>
          <p:nvPr/>
        </p:nvSpPr>
        <p:spPr>
          <a:xfrm>
            <a:off x="102303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Nav-11">
            <a:hlinkClick action="ppaction://hlinksldjump" r:id="rId15"/>
          </p:cNvPr>
          <p:cNvSpPr/>
          <p:nvPr/>
        </p:nvSpPr>
        <p:spPr>
          <a:xfrm>
            <a:off x="10344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Nav-12">
            <a:hlinkClick action="ppaction://hlinksldjump" r:id="rId5"/>
          </p:cNvPr>
          <p:cNvSpPr/>
          <p:nvPr/>
        </p:nvSpPr>
        <p:spPr>
          <a:xfrm>
            <a:off x="10458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Nav-13">
            <a:hlinkClick action="ppaction://hlinksldjump" r:id="rId16"/>
          </p:cNvPr>
          <p:cNvSpPr/>
          <p:nvPr/>
        </p:nvSpPr>
        <p:spPr>
          <a:xfrm>
            <a:off x="10573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Nav-14">
            <a:hlinkClick action="ppaction://hlinksldjump" r:id="rId6"/>
          </p:cNvPr>
          <p:cNvSpPr/>
          <p:nvPr/>
        </p:nvSpPr>
        <p:spPr>
          <a:xfrm>
            <a:off x="10687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739409"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EXECUTIVE SUMMARY · 통괄 핵심 어젠다</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현장의 '대기시간'을 줄이고 이해관계자 간 '소통'을 통제하면 프로세스</a:t>
            </a:r>
            <a:br/>
            <a:r>
              <a:rPr sz="2400" b="1" i="0">
                <a:solidFill>
                  <a:srgbClr val="0F172A"/>
                </a:solidFill>
                <a:latin typeface="맑은 고딕"/>
                <a:ea typeface="맑은 고딕"/>
                <a:cs typeface="맑은 고딕"/>
              </a:rPr>
              <a:t>리드타임을 획기적으로 개선할 수 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 90.5% = (E2E − 현장 실작업 − 정산 시스템 처리) ÷ E2E, 엄격 정의(start→complete만 작업) 시 94.6% · 근거: analysis.sql 2~5절</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03 / 14</a:t>
            </a:r>
          </a:p>
        </p:txBody>
      </p:sp>
      <p:sp>
        <p:nvSpPr>
          <p:cNvPr id="20" name="InsightBanner"/>
          <p:cNvSpPr/>
          <p:nvPr/>
        </p:nvSpPr>
        <p:spPr>
          <a:xfrm>
            <a:off x="502920" y="1691640"/>
            <a:ext cx="11185855" cy="914400"/>
          </a:xfrm>
          <a:prstGeom prst="roundRect">
            <a:avLst>
              <a:gd name="adj" fmla="val 12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1691640"/>
            <a:ext cx="7040880" cy="914400"/>
          </a:xfrm>
          <a:prstGeom prst="rect">
            <a:avLst/>
          </a:prstGeom>
          <a:noFill/>
        </p:spPr>
        <p:txBody>
          <a:bodyPr wrap="square" lIns="0" tIns="0" rIns="0" bIns="0" anchor="ctr"/>
          <a:lstStyle/>
          <a:p>
            <a:pPr algn="l" eaLnBrk="0">
              <a:lnSpc>
                <a:spcPct val="95000"/>
              </a:lnSpc>
              <a:spcBef>
                <a:spcPts val="0"/>
              </a:spcBef>
              <a:spcAft>
                <a:spcPts val="0"/>
              </a:spcAft>
              <a:buNone/>
            </a:pPr>
            <a:r>
              <a:rPr sz="1450" b="1" i="0">
                <a:solidFill>
                  <a:srgbClr val="FFFFFF"/>
                </a:solidFill>
                <a:latin typeface="맑은 고딕"/>
                <a:ea typeface="맑은 고딕"/>
                <a:cs typeface="맑은 고딕"/>
              </a:rPr>
              <a:t>공정 리드타임 지연의 본질은 작업자 태만이 아닌 '공정 간 대기·조율(90.5%)'과</a:t>
            </a:r>
            <a:br/>
            <a:r>
              <a:rPr sz="1450" b="1" i="0">
                <a:solidFill>
                  <a:srgbClr val="FFFFFF"/>
                </a:solidFill>
                <a:latin typeface="맑은 고딕"/>
                <a:ea typeface="맑은 고딕"/>
                <a:cs typeface="맑은 고딕"/>
              </a:rPr>
              <a:t>'비실시간 접수 소통 공백'에 있다</a:t>
            </a:r>
          </a:p>
        </p:txBody>
      </p:sp>
      <p:sp>
        <p:nvSpPr>
          <p:cNvPr id="22" name="TextBox 21"/>
          <p:cNvSpPr txBox="1"/>
          <p:nvPr/>
        </p:nvSpPr>
        <p:spPr>
          <a:xfrm>
            <a:off x="8275320" y="1691640"/>
            <a:ext cx="3200400" cy="914400"/>
          </a:xfrm>
          <a:prstGeom prst="rect">
            <a:avLst/>
          </a:prstGeom>
          <a:noFill/>
        </p:spPr>
        <p:txBody>
          <a:bodyPr wrap="square" lIns="0" tIns="0" rIns="0" bIns="0" anchor="ctr"/>
          <a:lstStyle/>
          <a:p>
            <a:pPr algn="l" eaLnBrk="0">
              <a:lnSpc>
                <a:spcPct val="100000"/>
              </a:lnSpc>
              <a:spcBef>
                <a:spcPts val="0"/>
              </a:spcBef>
              <a:spcAft>
                <a:spcPts val="0"/>
              </a:spcAft>
              <a:buNone/>
            </a:pPr>
            <a:r>
              <a:rPr sz="1150" b="0" i="0">
                <a:solidFill>
                  <a:srgbClr val="CBD5E1"/>
                </a:solidFill>
                <a:latin typeface="맑은 고딕"/>
                <a:ea typeface="맑은 고딕"/>
                <a:cs typeface="맑은 고딕"/>
              </a:rPr>
              <a:t>E2E 리드타임 105.9시간 중</a:t>
            </a:r>
          </a:p>
          <a:p>
            <a:pPr algn="l" eaLnBrk="0">
              <a:lnSpc>
                <a:spcPct val="100000"/>
              </a:lnSpc>
              <a:spcBef>
                <a:spcPts val="0"/>
              </a:spcBef>
              <a:spcAft>
                <a:spcPts val="0"/>
              </a:spcAft>
              <a:buNone/>
            </a:pPr>
            <a:r>
              <a:rPr sz="2000" b="1" i="0">
                <a:solidFill>
                  <a:srgbClr val="FDBA74"/>
                </a:solidFill>
                <a:latin typeface="Consolas"/>
                <a:ea typeface="맑은 고딕"/>
                <a:cs typeface="맑은 고딕"/>
              </a:rPr>
              <a:t>대기·조율 95.8시간</a:t>
            </a:r>
          </a:p>
        </p:txBody>
      </p:sp>
      <p:sp>
        <p:nvSpPr>
          <p:cNvPr id="23" name="Summary-1"/>
          <p:cNvSpPr/>
          <p:nvPr/>
        </p:nvSpPr>
        <p:spPr>
          <a:xfrm>
            <a:off x="502920" y="2834640"/>
            <a:ext cx="3576218" cy="3429000"/>
          </a:xfrm>
          <a:prstGeom prst="roundRect">
            <a:avLst>
              <a:gd name="adj" fmla="val 3733"/>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ill-Step 01"/>
          <p:cNvSpPr/>
          <p:nvPr/>
        </p:nvSpPr>
        <p:spPr>
          <a:xfrm>
            <a:off x="731520" y="3017520"/>
            <a:ext cx="712816" cy="246888"/>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FFFFFF"/>
                </a:solidFill>
                <a:latin typeface="맑은 고딕"/>
                <a:ea typeface="맑은 고딕"/>
                <a:cs typeface="맑은 고딕"/>
              </a:rPr>
              <a:t>Step 01</a:t>
            </a:r>
          </a:p>
        </p:txBody>
      </p:sp>
      <p:sp>
        <p:nvSpPr>
          <p:cNvPr id="25" name="Pill-데이터 무결성"/>
          <p:cNvSpPr/>
          <p:nvPr/>
        </p:nvSpPr>
        <p:spPr>
          <a:xfrm>
            <a:off x="1535776" y="3017520"/>
            <a:ext cx="1040447"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데이터 무결성</a:t>
            </a:r>
          </a:p>
        </p:txBody>
      </p:sp>
      <p:sp>
        <p:nvSpPr>
          <p:cNvPr id="26" name="TextBox 25"/>
          <p:cNvSpPr txBox="1"/>
          <p:nvPr/>
        </p:nvSpPr>
        <p:spPr>
          <a:xfrm>
            <a:off x="731520" y="3383280"/>
            <a:ext cx="3119018" cy="548640"/>
          </a:xfrm>
          <a:prstGeom prst="rect">
            <a:avLst/>
          </a:prstGeom>
          <a:noFill/>
        </p:spPr>
        <p:txBody>
          <a:bodyPr wrap="square" lIns="0" tIns="0" rIns="0" bIns="0" anchor="t"/>
          <a:lstStyle/>
          <a:p>
            <a:pPr algn="l" eaLnBrk="0">
              <a:lnSpc>
                <a:spcPct val="100000"/>
              </a:lnSpc>
              <a:spcBef>
                <a:spcPts val="0"/>
              </a:spcBef>
              <a:spcAft>
                <a:spcPts val="0"/>
              </a:spcAft>
              <a:buNone/>
            </a:pPr>
            <a:r>
              <a:rPr sz="3000" b="1" i="0">
                <a:solidFill>
                  <a:srgbClr val="0F172A"/>
                </a:solidFill>
                <a:latin typeface="Consolas"/>
                <a:ea typeface="맑은 고딕"/>
                <a:cs typeface="맑은 고딕"/>
              </a:rPr>
              <a:t>13,262행</a:t>
            </a:r>
          </a:p>
        </p:txBody>
      </p:sp>
      <p:sp>
        <p:nvSpPr>
          <p:cNvPr id="27" name="TextBox 26"/>
          <p:cNvSpPr txBox="1"/>
          <p:nvPr/>
        </p:nvSpPr>
        <p:spPr>
          <a:xfrm>
            <a:off x="731520" y="3977639"/>
            <a:ext cx="3119018" cy="274320"/>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334155"/>
                </a:solidFill>
                <a:latin typeface="맑은 고딕"/>
                <a:ea typeface="맑은 고딕"/>
                <a:cs typeface="맑은 고딕"/>
              </a:rPr>
              <a:t>100% 무손실 복원 완결</a:t>
            </a:r>
          </a:p>
        </p:txBody>
      </p:sp>
      <p:sp>
        <p:nvSpPr>
          <p:cNvPr id="28" name="TextBox 27"/>
          <p:cNvSpPr txBox="1"/>
          <p:nvPr/>
        </p:nvSpPr>
        <p:spPr>
          <a:xfrm>
            <a:off x="731520" y="4407408"/>
            <a:ext cx="3119018" cy="1783080"/>
          </a:xfrm>
          <a:prstGeom prst="rect">
            <a:avLst/>
          </a:prstGeom>
          <a:noFill/>
        </p:spPr>
        <p:txBody>
          <a:bodyPr wrap="square" lIns="0" tIns="0" rIns="0" bIns="0" anchor="t"/>
          <a:lstStyle/>
          <a:p>
            <a:pPr algn="l" eaLnBrk="0" marL="155448" indent="-155448">
              <a:lnSpc>
                <a:spcPct val="100000"/>
              </a:lnSpc>
              <a:spcBef>
                <a:spcPts val="0"/>
              </a:spcBef>
              <a:spcAft>
                <a:spcPts val="700"/>
              </a:spcAft>
              <a:buClr>
                <a:srgbClr val="94A3B8"/>
              </a:buClr>
              <a:buFont typeface="Arial"/>
              <a:buChar char="•"/>
            </a:pPr>
            <a:r>
              <a:rPr sz="1300" b="0" i="0">
                <a:solidFill>
                  <a:srgbClr val="475569"/>
                </a:solidFill>
                <a:latin typeface="맑은 고딕"/>
                <a:ea typeface="맑은 고딕"/>
                <a:cs typeface="맑은 고딕"/>
              </a:rPr>
              <a:t>임의 행 삭제 0건 (13,262행 전수 보존)</a:t>
            </a:r>
          </a:p>
          <a:p>
            <a:pPr algn="l" eaLnBrk="0" marL="155448" indent="-155448">
              <a:lnSpc>
                <a:spcPct val="100000"/>
              </a:lnSpc>
              <a:spcBef>
                <a:spcPts val="0"/>
              </a:spcBef>
              <a:spcAft>
                <a:spcPts val="700"/>
              </a:spcAft>
              <a:buClr>
                <a:srgbClr val="94A3B8"/>
              </a:buClr>
              <a:buFont typeface="Arial"/>
              <a:buChar char="•"/>
            </a:pPr>
            <a:r>
              <a:rPr sz="1300" b="0" i="0">
                <a:solidFill>
                  <a:srgbClr val="475569"/>
                </a:solidFill>
                <a:latin typeface="맑은 고딕"/>
                <a:ea typeface="맑은 고딕"/>
                <a:cs typeface="맑은 고딕"/>
              </a:rPr>
              <a:t>비정상 시스템 에러 20행(0.15%) 인과</a:t>
            </a:r>
            <a:br/>
            <a:r>
              <a:rPr sz="1300" b="0" i="0">
                <a:solidFill>
                  <a:srgbClr val="475569"/>
                </a:solidFill>
                <a:latin typeface="맑은 고딕"/>
                <a:ea typeface="맑은 고딕"/>
                <a:cs typeface="맑은 고딕"/>
              </a:rPr>
              <a:t>복원</a:t>
            </a:r>
          </a:p>
          <a:p>
            <a:pPr algn="l" eaLnBrk="0" marL="155448" indent="-155448">
              <a:lnSpc>
                <a:spcPct val="100000"/>
              </a:lnSpc>
              <a:spcBef>
                <a:spcPts val="0"/>
              </a:spcBef>
              <a:spcAft>
                <a:spcPts val="700"/>
              </a:spcAft>
              <a:buClr>
                <a:srgbClr val="94A3B8"/>
              </a:buClr>
              <a:buFont typeface="Arial"/>
              <a:buChar char="•"/>
            </a:pPr>
            <a:r>
              <a:rPr sz="1300" b="0" i="0">
                <a:solidFill>
                  <a:srgbClr val="475569"/>
                </a:solidFill>
                <a:latin typeface="맑은 고딕"/>
                <a:ea typeface="맑은 고딕"/>
                <a:cs typeface="맑은 고딕"/>
              </a:rPr>
              <a:t>접수 구간 정상 표본</a:t>
            </a:r>
            <a:br/>
            <a:r>
              <a:rPr sz="1300" b="0" i="0">
                <a:solidFill>
                  <a:srgbClr val="475569"/>
                </a:solidFill>
                <a:latin typeface="맑은 고딕"/>
                <a:ea typeface="맑은 고딕"/>
                <a:cs typeface="맑은 고딕"/>
              </a:rPr>
              <a:t>751건(75.1%)으로 모수 확장</a:t>
            </a:r>
          </a:p>
        </p:txBody>
      </p:sp>
      <p:sp>
        <p:nvSpPr>
          <p:cNvPr id="29" name="Summary-2"/>
          <p:cNvSpPr/>
          <p:nvPr/>
        </p:nvSpPr>
        <p:spPr>
          <a:xfrm>
            <a:off x="4307738" y="2834640"/>
            <a:ext cx="3576218" cy="3429000"/>
          </a:xfrm>
          <a:prstGeom prst="roundRect">
            <a:avLst>
              <a:gd name="adj" fmla="val 3733"/>
            </a:avLst>
          </a:prstGeom>
          <a:solidFill>
            <a:srgbClr val="FFFFFF"/>
          </a:solidFill>
          <a:ln w="12700">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ill-Step 02"/>
          <p:cNvSpPr/>
          <p:nvPr/>
        </p:nvSpPr>
        <p:spPr>
          <a:xfrm>
            <a:off x="4536338" y="3017520"/>
            <a:ext cx="712816" cy="246888"/>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FFFFFF"/>
                </a:solidFill>
                <a:latin typeface="맑은 고딕"/>
                <a:ea typeface="맑은 고딕"/>
                <a:cs typeface="맑은 고딕"/>
              </a:rPr>
              <a:t>Step 02</a:t>
            </a:r>
          </a:p>
        </p:txBody>
      </p:sp>
      <p:sp>
        <p:nvSpPr>
          <p:cNvPr id="31" name="Pill-병목 실증"/>
          <p:cNvSpPr/>
          <p:nvPr/>
        </p:nvSpPr>
        <p:spPr>
          <a:xfrm>
            <a:off x="5340595" y="3017520"/>
            <a:ext cx="799147"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병목 실증</a:t>
            </a:r>
          </a:p>
        </p:txBody>
      </p:sp>
      <p:sp>
        <p:nvSpPr>
          <p:cNvPr id="32" name="TextBox 31"/>
          <p:cNvSpPr txBox="1"/>
          <p:nvPr/>
        </p:nvSpPr>
        <p:spPr>
          <a:xfrm>
            <a:off x="4536338" y="3383280"/>
            <a:ext cx="3119018" cy="548640"/>
          </a:xfrm>
          <a:prstGeom prst="rect">
            <a:avLst/>
          </a:prstGeom>
          <a:noFill/>
        </p:spPr>
        <p:txBody>
          <a:bodyPr wrap="square" lIns="0" tIns="0" rIns="0" bIns="0" anchor="t"/>
          <a:lstStyle/>
          <a:p>
            <a:pPr algn="l" eaLnBrk="0">
              <a:lnSpc>
                <a:spcPct val="100000"/>
              </a:lnSpc>
              <a:spcBef>
                <a:spcPts val="0"/>
              </a:spcBef>
              <a:spcAft>
                <a:spcPts val="0"/>
              </a:spcAft>
              <a:buNone/>
            </a:pPr>
            <a:r>
              <a:rPr sz="3000" b="1" i="0">
                <a:solidFill>
                  <a:srgbClr val="EA580C"/>
                </a:solidFill>
                <a:latin typeface="Consolas"/>
                <a:ea typeface="맑은 고딕"/>
                <a:cs typeface="맑은 고딕"/>
              </a:rPr>
              <a:t>대기 90.5%</a:t>
            </a:r>
          </a:p>
        </p:txBody>
      </p:sp>
      <p:sp>
        <p:nvSpPr>
          <p:cNvPr id="33" name="TextBox 32"/>
          <p:cNvSpPr txBox="1"/>
          <p:nvPr/>
        </p:nvSpPr>
        <p:spPr>
          <a:xfrm>
            <a:off x="4536338" y="3977639"/>
            <a:ext cx="3119018" cy="274320"/>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334155"/>
                </a:solidFill>
                <a:latin typeface="맑은 고딕"/>
                <a:ea typeface="맑은 고딕"/>
                <a:cs typeface="맑은 고딕"/>
              </a:rPr>
              <a:t>현장 국면에 대기의 약 98% 편중</a:t>
            </a:r>
          </a:p>
        </p:txBody>
      </p:sp>
      <p:sp>
        <p:nvSpPr>
          <p:cNvPr id="34" name="TextBox 33"/>
          <p:cNvSpPr txBox="1"/>
          <p:nvPr/>
        </p:nvSpPr>
        <p:spPr>
          <a:xfrm>
            <a:off x="4536338" y="4407408"/>
            <a:ext cx="3119018" cy="1783080"/>
          </a:xfrm>
          <a:prstGeom prst="rect">
            <a:avLst/>
          </a:prstGeom>
          <a:noFill/>
        </p:spPr>
        <p:txBody>
          <a:bodyPr wrap="square" lIns="0" tIns="0" rIns="0" bIns="0" anchor="t"/>
          <a:lstStyle/>
          <a:p>
            <a:pPr algn="l" eaLnBrk="0" marL="155448" indent="-155448">
              <a:lnSpc>
                <a:spcPct val="100000"/>
              </a:lnSpc>
              <a:spcBef>
                <a:spcPts val="0"/>
              </a:spcBef>
              <a:spcAft>
                <a:spcPts val="700"/>
              </a:spcAft>
              <a:buClr>
                <a:srgbClr val="94A3B8"/>
              </a:buClr>
              <a:buFont typeface="Arial"/>
              <a:buChar char="•"/>
            </a:pPr>
            <a:r>
              <a:rPr sz="1300" b="0" i="0">
                <a:solidFill>
                  <a:srgbClr val="475569"/>
                </a:solidFill>
                <a:latin typeface="맑은 고딕"/>
                <a:ea typeface="맑은 고딕"/>
                <a:cs typeface="맑은 고딕"/>
              </a:rPr>
              <a:t>실사 방문 대기(76.8h)가 현장 시간의</a:t>
            </a:r>
            <a:br/>
            <a:r>
              <a:rPr sz="1300" b="0" i="0">
                <a:solidFill>
                  <a:srgbClr val="475569"/>
                </a:solidFill>
                <a:latin typeface="맑은 고딕"/>
                <a:ea typeface="맑은 고딕"/>
                <a:cs typeface="맑은 고딕"/>
              </a:rPr>
              <a:t>78.2% 독점</a:t>
            </a:r>
          </a:p>
          <a:p>
            <a:pPr algn="l" eaLnBrk="0" marL="155448" indent="-155448">
              <a:lnSpc>
                <a:spcPct val="100000"/>
              </a:lnSpc>
              <a:spcBef>
                <a:spcPts val="0"/>
              </a:spcBef>
              <a:spcAft>
                <a:spcPts val="700"/>
              </a:spcAft>
              <a:buClr>
                <a:srgbClr val="94A3B8"/>
              </a:buClr>
              <a:buFont typeface="Arial"/>
              <a:buChar char="•"/>
            </a:pPr>
            <a:r>
              <a:rPr sz="1300" b="0" i="0">
                <a:solidFill>
                  <a:srgbClr val="475569"/>
                </a:solidFill>
                <a:latin typeface="맑은 고딕"/>
                <a:ea typeface="맑은 고딕"/>
                <a:cs typeface="맑은 고딕"/>
              </a:rPr>
              <a:t>일 유입 134건 vs 기사 CAPA 68건 ➔</a:t>
            </a:r>
            <a:br/>
            <a:r>
              <a:rPr sz="1300" b="0" i="0">
                <a:solidFill>
                  <a:srgbClr val="475569"/>
                </a:solidFill>
                <a:latin typeface="맑은 고딕"/>
                <a:ea typeface="맑은 고딕"/>
                <a:cs typeface="맑은 고딕"/>
              </a:rPr>
              <a:t>403건 적체</a:t>
            </a:r>
          </a:p>
          <a:p>
            <a:pPr algn="l" eaLnBrk="0" marL="155448" indent="-155448">
              <a:lnSpc>
                <a:spcPct val="100000"/>
              </a:lnSpc>
              <a:spcBef>
                <a:spcPts val="0"/>
              </a:spcBef>
              <a:spcAft>
                <a:spcPts val="700"/>
              </a:spcAft>
              <a:buClr>
                <a:srgbClr val="94A3B8"/>
              </a:buClr>
              <a:buFont typeface="Arial"/>
              <a:buChar char="•"/>
            </a:pPr>
            <a:r>
              <a:rPr sz="1300" b="0" i="0">
                <a:solidFill>
                  <a:srgbClr val="475569"/>
                </a:solidFill>
                <a:latin typeface="맑은 고딕"/>
                <a:ea typeface="맑은 고딕"/>
                <a:cs typeface="맑은 고딕"/>
              </a:rPr>
              <a:t>비실시간 채널 인계(123건) 발생 시</a:t>
            </a:r>
            <a:br/>
            <a:r>
              <a:rPr sz="1300" b="0" i="0">
                <a:solidFill>
                  <a:srgbClr val="475569"/>
                </a:solidFill>
                <a:latin typeface="맑은 고딕"/>
                <a:ea typeface="맑은 고딕"/>
                <a:cs typeface="맑은 고딕"/>
              </a:rPr>
              <a:t>6.6배 지연</a:t>
            </a:r>
          </a:p>
        </p:txBody>
      </p:sp>
      <p:sp>
        <p:nvSpPr>
          <p:cNvPr id="35" name="Summary-3"/>
          <p:cNvSpPr/>
          <p:nvPr/>
        </p:nvSpPr>
        <p:spPr>
          <a:xfrm>
            <a:off x="8112556" y="2834640"/>
            <a:ext cx="3576218" cy="3429000"/>
          </a:xfrm>
          <a:prstGeom prst="roundRect">
            <a:avLst>
              <a:gd name="adj" fmla="val 3733"/>
            </a:avLst>
          </a:prstGeom>
          <a:solidFill>
            <a:srgbClr val="FFFFFF"/>
          </a:solidFill>
          <a:ln w="12700">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ill-Step 03"/>
          <p:cNvSpPr/>
          <p:nvPr/>
        </p:nvSpPr>
        <p:spPr>
          <a:xfrm>
            <a:off x="8341156" y="3017520"/>
            <a:ext cx="712816" cy="24688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FFFFFF"/>
                </a:solidFill>
                <a:latin typeface="맑은 고딕"/>
                <a:ea typeface="맑은 고딕"/>
                <a:cs typeface="맑은 고딕"/>
              </a:rPr>
              <a:t>Step 03</a:t>
            </a:r>
          </a:p>
        </p:txBody>
      </p:sp>
      <p:sp>
        <p:nvSpPr>
          <p:cNvPr id="37" name="Pill-TO-BE 솔루션"/>
          <p:cNvSpPr/>
          <p:nvPr/>
        </p:nvSpPr>
        <p:spPr>
          <a:xfrm>
            <a:off x="9145413" y="3017520"/>
            <a:ext cx="1034339"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TO-BE 솔루션</a:t>
            </a:r>
          </a:p>
        </p:txBody>
      </p:sp>
      <p:sp>
        <p:nvSpPr>
          <p:cNvPr id="38" name="TextBox 37"/>
          <p:cNvSpPr txBox="1"/>
          <p:nvPr/>
        </p:nvSpPr>
        <p:spPr>
          <a:xfrm>
            <a:off x="8341156" y="3383280"/>
            <a:ext cx="3119018" cy="548640"/>
          </a:xfrm>
          <a:prstGeom prst="rect">
            <a:avLst/>
          </a:prstGeom>
          <a:noFill/>
        </p:spPr>
        <p:txBody>
          <a:bodyPr wrap="square" lIns="0" tIns="0" rIns="0" bIns="0" anchor="t"/>
          <a:lstStyle/>
          <a:p>
            <a:pPr algn="l" eaLnBrk="0">
              <a:lnSpc>
                <a:spcPct val="100000"/>
              </a:lnSpc>
              <a:spcBef>
                <a:spcPts val="0"/>
              </a:spcBef>
              <a:spcAft>
                <a:spcPts val="0"/>
              </a:spcAft>
              <a:buNone/>
            </a:pPr>
            <a:r>
              <a:rPr sz="3000" b="1" i="0">
                <a:solidFill>
                  <a:srgbClr val="059669"/>
                </a:solidFill>
                <a:latin typeface="Consolas"/>
                <a:ea typeface="맑은 고딕"/>
                <a:cs typeface="맑은 고딕"/>
              </a:rPr>
              <a:t>소통 통제</a:t>
            </a:r>
          </a:p>
        </p:txBody>
      </p:sp>
      <p:sp>
        <p:nvSpPr>
          <p:cNvPr id="39" name="TextBox 38"/>
          <p:cNvSpPr txBox="1"/>
          <p:nvPr/>
        </p:nvSpPr>
        <p:spPr>
          <a:xfrm>
            <a:off x="8341156" y="3977639"/>
            <a:ext cx="3119018" cy="274320"/>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334155"/>
                </a:solidFill>
                <a:latin typeface="맑은 고딕"/>
                <a:ea typeface="맑은 고딕"/>
                <a:cs typeface="맑은 고딕"/>
              </a:rPr>
              <a:t>+ 대기시간 원천 소멸</a:t>
            </a:r>
          </a:p>
        </p:txBody>
      </p:sp>
      <p:sp>
        <p:nvSpPr>
          <p:cNvPr id="40" name="TextBox 39"/>
          <p:cNvSpPr txBox="1"/>
          <p:nvPr/>
        </p:nvSpPr>
        <p:spPr>
          <a:xfrm>
            <a:off x="8341156" y="4407408"/>
            <a:ext cx="3119018" cy="1783080"/>
          </a:xfrm>
          <a:prstGeom prst="rect">
            <a:avLst/>
          </a:prstGeom>
          <a:noFill/>
        </p:spPr>
        <p:txBody>
          <a:bodyPr wrap="square" lIns="0" tIns="0" rIns="0" bIns="0" anchor="t"/>
          <a:lstStyle/>
          <a:p>
            <a:pPr algn="l" eaLnBrk="0" marL="155448" indent="-155448">
              <a:lnSpc>
                <a:spcPct val="100000"/>
              </a:lnSpc>
              <a:spcBef>
                <a:spcPts val="0"/>
              </a:spcBef>
              <a:spcAft>
                <a:spcPts val="700"/>
              </a:spcAft>
              <a:buClr>
                <a:srgbClr val="94A3B8"/>
              </a:buClr>
              <a:buFont typeface="Arial"/>
              <a:buChar char="•"/>
            </a:pPr>
            <a:r>
              <a:rPr sz="1300" b="0" i="0">
                <a:solidFill>
                  <a:srgbClr val="475569"/>
                </a:solidFill>
                <a:latin typeface="맑은 고딕"/>
                <a:ea typeface="맑은 고딕"/>
                <a:cs typeface="맑은 고딕"/>
              </a:rPr>
              <a:t>사전 분류 정합(83~87%)을 활용해</a:t>
            </a:r>
            <a:br/>
            <a:r>
              <a:rPr sz="1300" b="0" i="0">
                <a:solidFill>
                  <a:srgbClr val="475569"/>
                </a:solidFill>
                <a:latin typeface="맑은 고딕"/>
                <a:ea typeface="맑은 고딕"/>
                <a:cs typeface="맑은 고딕"/>
              </a:rPr>
              <a:t>헛걸음 실사 우회</a:t>
            </a:r>
          </a:p>
          <a:p>
            <a:pPr algn="l" eaLnBrk="0" marL="155448" indent="-155448">
              <a:lnSpc>
                <a:spcPct val="100000"/>
              </a:lnSpc>
              <a:spcBef>
                <a:spcPts val="0"/>
              </a:spcBef>
              <a:spcAft>
                <a:spcPts val="700"/>
              </a:spcAft>
              <a:buClr>
                <a:srgbClr val="94A3B8"/>
              </a:buClr>
              <a:buFont typeface="Arial"/>
              <a:buChar char="•"/>
            </a:pPr>
            <a:r>
              <a:rPr sz="1300" b="0" i="0">
                <a:solidFill>
                  <a:srgbClr val="475569"/>
                </a:solidFill>
                <a:latin typeface="맑은 고딕"/>
                <a:ea typeface="맑은 고딕"/>
                <a:cs typeface="맑은 고딕"/>
              </a:rPr>
              <a:t>E형만 직행해도 실사 대기 20%(-15.4h)</a:t>
            </a:r>
            <a:br/>
            <a:r>
              <a:rPr sz="1300" b="0" i="0">
                <a:solidFill>
                  <a:srgbClr val="475569"/>
                </a:solidFill>
                <a:latin typeface="맑은 고딕"/>
                <a:ea typeface="맑은 고딕"/>
                <a:cs typeface="맑은 고딕"/>
              </a:rPr>
              <a:t>➔ 리드타임 -17.2h</a:t>
            </a:r>
          </a:p>
          <a:p>
            <a:pPr algn="l" eaLnBrk="0" marL="155448" indent="-155448">
              <a:lnSpc>
                <a:spcPct val="100000"/>
              </a:lnSpc>
              <a:spcBef>
                <a:spcPts val="0"/>
              </a:spcBef>
              <a:spcAft>
                <a:spcPts val="700"/>
              </a:spcAft>
              <a:buClr>
                <a:srgbClr val="94A3B8"/>
              </a:buClr>
              <a:buFont typeface="Arial"/>
              <a:buChar char="•"/>
            </a:pPr>
            <a:r>
              <a:rPr sz="1300" b="0" i="0">
                <a:solidFill>
                  <a:srgbClr val="475569"/>
                </a:solidFill>
                <a:latin typeface="맑은 고딕"/>
                <a:ea typeface="맑은 고딕"/>
                <a:cs typeface="맑은 고딕"/>
              </a:rPr>
              <a:t>E-1/E-2(리워크 84.6%) 정밀검사로</a:t>
            </a:r>
            <a:br/>
            <a:r>
              <a:rPr sz="1300" b="0" i="0">
                <a:solidFill>
                  <a:srgbClr val="475569"/>
                </a:solidFill>
                <a:latin typeface="맑은 고딕"/>
                <a:ea typeface="맑은 고딕"/>
                <a:cs typeface="맑은 고딕"/>
              </a:rPr>
              <a:t>10일 루프 차단</a:t>
            </a:r>
          </a:p>
        </p:txBody>
      </p:sp>
      <p:sp>
        <p:nvSpPr>
          <p:cNvPr id="41" name="Nav-1">
            <a:hlinkClick action="ppaction://hlinksldjump" r:id="rId3"/>
          </p:cNvPr>
          <p:cNvSpPr/>
          <p:nvPr/>
        </p:nvSpPr>
        <p:spPr>
          <a:xfrm>
            <a:off x="9201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Nav-2">
            <a:hlinkClick action="ppaction://hlinksldjump" r:id="rId4"/>
          </p:cNvPr>
          <p:cNvSpPr/>
          <p:nvPr/>
        </p:nvSpPr>
        <p:spPr>
          <a:xfrm>
            <a:off x="9315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Nav-3">
            <a:hlinkClick action="ppaction://hlinksldjump" r:id="rId5"/>
          </p:cNvPr>
          <p:cNvSpPr/>
          <p:nvPr/>
        </p:nvSpPr>
        <p:spPr>
          <a:xfrm>
            <a:off x="9430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Nav-4">
            <a:hlinkClick action="ppaction://hlinksldjump" r:id="rId6"/>
          </p:cNvPr>
          <p:cNvSpPr/>
          <p:nvPr/>
        </p:nvSpPr>
        <p:spPr>
          <a:xfrm>
            <a:off x="9544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Nav-5">
            <a:hlinkClick action="ppaction://hlinksldjump" r:id="rId7"/>
          </p:cNvPr>
          <p:cNvSpPr/>
          <p:nvPr/>
        </p:nvSpPr>
        <p:spPr>
          <a:xfrm>
            <a:off x="96588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Nav-6">
            <a:hlinkClick action="ppaction://hlinksldjump" r:id="rId8"/>
          </p:cNvPr>
          <p:cNvSpPr/>
          <p:nvPr/>
        </p:nvSpPr>
        <p:spPr>
          <a:xfrm>
            <a:off x="97731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Nav-7">
            <a:hlinkClick action="ppaction://hlinksldjump" r:id="rId9"/>
          </p:cNvPr>
          <p:cNvSpPr/>
          <p:nvPr/>
        </p:nvSpPr>
        <p:spPr>
          <a:xfrm>
            <a:off x="98874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Nav-8">
            <a:hlinkClick action="ppaction://hlinksldjump" r:id="rId10"/>
          </p:cNvPr>
          <p:cNvSpPr/>
          <p:nvPr/>
        </p:nvSpPr>
        <p:spPr>
          <a:xfrm>
            <a:off x="100017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av-9">
            <a:hlinkClick action="ppaction://hlinksldjump" r:id="rId11"/>
          </p:cNvPr>
          <p:cNvSpPr/>
          <p:nvPr/>
        </p:nvSpPr>
        <p:spPr>
          <a:xfrm>
            <a:off x="101160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Nav-10">
            <a:hlinkClick action="ppaction://hlinksldjump" r:id="rId12"/>
          </p:cNvPr>
          <p:cNvSpPr/>
          <p:nvPr/>
        </p:nvSpPr>
        <p:spPr>
          <a:xfrm>
            <a:off x="102303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Nav-11">
            <a:hlinkClick action="ppaction://hlinksldjump" r:id="rId13"/>
          </p:cNvPr>
          <p:cNvSpPr/>
          <p:nvPr/>
        </p:nvSpPr>
        <p:spPr>
          <a:xfrm>
            <a:off x="10344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Nav-12">
            <a:hlinkClick action="ppaction://hlinksldjump" r:id="rId14"/>
          </p:cNvPr>
          <p:cNvSpPr/>
          <p:nvPr/>
        </p:nvSpPr>
        <p:spPr>
          <a:xfrm>
            <a:off x="10458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Nav-13">
            <a:hlinkClick action="ppaction://hlinksldjump" r:id="rId15"/>
          </p:cNvPr>
          <p:cNvSpPr/>
          <p:nvPr/>
        </p:nvSpPr>
        <p:spPr>
          <a:xfrm>
            <a:off x="10573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Nav-14">
            <a:hlinkClick action="ppaction://hlinksldjump" r:id="rId16"/>
          </p:cNvPr>
          <p:cNvSpPr/>
          <p:nvPr/>
        </p:nvSpPr>
        <p:spPr>
          <a:xfrm>
            <a:off x="10687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292300"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01 · 질문 1 | Before Profiling</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정상 결측은 그대로 보존하고, 시스템 에러 20행(0.15%)만 수사 타겟으로</a:t>
            </a:r>
            <a:br/>
            <a:r>
              <a:rPr sz="2400" b="1" i="0">
                <a:solidFill>
                  <a:srgbClr val="0F172A"/>
                </a:solidFill>
                <a:latin typeface="맑은 고딕"/>
                <a:ea typeface="맑은 고딕"/>
                <a:cs typeface="맑은 고딕"/>
              </a:rPr>
              <a:t>특정했다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repair2.csv 원천 프로파일링 (EDA-01) · 20행 = 5개 속성 결측이 포함된 18개 케이스의 실제 행</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04 / 14</a:t>
            </a:r>
          </a:p>
        </p:txBody>
      </p:sp>
      <p:sp>
        <p:nvSpPr>
          <p:cNvPr id="20" name="ProfileCard"/>
          <p:cNvSpPr/>
          <p:nvPr/>
        </p:nvSpPr>
        <p:spPr>
          <a:xfrm>
            <a:off x="502920" y="1691640"/>
            <a:ext cx="3383280" cy="4526280"/>
          </a:xfrm>
          <a:prstGeom prst="roundRect">
            <a:avLst>
              <a:gd name="adj" fmla="val 378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1874519"/>
            <a:ext cx="2926080" cy="228600"/>
          </a:xfrm>
          <a:prstGeom prst="rect">
            <a:avLst/>
          </a:prstGeom>
          <a:noFill/>
        </p:spPr>
        <p:txBody>
          <a:bodyPr wrap="square" lIns="0" tIns="0" rIns="0" bIns="0" anchor="t"/>
          <a:lstStyle/>
          <a:p>
            <a:pPr algn="l" eaLnBrk="0">
              <a:lnSpc>
                <a:spcPct val="100000"/>
              </a:lnSpc>
              <a:spcBef>
                <a:spcPts val="0"/>
              </a:spcBef>
              <a:spcAft>
                <a:spcPts val="0"/>
              </a:spcAft>
              <a:buNone/>
            </a:pPr>
            <a:r>
              <a:rPr sz="1050" b="1" i="0">
                <a:solidFill>
                  <a:srgbClr val="64748B"/>
                </a:solidFill>
                <a:latin typeface="맑은 고딕"/>
                <a:ea typeface="맑은 고딕"/>
                <a:cs typeface="맑은 고딕"/>
              </a:rPr>
              <a:t>원천 데이터셋 프로파일</a:t>
            </a:r>
          </a:p>
        </p:txBody>
      </p:sp>
      <p:sp>
        <p:nvSpPr>
          <p:cNvPr id="22" name="TextBox 21"/>
          <p:cNvSpPr txBox="1"/>
          <p:nvPr/>
        </p:nvSpPr>
        <p:spPr>
          <a:xfrm>
            <a:off x="731520" y="2194560"/>
            <a:ext cx="2926080" cy="603504"/>
          </a:xfrm>
          <a:prstGeom prst="rect">
            <a:avLst/>
          </a:prstGeom>
          <a:noFill/>
        </p:spPr>
        <p:txBody>
          <a:bodyPr wrap="square" lIns="0" tIns="0" rIns="0" bIns="0" anchor="t"/>
          <a:lstStyle/>
          <a:p>
            <a:pPr algn="l" eaLnBrk="0">
              <a:lnSpc>
                <a:spcPct val="100000"/>
              </a:lnSpc>
              <a:spcBef>
                <a:spcPts val="0"/>
              </a:spcBef>
              <a:spcAft>
                <a:spcPts val="0"/>
              </a:spcAft>
              <a:buNone/>
            </a:pPr>
            <a:r>
              <a:rPr sz="3600" b="1" i="0">
                <a:solidFill>
                  <a:srgbClr val="0F172A"/>
                </a:solidFill>
                <a:latin typeface="Consolas"/>
                <a:ea typeface="맑은 고딕"/>
                <a:cs typeface="맑은 고딕"/>
              </a:rPr>
              <a:t>13,262</a:t>
            </a:r>
          </a:p>
        </p:txBody>
      </p:sp>
      <p:sp>
        <p:nvSpPr>
          <p:cNvPr id="23" name="TextBox 22"/>
          <p:cNvSpPr txBox="1"/>
          <p:nvPr/>
        </p:nvSpPr>
        <p:spPr>
          <a:xfrm>
            <a:off x="731520" y="2779776"/>
            <a:ext cx="2926080" cy="274320"/>
          </a:xfrm>
          <a:prstGeom prst="rect">
            <a:avLst/>
          </a:prstGeom>
          <a:noFill/>
        </p:spPr>
        <p:txBody>
          <a:bodyPr wrap="square" lIns="0" tIns="0" rIns="0" bIns="0" anchor="t"/>
          <a:lstStyle/>
          <a:p>
            <a:pPr algn="l" eaLnBrk="0">
              <a:lnSpc>
                <a:spcPct val="100000"/>
              </a:lnSpc>
              <a:spcBef>
                <a:spcPts val="0"/>
              </a:spcBef>
              <a:spcAft>
                <a:spcPts val="0"/>
              </a:spcAft>
              <a:buNone/>
            </a:pPr>
            <a:r>
              <a:rPr sz="1200" b="0" i="0">
                <a:solidFill>
                  <a:srgbClr val="64748B"/>
                </a:solidFill>
                <a:latin typeface="맑은 고딕"/>
                <a:ea typeface="맑은 고딕"/>
                <a:cs typeface="맑은 고딕"/>
              </a:rPr>
              <a:t>원천 이벤트 행</a:t>
            </a:r>
          </a:p>
        </p:txBody>
      </p:sp>
      <p:sp>
        <p:nvSpPr>
          <p:cNvPr id="24" name="TextBox 23"/>
          <p:cNvSpPr txBox="1"/>
          <p:nvPr/>
        </p:nvSpPr>
        <p:spPr>
          <a:xfrm>
            <a:off x="731520" y="3182112"/>
            <a:ext cx="2926080" cy="603504"/>
          </a:xfrm>
          <a:prstGeom prst="rect">
            <a:avLst/>
          </a:prstGeom>
          <a:noFill/>
        </p:spPr>
        <p:txBody>
          <a:bodyPr wrap="square" lIns="0" tIns="0" rIns="0" bIns="0" anchor="t"/>
          <a:lstStyle/>
          <a:p>
            <a:pPr algn="l" eaLnBrk="0">
              <a:lnSpc>
                <a:spcPct val="100000"/>
              </a:lnSpc>
              <a:spcBef>
                <a:spcPts val="0"/>
              </a:spcBef>
              <a:spcAft>
                <a:spcPts val="0"/>
              </a:spcAft>
              <a:buNone/>
            </a:pPr>
            <a:r>
              <a:rPr sz="3600" b="1" i="0">
                <a:solidFill>
                  <a:srgbClr val="0F172A"/>
                </a:solidFill>
                <a:latin typeface="Consolas"/>
                <a:ea typeface="맑은 고딕"/>
                <a:cs typeface="맑은 고딕"/>
              </a:rPr>
              <a:t>1,000</a:t>
            </a:r>
          </a:p>
        </p:txBody>
      </p:sp>
      <p:sp>
        <p:nvSpPr>
          <p:cNvPr id="25" name="TextBox 24"/>
          <p:cNvSpPr txBox="1"/>
          <p:nvPr/>
        </p:nvSpPr>
        <p:spPr>
          <a:xfrm>
            <a:off x="731520" y="3767328"/>
            <a:ext cx="2926080" cy="274320"/>
          </a:xfrm>
          <a:prstGeom prst="rect">
            <a:avLst/>
          </a:prstGeom>
          <a:noFill/>
        </p:spPr>
        <p:txBody>
          <a:bodyPr wrap="square" lIns="0" tIns="0" rIns="0" bIns="0" anchor="t"/>
          <a:lstStyle/>
          <a:p>
            <a:pPr algn="l" eaLnBrk="0">
              <a:lnSpc>
                <a:spcPct val="100000"/>
              </a:lnSpc>
              <a:spcBef>
                <a:spcPts val="0"/>
              </a:spcBef>
              <a:spcAft>
                <a:spcPts val="0"/>
              </a:spcAft>
              <a:buNone/>
            </a:pPr>
            <a:r>
              <a:rPr sz="1200" b="0" i="0">
                <a:solidFill>
                  <a:srgbClr val="64748B"/>
                </a:solidFill>
                <a:latin typeface="맑은 고딕"/>
                <a:ea typeface="맑은 고딕"/>
                <a:cs typeface="맑은 고딕"/>
              </a:rPr>
              <a:t>총 관리 케이스</a:t>
            </a:r>
          </a:p>
        </p:txBody>
      </p:sp>
      <p:sp>
        <p:nvSpPr>
          <p:cNvPr id="26" name="TextBox 25"/>
          <p:cNvSpPr txBox="1"/>
          <p:nvPr/>
        </p:nvSpPr>
        <p:spPr>
          <a:xfrm>
            <a:off x="731520" y="4169664"/>
            <a:ext cx="2926080" cy="603504"/>
          </a:xfrm>
          <a:prstGeom prst="rect">
            <a:avLst/>
          </a:prstGeom>
          <a:noFill/>
        </p:spPr>
        <p:txBody>
          <a:bodyPr wrap="square" lIns="0" tIns="0" rIns="0" bIns="0" anchor="t"/>
          <a:lstStyle/>
          <a:p>
            <a:pPr algn="l" eaLnBrk="0">
              <a:lnSpc>
                <a:spcPct val="100000"/>
              </a:lnSpc>
              <a:spcBef>
                <a:spcPts val="0"/>
              </a:spcBef>
              <a:spcAft>
                <a:spcPts val="0"/>
              </a:spcAft>
              <a:buNone/>
            </a:pPr>
            <a:r>
              <a:rPr sz="3600" b="1" i="0">
                <a:solidFill>
                  <a:srgbClr val="0F172A"/>
                </a:solidFill>
                <a:latin typeface="Consolas"/>
                <a:ea typeface="맑은 고딕"/>
                <a:cs typeface="맑은 고딕"/>
              </a:rPr>
              <a:t>13개</a:t>
            </a:r>
          </a:p>
        </p:txBody>
      </p:sp>
      <p:sp>
        <p:nvSpPr>
          <p:cNvPr id="27" name="TextBox 26"/>
          <p:cNvSpPr txBox="1"/>
          <p:nvPr/>
        </p:nvSpPr>
        <p:spPr>
          <a:xfrm>
            <a:off x="731520" y="4754880"/>
            <a:ext cx="2926080" cy="274320"/>
          </a:xfrm>
          <a:prstGeom prst="rect">
            <a:avLst/>
          </a:prstGeom>
          <a:noFill/>
        </p:spPr>
        <p:txBody>
          <a:bodyPr wrap="square" lIns="0" tIns="0" rIns="0" bIns="0" anchor="t"/>
          <a:lstStyle/>
          <a:p>
            <a:pPr algn="l" eaLnBrk="0">
              <a:lnSpc>
                <a:spcPct val="100000"/>
              </a:lnSpc>
              <a:spcBef>
                <a:spcPts val="0"/>
              </a:spcBef>
              <a:spcAft>
                <a:spcPts val="0"/>
              </a:spcAft>
              <a:buNone/>
            </a:pPr>
            <a:r>
              <a:rPr sz="1200" b="0" i="0">
                <a:solidFill>
                  <a:srgbClr val="64748B"/>
                </a:solidFill>
                <a:latin typeface="맑은 고딕"/>
                <a:ea typeface="맑은 고딕"/>
                <a:cs typeface="맑은 고딕"/>
              </a:rPr>
              <a:t>전체 속성 수</a:t>
            </a:r>
          </a:p>
        </p:txBody>
      </p:sp>
      <p:sp>
        <p:nvSpPr>
          <p:cNvPr id="28" name="ProfileCallout"/>
          <p:cNvSpPr/>
          <p:nvPr/>
        </p:nvSpPr>
        <p:spPr>
          <a:xfrm>
            <a:off x="685800" y="5212080"/>
            <a:ext cx="3017520" cy="896112"/>
          </a:xfrm>
          <a:prstGeom prst="roundRect">
            <a:avLst>
              <a:gd name="adj" fmla="val 1020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212080"/>
            <a:ext cx="2743200" cy="896112"/>
          </a:xfrm>
          <a:prstGeom prst="rect">
            <a:avLst/>
          </a:prstGeom>
          <a:noFill/>
        </p:spPr>
        <p:txBody>
          <a:bodyPr wrap="square" lIns="0" tIns="0" rIns="0" bIns="0" anchor="ctr"/>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1건 1행의 정형 데이터가 아닌 세부 공정</a:t>
            </a:r>
            <a:br/>
            <a:r>
              <a:rPr sz="1050" b="0" i="0">
                <a:solidFill>
                  <a:srgbClr val="475569"/>
                </a:solidFill>
                <a:latin typeface="맑은 고딕"/>
                <a:ea typeface="맑은 고딕"/>
                <a:cs typeface="맑은 고딕"/>
              </a:rPr>
              <a:t>단위로 기록되는 이벤트 로그(Event Log)의</a:t>
            </a:r>
            <a:br/>
            <a:r>
              <a:rPr sz="1050" b="0" i="0">
                <a:solidFill>
                  <a:srgbClr val="475569"/>
                </a:solidFill>
                <a:latin typeface="맑은 고딕"/>
                <a:ea typeface="맑은 고딕"/>
                <a:cs typeface="맑은 고딕"/>
              </a:rPr>
              <a:t>특성 반영 필수</a:t>
            </a:r>
          </a:p>
        </p:txBody>
      </p:sp>
      <p:sp>
        <p:nvSpPr>
          <p:cNvPr id="30" name="EDA01Frame"/>
          <p:cNvSpPr/>
          <p:nvPr/>
        </p:nvSpPr>
        <p:spPr>
          <a:xfrm>
            <a:off x="4114800" y="1691640"/>
            <a:ext cx="7573975" cy="2971800"/>
          </a:xfrm>
          <a:prstGeom prst="roundRect">
            <a:avLst>
              <a:gd name="adj" fmla="val 369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속성별 결측률: 정상 결측 7개 속성 86~93%, 비정상 결측 5개 속성 0.015~0.098%, 중간 구간 컬럼 0개"/>
          <p:cNvPicPr>
            <a:picLocks noChangeAspect="1"/>
          </p:cNvPicPr>
          <p:nvPr/>
        </p:nvPicPr>
        <p:blipFill>
          <a:blip r:embed="rId2"/>
          <a:stretch>
            <a:fillRect/>
          </a:stretch>
        </p:blipFill>
        <p:spPr>
          <a:xfrm>
            <a:off x="4160520" y="1736211"/>
            <a:ext cx="7482535" cy="2891801"/>
          </a:xfrm>
          <a:prstGeom prst="rect">
            <a:avLst/>
          </a:prstGeom>
        </p:spPr>
      </p:pic>
      <p:sp>
        <p:nvSpPr>
          <p:cNvPr id="32" name="Verdict-1"/>
          <p:cNvSpPr/>
          <p:nvPr/>
        </p:nvSpPr>
        <p:spPr>
          <a:xfrm>
            <a:off x="4114800" y="4754880"/>
            <a:ext cx="7573975" cy="457200"/>
          </a:xfrm>
          <a:prstGeom prst="roundRect">
            <a:avLst>
              <a:gd name="adj" fmla="val 20000"/>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ill-정상 결측 (무죄)"/>
          <p:cNvSpPr/>
          <p:nvPr/>
        </p:nvSpPr>
        <p:spPr>
          <a:xfrm>
            <a:off x="4224528" y="4860036"/>
            <a:ext cx="1481328"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정상 결측 (무죄)</a:t>
            </a:r>
          </a:p>
        </p:txBody>
      </p:sp>
      <p:sp>
        <p:nvSpPr>
          <p:cNvPr id="34" name="TextBox 33"/>
          <p:cNvSpPr txBox="1"/>
          <p:nvPr/>
        </p:nvSpPr>
        <p:spPr>
          <a:xfrm>
            <a:off x="5852160" y="4754880"/>
            <a:ext cx="3063240" cy="457200"/>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구조적 Null 86.0~93.0% · 7개 속성 (12,335행)</a:t>
            </a:r>
          </a:p>
        </p:txBody>
      </p:sp>
      <p:sp>
        <p:nvSpPr>
          <p:cNvPr id="35" name="TextBox 34"/>
          <p:cNvSpPr txBox="1"/>
          <p:nvPr/>
        </p:nvSpPr>
        <p:spPr>
          <a:xfrm>
            <a:off x="9052560" y="4754880"/>
            <a:ext cx="2544775" cy="457200"/>
          </a:xfrm>
          <a:prstGeom prst="rect">
            <a:avLst/>
          </a:prstGeom>
          <a:noFill/>
        </p:spPr>
        <p:txBody>
          <a:bodyPr wrap="square" lIns="0" tIns="0" rIns="0" bIns="0" anchor="ctr"/>
          <a:lstStyle/>
          <a:p>
            <a:pPr algn="l" eaLnBrk="0">
              <a:lnSpc>
                <a:spcPct val="100000"/>
              </a:lnSpc>
              <a:spcBef>
                <a:spcPts val="0"/>
              </a:spcBef>
              <a:spcAft>
                <a:spcPts val="0"/>
              </a:spcAft>
              <a:buNone/>
            </a:pPr>
            <a:r>
              <a:rPr sz="1000" b="0" i="0">
                <a:solidFill>
                  <a:srgbClr val="475569"/>
                </a:solidFill>
                <a:latin typeface="맑은 고딕"/>
                <a:ea typeface="맑은 고딕"/>
                <a:cs typeface="맑은 고딕"/>
              </a:rPr>
              <a:t>후속 공정이 없어 비어 있는 값 ➔ 임의</a:t>
            </a:r>
            <a:br/>
            <a:r>
              <a:rPr sz="1000" b="0" i="0">
                <a:solidFill>
                  <a:srgbClr val="475569"/>
                </a:solidFill>
                <a:latin typeface="맑은 고딕"/>
                <a:ea typeface="맑은 고딕"/>
                <a:cs typeface="맑은 고딕"/>
              </a:rPr>
              <a:t>대체 없이 100% 보존</a:t>
            </a:r>
          </a:p>
        </p:txBody>
      </p:sp>
      <p:sp>
        <p:nvSpPr>
          <p:cNvPr id="36" name="Verdict-2"/>
          <p:cNvSpPr/>
          <p:nvPr/>
        </p:nvSpPr>
        <p:spPr>
          <a:xfrm>
            <a:off x="4114800" y="5266944"/>
            <a:ext cx="7573975" cy="457200"/>
          </a:xfrm>
          <a:prstGeom prst="roundRect">
            <a:avLst>
              <a:gd name="adj" fmla="val 20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ill-비정상 결측 (유죄)"/>
          <p:cNvSpPr/>
          <p:nvPr/>
        </p:nvSpPr>
        <p:spPr>
          <a:xfrm>
            <a:off x="4224528" y="5372100"/>
            <a:ext cx="1481328" cy="246888"/>
          </a:xfrm>
          <a:prstGeom prst="roundRect">
            <a:avLst>
              <a:gd name="adj" fmla="val 50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B91C1C"/>
                </a:solidFill>
                <a:latin typeface="맑은 고딕"/>
                <a:ea typeface="맑은 고딕"/>
                <a:cs typeface="맑은 고딕"/>
              </a:rPr>
              <a:t>비정상 결측 (유죄)</a:t>
            </a:r>
          </a:p>
        </p:txBody>
      </p:sp>
      <p:sp>
        <p:nvSpPr>
          <p:cNvPr id="38" name="TextBox 37"/>
          <p:cNvSpPr txBox="1"/>
          <p:nvPr/>
        </p:nvSpPr>
        <p:spPr>
          <a:xfrm>
            <a:off x="5852160" y="5266944"/>
            <a:ext cx="3063240" cy="457200"/>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시스템 에러 0.015~0.098% · 5개 속성 (20행)</a:t>
            </a:r>
          </a:p>
        </p:txBody>
      </p:sp>
      <p:sp>
        <p:nvSpPr>
          <p:cNvPr id="39" name="TextBox 38"/>
          <p:cNvSpPr txBox="1"/>
          <p:nvPr/>
        </p:nvSpPr>
        <p:spPr>
          <a:xfrm>
            <a:off x="9052560" y="5266944"/>
            <a:ext cx="2544775" cy="457200"/>
          </a:xfrm>
          <a:prstGeom prst="rect">
            <a:avLst/>
          </a:prstGeom>
          <a:noFill/>
        </p:spPr>
        <p:txBody>
          <a:bodyPr wrap="square" lIns="0" tIns="0" rIns="0" bIns="0" anchor="ctr"/>
          <a:lstStyle/>
          <a:p>
            <a:pPr algn="l" eaLnBrk="0">
              <a:lnSpc>
                <a:spcPct val="100000"/>
              </a:lnSpc>
              <a:spcBef>
                <a:spcPts val="0"/>
              </a:spcBef>
              <a:spcAft>
                <a:spcPts val="0"/>
              </a:spcAft>
              <a:buNone/>
            </a:pPr>
            <a:r>
              <a:rPr sz="1000" b="1" i="0">
                <a:solidFill>
                  <a:srgbClr val="DC2626"/>
                </a:solidFill>
                <a:latin typeface="맑은 고딕"/>
                <a:ea typeface="맑은 고딕"/>
                <a:cs typeface="맑은 고딕"/>
              </a:rPr>
              <a:t>필수 값 누락 ➔ 18개 케이스, 단 20행만</a:t>
            </a:r>
            <a:br/>
            <a:r>
              <a:rPr sz="1000" b="1" i="0">
                <a:solidFill>
                  <a:srgbClr val="DC2626"/>
                </a:solidFill>
                <a:latin typeface="맑은 고딕"/>
                <a:ea typeface="맑은 고딕"/>
                <a:cs typeface="맑은 고딕"/>
              </a:rPr>
              <a:t>정밀 복원 타겟</a:t>
            </a:r>
          </a:p>
        </p:txBody>
      </p:sp>
      <p:sp>
        <p:nvSpPr>
          <p:cNvPr id="40" name="Verdict-3"/>
          <p:cNvSpPr/>
          <p:nvPr/>
        </p:nvSpPr>
        <p:spPr>
          <a:xfrm>
            <a:off x="4114800" y="5779008"/>
            <a:ext cx="7573975" cy="457200"/>
          </a:xfrm>
          <a:prstGeom prst="roundRect">
            <a:avLst>
              <a:gd name="adj" fmla="val 2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ill-진공 구간"/>
          <p:cNvSpPr/>
          <p:nvPr/>
        </p:nvSpPr>
        <p:spPr>
          <a:xfrm>
            <a:off x="4224528" y="5884164"/>
            <a:ext cx="1481328"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진공 구간</a:t>
            </a:r>
          </a:p>
        </p:txBody>
      </p:sp>
      <p:sp>
        <p:nvSpPr>
          <p:cNvPr id="42" name="TextBox 41"/>
          <p:cNvSpPr txBox="1"/>
          <p:nvPr/>
        </p:nvSpPr>
        <p:spPr>
          <a:xfrm>
            <a:off x="5852160" y="5779008"/>
            <a:ext cx="3063240" cy="457200"/>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0.1% ~ 86.0% 구간 컬럼 0개</a:t>
            </a:r>
          </a:p>
        </p:txBody>
      </p:sp>
      <p:sp>
        <p:nvSpPr>
          <p:cNvPr id="43" name="TextBox 42"/>
          <p:cNvSpPr txBox="1"/>
          <p:nvPr/>
        </p:nvSpPr>
        <p:spPr>
          <a:xfrm>
            <a:off x="9052560" y="5779008"/>
            <a:ext cx="2544775" cy="457200"/>
          </a:xfrm>
          <a:prstGeom prst="rect">
            <a:avLst/>
          </a:prstGeom>
          <a:noFill/>
        </p:spPr>
        <p:txBody>
          <a:bodyPr wrap="square" lIns="0" tIns="0" rIns="0" bIns="0" anchor="ctr"/>
          <a:lstStyle/>
          <a:p>
            <a:pPr algn="l" eaLnBrk="0">
              <a:lnSpc>
                <a:spcPct val="100000"/>
              </a:lnSpc>
              <a:spcBef>
                <a:spcPts val="0"/>
              </a:spcBef>
              <a:spcAft>
                <a:spcPts val="0"/>
              </a:spcAft>
              <a:buNone/>
            </a:pPr>
            <a:r>
              <a:rPr sz="1000" b="0" i="0">
                <a:solidFill>
                  <a:srgbClr val="475569"/>
                </a:solidFill>
                <a:latin typeface="맑은 고딕"/>
                <a:ea typeface="맑은 고딕"/>
                <a:cs typeface="맑은 고딕"/>
              </a:rPr>
              <a:t>완벽한 양극단 이봉분포 ➔ 정상/비정상</a:t>
            </a:r>
            <a:br/>
            <a:r>
              <a:rPr sz="1000" b="0" i="0">
                <a:solidFill>
                  <a:srgbClr val="475569"/>
                </a:solidFill>
                <a:latin typeface="맑은 고딕"/>
                <a:ea typeface="맑은 고딕"/>
                <a:cs typeface="맑은 고딕"/>
              </a:rPr>
              <a:t>판별의 객관성 입증</a:t>
            </a:r>
          </a:p>
        </p:txBody>
      </p:sp>
      <p:sp>
        <p:nvSpPr>
          <p:cNvPr id="44" name="Nav-1">
            <a:hlinkClick action="ppaction://hlinksldjump" r:id="rId4"/>
          </p:cNvPr>
          <p:cNvSpPr/>
          <p:nvPr/>
        </p:nvSpPr>
        <p:spPr>
          <a:xfrm>
            <a:off x="9201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Nav-2">
            <a:hlinkClick action="ppaction://hlinksldjump" r:id="rId5"/>
          </p:cNvPr>
          <p:cNvSpPr/>
          <p:nvPr/>
        </p:nvSpPr>
        <p:spPr>
          <a:xfrm>
            <a:off x="9315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Nav-3">
            <a:hlinkClick action="ppaction://hlinksldjump" r:id="rId6"/>
          </p:cNvPr>
          <p:cNvSpPr/>
          <p:nvPr/>
        </p:nvSpPr>
        <p:spPr>
          <a:xfrm>
            <a:off x="9430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Nav-4">
            <a:hlinkClick action="ppaction://hlinksldjump" r:id="rId7"/>
          </p:cNvPr>
          <p:cNvSpPr/>
          <p:nvPr/>
        </p:nvSpPr>
        <p:spPr>
          <a:xfrm>
            <a:off x="9544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Nav-5">
            <a:hlinkClick action="ppaction://hlinksldjump" r:id="rId8"/>
          </p:cNvPr>
          <p:cNvSpPr/>
          <p:nvPr/>
        </p:nvSpPr>
        <p:spPr>
          <a:xfrm>
            <a:off x="96588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av-6">
            <a:hlinkClick action="ppaction://hlinksldjump" r:id="rId9"/>
          </p:cNvPr>
          <p:cNvSpPr/>
          <p:nvPr/>
        </p:nvSpPr>
        <p:spPr>
          <a:xfrm>
            <a:off x="97731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Nav-7">
            <a:hlinkClick action="ppaction://hlinksldjump" r:id="rId10"/>
          </p:cNvPr>
          <p:cNvSpPr/>
          <p:nvPr/>
        </p:nvSpPr>
        <p:spPr>
          <a:xfrm>
            <a:off x="98874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Nav-8">
            <a:hlinkClick action="ppaction://hlinksldjump" r:id="rId11"/>
          </p:cNvPr>
          <p:cNvSpPr/>
          <p:nvPr/>
        </p:nvSpPr>
        <p:spPr>
          <a:xfrm>
            <a:off x="100017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Nav-9">
            <a:hlinkClick action="ppaction://hlinksldjump" r:id="rId12"/>
          </p:cNvPr>
          <p:cNvSpPr/>
          <p:nvPr/>
        </p:nvSpPr>
        <p:spPr>
          <a:xfrm>
            <a:off x="101160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Nav-10">
            <a:hlinkClick action="ppaction://hlinksldjump" r:id="rId13"/>
          </p:cNvPr>
          <p:cNvSpPr/>
          <p:nvPr/>
        </p:nvSpPr>
        <p:spPr>
          <a:xfrm>
            <a:off x="102303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Nav-11">
            <a:hlinkClick action="ppaction://hlinksldjump" r:id="rId14"/>
          </p:cNvPr>
          <p:cNvSpPr/>
          <p:nvPr/>
        </p:nvSpPr>
        <p:spPr>
          <a:xfrm>
            <a:off x="10344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Nav-12">
            <a:hlinkClick action="ppaction://hlinksldjump" r:id="rId15"/>
          </p:cNvPr>
          <p:cNvSpPr/>
          <p:nvPr/>
        </p:nvSpPr>
        <p:spPr>
          <a:xfrm>
            <a:off x="10458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Nav-13">
            <a:hlinkClick action="ppaction://hlinksldjump" r:id="rId16"/>
          </p:cNvPr>
          <p:cNvSpPr/>
          <p:nvPr/>
        </p:nvSpPr>
        <p:spPr>
          <a:xfrm>
            <a:off x="10573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Nav-14">
            <a:hlinkClick action="ppaction://hlinksldjump" r:id="rId17"/>
          </p:cNvPr>
          <p:cNvSpPr/>
          <p:nvPr/>
        </p:nvSpPr>
        <p:spPr>
          <a:xfrm>
            <a:off x="10687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3040380"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01 · 질문 1 | CASE 1 ~ 5 도메인 인과 복원</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행 삭제나 단순 대체 없이, 업무 인과 근거로 결측 20행과 오기입·더미</a:t>
            </a:r>
            <a:br/>
            <a:r>
              <a:rPr sz="2400" b="1" i="0">
                <a:solidFill>
                  <a:srgbClr val="0F172A"/>
                </a:solidFill>
                <a:latin typeface="맑은 고딕"/>
                <a:ea typeface="맑은 고딕"/>
                <a:cs typeface="맑은 고딕"/>
              </a:rPr>
              <a:t>일시까지 100% 무손실 복원했다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analysis.ipynb Cell 18·20·51·53·77·81, analysis.sql · CASE 4·5의 건수에는 결측 행(각 13건)이 포함됨</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05 / 14</a:t>
            </a:r>
          </a:p>
        </p:txBody>
      </p:sp>
      <p:sp>
        <p:nvSpPr>
          <p:cNvPr id="20" name="Case-1"/>
          <p:cNvSpPr/>
          <p:nvPr/>
        </p:nvSpPr>
        <p:spPr>
          <a:xfrm>
            <a:off x="502920" y="1691640"/>
            <a:ext cx="11185855" cy="694944"/>
          </a:xfrm>
          <a:prstGeom prst="roundRect">
            <a:avLst>
              <a:gd name="adj" fmla="val 131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1691640"/>
            <a:ext cx="914400" cy="694944"/>
          </a:xfrm>
          <a:prstGeom prst="rect">
            <a:avLst/>
          </a:prstGeom>
          <a:noFill/>
        </p:spPr>
        <p:txBody>
          <a:bodyPr wrap="square" lIns="0" tIns="0" rIns="0" bIns="0" anchor="ctr"/>
          <a:lstStyle/>
          <a:p>
            <a:pPr algn="ctr" eaLnBrk="0">
              <a:lnSpc>
                <a:spcPct val="100000"/>
              </a:lnSpc>
              <a:spcBef>
                <a:spcPts val="0"/>
              </a:spcBef>
              <a:spcAft>
                <a:spcPts val="0"/>
              </a:spcAft>
              <a:buNone/>
            </a:pPr>
            <a:r>
              <a:rPr sz="2200" b="1" i="0">
                <a:solidFill>
                  <a:srgbClr val="0F172A"/>
                </a:solidFill>
                <a:latin typeface="Consolas"/>
                <a:ea typeface="맑은 고딕"/>
                <a:cs typeface="맑은 고딕"/>
              </a:rPr>
              <a:t>2</a:t>
            </a:r>
            <a:r>
              <a:rPr sz="1050" b="1" i="0">
                <a:solidFill>
                  <a:srgbClr val="0F172A"/>
                </a:solidFill>
                <a:latin typeface="맑은 고딕"/>
                <a:ea typeface="맑은 고딕"/>
                <a:cs typeface="맑은 고딕"/>
              </a:rPr>
              <a:t>건</a:t>
            </a:r>
          </a:p>
        </p:txBody>
      </p:sp>
      <p:sp>
        <p:nvSpPr>
          <p:cNvPr id="22" name="Pill-CASE 1"/>
          <p:cNvSpPr/>
          <p:nvPr/>
        </p:nvSpPr>
        <p:spPr>
          <a:xfrm>
            <a:off x="1691640" y="1783080"/>
            <a:ext cx="682117"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CASE 1</a:t>
            </a:r>
          </a:p>
        </p:txBody>
      </p:sp>
      <p:sp>
        <p:nvSpPr>
          <p:cNvPr id="23" name="TextBox 22"/>
          <p:cNvSpPr txBox="1"/>
          <p:nvPr/>
        </p:nvSpPr>
        <p:spPr>
          <a:xfrm>
            <a:off x="2606039" y="1764792"/>
            <a:ext cx="1371600" cy="274320"/>
          </a:xfrm>
          <a:prstGeom prst="rect">
            <a:avLst/>
          </a:prstGeom>
          <a:noFill/>
        </p:spPr>
        <p:txBody>
          <a:bodyPr wrap="square" lIns="0" tIns="0" rIns="0" bIns="0" anchor="ctr"/>
          <a:lstStyle/>
          <a:p>
            <a:pPr algn="l" eaLnBrk="0">
              <a:lnSpc>
                <a:spcPct val="100000"/>
              </a:lnSpc>
              <a:spcBef>
                <a:spcPts val="0"/>
              </a:spcBef>
              <a:spcAft>
                <a:spcPts val="0"/>
              </a:spcAft>
              <a:buNone/>
            </a:pPr>
            <a:r>
              <a:rPr sz="1250" b="1" i="0">
                <a:solidFill>
                  <a:srgbClr val="0F172A"/>
                </a:solidFill>
                <a:latin typeface="맑은 고딕"/>
                <a:ea typeface="맑은 고딕"/>
                <a:cs typeface="맑은 고딕"/>
              </a:rPr>
              <a:t>taskID</a:t>
            </a:r>
          </a:p>
        </p:txBody>
      </p:sp>
      <p:sp>
        <p:nvSpPr>
          <p:cNvPr id="24" name="TextBox 23"/>
          <p:cNvSpPr txBox="1"/>
          <p:nvPr/>
        </p:nvSpPr>
        <p:spPr>
          <a:xfrm>
            <a:off x="1691640" y="2084832"/>
            <a:ext cx="2286000" cy="256032"/>
          </a:xfrm>
          <a:prstGeom prst="rect">
            <a:avLst/>
          </a:prstGeom>
          <a:noFill/>
        </p:spPr>
        <p:txBody>
          <a:bodyPr wrap="square" lIns="0" tIns="0" rIns="0" bIns="0" anchor="t"/>
          <a:lstStyle/>
          <a:p>
            <a:pPr algn="l" eaLnBrk="0">
              <a:lnSpc>
                <a:spcPct val="100000"/>
              </a:lnSpc>
              <a:spcBef>
                <a:spcPts val="0"/>
              </a:spcBef>
              <a:spcAft>
                <a:spcPts val="0"/>
              </a:spcAft>
              <a:buNone/>
            </a:pPr>
            <a:r>
              <a:rPr sz="1000" b="1" i="0">
                <a:solidFill>
                  <a:srgbClr val="475569"/>
                </a:solidFill>
                <a:latin typeface="맑은 고딕"/>
                <a:ea typeface="맑은 고딕"/>
                <a:cs typeface="맑은 고딕"/>
              </a:rPr>
              <a:t>결측</a:t>
            </a:r>
          </a:p>
        </p:txBody>
      </p:sp>
      <p:sp>
        <p:nvSpPr>
          <p:cNvPr id="25" name="TextBox 24"/>
          <p:cNvSpPr txBox="1"/>
          <p:nvPr/>
        </p:nvSpPr>
        <p:spPr>
          <a:xfrm>
            <a:off x="4114800" y="1691640"/>
            <a:ext cx="384048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contact 속성은 FirstContact에만 기록되는 고유 도메인 속성</a:t>
            </a:r>
            <a:br/>
            <a:r>
              <a:rPr sz="1050" b="0" i="0">
                <a:solidFill>
                  <a:srgbClr val="475569"/>
                </a:solidFill>
                <a:latin typeface="맑은 고딕"/>
                <a:ea typeface="맑은 고딕"/>
                <a:cs typeface="맑은 고딕"/>
              </a:rPr>
              <a:t>(Cell 18)</a:t>
            </a:r>
          </a:p>
        </p:txBody>
      </p:sp>
      <p:sp>
        <p:nvSpPr>
          <p:cNvPr id="26" name="TextBox 25"/>
          <p:cNvSpPr txBox="1"/>
          <p:nvPr/>
        </p:nvSpPr>
        <p:spPr>
          <a:xfrm>
            <a:off x="8138160" y="1691640"/>
            <a:ext cx="342900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059669"/>
                </a:solidFill>
                <a:latin typeface="맑은 고딕"/>
                <a:ea typeface="맑은 고딕"/>
                <a:cs typeface="맑은 고딕"/>
              </a:rPr>
              <a:t>➔ </a:t>
            </a:r>
            <a:r>
              <a:rPr sz="1050" b="1" i="0">
                <a:solidFill>
                  <a:srgbClr val="047857"/>
                </a:solidFill>
                <a:latin typeface="맑은 고딕"/>
                <a:ea typeface="맑은 고딕"/>
                <a:cs typeface="맑은 고딕"/>
              </a:rPr>
              <a:t>FirstContact / InformClientSurvey 확정 복원</a:t>
            </a:r>
          </a:p>
        </p:txBody>
      </p:sp>
      <p:sp>
        <p:nvSpPr>
          <p:cNvPr id="27" name="Case-2"/>
          <p:cNvSpPr/>
          <p:nvPr/>
        </p:nvSpPr>
        <p:spPr>
          <a:xfrm>
            <a:off x="502920" y="2450592"/>
            <a:ext cx="11185855" cy="694944"/>
          </a:xfrm>
          <a:prstGeom prst="roundRect">
            <a:avLst>
              <a:gd name="adj" fmla="val 131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2450592"/>
            <a:ext cx="914400" cy="694944"/>
          </a:xfrm>
          <a:prstGeom prst="rect">
            <a:avLst/>
          </a:prstGeom>
          <a:noFill/>
        </p:spPr>
        <p:txBody>
          <a:bodyPr wrap="square" lIns="0" tIns="0" rIns="0" bIns="0" anchor="ctr"/>
          <a:lstStyle/>
          <a:p>
            <a:pPr algn="ctr" eaLnBrk="0">
              <a:lnSpc>
                <a:spcPct val="100000"/>
              </a:lnSpc>
              <a:spcBef>
                <a:spcPts val="0"/>
              </a:spcBef>
              <a:spcAft>
                <a:spcPts val="0"/>
              </a:spcAft>
              <a:buNone/>
            </a:pPr>
            <a:r>
              <a:rPr sz="2200" b="1" i="0">
                <a:solidFill>
                  <a:srgbClr val="0F172A"/>
                </a:solidFill>
                <a:latin typeface="Consolas"/>
                <a:ea typeface="맑은 고딕"/>
                <a:cs typeface="맑은 고딕"/>
              </a:rPr>
              <a:t>2</a:t>
            </a:r>
            <a:r>
              <a:rPr sz="1050" b="1" i="0">
                <a:solidFill>
                  <a:srgbClr val="0F172A"/>
                </a:solidFill>
                <a:latin typeface="맑은 고딕"/>
                <a:ea typeface="맑은 고딕"/>
                <a:cs typeface="맑은 고딕"/>
              </a:rPr>
              <a:t>건</a:t>
            </a:r>
          </a:p>
        </p:txBody>
      </p:sp>
      <p:sp>
        <p:nvSpPr>
          <p:cNvPr id="29" name="Pill-CASE 2"/>
          <p:cNvSpPr/>
          <p:nvPr/>
        </p:nvSpPr>
        <p:spPr>
          <a:xfrm>
            <a:off x="1691640" y="2542032"/>
            <a:ext cx="682117"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CASE 2</a:t>
            </a:r>
          </a:p>
        </p:txBody>
      </p:sp>
      <p:sp>
        <p:nvSpPr>
          <p:cNvPr id="30" name="TextBox 29"/>
          <p:cNvSpPr txBox="1"/>
          <p:nvPr/>
        </p:nvSpPr>
        <p:spPr>
          <a:xfrm>
            <a:off x="2606039" y="2523744"/>
            <a:ext cx="1371600" cy="274320"/>
          </a:xfrm>
          <a:prstGeom prst="rect">
            <a:avLst/>
          </a:prstGeom>
          <a:noFill/>
        </p:spPr>
        <p:txBody>
          <a:bodyPr wrap="square" lIns="0" tIns="0" rIns="0" bIns="0" anchor="ctr"/>
          <a:lstStyle/>
          <a:p>
            <a:pPr algn="l" eaLnBrk="0">
              <a:lnSpc>
                <a:spcPct val="100000"/>
              </a:lnSpc>
              <a:spcBef>
                <a:spcPts val="0"/>
              </a:spcBef>
              <a:spcAft>
                <a:spcPts val="0"/>
              </a:spcAft>
              <a:buNone/>
            </a:pPr>
            <a:r>
              <a:rPr sz="1250" b="1" i="0">
                <a:solidFill>
                  <a:srgbClr val="0F172A"/>
                </a:solidFill>
                <a:latin typeface="맑은 고딕"/>
                <a:ea typeface="맑은 고딕"/>
                <a:cs typeface="맑은 고딕"/>
              </a:rPr>
              <a:t>originator</a:t>
            </a:r>
          </a:p>
        </p:txBody>
      </p:sp>
      <p:sp>
        <p:nvSpPr>
          <p:cNvPr id="31" name="TextBox 30"/>
          <p:cNvSpPr txBox="1"/>
          <p:nvPr/>
        </p:nvSpPr>
        <p:spPr>
          <a:xfrm>
            <a:off x="1691640" y="2843784"/>
            <a:ext cx="2286000" cy="256032"/>
          </a:xfrm>
          <a:prstGeom prst="rect">
            <a:avLst/>
          </a:prstGeom>
          <a:noFill/>
        </p:spPr>
        <p:txBody>
          <a:bodyPr wrap="square" lIns="0" tIns="0" rIns="0" bIns="0" anchor="t"/>
          <a:lstStyle/>
          <a:p>
            <a:pPr algn="l" eaLnBrk="0">
              <a:lnSpc>
                <a:spcPct val="100000"/>
              </a:lnSpc>
              <a:spcBef>
                <a:spcPts val="0"/>
              </a:spcBef>
              <a:spcAft>
                <a:spcPts val="0"/>
              </a:spcAft>
              <a:buNone/>
            </a:pPr>
            <a:r>
              <a:rPr sz="1000" b="1" i="0">
                <a:solidFill>
                  <a:srgbClr val="475569"/>
                </a:solidFill>
                <a:latin typeface="맑은 고딕"/>
                <a:ea typeface="맑은 고딕"/>
                <a:cs typeface="맑은 고딕"/>
              </a:rPr>
              <a:t>결측</a:t>
            </a:r>
          </a:p>
        </p:txBody>
      </p:sp>
      <p:sp>
        <p:nvSpPr>
          <p:cNvPr id="32" name="TextBox 31"/>
          <p:cNvSpPr txBox="1"/>
          <p:nvPr/>
        </p:nvSpPr>
        <p:spPr>
          <a:xfrm>
            <a:off x="4114800" y="2450592"/>
            <a:ext cx="384048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동일 작업의 시작(start)-완료(complete) 담당자 100.0% 일치</a:t>
            </a:r>
            <a:br/>
            <a:r>
              <a:rPr sz="1050" b="0" i="0">
                <a:solidFill>
                  <a:srgbClr val="475569"/>
                </a:solidFill>
                <a:latin typeface="맑은 고딕"/>
                <a:ea typeface="맑은 고딕"/>
                <a:cs typeface="맑은 고딕"/>
              </a:rPr>
              <a:t>규칙 (Cell 18)</a:t>
            </a:r>
          </a:p>
        </p:txBody>
      </p:sp>
      <p:sp>
        <p:nvSpPr>
          <p:cNvPr id="33" name="TextBox 32"/>
          <p:cNvSpPr txBox="1"/>
          <p:nvPr/>
        </p:nvSpPr>
        <p:spPr>
          <a:xfrm>
            <a:off x="8138160" y="2450592"/>
            <a:ext cx="342900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059669"/>
                </a:solidFill>
                <a:latin typeface="맑은 고딕"/>
                <a:ea typeface="맑은 고딕"/>
                <a:cs typeface="맑은 고딕"/>
              </a:rPr>
              <a:t>➔ </a:t>
            </a:r>
            <a:r>
              <a:rPr sz="1050" b="1" i="0">
                <a:solidFill>
                  <a:srgbClr val="047857"/>
                </a:solidFill>
                <a:latin typeface="맑은 고딕"/>
                <a:ea typeface="맑은 고딕"/>
                <a:cs typeface="맑은 고딕"/>
              </a:rPr>
              <a:t>짝 이벤트 담당자(Anne, Paul) 상호 승계</a:t>
            </a:r>
          </a:p>
        </p:txBody>
      </p:sp>
      <p:sp>
        <p:nvSpPr>
          <p:cNvPr id="34" name="Case-3"/>
          <p:cNvSpPr/>
          <p:nvPr/>
        </p:nvSpPr>
        <p:spPr>
          <a:xfrm>
            <a:off x="502920" y="3209544"/>
            <a:ext cx="11185855" cy="694944"/>
          </a:xfrm>
          <a:prstGeom prst="roundRect">
            <a:avLst>
              <a:gd name="adj" fmla="val 131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3209544"/>
            <a:ext cx="914400" cy="694944"/>
          </a:xfrm>
          <a:prstGeom prst="rect">
            <a:avLst/>
          </a:prstGeom>
          <a:noFill/>
        </p:spPr>
        <p:txBody>
          <a:bodyPr wrap="square" lIns="0" tIns="0" rIns="0" bIns="0" anchor="ctr"/>
          <a:lstStyle/>
          <a:p>
            <a:pPr algn="ctr" eaLnBrk="0">
              <a:lnSpc>
                <a:spcPct val="100000"/>
              </a:lnSpc>
              <a:spcBef>
                <a:spcPts val="0"/>
              </a:spcBef>
              <a:spcAft>
                <a:spcPts val="0"/>
              </a:spcAft>
              <a:buNone/>
            </a:pPr>
            <a:r>
              <a:rPr sz="2200" b="1" i="0">
                <a:solidFill>
                  <a:srgbClr val="0F172A"/>
                </a:solidFill>
                <a:latin typeface="Consolas"/>
                <a:ea typeface="맑은 고딕"/>
                <a:cs typeface="맑은 고딕"/>
              </a:rPr>
              <a:t>5</a:t>
            </a:r>
            <a:r>
              <a:rPr sz="1050" b="1" i="0">
                <a:solidFill>
                  <a:srgbClr val="0F172A"/>
                </a:solidFill>
                <a:latin typeface="맑은 고딕"/>
                <a:ea typeface="맑은 고딕"/>
                <a:cs typeface="맑은 고딕"/>
              </a:rPr>
              <a:t>건</a:t>
            </a:r>
          </a:p>
        </p:txBody>
      </p:sp>
      <p:sp>
        <p:nvSpPr>
          <p:cNvPr id="36" name="Pill-CASE 3"/>
          <p:cNvSpPr/>
          <p:nvPr/>
        </p:nvSpPr>
        <p:spPr>
          <a:xfrm>
            <a:off x="1691640" y="3300984"/>
            <a:ext cx="682117"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CASE 3</a:t>
            </a:r>
          </a:p>
        </p:txBody>
      </p:sp>
      <p:sp>
        <p:nvSpPr>
          <p:cNvPr id="37" name="TextBox 36"/>
          <p:cNvSpPr txBox="1"/>
          <p:nvPr/>
        </p:nvSpPr>
        <p:spPr>
          <a:xfrm>
            <a:off x="2606039" y="3282696"/>
            <a:ext cx="1371600" cy="274320"/>
          </a:xfrm>
          <a:prstGeom prst="rect">
            <a:avLst/>
          </a:prstGeom>
          <a:noFill/>
        </p:spPr>
        <p:txBody>
          <a:bodyPr wrap="square" lIns="0" tIns="0" rIns="0" bIns="0" anchor="ctr"/>
          <a:lstStyle/>
          <a:p>
            <a:pPr algn="l" eaLnBrk="0">
              <a:lnSpc>
                <a:spcPct val="100000"/>
              </a:lnSpc>
              <a:spcBef>
                <a:spcPts val="0"/>
              </a:spcBef>
              <a:spcAft>
                <a:spcPts val="0"/>
              </a:spcAft>
              <a:buNone/>
            </a:pPr>
            <a:r>
              <a:rPr sz="1250" b="1" i="0">
                <a:solidFill>
                  <a:srgbClr val="0F172A"/>
                </a:solidFill>
                <a:latin typeface="맑은 고딕"/>
                <a:ea typeface="맑은 고딕"/>
                <a:cs typeface="맑은 고딕"/>
              </a:rPr>
              <a:t>eventtype</a:t>
            </a:r>
          </a:p>
        </p:txBody>
      </p:sp>
      <p:sp>
        <p:nvSpPr>
          <p:cNvPr id="38" name="TextBox 37"/>
          <p:cNvSpPr txBox="1"/>
          <p:nvPr/>
        </p:nvSpPr>
        <p:spPr>
          <a:xfrm>
            <a:off x="1691640" y="3602736"/>
            <a:ext cx="2286000" cy="256032"/>
          </a:xfrm>
          <a:prstGeom prst="rect">
            <a:avLst/>
          </a:prstGeom>
          <a:noFill/>
        </p:spPr>
        <p:txBody>
          <a:bodyPr wrap="square" lIns="0" tIns="0" rIns="0" bIns="0" anchor="t"/>
          <a:lstStyle/>
          <a:p>
            <a:pPr algn="l" eaLnBrk="0">
              <a:lnSpc>
                <a:spcPct val="100000"/>
              </a:lnSpc>
              <a:spcBef>
                <a:spcPts val="0"/>
              </a:spcBef>
              <a:spcAft>
                <a:spcPts val="0"/>
              </a:spcAft>
              <a:buNone/>
            </a:pPr>
            <a:r>
              <a:rPr sz="1000" b="1" i="0">
                <a:solidFill>
                  <a:srgbClr val="475569"/>
                </a:solidFill>
                <a:latin typeface="맑은 고딕"/>
                <a:ea typeface="맑은 고딕"/>
                <a:cs typeface="맑은 고딕"/>
              </a:rPr>
              <a:t>결측</a:t>
            </a:r>
          </a:p>
        </p:txBody>
      </p:sp>
      <p:sp>
        <p:nvSpPr>
          <p:cNvPr id="39" name="TextBox 38"/>
          <p:cNvSpPr txBox="1"/>
          <p:nvPr/>
        </p:nvSpPr>
        <p:spPr>
          <a:xfrm>
            <a:off x="4114800" y="3209544"/>
            <a:ext cx="384048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기간 작업 1:1 페어(start→complete 추적) 및 마일스톤 단독</a:t>
            </a:r>
            <a:br/>
            <a:r>
              <a:rPr sz="1050" b="0" i="0">
                <a:solidFill>
                  <a:srgbClr val="475569"/>
                </a:solidFill>
                <a:latin typeface="맑은 고딕"/>
                <a:ea typeface="맑은 고딕"/>
                <a:cs typeface="맑은 고딕"/>
              </a:rPr>
              <a:t>발생 (Cell 20)</a:t>
            </a:r>
          </a:p>
        </p:txBody>
      </p:sp>
      <p:sp>
        <p:nvSpPr>
          <p:cNvPr id="40" name="TextBox 39"/>
          <p:cNvSpPr txBox="1"/>
          <p:nvPr/>
        </p:nvSpPr>
        <p:spPr>
          <a:xfrm>
            <a:off x="8138160" y="3209544"/>
            <a:ext cx="342900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059669"/>
                </a:solidFill>
                <a:latin typeface="맑은 고딕"/>
                <a:ea typeface="맑은 고딕"/>
                <a:cs typeface="맑은 고딕"/>
              </a:rPr>
              <a:t>➔ </a:t>
            </a:r>
            <a:r>
              <a:rPr sz="1050" b="1" i="0">
                <a:solidFill>
                  <a:srgbClr val="047857"/>
                </a:solidFill>
                <a:latin typeface="맑은 고딕"/>
                <a:ea typeface="맑은 고딕"/>
                <a:cs typeface="맑은 고딕"/>
              </a:rPr>
              <a:t>1:1 페어 3건 + 마일스톤 2건 100% 복원</a:t>
            </a:r>
          </a:p>
        </p:txBody>
      </p:sp>
      <p:sp>
        <p:nvSpPr>
          <p:cNvPr id="41" name="Case-4"/>
          <p:cNvSpPr/>
          <p:nvPr/>
        </p:nvSpPr>
        <p:spPr>
          <a:xfrm>
            <a:off x="502920" y="3968496"/>
            <a:ext cx="11185855" cy="694944"/>
          </a:xfrm>
          <a:prstGeom prst="roundRect">
            <a:avLst>
              <a:gd name="adj" fmla="val 131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3968496"/>
            <a:ext cx="914400" cy="694944"/>
          </a:xfrm>
          <a:prstGeom prst="rect">
            <a:avLst/>
          </a:prstGeom>
          <a:noFill/>
        </p:spPr>
        <p:txBody>
          <a:bodyPr wrap="square" lIns="0" tIns="0" rIns="0" bIns="0" anchor="ctr"/>
          <a:lstStyle/>
          <a:p>
            <a:pPr algn="ctr" eaLnBrk="0">
              <a:lnSpc>
                <a:spcPct val="100000"/>
              </a:lnSpc>
              <a:spcBef>
                <a:spcPts val="0"/>
              </a:spcBef>
              <a:spcAft>
                <a:spcPts val="0"/>
              </a:spcAft>
              <a:buNone/>
            </a:pPr>
            <a:r>
              <a:rPr sz="2200" b="1" i="0">
                <a:solidFill>
                  <a:srgbClr val="EA580C"/>
                </a:solidFill>
                <a:latin typeface="Consolas"/>
                <a:ea typeface="맑은 고딕"/>
                <a:cs typeface="맑은 고딕"/>
              </a:rPr>
              <a:t>879</a:t>
            </a:r>
            <a:r>
              <a:rPr sz="1050" b="1" i="0">
                <a:solidFill>
                  <a:srgbClr val="EA580C"/>
                </a:solidFill>
                <a:latin typeface="맑은 고딕"/>
                <a:ea typeface="맑은 고딕"/>
                <a:cs typeface="맑은 고딕"/>
              </a:rPr>
              <a:t>건</a:t>
            </a:r>
          </a:p>
        </p:txBody>
      </p:sp>
      <p:sp>
        <p:nvSpPr>
          <p:cNvPr id="43" name="Pill-CASE 4"/>
          <p:cNvSpPr/>
          <p:nvPr/>
        </p:nvSpPr>
        <p:spPr>
          <a:xfrm>
            <a:off x="1691640" y="4059935"/>
            <a:ext cx="682117"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CASE 4</a:t>
            </a:r>
          </a:p>
        </p:txBody>
      </p:sp>
      <p:sp>
        <p:nvSpPr>
          <p:cNvPr id="44" name="TextBox 43"/>
          <p:cNvSpPr txBox="1"/>
          <p:nvPr/>
        </p:nvSpPr>
        <p:spPr>
          <a:xfrm>
            <a:off x="2606039" y="4041648"/>
            <a:ext cx="1371600" cy="274320"/>
          </a:xfrm>
          <a:prstGeom prst="rect">
            <a:avLst/>
          </a:prstGeom>
          <a:noFill/>
        </p:spPr>
        <p:txBody>
          <a:bodyPr wrap="square" lIns="0" tIns="0" rIns="0" bIns="0" anchor="ctr"/>
          <a:lstStyle/>
          <a:p>
            <a:pPr algn="l" eaLnBrk="0">
              <a:lnSpc>
                <a:spcPct val="100000"/>
              </a:lnSpc>
              <a:spcBef>
                <a:spcPts val="0"/>
              </a:spcBef>
              <a:spcAft>
                <a:spcPts val="0"/>
              </a:spcAft>
              <a:buNone/>
            </a:pPr>
            <a:r>
              <a:rPr sz="1250" b="1" i="0">
                <a:solidFill>
                  <a:srgbClr val="0F172A"/>
                </a:solidFill>
                <a:latin typeface="맑은 고딕"/>
                <a:ea typeface="맑은 고딕"/>
                <a:cs typeface="맑은 고딕"/>
              </a:rPr>
              <a:t>date</a:t>
            </a:r>
          </a:p>
        </p:txBody>
      </p:sp>
      <p:sp>
        <p:nvSpPr>
          <p:cNvPr id="45" name="TextBox 44"/>
          <p:cNvSpPr txBox="1"/>
          <p:nvPr/>
        </p:nvSpPr>
        <p:spPr>
          <a:xfrm>
            <a:off x="1691640" y="4361688"/>
            <a:ext cx="2286000" cy="256032"/>
          </a:xfrm>
          <a:prstGeom prst="rect">
            <a:avLst/>
          </a:prstGeom>
          <a:noFill/>
        </p:spPr>
        <p:txBody>
          <a:bodyPr wrap="square" lIns="0" tIns="0" rIns="0" bIns="0" anchor="t"/>
          <a:lstStyle/>
          <a:p>
            <a:pPr algn="l" eaLnBrk="0">
              <a:lnSpc>
                <a:spcPct val="100000"/>
              </a:lnSpc>
              <a:spcBef>
                <a:spcPts val="0"/>
              </a:spcBef>
              <a:spcAft>
                <a:spcPts val="0"/>
              </a:spcAft>
              <a:buNone/>
            </a:pPr>
            <a:r>
              <a:rPr sz="1000" b="1" i="0">
                <a:solidFill>
                  <a:srgbClr val="C2410C"/>
                </a:solidFill>
                <a:latin typeface="맑은 고딕"/>
                <a:ea typeface="맑은 고딕"/>
                <a:cs typeface="맑은 고딕"/>
              </a:rPr>
              <a:t>결측 13 + 오기입 866</a:t>
            </a:r>
          </a:p>
        </p:txBody>
      </p:sp>
      <p:sp>
        <p:nvSpPr>
          <p:cNvPr id="46" name="TextBox 45"/>
          <p:cNvSpPr txBox="1"/>
          <p:nvPr/>
        </p:nvSpPr>
        <p:spPr>
          <a:xfrm>
            <a:off x="4114800" y="3968496"/>
            <a:ext cx="384048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시각 정상 859건 선별, 선·후행 업무 순서 구간 제약(Interval</a:t>
            </a:r>
            <a:br/>
            <a:r>
              <a:rPr sz="1050" b="0" i="0">
                <a:solidFill>
                  <a:srgbClr val="475569"/>
                </a:solidFill>
                <a:latin typeface="맑은 고딕"/>
                <a:ea typeface="맑은 고딕"/>
                <a:cs typeface="맑은 고딕"/>
              </a:rPr>
              <a:t>Bounds) 적용 (Cell 51·53)</a:t>
            </a:r>
          </a:p>
        </p:txBody>
      </p:sp>
      <p:sp>
        <p:nvSpPr>
          <p:cNvPr id="47" name="TextBox 46"/>
          <p:cNvSpPr txBox="1"/>
          <p:nvPr/>
        </p:nvSpPr>
        <p:spPr>
          <a:xfrm>
            <a:off x="8138160" y="3968496"/>
            <a:ext cx="342900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059669"/>
                </a:solidFill>
                <a:latin typeface="맑은 고딕"/>
                <a:ea typeface="맑은 고딕"/>
                <a:cs typeface="맑은 고딕"/>
              </a:rPr>
              <a:t>➔ </a:t>
            </a:r>
            <a:r>
              <a:rPr sz="1050" b="1" i="0">
                <a:solidFill>
                  <a:srgbClr val="047857"/>
                </a:solidFill>
                <a:latin typeface="맑은 고딕"/>
                <a:ea typeface="맑은 고딕"/>
                <a:cs typeface="맑은 고딕"/>
              </a:rPr>
              <a:t>단일 후보 640건 + 앵커 최근접 219건 매핑 (1970년</a:t>
            </a:r>
            <a:br/>
            <a:r>
              <a:rPr sz="1050" b="1" i="0">
                <a:solidFill>
                  <a:srgbClr val="047857"/>
                </a:solidFill>
                <a:latin typeface="맑은 고딕"/>
                <a:ea typeface="맑은 고딕"/>
                <a:cs typeface="맑은 고딕"/>
              </a:rPr>
              <a:t>통일)</a:t>
            </a:r>
          </a:p>
        </p:txBody>
      </p:sp>
      <p:sp>
        <p:nvSpPr>
          <p:cNvPr id="48" name="Case-5"/>
          <p:cNvSpPr/>
          <p:nvPr/>
        </p:nvSpPr>
        <p:spPr>
          <a:xfrm>
            <a:off x="502920" y="4727448"/>
            <a:ext cx="11185855" cy="694944"/>
          </a:xfrm>
          <a:prstGeom prst="roundRect">
            <a:avLst>
              <a:gd name="adj" fmla="val 131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 y="4727448"/>
            <a:ext cx="914400" cy="694944"/>
          </a:xfrm>
          <a:prstGeom prst="rect">
            <a:avLst/>
          </a:prstGeom>
          <a:noFill/>
        </p:spPr>
        <p:txBody>
          <a:bodyPr wrap="square" lIns="0" tIns="0" rIns="0" bIns="0" anchor="ctr"/>
          <a:lstStyle/>
          <a:p>
            <a:pPr algn="ctr" eaLnBrk="0">
              <a:lnSpc>
                <a:spcPct val="100000"/>
              </a:lnSpc>
              <a:spcBef>
                <a:spcPts val="0"/>
              </a:spcBef>
              <a:spcAft>
                <a:spcPts val="0"/>
              </a:spcAft>
              <a:buNone/>
            </a:pPr>
            <a:r>
              <a:rPr sz="2200" b="1" i="0">
                <a:solidFill>
                  <a:srgbClr val="EA580C"/>
                </a:solidFill>
                <a:latin typeface="Consolas"/>
                <a:ea typeface="맑은 고딕"/>
                <a:cs typeface="맑은 고딕"/>
              </a:rPr>
              <a:t>28</a:t>
            </a:r>
            <a:r>
              <a:rPr sz="1050" b="1" i="0">
                <a:solidFill>
                  <a:srgbClr val="EA580C"/>
                </a:solidFill>
                <a:latin typeface="맑은 고딕"/>
                <a:ea typeface="맑은 고딕"/>
                <a:cs typeface="맑은 고딕"/>
              </a:rPr>
              <a:t>건</a:t>
            </a:r>
          </a:p>
        </p:txBody>
      </p:sp>
      <p:sp>
        <p:nvSpPr>
          <p:cNvPr id="50" name="Pill-CASE 5"/>
          <p:cNvSpPr/>
          <p:nvPr/>
        </p:nvSpPr>
        <p:spPr>
          <a:xfrm>
            <a:off x="1691640" y="4818888"/>
            <a:ext cx="682117"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CASE 5</a:t>
            </a:r>
          </a:p>
        </p:txBody>
      </p:sp>
      <p:sp>
        <p:nvSpPr>
          <p:cNvPr id="51" name="TextBox 50"/>
          <p:cNvSpPr txBox="1"/>
          <p:nvPr/>
        </p:nvSpPr>
        <p:spPr>
          <a:xfrm>
            <a:off x="2606039" y="4800600"/>
            <a:ext cx="1371600" cy="274320"/>
          </a:xfrm>
          <a:prstGeom prst="rect">
            <a:avLst/>
          </a:prstGeom>
          <a:noFill/>
        </p:spPr>
        <p:txBody>
          <a:bodyPr wrap="square" lIns="0" tIns="0" rIns="0" bIns="0" anchor="ctr"/>
          <a:lstStyle/>
          <a:p>
            <a:pPr algn="l" eaLnBrk="0">
              <a:lnSpc>
                <a:spcPct val="100000"/>
              </a:lnSpc>
              <a:spcBef>
                <a:spcPts val="0"/>
              </a:spcBef>
              <a:spcAft>
                <a:spcPts val="0"/>
              </a:spcAft>
              <a:buNone/>
            </a:pPr>
            <a:r>
              <a:rPr sz="1250" b="1" i="0">
                <a:solidFill>
                  <a:srgbClr val="0F172A"/>
                </a:solidFill>
                <a:latin typeface="맑은 고딕"/>
                <a:ea typeface="맑은 고딕"/>
                <a:cs typeface="맑은 고딕"/>
              </a:rPr>
              <a:t>time</a:t>
            </a:r>
          </a:p>
        </p:txBody>
      </p:sp>
      <p:sp>
        <p:nvSpPr>
          <p:cNvPr id="52" name="TextBox 51"/>
          <p:cNvSpPr txBox="1"/>
          <p:nvPr/>
        </p:nvSpPr>
        <p:spPr>
          <a:xfrm>
            <a:off x="1691640" y="5120640"/>
            <a:ext cx="2286000" cy="256032"/>
          </a:xfrm>
          <a:prstGeom prst="rect">
            <a:avLst/>
          </a:prstGeom>
          <a:noFill/>
        </p:spPr>
        <p:txBody>
          <a:bodyPr wrap="square" lIns="0" tIns="0" rIns="0" bIns="0" anchor="t"/>
          <a:lstStyle/>
          <a:p>
            <a:pPr algn="l" eaLnBrk="0">
              <a:lnSpc>
                <a:spcPct val="100000"/>
              </a:lnSpc>
              <a:spcBef>
                <a:spcPts val="0"/>
              </a:spcBef>
              <a:spcAft>
                <a:spcPts val="0"/>
              </a:spcAft>
              <a:buNone/>
            </a:pPr>
            <a:r>
              <a:rPr sz="1000" b="1" i="0">
                <a:solidFill>
                  <a:srgbClr val="C2410C"/>
                </a:solidFill>
                <a:latin typeface="맑은 고딕"/>
                <a:ea typeface="맑은 고딕"/>
                <a:cs typeface="맑은 고딕"/>
              </a:rPr>
              <a:t>결측 13 + 더미 15</a:t>
            </a:r>
          </a:p>
        </p:txBody>
      </p:sp>
      <p:sp>
        <p:nvSpPr>
          <p:cNvPr id="53" name="TextBox 52"/>
          <p:cNvSpPr txBox="1"/>
          <p:nvPr/>
        </p:nvSpPr>
        <p:spPr>
          <a:xfrm>
            <a:off x="4114800" y="4727448"/>
            <a:ext cx="384048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표본 34% 한계 극복 ➔ 접수 정상 표본 751건(75.1%) 확보,</a:t>
            </a:r>
            <a:br/>
            <a:r>
              <a:rPr sz="1050" b="0" i="0">
                <a:solidFill>
                  <a:srgbClr val="475569"/>
                </a:solidFill>
                <a:latin typeface="맑은 고딕"/>
                <a:ea typeface="맑은 고딕"/>
                <a:cs typeface="맑은 고딕"/>
              </a:rPr>
              <a:t>중앙값 4.0분 (Cell 77·81)</a:t>
            </a:r>
          </a:p>
        </p:txBody>
      </p:sp>
      <p:sp>
        <p:nvSpPr>
          <p:cNvPr id="54" name="TextBox 53"/>
          <p:cNvSpPr txBox="1"/>
          <p:nvPr/>
        </p:nvSpPr>
        <p:spPr>
          <a:xfrm>
            <a:off x="8138160" y="4727448"/>
            <a:ext cx="342900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059669"/>
                </a:solidFill>
                <a:latin typeface="맑은 고딕"/>
                <a:ea typeface="맑은 고딕"/>
                <a:cs typeface="맑은 고딕"/>
              </a:rPr>
              <a:t>➔ </a:t>
            </a:r>
            <a:r>
              <a:rPr sz="1050" b="1" i="0">
                <a:solidFill>
                  <a:srgbClr val="047857"/>
                </a:solidFill>
                <a:latin typeface="맑은 고딕"/>
                <a:ea typeface="맑은 고딕"/>
                <a:cs typeface="맑은 고딕"/>
              </a:rPr>
              <a:t>정상 자정 7건 보존 + 기준 앵커 역산 21건 (역전</a:t>
            </a:r>
            <a:br/>
            <a:r>
              <a:rPr sz="1050" b="1" i="0">
                <a:solidFill>
                  <a:srgbClr val="047857"/>
                </a:solidFill>
                <a:latin typeface="맑은 고딕"/>
                <a:ea typeface="맑은 고딕"/>
                <a:cs typeface="맑은 고딕"/>
              </a:rPr>
              <a:t>0건)</a:t>
            </a:r>
          </a:p>
        </p:txBody>
      </p:sp>
      <p:sp>
        <p:nvSpPr>
          <p:cNvPr id="55" name="Badge-1"/>
          <p:cNvSpPr/>
          <p:nvPr/>
        </p:nvSpPr>
        <p:spPr>
          <a:xfrm>
            <a:off x="502920" y="5559552"/>
            <a:ext cx="3576218" cy="694944"/>
          </a:xfrm>
          <a:prstGeom prst="roundRect">
            <a:avLst>
              <a:gd name="adj" fmla="val 13157"/>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85800" y="5559552"/>
            <a:ext cx="3210458" cy="694944"/>
          </a:xfrm>
          <a:prstGeom prst="rect">
            <a:avLst/>
          </a:prstGeom>
          <a:noFill/>
        </p:spPr>
        <p:txBody>
          <a:bodyPr wrap="square" lIns="0" tIns="0" rIns="0" bIns="0" anchor="ctr"/>
          <a:lstStyle/>
          <a:p>
            <a:pPr algn="l" eaLnBrk="0">
              <a:lnSpc>
                <a:spcPct val="100000"/>
              </a:lnSpc>
              <a:spcBef>
                <a:spcPts val="0"/>
              </a:spcBef>
              <a:spcAft>
                <a:spcPts val="0"/>
              </a:spcAft>
              <a:buNone/>
            </a:pPr>
            <a:r>
              <a:rPr sz="1200" b="1" i="0">
                <a:solidFill>
                  <a:srgbClr val="047857"/>
                </a:solidFill>
                <a:latin typeface="맑은 고딕"/>
                <a:ea typeface="맑은 고딕"/>
                <a:cs typeface="맑은 고딕"/>
              </a:rPr>
              <a:t>✓ 데이터 무손실</a:t>
            </a:r>
          </a:p>
          <a:p>
            <a:pPr algn="l" eaLnBrk="0">
              <a:lnSpc>
                <a:spcPct val="100000"/>
              </a:lnSpc>
              <a:spcBef>
                <a:spcPts val="0"/>
              </a:spcBef>
              <a:spcAft>
                <a:spcPts val="0"/>
              </a:spcAft>
              <a:buNone/>
            </a:pPr>
            <a:r>
              <a:rPr sz="1050" b="0" i="0">
                <a:solidFill>
                  <a:srgbClr val="475569"/>
                </a:solidFill>
                <a:latin typeface="맑은 고딕"/>
                <a:ea typeface="맑은 고딕"/>
                <a:cs typeface="맑은 고딕"/>
              </a:rPr>
              <a:t>임의 삭제 0건 · 13,262행 100% 완전 보존</a:t>
            </a:r>
          </a:p>
        </p:txBody>
      </p:sp>
      <p:sp>
        <p:nvSpPr>
          <p:cNvPr id="57" name="Badge-2"/>
          <p:cNvSpPr/>
          <p:nvPr/>
        </p:nvSpPr>
        <p:spPr>
          <a:xfrm>
            <a:off x="4307738" y="5559552"/>
            <a:ext cx="3576218" cy="694944"/>
          </a:xfrm>
          <a:prstGeom prst="roundRect">
            <a:avLst>
              <a:gd name="adj" fmla="val 13157"/>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490618" y="5559552"/>
            <a:ext cx="3210458" cy="694944"/>
          </a:xfrm>
          <a:prstGeom prst="rect">
            <a:avLst/>
          </a:prstGeom>
          <a:noFill/>
        </p:spPr>
        <p:txBody>
          <a:bodyPr wrap="square" lIns="0" tIns="0" rIns="0" bIns="0" anchor="ctr"/>
          <a:lstStyle/>
          <a:p>
            <a:pPr algn="l" eaLnBrk="0">
              <a:lnSpc>
                <a:spcPct val="100000"/>
              </a:lnSpc>
              <a:spcBef>
                <a:spcPts val="0"/>
              </a:spcBef>
              <a:spcAft>
                <a:spcPts val="0"/>
              </a:spcAft>
              <a:buNone/>
            </a:pPr>
            <a:r>
              <a:rPr sz="1200" b="1" i="0">
                <a:solidFill>
                  <a:srgbClr val="047857"/>
                </a:solidFill>
                <a:latin typeface="맑은 고딕"/>
                <a:ea typeface="맑은 고딕"/>
                <a:cs typeface="맑은 고딕"/>
              </a:rPr>
              <a:t>✓ 통계적 강건성</a:t>
            </a:r>
          </a:p>
          <a:p>
            <a:pPr algn="l" eaLnBrk="0">
              <a:lnSpc>
                <a:spcPct val="100000"/>
              </a:lnSpc>
              <a:spcBef>
                <a:spcPts val="0"/>
              </a:spcBef>
              <a:spcAft>
                <a:spcPts val="0"/>
              </a:spcAft>
              <a:buNone/>
            </a:pPr>
            <a:r>
              <a:rPr sz="1050" b="0" i="0">
                <a:solidFill>
                  <a:srgbClr val="475569"/>
                </a:solidFill>
                <a:latin typeface="맑은 고딕"/>
                <a:ea typeface="맑은 고딕"/>
                <a:cs typeface="맑은 고딕"/>
              </a:rPr>
              <a:t>표본 34% 축소 극복 ➔ 751건(75.1%) 모수 확보</a:t>
            </a:r>
          </a:p>
        </p:txBody>
      </p:sp>
      <p:sp>
        <p:nvSpPr>
          <p:cNvPr id="59" name="Badge-3"/>
          <p:cNvSpPr/>
          <p:nvPr/>
        </p:nvSpPr>
        <p:spPr>
          <a:xfrm>
            <a:off x="8112556" y="5559552"/>
            <a:ext cx="3576218" cy="694944"/>
          </a:xfrm>
          <a:prstGeom prst="roundRect">
            <a:avLst>
              <a:gd name="adj" fmla="val 13157"/>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95436" y="5559552"/>
            <a:ext cx="3210458" cy="694944"/>
          </a:xfrm>
          <a:prstGeom prst="rect">
            <a:avLst/>
          </a:prstGeom>
          <a:noFill/>
        </p:spPr>
        <p:txBody>
          <a:bodyPr wrap="square" lIns="0" tIns="0" rIns="0" bIns="0" anchor="ctr"/>
          <a:lstStyle/>
          <a:p>
            <a:pPr algn="l" eaLnBrk="0">
              <a:lnSpc>
                <a:spcPct val="100000"/>
              </a:lnSpc>
              <a:spcBef>
                <a:spcPts val="0"/>
              </a:spcBef>
              <a:spcAft>
                <a:spcPts val="0"/>
              </a:spcAft>
              <a:buNone/>
            </a:pPr>
            <a:r>
              <a:rPr sz="1200" b="1" i="0">
                <a:solidFill>
                  <a:srgbClr val="047857"/>
                </a:solidFill>
                <a:latin typeface="맑은 고딕"/>
                <a:ea typeface="맑은 고딕"/>
                <a:cs typeface="맑은 고딕"/>
              </a:rPr>
              <a:t>✓ 인과 무결성</a:t>
            </a:r>
          </a:p>
          <a:p>
            <a:pPr algn="l" eaLnBrk="0">
              <a:lnSpc>
                <a:spcPct val="100000"/>
              </a:lnSpc>
              <a:spcBef>
                <a:spcPts val="0"/>
              </a:spcBef>
              <a:spcAft>
                <a:spcPts val="0"/>
              </a:spcAft>
              <a:buNone/>
            </a:pPr>
            <a:r>
              <a:rPr sz="1050" b="0" i="0">
                <a:solidFill>
                  <a:srgbClr val="475569"/>
                </a:solidFill>
                <a:latin typeface="맑은 고딕"/>
                <a:ea typeface="맑은 고딕"/>
                <a:cs typeface="맑은 고딕"/>
              </a:rPr>
              <a:t>시간 역전 0건 달성 · 927건 정상 코호트 확립</a:t>
            </a:r>
          </a:p>
        </p:txBody>
      </p:sp>
      <p:sp>
        <p:nvSpPr>
          <p:cNvPr id="61" name="Nav-1">
            <a:hlinkClick action="ppaction://hlinksldjump" r:id="rId3"/>
          </p:cNvPr>
          <p:cNvSpPr/>
          <p:nvPr/>
        </p:nvSpPr>
        <p:spPr>
          <a:xfrm>
            <a:off x="9201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Nav-2">
            <a:hlinkClick action="ppaction://hlinksldjump" r:id="rId4"/>
          </p:cNvPr>
          <p:cNvSpPr/>
          <p:nvPr/>
        </p:nvSpPr>
        <p:spPr>
          <a:xfrm>
            <a:off x="9315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Nav-3">
            <a:hlinkClick action="ppaction://hlinksldjump" r:id="rId5"/>
          </p:cNvPr>
          <p:cNvSpPr/>
          <p:nvPr/>
        </p:nvSpPr>
        <p:spPr>
          <a:xfrm>
            <a:off x="9430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Nav-4">
            <a:hlinkClick action="ppaction://hlinksldjump" r:id="rId6"/>
          </p:cNvPr>
          <p:cNvSpPr/>
          <p:nvPr/>
        </p:nvSpPr>
        <p:spPr>
          <a:xfrm>
            <a:off x="9544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Nav-5">
            <a:hlinkClick action="ppaction://hlinksldjump" r:id="rId7"/>
          </p:cNvPr>
          <p:cNvSpPr/>
          <p:nvPr/>
        </p:nvSpPr>
        <p:spPr>
          <a:xfrm>
            <a:off x="96588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Nav-6">
            <a:hlinkClick action="ppaction://hlinksldjump" r:id="rId8"/>
          </p:cNvPr>
          <p:cNvSpPr/>
          <p:nvPr/>
        </p:nvSpPr>
        <p:spPr>
          <a:xfrm>
            <a:off x="97731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Nav-7">
            <a:hlinkClick action="ppaction://hlinksldjump" r:id="rId9"/>
          </p:cNvPr>
          <p:cNvSpPr/>
          <p:nvPr/>
        </p:nvSpPr>
        <p:spPr>
          <a:xfrm>
            <a:off x="98874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Nav-8">
            <a:hlinkClick action="ppaction://hlinksldjump" r:id="rId10"/>
          </p:cNvPr>
          <p:cNvSpPr/>
          <p:nvPr/>
        </p:nvSpPr>
        <p:spPr>
          <a:xfrm>
            <a:off x="100017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Nav-9">
            <a:hlinkClick action="ppaction://hlinksldjump" r:id="rId11"/>
          </p:cNvPr>
          <p:cNvSpPr/>
          <p:nvPr/>
        </p:nvSpPr>
        <p:spPr>
          <a:xfrm>
            <a:off x="101160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Nav-10">
            <a:hlinkClick action="ppaction://hlinksldjump" r:id="rId12"/>
          </p:cNvPr>
          <p:cNvSpPr/>
          <p:nvPr/>
        </p:nvSpPr>
        <p:spPr>
          <a:xfrm>
            <a:off x="102303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Nav-11">
            <a:hlinkClick action="ppaction://hlinksldjump" r:id="rId13"/>
          </p:cNvPr>
          <p:cNvSpPr/>
          <p:nvPr/>
        </p:nvSpPr>
        <p:spPr>
          <a:xfrm>
            <a:off x="10344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Nav-12">
            <a:hlinkClick action="ppaction://hlinksldjump" r:id="rId14"/>
          </p:cNvPr>
          <p:cNvSpPr/>
          <p:nvPr/>
        </p:nvSpPr>
        <p:spPr>
          <a:xfrm>
            <a:off x="10458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Nav-13">
            <a:hlinkClick action="ppaction://hlinksldjump" r:id="rId15"/>
          </p:cNvPr>
          <p:cNvSpPr/>
          <p:nvPr/>
        </p:nvSpPr>
        <p:spPr>
          <a:xfrm>
            <a:off x="10573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Nav-14">
            <a:hlinkClick action="ppaction://hlinksldjump" r:id="rId16"/>
          </p:cNvPr>
          <p:cNvSpPr/>
          <p:nvPr/>
        </p:nvSpPr>
        <p:spPr>
          <a:xfrm>
            <a:off x="10687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20153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01 · 질문 1 | After Profiling</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시간 역전 0건을 입증했고, 오접수 73건을 격리해 927건 클린 코호트를</a:t>
            </a:r>
            <a:br/>
            <a:r>
              <a:rPr sz="2400" b="1" i="0">
                <a:solidFill>
                  <a:srgbClr val="0F172A"/>
                </a:solidFill>
                <a:latin typeface="맑은 고딕"/>
                <a:ea typeface="맑은 고딕"/>
                <a:cs typeface="맑은 고딕"/>
              </a:rPr>
              <a:t>확립했다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repair_cleaned.csv (13,262행) 직접 집계 · 정상 코호트 = RepairReady 927건 전수</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06 / 14</a:t>
            </a:r>
          </a:p>
        </p:txBody>
      </p:sp>
      <p:sp>
        <p:nvSpPr>
          <p:cNvPr id="20" name="VerifyCard"/>
          <p:cNvSpPr/>
          <p:nvPr/>
        </p:nvSpPr>
        <p:spPr>
          <a:xfrm>
            <a:off x="502920" y="1691640"/>
            <a:ext cx="5486400" cy="4572000"/>
          </a:xfrm>
          <a:prstGeom prst="roundRect">
            <a:avLst>
              <a:gd name="adj" fmla="val 28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1847088"/>
            <a:ext cx="5029200" cy="274320"/>
          </a:xfrm>
          <a:prstGeom prst="rect">
            <a:avLst/>
          </a:prstGeom>
          <a:noFill/>
        </p:spPr>
        <p:txBody>
          <a:bodyPr wrap="square" lIns="0" tIns="0" rIns="0" bIns="0" anchor="t"/>
          <a:lstStyle/>
          <a:p>
            <a:pPr algn="l" eaLnBrk="0">
              <a:lnSpc>
                <a:spcPct val="100000"/>
              </a:lnSpc>
              <a:spcBef>
                <a:spcPts val="0"/>
              </a:spcBef>
              <a:spcAft>
                <a:spcPts val="0"/>
              </a:spcAft>
              <a:buNone/>
            </a:pPr>
            <a:r>
              <a:rPr sz="1400" b="1" i="0">
                <a:solidFill>
                  <a:srgbClr val="0F172A"/>
                </a:solidFill>
                <a:latin typeface="맑은 고딕"/>
                <a:ea typeface="맑은 고딕"/>
                <a:cs typeface="맑은 고딕"/>
              </a:rPr>
              <a:t>Before vs After 데이터 무결성 검증표</a:t>
            </a:r>
          </a:p>
        </p:txBody>
      </p:sp>
      <p:graphicFrame>
        <p:nvGraphicFramePr>
          <p:cNvPr id="22" name="IntegrityTable"/>
          <p:cNvGraphicFramePr>
            <a:graphicFrameLocks noGrp="1"/>
          </p:cNvGraphicFramePr>
          <p:nvPr/>
        </p:nvGraphicFramePr>
        <p:xfrm>
          <a:off x="731520" y="2286000"/>
          <a:ext cx="5029200" cy="2889504"/>
        </p:xfrm>
        <a:graphic>
          <a:graphicData uri="http://schemas.openxmlformats.org/drawingml/2006/table">
            <a:tbl>
              <a:tblPr firstRow="0" bandRow="0" firstCol="0" lastRow="0" lastCol="0" bandCol="0">
                <a:tableStyleId>{2D5ABB26-0587-4C30-8999-92F81FD0307C}</a:tableStyleId>
              </a:tblPr>
              <a:tblGrid>
                <a:gridCol w="1463040"/>
                <a:gridCol w="1417320"/>
                <a:gridCol w="2148840"/>
              </a:tblGrid>
              <a:tr h="402336">
                <a:tc>
                  <a:txBody>
                    <a:bodyPr wrap="square"/>
                    <a:lstStyle/>
                    <a:p>
                      <a:pPr algn="l" eaLnBrk="0">
                        <a:lnSpc>
                          <a:spcPct val="100000"/>
                        </a:lnSpc>
                        <a:spcBef>
                          <a:spcPts val="0"/>
                        </a:spcBef>
                        <a:spcAft>
                          <a:spcPts val="0"/>
                        </a:spcAft>
                        <a:buNone/>
                      </a:pPr>
                      <a:r>
                        <a:rPr sz="1100" b="1" i="0">
                          <a:solidFill>
                            <a:srgbClr val="334155"/>
                          </a:solidFill>
                          <a:latin typeface="맑은 고딕"/>
                          <a:ea typeface="맑은 고딕"/>
                          <a:cs typeface="맑은 고딕"/>
                        </a:rPr>
                        <a:t>검증 항목</a:t>
                      </a:r>
                    </a:p>
                  </a:txBody>
                  <a:tcPr marL="109728" marR="109728" marT="36576" marB="36576" anchor="ctr">
                    <a:lnL w="0">
                      <a:noFill/>
                    </a:lnL>
                    <a:lnR w="0">
                      <a:noFill/>
                    </a:lnR>
                    <a:lnT w="0">
                      <a:noFill/>
                    </a:lnT>
                    <a:lnB w="9525">
                      <a:solidFill>
                        <a:srgbClr val="E2E8F0"/>
                      </a:solidFill>
                    </a:lnB>
                    <a:solidFill>
                      <a:srgbClr val="F1F5F9"/>
                    </a:solidFill>
                  </a:tcPr>
                </a:tc>
                <a:tc>
                  <a:txBody>
                    <a:bodyPr wrap="square"/>
                    <a:lstStyle/>
                    <a:p>
                      <a:pPr algn="l" eaLnBrk="0">
                        <a:lnSpc>
                          <a:spcPct val="100000"/>
                        </a:lnSpc>
                        <a:spcBef>
                          <a:spcPts val="0"/>
                        </a:spcBef>
                        <a:spcAft>
                          <a:spcPts val="0"/>
                        </a:spcAft>
                        <a:buNone/>
                      </a:pPr>
                      <a:r>
                        <a:rPr sz="1100" b="1" i="0">
                          <a:solidFill>
                            <a:srgbClr val="334155"/>
                          </a:solidFill>
                          <a:latin typeface="맑은 고딕"/>
                          <a:ea typeface="맑은 고딕"/>
                          <a:cs typeface="맑은 고딕"/>
                        </a:rPr>
                        <a:t>Before (원천)</a:t>
                      </a:r>
                    </a:p>
                  </a:txBody>
                  <a:tcPr marL="109728" marR="109728" marT="36576" marB="36576" anchor="ctr">
                    <a:lnL w="0">
                      <a:noFill/>
                    </a:lnL>
                    <a:lnR w="0">
                      <a:noFill/>
                    </a:lnR>
                    <a:lnT w="0">
                      <a:noFill/>
                    </a:lnT>
                    <a:lnB w="9525">
                      <a:solidFill>
                        <a:srgbClr val="E2E8F0"/>
                      </a:solidFill>
                    </a:lnB>
                    <a:solidFill>
                      <a:srgbClr val="F1F5F9"/>
                    </a:solidFill>
                  </a:tcPr>
                </a:tc>
                <a:tc>
                  <a:txBody>
                    <a:bodyPr wrap="square"/>
                    <a:lstStyle/>
                    <a:p>
                      <a:pPr algn="l" eaLnBrk="0">
                        <a:lnSpc>
                          <a:spcPct val="100000"/>
                        </a:lnSpc>
                        <a:spcBef>
                          <a:spcPts val="0"/>
                        </a:spcBef>
                        <a:spcAft>
                          <a:spcPts val="0"/>
                        </a:spcAft>
                        <a:buNone/>
                      </a:pPr>
                      <a:r>
                        <a:rPr sz="1100" b="1" i="0">
                          <a:solidFill>
                            <a:srgbClr val="047857"/>
                          </a:solidFill>
                          <a:latin typeface="맑은 고딕"/>
                          <a:ea typeface="맑은 고딕"/>
                          <a:cs typeface="맑은 고딕"/>
                        </a:rPr>
                        <a:t>After (정제 무결성)</a:t>
                      </a:r>
                    </a:p>
                  </a:txBody>
                  <a:tcPr marL="109728" marR="109728" marT="36576" marB="36576" anchor="ctr">
                    <a:lnL w="0">
                      <a:noFill/>
                    </a:lnL>
                    <a:lnR w="0">
                      <a:noFill/>
                    </a:lnR>
                    <a:lnT w="0">
                      <a:noFill/>
                    </a:lnT>
                    <a:lnB w="9525">
                      <a:solidFill>
                        <a:srgbClr val="E2E8F0"/>
                      </a:solidFill>
                    </a:lnB>
                    <a:solidFill>
                      <a:srgbClr val="F1F5F9"/>
                    </a:solidFill>
                  </a:tcPr>
                </a:tc>
              </a:tr>
              <a:tr h="621792">
                <a:tc>
                  <a:txBody>
                    <a:bodyPr wrap="square"/>
                    <a:lstStyle/>
                    <a:p>
                      <a:pPr algn="l" eaLnBrk="0">
                        <a:lnSpc>
                          <a:spcPct val="100000"/>
                        </a:lnSpc>
                        <a:spcBef>
                          <a:spcPts val="0"/>
                        </a:spcBef>
                        <a:spcAft>
                          <a:spcPts val="0"/>
                        </a:spcAft>
                        <a:buNone/>
                      </a:pPr>
                      <a:r>
                        <a:rPr sz="1150" b="1" i="0">
                          <a:solidFill>
                            <a:srgbClr val="0F172A"/>
                          </a:solidFill>
                          <a:latin typeface="맑은 고딕"/>
                          <a:ea typeface="맑은 고딕"/>
                          <a:cs typeface="맑은 고딕"/>
                        </a:rPr>
                        <a:t>총 이벤트 행 수</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150" b="0" i="0">
                          <a:solidFill>
                            <a:srgbClr val="475569"/>
                          </a:solidFill>
                          <a:latin typeface="맑은 고딕"/>
                          <a:ea typeface="맑은 고딕"/>
                          <a:cs typeface="맑은 고딕"/>
                        </a:rPr>
                        <a:t>13,262행</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150" b="1" i="0">
                          <a:solidFill>
                            <a:srgbClr val="047857"/>
                          </a:solidFill>
                          <a:latin typeface="맑은 고딕"/>
                          <a:ea typeface="맑은 고딕"/>
                          <a:cs typeface="맑은 고딕"/>
                        </a:rPr>
                        <a:t>13,262행 (100% 완전 보존)</a:t>
                      </a:r>
                    </a:p>
                  </a:txBody>
                  <a:tcPr marL="109728" marR="109728" marT="36576" marB="36576" anchor="ctr">
                    <a:lnL w="0">
                      <a:noFill/>
                    </a:lnL>
                    <a:lnR w="0">
                      <a:noFill/>
                    </a:lnR>
                    <a:lnT w="0">
                      <a:noFill/>
                    </a:lnT>
                    <a:lnB w="9525">
                      <a:solidFill>
                        <a:srgbClr val="E2E8F0"/>
                      </a:solidFill>
                    </a:lnB>
                    <a:noFill/>
                  </a:tcPr>
                </a:tc>
              </a:tr>
              <a:tr h="621792">
                <a:tc>
                  <a:txBody>
                    <a:bodyPr wrap="square"/>
                    <a:lstStyle/>
                    <a:p>
                      <a:pPr algn="l" eaLnBrk="0">
                        <a:lnSpc>
                          <a:spcPct val="100000"/>
                        </a:lnSpc>
                        <a:spcBef>
                          <a:spcPts val="0"/>
                        </a:spcBef>
                        <a:spcAft>
                          <a:spcPts val="0"/>
                        </a:spcAft>
                        <a:buNone/>
                      </a:pPr>
                      <a:r>
                        <a:rPr sz="1150" b="1" i="0">
                          <a:solidFill>
                            <a:srgbClr val="0F172A"/>
                          </a:solidFill>
                          <a:latin typeface="맑은 고딕"/>
                          <a:ea typeface="맑은 고딕"/>
                          <a:cs typeface="맑은 고딕"/>
                        </a:rPr>
                        <a:t>필수 속성 결측</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150" b="0" i="0">
                          <a:solidFill>
                            <a:srgbClr val="DC2626"/>
                          </a:solidFill>
                          <a:latin typeface="맑은 고딕"/>
                          <a:ea typeface="맑은 고딕"/>
                          <a:cs typeface="맑은 고딕"/>
                        </a:rPr>
                        <a:t>20건 (0.15%)</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150" b="1" i="0">
                          <a:solidFill>
                            <a:srgbClr val="047857"/>
                          </a:solidFill>
                          <a:latin typeface="맑은 고딕"/>
                          <a:ea typeface="맑은 고딕"/>
                          <a:cs typeface="맑은 고딕"/>
                        </a:rPr>
                        <a:t>0건 (100% 인과 복원 완료)</a:t>
                      </a:r>
                    </a:p>
                  </a:txBody>
                  <a:tcPr marL="109728" marR="109728" marT="36576" marB="36576" anchor="ctr">
                    <a:lnL w="0">
                      <a:noFill/>
                    </a:lnL>
                    <a:lnR w="0">
                      <a:noFill/>
                    </a:lnR>
                    <a:lnT w="0">
                      <a:noFill/>
                    </a:lnT>
                    <a:lnB w="9525">
                      <a:solidFill>
                        <a:srgbClr val="E2E8F0"/>
                      </a:solidFill>
                    </a:lnB>
                    <a:noFill/>
                  </a:tcPr>
                </a:tc>
              </a:tr>
              <a:tr h="621792">
                <a:tc>
                  <a:txBody>
                    <a:bodyPr wrap="square"/>
                    <a:lstStyle/>
                    <a:p>
                      <a:pPr algn="l" eaLnBrk="0">
                        <a:lnSpc>
                          <a:spcPct val="100000"/>
                        </a:lnSpc>
                        <a:spcBef>
                          <a:spcPts val="0"/>
                        </a:spcBef>
                        <a:spcAft>
                          <a:spcPts val="0"/>
                        </a:spcAft>
                        <a:buNone/>
                      </a:pPr>
                      <a:r>
                        <a:rPr sz="1150" b="1" i="0">
                          <a:solidFill>
                            <a:srgbClr val="0F172A"/>
                          </a:solidFill>
                          <a:latin typeface="맑은 고딕"/>
                          <a:ea typeface="맑은 고딕"/>
                          <a:cs typeface="맑은 고딕"/>
                        </a:rPr>
                        <a:t>일자 연도 오기입</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150" b="0" i="0">
                          <a:solidFill>
                            <a:srgbClr val="DC2626"/>
                          </a:solidFill>
                          <a:latin typeface="맑은 고딕"/>
                          <a:ea typeface="맑은 고딕"/>
                          <a:cs typeface="맑은 고딕"/>
                        </a:rPr>
                        <a:t>866건 (미래연도)</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150" b="1" i="0">
                          <a:solidFill>
                            <a:srgbClr val="047857"/>
                          </a:solidFill>
                          <a:latin typeface="맑은 고딕"/>
                          <a:ea typeface="맑은 고딕"/>
                          <a:cs typeface="맑은 고딕"/>
                        </a:rPr>
                        <a:t>0건 (1970년 통일)</a:t>
                      </a:r>
                    </a:p>
                  </a:txBody>
                  <a:tcPr marL="109728" marR="109728" marT="36576" marB="36576" anchor="ctr">
                    <a:lnL w="0">
                      <a:noFill/>
                    </a:lnL>
                    <a:lnR w="0">
                      <a:noFill/>
                    </a:lnR>
                    <a:lnT w="0">
                      <a:noFill/>
                    </a:lnT>
                    <a:lnB w="9525">
                      <a:solidFill>
                        <a:srgbClr val="E2E8F0"/>
                      </a:solidFill>
                    </a:lnB>
                    <a:noFill/>
                  </a:tcPr>
                </a:tc>
              </a:tr>
              <a:tr h="621792">
                <a:tc>
                  <a:txBody>
                    <a:bodyPr wrap="square"/>
                    <a:lstStyle/>
                    <a:p>
                      <a:pPr algn="l" eaLnBrk="0">
                        <a:lnSpc>
                          <a:spcPct val="100000"/>
                        </a:lnSpc>
                        <a:spcBef>
                          <a:spcPts val="0"/>
                        </a:spcBef>
                        <a:spcAft>
                          <a:spcPts val="0"/>
                        </a:spcAft>
                        <a:buNone/>
                      </a:pPr>
                      <a:r>
                        <a:rPr sz="1150" b="1" i="0">
                          <a:solidFill>
                            <a:srgbClr val="0F172A"/>
                          </a:solidFill>
                          <a:latin typeface="맑은 고딕"/>
                          <a:ea typeface="맑은 고딕"/>
                          <a:cs typeface="맑은 고딕"/>
                        </a:rPr>
                        <a:t>공정 간 시간 역전</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150" b="0" i="0">
                          <a:solidFill>
                            <a:srgbClr val="DC2626"/>
                          </a:solidFill>
                          <a:latin typeface="맑은 고딕"/>
                          <a:ea typeface="맑은 고딕"/>
                          <a:cs typeface="맑은 고딕"/>
                        </a:rPr>
                        <a:t>음수 시간 존재</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150" b="1" i="0">
                          <a:solidFill>
                            <a:srgbClr val="047857"/>
                          </a:solidFill>
                          <a:latin typeface="맑은 고딕"/>
                          <a:ea typeface="맑은 고딕"/>
                          <a:cs typeface="맑은 고딕"/>
                        </a:rPr>
                        <a:t>0건 (3,711 페어 검증)</a:t>
                      </a:r>
                    </a:p>
                  </a:txBody>
                  <a:tcPr marL="109728" marR="109728" marT="36576" marB="36576" anchor="ctr">
                    <a:lnL w="0">
                      <a:noFill/>
                    </a:lnL>
                    <a:lnR w="0">
                      <a:noFill/>
                    </a:lnR>
                    <a:lnT w="0">
                      <a:noFill/>
                    </a:lnT>
                    <a:lnB w="9525">
                      <a:solidFill>
                        <a:srgbClr val="E2E8F0"/>
                      </a:solidFill>
                    </a:lnB>
                    <a:noFill/>
                  </a:tcPr>
                </a:tc>
              </a:tr>
            </a:tbl>
          </a:graphicData>
        </a:graphic>
      </p:graphicFrame>
      <p:sp>
        <p:nvSpPr>
          <p:cNvPr id="23" name="IntegrityBanner"/>
          <p:cNvSpPr/>
          <p:nvPr/>
        </p:nvSpPr>
        <p:spPr>
          <a:xfrm>
            <a:off x="731520" y="5394960"/>
            <a:ext cx="5029200" cy="640080"/>
          </a:xfrm>
          <a:prstGeom prst="roundRect">
            <a:avLst>
              <a:gd name="adj" fmla="val 14285"/>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394960"/>
            <a:ext cx="5029200" cy="640080"/>
          </a:xfrm>
          <a:prstGeom prst="rect">
            <a:avLst/>
          </a:prstGeom>
          <a:noFill/>
        </p:spPr>
        <p:txBody>
          <a:bodyPr wrap="square" lIns="0" tIns="0" rIns="0" bIns="0" anchor="ctr"/>
          <a:lstStyle/>
          <a:p>
            <a:pPr algn="ctr" eaLnBrk="0">
              <a:lnSpc>
                <a:spcPct val="100000"/>
              </a:lnSpc>
              <a:spcBef>
                <a:spcPts val="0"/>
              </a:spcBef>
              <a:spcAft>
                <a:spcPts val="0"/>
              </a:spcAft>
              <a:buNone/>
            </a:pPr>
            <a:r>
              <a:rPr sz="1250" b="1" i="0">
                <a:solidFill>
                  <a:srgbClr val="065F46"/>
                </a:solidFill>
                <a:latin typeface="맑은 고딕"/>
                <a:ea typeface="맑은 고딕"/>
                <a:cs typeface="맑은 고딕"/>
              </a:rPr>
              <a:t>전처리 전 구간 무결성 100% 입증 ➔ 임의 행 삭제 0건</a:t>
            </a:r>
          </a:p>
        </p:txBody>
      </p:sp>
      <p:sp>
        <p:nvSpPr>
          <p:cNvPr id="25" name="Chip-1"/>
          <p:cNvSpPr/>
          <p:nvPr/>
        </p:nvSpPr>
        <p:spPr>
          <a:xfrm>
            <a:off x="6217920" y="1691640"/>
            <a:ext cx="1278559" cy="731520"/>
          </a:xfrm>
          <a:prstGeom prst="roundRect">
            <a:avLst>
              <a:gd name="adj" fmla="val 12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0" y="1764792"/>
            <a:ext cx="1278559" cy="365760"/>
          </a:xfrm>
          <a:prstGeom prst="rect">
            <a:avLst/>
          </a:prstGeom>
          <a:noFill/>
        </p:spPr>
        <p:txBody>
          <a:bodyPr wrap="square" lIns="0" tIns="0" rIns="0" bIns="0" anchor="t"/>
          <a:lstStyle/>
          <a:p>
            <a:pPr algn="ctr" eaLnBrk="0">
              <a:lnSpc>
                <a:spcPct val="100000"/>
              </a:lnSpc>
              <a:spcBef>
                <a:spcPts val="0"/>
              </a:spcBef>
              <a:spcAft>
                <a:spcPts val="0"/>
              </a:spcAft>
              <a:buNone/>
            </a:pPr>
            <a:r>
              <a:rPr sz="1500" b="1" i="0">
                <a:solidFill>
                  <a:srgbClr val="0F172A"/>
                </a:solidFill>
                <a:latin typeface="Consolas"/>
                <a:ea typeface="맑은 고딕"/>
                <a:cs typeface="맑은 고딕"/>
              </a:rPr>
              <a:t>1,000</a:t>
            </a:r>
          </a:p>
        </p:txBody>
      </p:sp>
      <p:sp>
        <p:nvSpPr>
          <p:cNvPr id="27" name="TextBox 26"/>
          <p:cNvSpPr txBox="1"/>
          <p:nvPr/>
        </p:nvSpPr>
        <p:spPr>
          <a:xfrm>
            <a:off x="6217920" y="2103120"/>
            <a:ext cx="1278559" cy="228600"/>
          </a:xfrm>
          <a:prstGeom prst="rect">
            <a:avLst/>
          </a:prstGeom>
          <a:noFill/>
        </p:spPr>
        <p:txBody>
          <a:bodyPr wrap="square" lIns="0" tIns="0" rIns="0" bIns="0" anchor="t"/>
          <a:lstStyle/>
          <a:p>
            <a:pPr algn="ctr" eaLnBrk="0">
              <a:lnSpc>
                <a:spcPct val="100000"/>
              </a:lnSpc>
              <a:spcBef>
                <a:spcPts val="0"/>
              </a:spcBef>
              <a:spcAft>
                <a:spcPts val="0"/>
              </a:spcAft>
              <a:buNone/>
            </a:pPr>
            <a:r>
              <a:rPr sz="1000" b="0" i="0">
                <a:solidFill>
                  <a:srgbClr val="64748B"/>
                </a:solidFill>
                <a:latin typeface="맑은 고딕"/>
                <a:ea typeface="맑은 고딕"/>
                <a:cs typeface="맑은 고딕"/>
              </a:rPr>
              <a:t>케이스</a:t>
            </a:r>
          </a:p>
        </p:txBody>
      </p:sp>
      <p:sp>
        <p:nvSpPr>
          <p:cNvPr id="28" name="Chip-2"/>
          <p:cNvSpPr/>
          <p:nvPr/>
        </p:nvSpPr>
        <p:spPr>
          <a:xfrm>
            <a:off x="7615351" y="1691640"/>
            <a:ext cx="1278559" cy="731520"/>
          </a:xfrm>
          <a:prstGeom prst="roundRect">
            <a:avLst>
              <a:gd name="adj" fmla="val 12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15351" y="1764792"/>
            <a:ext cx="1278559" cy="365760"/>
          </a:xfrm>
          <a:prstGeom prst="rect">
            <a:avLst/>
          </a:prstGeom>
          <a:noFill/>
        </p:spPr>
        <p:txBody>
          <a:bodyPr wrap="square" lIns="0" tIns="0" rIns="0" bIns="0" anchor="t"/>
          <a:lstStyle/>
          <a:p>
            <a:pPr algn="ctr" eaLnBrk="0">
              <a:lnSpc>
                <a:spcPct val="100000"/>
              </a:lnSpc>
              <a:spcBef>
                <a:spcPts val="0"/>
              </a:spcBef>
              <a:spcAft>
                <a:spcPts val="0"/>
              </a:spcAft>
              <a:buNone/>
            </a:pPr>
            <a:r>
              <a:rPr sz="1500" b="1" i="0">
                <a:solidFill>
                  <a:srgbClr val="0F172A"/>
                </a:solidFill>
                <a:latin typeface="Consolas"/>
                <a:ea typeface="맑은 고딕"/>
                <a:cs typeface="맑은 고딕"/>
              </a:rPr>
              <a:t>890</a:t>
            </a:r>
          </a:p>
        </p:txBody>
      </p:sp>
      <p:sp>
        <p:nvSpPr>
          <p:cNvPr id="30" name="TextBox 29"/>
          <p:cNvSpPr txBox="1"/>
          <p:nvPr/>
        </p:nvSpPr>
        <p:spPr>
          <a:xfrm>
            <a:off x="7615351" y="2103120"/>
            <a:ext cx="1278559" cy="228600"/>
          </a:xfrm>
          <a:prstGeom prst="rect">
            <a:avLst/>
          </a:prstGeom>
          <a:noFill/>
        </p:spPr>
        <p:txBody>
          <a:bodyPr wrap="square" lIns="0" tIns="0" rIns="0" bIns="0" anchor="t"/>
          <a:lstStyle/>
          <a:p>
            <a:pPr algn="ctr" eaLnBrk="0">
              <a:lnSpc>
                <a:spcPct val="100000"/>
              </a:lnSpc>
              <a:spcBef>
                <a:spcPts val="0"/>
              </a:spcBef>
              <a:spcAft>
                <a:spcPts val="0"/>
              </a:spcAft>
              <a:buNone/>
            </a:pPr>
            <a:r>
              <a:rPr sz="1000" b="0" i="0">
                <a:solidFill>
                  <a:srgbClr val="64748B"/>
                </a:solidFill>
                <a:latin typeface="맑은 고딕"/>
                <a:ea typeface="맑은 고딕"/>
                <a:cs typeface="맑은 고딕"/>
              </a:rPr>
              <a:t>고유 주택</a:t>
            </a:r>
          </a:p>
        </p:txBody>
      </p:sp>
      <p:sp>
        <p:nvSpPr>
          <p:cNvPr id="31" name="Chip-3"/>
          <p:cNvSpPr/>
          <p:nvPr/>
        </p:nvSpPr>
        <p:spPr>
          <a:xfrm>
            <a:off x="9012783" y="1691640"/>
            <a:ext cx="1278559" cy="731520"/>
          </a:xfrm>
          <a:prstGeom prst="roundRect">
            <a:avLst>
              <a:gd name="adj" fmla="val 12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12783" y="1764792"/>
            <a:ext cx="1278559" cy="365760"/>
          </a:xfrm>
          <a:prstGeom prst="rect">
            <a:avLst/>
          </a:prstGeom>
          <a:noFill/>
        </p:spPr>
        <p:txBody>
          <a:bodyPr wrap="square" lIns="0" tIns="0" rIns="0" bIns="0" anchor="t"/>
          <a:lstStyle/>
          <a:p>
            <a:pPr algn="ctr" eaLnBrk="0">
              <a:lnSpc>
                <a:spcPct val="100000"/>
              </a:lnSpc>
              <a:spcBef>
                <a:spcPts val="0"/>
              </a:spcBef>
              <a:spcAft>
                <a:spcPts val="0"/>
              </a:spcAft>
              <a:buNone/>
            </a:pPr>
            <a:r>
              <a:rPr sz="1500" b="1" i="0">
                <a:solidFill>
                  <a:srgbClr val="0F172A"/>
                </a:solidFill>
                <a:latin typeface="Consolas"/>
                <a:ea typeface="맑은 고딕"/>
                <a:cs typeface="맑은 고딕"/>
              </a:rPr>
              <a:t>13개</a:t>
            </a:r>
          </a:p>
        </p:txBody>
      </p:sp>
      <p:sp>
        <p:nvSpPr>
          <p:cNvPr id="33" name="TextBox 32"/>
          <p:cNvSpPr txBox="1"/>
          <p:nvPr/>
        </p:nvSpPr>
        <p:spPr>
          <a:xfrm>
            <a:off x="9012783" y="2103120"/>
            <a:ext cx="1278559" cy="228600"/>
          </a:xfrm>
          <a:prstGeom prst="rect">
            <a:avLst/>
          </a:prstGeom>
          <a:noFill/>
        </p:spPr>
        <p:txBody>
          <a:bodyPr wrap="square" lIns="0" tIns="0" rIns="0" bIns="0" anchor="t"/>
          <a:lstStyle/>
          <a:p>
            <a:pPr algn="ctr" eaLnBrk="0">
              <a:lnSpc>
                <a:spcPct val="100000"/>
              </a:lnSpc>
              <a:spcBef>
                <a:spcPts val="0"/>
              </a:spcBef>
              <a:spcAft>
                <a:spcPts val="0"/>
              </a:spcAft>
              <a:buNone/>
            </a:pPr>
            <a:r>
              <a:rPr sz="1000" b="0" i="0">
                <a:solidFill>
                  <a:srgbClr val="64748B"/>
                </a:solidFill>
                <a:latin typeface="맑은 고딕"/>
                <a:ea typeface="맑은 고딕"/>
                <a:cs typeface="맑은 고딕"/>
              </a:rPr>
              <a:t>전체 속성</a:t>
            </a:r>
          </a:p>
        </p:txBody>
      </p:sp>
      <p:sp>
        <p:nvSpPr>
          <p:cNvPr id="34" name="Chip-4"/>
          <p:cNvSpPr/>
          <p:nvPr/>
        </p:nvSpPr>
        <p:spPr>
          <a:xfrm>
            <a:off x="10410215" y="1691640"/>
            <a:ext cx="1278559" cy="731520"/>
          </a:xfrm>
          <a:prstGeom prst="roundRect">
            <a:avLst>
              <a:gd name="adj" fmla="val 12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10215" y="1764792"/>
            <a:ext cx="1278559" cy="365760"/>
          </a:xfrm>
          <a:prstGeom prst="rect">
            <a:avLst/>
          </a:prstGeom>
          <a:noFill/>
        </p:spPr>
        <p:txBody>
          <a:bodyPr wrap="square" lIns="0" tIns="0" rIns="0" bIns="0" anchor="t"/>
          <a:lstStyle/>
          <a:p>
            <a:pPr algn="ctr" eaLnBrk="0">
              <a:lnSpc>
                <a:spcPct val="100000"/>
              </a:lnSpc>
              <a:spcBef>
                <a:spcPts val="0"/>
              </a:spcBef>
              <a:spcAft>
                <a:spcPts val="0"/>
              </a:spcAft>
              <a:buNone/>
            </a:pPr>
            <a:r>
              <a:rPr sz="1500" b="1" i="0">
                <a:solidFill>
                  <a:srgbClr val="0F172A"/>
                </a:solidFill>
                <a:latin typeface="Consolas"/>
                <a:ea typeface="맑은 고딕"/>
                <a:cs typeface="맑은 고딕"/>
              </a:rPr>
              <a:t>14행</a:t>
            </a:r>
          </a:p>
        </p:txBody>
      </p:sp>
      <p:sp>
        <p:nvSpPr>
          <p:cNvPr id="36" name="TextBox 35"/>
          <p:cNvSpPr txBox="1"/>
          <p:nvPr/>
        </p:nvSpPr>
        <p:spPr>
          <a:xfrm>
            <a:off x="10410215" y="2103120"/>
            <a:ext cx="1278559" cy="228600"/>
          </a:xfrm>
          <a:prstGeom prst="rect">
            <a:avLst/>
          </a:prstGeom>
          <a:noFill/>
        </p:spPr>
        <p:txBody>
          <a:bodyPr wrap="square" lIns="0" tIns="0" rIns="0" bIns="0" anchor="t"/>
          <a:lstStyle/>
          <a:p>
            <a:pPr algn="ctr" eaLnBrk="0">
              <a:lnSpc>
                <a:spcPct val="100000"/>
              </a:lnSpc>
              <a:spcBef>
                <a:spcPts val="0"/>
              </a:spcBef>
              <a:spcAft>
                <a:spcPts val="0"/>
              </a:spcAft>
              <a:buNone/>
            </a:pPr>
            <a:r>
              <a:rPr sz="1000" b="0" i="0">
                <a:solidFill>
                  <a:srgbClr val="64748B"/>
                </a:solidFill>
                <a:latin typeface="맑은 고딕"/>
                <a:ea typeface="맑은 고딕"/>
                <a:cs typeface="맑은 고딕"/>
              </a:rPr>
              <a:t>케이스 중앙값</a:t>
            </a:r>
          </a:p>
        </p:txBody>
      </p:sp>
      <p:sp>
        <p:nvSpPr>
          <p:cNvPr id="37" name="CleanCohort"/>
          <p:cNvSpPr/>
          <p:nvPr/>
        </p:nvSpPr>
        <p:spPr>
          <a:xfrm>
            <a:off x="6217920" y="2578608"/>
            <a:ext cx="2671419" cy="1783080"/>
          </a:xfrm>
          <a:prstGeom prst="roundRect">
            <a:avLst>
              <a:gd name="adj" fmla="val 6153"/>
            </a:avLst>
          </a:prstGeom>
          <a:solidFill>
            <a:srgbClr val="ECFDF5"/>
          </a:solidFill>
          <a:ln w="254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ill-정상 수리 완결 코호트"/>
          <p:cNvSpPr/>
          <p:nvPr/>
        </p:nvSpPr>
        <p:spPr>
          <a:xfrm>
            <a:off x="6382512" y="2724912"/>
            <a:ext cx="1486852"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정상 수리 완결 코호트</a:t>
            </a:r>
          </a:p>
        </p:txBody>
      </p:sp>
      <p:sp>
        <p:nvSpPr>
          <p:cNvPr id="39" name="TextBox 38"/>
          <p:cNvSpPr txBox="1"/>
          <p:nvPr/>
        </p:nvSpPr>
        <p:spPr>
          <a:xfrm>
            <a:off x="6382512" y="3035808"/>
            <a:ext cx="2342235" cy="502920"/>
          </a:xfrm>
          <a:prstGeom prst="rect">
            <a:avLst/>
          </a:prstGeom>
          <a:noFill/>
        </p:spPr>
        <p:txBody>
          <a:bodyPr wrap="square" lIns="0" tIns="0" rIns="0" bIns="0" anchor="t"/>
          <a:lstStyle/>
          <a:p>
            <a:pPr algn="l" eaLnBrk="0">
              <a:lnSpc>
                <a:spcPct val="100000"/>
              </a:lnSpc>
              <a:spcBef>
                <a:spcPts val="0"/>
              </a:spcBef>
              <a:spcAft>
                <a:spcPts val="0"/>
              </a:spcAft>
              <a:buNone/>
            </a:pPr>
            <a:r>
              <a:rPr sz="2800" b="1" i="0">
                <a:solidFill>
                  <a:srgbClr val="047857"/>
                </a:solidFill>
                <a:latin typeface="Consolas"/>
                <a:ea typeface="맑은 고딕"/>
                <a:cs typeface="맑은 고딕"/>
              </a:rPr>
              <a:t>927건</a:t>
            </a:r>
            <a:r>
              <a:rPr sz="1300" b="1" i="0">
                <a:solidFill>
                  <a:srgbClr val="047857"/>
                </a:solidFill>
                <a:latin typeface="Consolas"/>
                <a:ea typeface="맑은 고딕"/>
                <a:cs typeface="맑은 고딕"/>
              </a:rPr>
              <a:t> (92.7%)</a:t>
            </a:r>
          </a:p>
        </p:txBody>
      </p:sp>
      <p:sp>
        <p:nvSpPr>
          <p:cNvPr id="40" name="TextBox 39"/>
          <p:cNvSpPr txBox="1"/>
          <p:nvPr/>
        </p:nvSpPr>
        <p:spPr>
          <a:xfrm>
            <a:off x="6382512" y="3611880"/>
            <a:ext cx="2342235" cy="685800"/>
          </a:xfrm>
          <a:prstGeom prst="rect">
            <a:avLst/>
          </a:prstGeom>
          <a:noFill/>
        </p:spPr>
        <p:txBody>
          <a:bodyPr wrap="square" lIns="0" tIns="0" rIns="0" bIns="0" anchor="t"/>
          <a:lstStyle/>
          <a:p>
            <a:pPr algn="l" eaLnBrk="0">
              <a:lnSpc>
                <a:spcPct val="100000"/>
              </a:lnSpc>
              <a:spcBef>
                <a:spcPts val="0"/>
              </a:spcBef>
              <a:spcAft>
                <a:spcPts val="0"/>
              </a:spcAft>
              <a:buNone/>
            </a:pPr>
            <a:r>
              <a:rPr sz="1100" b="0" i="0">
                <a:solidFill>
                  <a:srgbClr val="475569"/>
                </a:solidFill>
                <a:latin typeface="맑은 고딕"/>
                <a:ea typeface="맑은 고딕"/>
                <a:cs typeface="맑은 고딕"/>
              </a:rPr>
              <a:t>순수 현장수리 분석 대상 ➔ 질문 2</a:t>
            </a:r>
            <a:br/>
            <a:r>
              <a:rPr sz="1100" b="0" i="0">
                <a:solidFill>
                  <a:srgbClr val="475569"/>
                </a:solidFill>
                <a:latin typeface="맑은 고딕"/>
                <a:ea typeface="맑은 고딕"/>
                <a:cs typeface="맑은 고딕"/>
              </a:rPr>
              <a:t>마이닝 모수 확립</a:t>
            </a:r>
          </a:p>
        </p:txBody>
      </p:sp>
      <p:sp>
        <p:nvSpPr>
          <p:cNvPr id="41" name="NoiseCohort"/>
          <p:cNvSpPr/>
          <p:nvPr/>
        </p:nvSpPr>
        <p:spPr>
          <a:xfrm>
            <a:off x="9017355" y="2578608"/>
            <a:ext cx="2671419" cy="1783080"/>
          </a:xfrm>
          <a:prstGeom prst="roundRect">
            <a:avLst>
              <a:gd name="adj" fmla="val 6153"/>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ill-오접수 조기 종결"/>
          <p:cNvSpPr/>
          <p:nvPr/>
        </p:nvSpPr>
        <p:spPr>
          <a:xfrm>
            <a:off x="9181947" y="2724912"/>
            <a:ext cx="1203325"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오접수 조기 종결</a:t>
            </a:r>
          </a:p>
        </p:txBody>
      </p:sp>
      <p:sp>
        <p:nvSpPr>
          <p:cNvPr id="43" name="TextBox 42"/>
          <p:cNvSpPr txBox="1"/>
          <p:nvPr/>
        </p:nvSpPr>
        <p:spPr>
          <a:xfrm>
            <a:off x="9181947" y="3035808"/>
            <a:ext cx="2342235" cy="502920"/>
          </a:xfrm>
          <a:prstGeom prst="rect">
            <a:avLst/>
          </a:prstGeom>
          <a:noFill/>
        </p:spPr>
        <p:txBody>
          <a:bodyPr wrap="square" lIns="0" tIns="0" rIns="0" bIns="0" anchor="t"/>
          <a:lstStyle/>
          <a:p>
            <a:pPr algn="l" eaLnBrk="0">
              <a:lnSpc>
                <a:spcPct val="100000"/>
              </a:lnSpc>
              <a:spcBef>
                <a:spcPts val="0"/>
              </a:spcBef>
              <a:spcAft>
                <a:spcPts val="0"/>
              </a:spcAft>
              <a:buNone/>
            </a:pPr>
            <a:r>
              <a:rPr sz="2800" b="1" i="0">
                <a:solidFill>
                  <a:srgbClr val="64748B"/>
                </a:solidFill>
                <a:latin typeface="Consolas"/>
                <a:ea typeface="맑은 고딕"/>
                <a:cs typeface="맑은 고딕"/>
              </a:rPr>
              <a:t>73건</a:t>
            </a:r>
            <a:r>
              <a:rPr sz="1300" b="1" i="0">
                <a:solidFill>
                  <a:srgbClr val="64748B"/>
                </a:solidFill>
                <a:latin typeface="Consolas"/>
                <a:ea typeface="맑은 고딕"/>
                <a:cs typeface="맑은 고딕"/>
              </a:rPr>
              <a:t> (7.3%)</a:t>
            </a:r>
          </a:p>
        </p:txBody>
      </p:sp>
      <p:sp>
        <p:nvSpPr>
          <p:cNvPr id="44" name="TextBox 43"/>
          <p:cNvSpPr txBox="1"/>
          <p:nvPr/>
        </p:nvSpPr>
        <p:spPr>
          <a:xfrm>
            <a:off x="9181947" y="3611880"/>
            <a:ext cx="2342235" cy="685800"/>
          </a:xfrm>
          <a:prstGeom prst="rect">
            <a:avLst/>
          </a:prstGeom>
          <a:noFill/>
        </p:spPr>
        <p:txBody>
          <a:bodyPr wrap="square" lIns="0" tIns="0" rIns="0" bIns="0" anchor="t"/>
          <a:lstStyle/>
          <a:p>
            <a:pPr algn="l" eaLnBrk="0">
              <a:lnSpc>
                <a:spcPct val="100000"/>
              </a:lnSpc>
              <a:spcBef>
                <a:spcPts val="0"/>
              </a:spcBef>
              <a:spcAft>
                <a:spcPts val="0"/>
              </a:spcAft>
              <a:buNone/>
            </a:pPr>
            <a:r>
              <a:rPr sz="1100" b="0" i="0">
                <a:solidFill>
                  <a:srgbClr val="475569"/>
                </a:solidFill>
                <a:latin typeface="맑은 고딕"/>
                <a:ea typeface="맑은 고딕"/>
                <a:cs typeface="맑은 고딕"/>
              </a:rPr>
              <a:t>타 기관 관할</a:t>
            </a:r>
            <a:br/>
            <a:r>
              <a:rPr sz="1100" b="0" i="0">
                <a:solidFill>
                  <a:srgbClr val="475569"/>
                </a:solidFill>
                <a:latin typeface="맑은 고딕"/>
                <a:ea typeface="맑은 고딕"/>
                <a:cs typeface="맑은 고딕"/>
              </a:rPr>
              <a:t>주택(InformClientWrongPlace) ➔</a:t>
            </a:r>
            <a:br/>
            <a:r>
              <a:rPr sz="1100" b="0" i="0">
                <a:solidFill>
                  <a:srgbClr val="475569"/>
                </a:solidFill>
                <a:latin typeface="맑은 고딕"/>
                <a:ea typeface="맑은 고딕"/>
                <a:cs typeface="맑은 고딕"/>
              </a:rPr>
              <a:t>분석 노이즈 격리</a:t>
            </a:r>
          </a:p>
        </p:txBody>
      </p:sp>
      <p:sp>
        <p:nvSpPr>
          <p:cNvPr id="45" name="TextBox 44"/>
          <p:cNvSpPr txBox="1"/>
          <p:nvPr/>
        </p:nvSpPr>
        <p:spPr>
          <a:xfrm>
            <a:off x="6217920" y="4526280"/>
            <a:ext cx="5470855" cy="256032"/>
          </a:xfrm>
          <a:prstGeom prst="rect">
            <a:avLst/>
          </a:prstGeom>
          <a:noFill/>
        </p:spPr>
        <p:txBody>
          <a:bodyPr wrap="square" lIns="0" tIns="0" rIns="0" bIns="0" anchor="t"/>
          <a:lstStyle/>
          <a:p>
            <a:pPr algn="l" eaLnBrk="0">
              <a:lnSpc>
                <a:spcPct val="100000"/>
              </a:lnSpc>
              <a:spcBef>
                <a:spcPts val="0"/>
              </a:spcBef>
              <a:spcAft>
                <a:spcPts val="0"/>
              </a:spcAft>
              <a:buNone/>
            </a:pPr>
            <a:r>
              <a:rPr sz="1200" b="1" i="0">
                <a:solidFill>
                  <a:srgbClr val="1E293B"/>
                </a:solidFill>
                <a:latin typeface="맑은 고딕"/>
                <a:ea typeface="맑은 고딕"/>
                <a:cs typeface="맑은 고딕"/>
              </a:rPr>
              <a:t>927건 코호트의 접수 채널 분포 (실측)</a:t>
            </a:r>
          </a:p>
        </p:txBody>
      </p:sp>
      <p:sp>
        <p:nvSpPr>
          <p:cNvPr id="46" name="Channel-Phone"/>
          <p:cNvSpPr/>
          <p:nvPr/>
        </p:nvSpPr>
        <p:spPr>
          <a:xfrm>
            <a:off x="6217920" y="4828032"/>
            <a:ext cx="1278559" cy="777240"/>
          </a:xfrm>
          <a:prstGeom prst="roundRect">
            <a:avLst>
              <a:gd name="adj" fmla="val 1176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0" y="4882896"/>
            <a:ext cx="1278559" cy="274320"/>
          </a:xfrm>
          <a:prstGeom prst="rect">
            <a:avLst/>
          </a:prstGeom>
          <a:noFill/>
        </p:spPr>
        <p:txBody>
          <a:bodyPr wrap="square" lIns="0" tIns="0" rIns="0" bIns="0" anchor="t"/>
          <a:lstStyle/>
          <a:p>
            <a:pPr algn="ctr" eaLnBrk="0">
              <a:lnSpc>
                <a:spcPct val="100000"/>
              </a:lnSpc>
              <a:spcBef>
                <a:spcPts val="0"/>
              </a:spcBef>
              <a:spcAft>
                <a:spcPts val="0"/>
              </a:spcAft>
              <a:buNone/>
            </a:pPr>
            <a:r>
              <a:rPr sz="1200" b="1" i="0">
                <a:solidFill>
                  <a:srgbClr val="0F172A"/>
                </a:solidFill>
                <a:latin typeface="맑은 고딕"/>
                <a:ea typeface="맑은 고딕"/>
                <a:cs typeface="맑은 고딕"/>
              </a:rPr>
              <a:t>Phone</a:t>
            </a:r>
          </a:p>
        </p:txBody>
      </p:sp>
      <p:sp>
        <p:nvSpPr>
          <p:cNvPr id="48" name="TextBox 47"/>
          <p:cNvSpPr txBox="1"/>
          <p:nvPr/>
        </p:nvSpPr>
        <p:spPr>
          <a:xfrm>
            <a:off x="6217920" y="5193792"/>
            <a:ext cx="1278559" cy="274320"/>
          </a:xfrm>
          <a:prstGeom prst="rect">
            <a:avLst/>
          </a:prstGeom>
          <a:noFill/>
        </p:spPr>
        <p:txBody>
          <a:bodyPr wrap="square" lIns="0" tIns="0" rIns="0" bIns="0" anchor="t"/>
          <a:lstStyle/>
          <a:p>
            <a:pPr algn="ctr" eaLnBrk="0">
              <a:lnSpc>
                <a:spcPct val="100000"/>
              </a:lnSpc>
              <a:spcBef>
                <a:spcPts val="0"/>
              </a:spcBef>
              <a:spcAft>
                <a:spcPts val="0"/>
              </a:spcAft>
              <a:buNone/>
            </a:pPr>
            <a:r>
              <a:rPr sz="1000" b="0" i="0">
                <a:solidFill>
                  <a:srgbClr val="475569"/>
                </a:solidFill>
                <a:latin typeface="맑은 고딕"/>
                <a:ea typeface="맑은 고딕"/>
                <a:cs typeface="맑은 고딕"/>
              </a:rPr>
              <a:t>251건 (27.1%)</a:t>
            </a:r>
          </a:p>
        </p:txBody>
      </p:sp>
      <p:sp>
        <p:nvSpPr>
          <p:cNvPr id="49" name="Channel-Web"/>
          <p:cNvSpPr/>
          <p:nvPr/>
        </p:nvSpPr>
        <p:spPr>
          <a:xfrm>
            <a:off x="7615351" y="4828032"/>
            <a:ext cx="1278559" cy="777240"/>
          </a:xfrm>
          <a:prstGeom prst="roundRect">
            <a:avLst>
              <a:gd name="adj" fmla="val 1176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15351" y="4882896"/>
            <a:ext cx="1278559" cy="274320"/>
          </a:xfrm>
          <a:prstGeom prst="rect">
            <a:avLst/>
          </a:prstGeom>
          <a:noFill/>
        </p:spPr>
        <p:txBody>
          <a:bodyPr wrap="square" lIns="0" tIns="0" rIns="0" bIns="0" anchor="t"/>
          <a:lstStyle/>
          <a:p>
            <a:pPr algn="ctr" eaLnBrk="0">
              <a:lnSpc>
                <a:spcPct val="100000"/>
              </a:lnSpc>
              <a:spcBef>
                <a:spcPts val="0"/>
              </a:spcBef>
              <a:spcAft>
                <a:spcPts val="0"/>
              </a:spcAft>
              <a:buNone/>
            </a:pPr>
            <a:r>
              <a:rPr sz="1200" b="1" i="0">
                <a:solidFill>
                  <a:srgbClr val="0F172A"/>
                </a:solidFill>
                <a:latin typeface="맑은 고딕"/>
                <a:ea typeface="맑은 고딕"/>
                <a:cs typeface="맑은 고딕"/>
              </a:rPr>
              <a:t>Web</a:t>
            </a:r>
          </a:p>
        </p:txBody>
      </p:sp>
      <p:sp>
        <p:nvSpPr>
          <p:cNvPr id="51" name="TextBox 50"/>
          <p:cNvSpPr txBox="1"/>
          <p:nvPr/>
        </p:nvSpPr>
        <p:spPr>
          <a:xfrm>
            <a:off x="7615351" y="5193792"/>
            <a:ext cx="1278559" cy="274320"/>
          </a:xfrm>
          <a:prstGeom prst="rect">
            <a:avLst/>
          </a:prstGeom>
          <a:noFill/>
        </p:spPr>
        <p:txBody>
          <a:bodyPr wrap="square" lIns="0" tIns="0" rIns="0" bIns="0" anchor="t"/>
          <a:lstStyle/>
          <a:p>
            <a:pPr algn="ctr" eaLnBrk="0">
              <a:lnSpc>
                <a:spcPct val="100000"/>
              </a:lnSpc>
              <a:spcBef>
                <a:spcPts val="0"/>
              </a:spcBef>
              <a:spcAft>
                <a:spcPts val="0"/>
              </a:spcAft>
              <a:buNone/>
            </a:pPr>
            <a:r>
              <a:rPr sz="1000" b="0" i="0">
                <a:solidFill>
                  <a:srgbClr val="475569"/>
                </a:solidFill>
                <a:latin typeface="맑은 고딕"/>
                <a:ea typeface="맑은 고딕"/>
                <a:cs typeface="맑은 고딕"/>
              </a:rPr>
              <a:t>241건 (26.0%)</a:t>
            </a:r>
          </a:p>
        </p:txBody>
      </p:sp>
      <p:sp>
        <p:nvSpPr>
          <p:cNvPr id="52" name="Channel-Personal"/>
          <p:cNvSpPr/>
          <p:nvPr/>
        </p:nvSpPr>
        <p:spPr>
          <a:xfrm>
            <a:off x="9012783" y="4828032"/>
            <a:ext cx="1278559" cy="777240"/>
          </a:xfrm>
          <a:prstGeom prst="roundRect">
            <a:avLst>
              <a:gd name="adj" fmla="val 1176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012783" y="4882896"/>
            <a:ext cx="1278559" cy="274320"/>
          </a:xfrm>
          <a:prstGeom prst="rect">
            <a:avLst/>
          </a:prstGeom>
          <a:noFill/>
        </p:spPr>
        <p:txBody>
          <a:bodyPr wrap="square" lIns="0" tIns="0" rIns="0" bIns="0" anchor="t"/>
          <a:lstStyle/>
          <a:p>
            <a:pPr algn="ctr" eaLnBrk="0">
              <a:lnSpc>
                <a:spcPct val="100000"/>
              </a:lnSpc>
              <a:spcBef>
                <a:spcPts val="0"/>
              </a:spcBef>
              <a:spcAft>
                <a:spcPts val="0"/>
              </a:spcAft>
              <a:buNone/>
            </a:pPr>
            <a:r>
              <a:rPr sz="1200" b="1" i="0">
                <a:solidFill>
                  <a:srgbClr val="0F172A"/>
                </a:solidFill>
                <a:latin typeface="맑은 고딕"/>
                <a:ea typeface="맑은 고딕"/>
                <a:cs typeface="맑은 고딕"/>
              </a:rPr>
              <a:t>Personal</a:t>
            </a:r>
          </a:p>
        </p:txBody>
      </p:sp>
      <p:sp>
        <p:nvSpPr>
          <p:cNvPr id="54" name="TextBox 53"/>
          <p:cNvSpPr txBox="1"/>
          <p:nvPr/>
        </p:nvSpPr>
        <p:spPr>
          <a:xfrm>
            <a:off x="9012783" y="5193792"/>
            <a:ext cx="1278559" cy="274320"/>
          </a:xfrm>
          <a:prstGeom prst="rect">
            <a:avLst/>
          </a:prstGeom>
          <a:noFill/>
        </p:spPr>
        <p:txBody>
          <a:bodyPr wrap="square" lIns="0" tIns="0" rIns="0" bIns="0" anchor="t"/>
          <a:lstStyle/>
          <a:p>
            <a:pPr algn="ctr" eaLnBrk="0">
              <a:lnSpc>
                <a:spcPct val="100000"/>
              </a:lnSpc>
              <a:spcBef>
                <a:spcPts val="0"/>
              </a:spcBef>
              <a:spcAft>
                <a:spcPts val="0"/>
              </a:spcAft>
              <a:buNone/>
            </a:pPr>
            <a:r>
              <a:rPr sz="1000" b="0" i="0">
                <a:solidFill>
                  <a:srgbClr val="475569"/>
                </a:solidFill>
                <a:latin typeface="맑은 고딕"/>
                <a:ea typeface="맑은 고딕"/>
                <a:cs typeface="맑은 고딕"/>
              </a:rPr>
              <a:t>228건 (24.6%)</a:t>
            </a:r>
          </a:p>
        </p:txBody>
      </p:sp>
      <p:sp>
        <p:nvSpPr>
          <p:cNvPr id="55" name="Channel-Letter"/>
          <p:cNvSpPr/>
          <p:nvPr/>
        </p:nvSpPr>
        <p:spPr>
          <a:xfrm>
            <a:off x="10410215" y="4828032"/>
            <a:ext cx="1278559" cy="777240"/>
          </a:xfrm>
          <a:prstGeom prst="roundRect">
            <a:avLst>
              <a:gd name="adj" fmla="val 1176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410215" y="4882896"/>
            <a:ext cx="1278559" cy="274320"/>
          </a:xfrm>
          <a:prstGeom prst="rect">
            <a:avLst/>
          </a:prstGeom>
          <a:noFill/>
        </p:spPr>
        <p:txBody>
          <a:bodyPr wrap="square" lIns="0" tIns="0" rIns="0" bIns="0" anchor="t"/>
          <a:lstStyle/>
          <a:p>
            <a:pPr algn="ctr" eaLnBrk="0">
              <a:lnSpc>
                <a:spcPct val="100000"/>
              </a:lnSpc>
              <a:spcBef>
                <a:spcPts val="0"/>
              </a:spcBef>
              <a:spcAft>
                <a:spcPts val="0"/>
              </a:spcAft>
              <a:buNone/>
            </a:pPr>
            <a:r>
              <a:rPr sz="1200" b="1" i="0">
                <a:solidFill>
                  <a:srgbClr val="0F172A"/>
                </a:solidFill>
                <a:latin typeface="맑은 고딕"/>
                <a:ea typeface="맑은 고딕"/>
                <a:cs typeface="맑은 고딕"/>
              </a:rPr>
              <a:t>Letter</a:t>
            </a:r>
          </a:p>
        </p:txBody>
      </p:sp>
      <p:sp>
        <p:nvSpPr>
          <p:cNvPr id="57" name="TextBox 56"/>
          <p:cNvSpPr txBox="1"/>
          <p:nvPr/>
        </p:nvSpPr>
        <p:spPr>
          <a:xfrm>
            <a:off x="10410215" y="5193792"/>
            <a:ext cx="1278559" cy="274320"/>
          </a:xfrm>
          <a:prstGeom prst="rect">
            <a:avLst/>
          </a:prstGeom>
          <a:noFill/>
        </p:spPr>
        <p:txBody>
          <a:bodyPr wrap="square" lIns="0" tIns="0" rIns="0" bIns="0" anchor="t"/>
          <a:lstStyle/>
          <a:p>
            <a:pPr algn="ctr" eaLnBrk="0">
              <a:lnSpc>
                <a:spcPct val="100000"/>
              </a:lnSpc>
              <a:spcBef>
                <a:spcPts val="0"/>
              </a:spcBef>
              <a:spcAft>
                <a:spcPts val="0"/>
              </a:spcAft>
              <a:buNone/>
            </a:pPr>
            <a:r>
              <a:rPr sz="1000" b="0" i="0">
                <a:solidFill>
                  <a:srgbClr val="475569"/>
                </a:solidFill>
                <a:latin typeface="맑은 고딕"/>
                <a:ea typeface="맑은 고딕"/>
                <a:cs typeface="맑은 고딕"/>
              </a:rPr>
              <a:t>207건 (22.3%)</a:t>
            </a:r>
          </a:p>
        </p:txBody>
      </p:sp>
      <p:sp>
        <p:nvSpPr>
          <p:cNvPr id="58" name="TextBox 57"/>
          <p:cNvSpPr txBox="1"/>
          <p:nvPr/>
        </p:nvSpPr>
        <p:spPr>
          <a:xfrm>
            <a:off x="6217920" y="5715000"/>
            <a:ext cx="5470855" cy="274320"/>
          </a:xfrm>
          <a:prstGeom prst="rect">
            <a:avLst/>
          </a:prstGeom>
          <a:noFill/>
        </p:spPr>
        <p:txBody>
          <a:bodyPr wrap="square" lIns="0" tIns="0" rIns="0" bIns="0" anchor="t"/>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특정 채널 편향 없이 고르게 유입됨을 확인 (단일 채널 쏠림 가설 기각)</a:t>
            </a:r>
          </a:p>
        </p:txBody>
      </p:sp>
      <p:sp>
        <p:nvSpPr>
          <p:cNvPr id="59" name="Nav-1">
            <a:hlinkClick action="ppaction://hlinksldjump" r:id="rId3"/>
          </p:cNvPr>
          <p:cNvSpPr/>
          <p:nvPr/>
        </p:nvSpPr>
        <p:spPr>
          <a:xfrm>
            <a:off x="9201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Nav-2">
            <a:hlinkClick action="ppaction://hlinksldjump" r:id="rId4"/>
          </p:cNvPr>
          <p:cNvSpPr/>
          <p:nvPr/>
        </p:nvSpPr>
        <p:spPr>
          <a:xfrm>
            <a:off x="9315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Nav-3">
            <a:hlinkClick action="ppaction://hlinksldjump" r:id="rId5"/>
          </p:cNvPr>
          <p:cNvSpPr/>
          <p:nvPr/>
        </p:nvSpPr>
        <p:spPr>
          <a:xfrm>
            <a:off x="9430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Nav-4">
            <a:hlinkClick action="ppaction://hlinksldjump" r:id="rId6"/>
          </p:cNvPr>
          <p:cNvSpPr/>
          <p:nvPr/>
        </p:nvSpPr>
        <p:spPr>
          <a:xfrm>
            <a:off x="9544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Nav-5">
            <a:hlinkClick action="ppaction://hlinksldjump" r:id="rId7"/>
          </p:cNvPr>
          <p:cNvSpPr/>
          <p:nvPr/>
        </p:nvSpPr>
        <p:spPr>
          <a:xfrm>
            <a:off x="96588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Nav-6">
            <a:hlinkClick action="ppaction://hlinksldjump" r:id="rId8"/>
          </p:cNvPr>
          <p:cNvSpPr/>
          <p:nvPr/>
        </p:nvSpPr>
        <p:spPr>
          <a:xfrm>
            <a:off x="97731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Nav-7">
            <a:hlinkClick action="ppaction://hlinksldjump" r:id="rId9"/>
          </p:cNvPr>
          <p:cNvSpPr/>
          <p:nvPr/>
        </p:nvSpPr>
        <p:spPr>
          <a:xfrm>
            <a:off x="98874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Nav-8">
            <a:hlinkClick action="ppaction://hlinksldjump" r:id="rId10"/>
          </p:cNvPr>
          <p:cNvSpPr/>
          <p:nvPr/>
        </p:nvSpPr>
        <p:spPr>
          <a:xfrm>
            <a:off x="100017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Nav-9">
            <a:hlinkClick action="ppaction://hlinksldjump" r:id="rId11"/>
          </p:cNvPr>
          <p:cNvSpPr/>
          <p:nvPr/>
        </p:nvSpPr>
        <p:spPr>
          <a:xfrm>
            <a:off x="101160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Nav-10">
            <a:hlinkClick action="ppaction://hlinksldjump" r:id="rId12"/>
          </p:cNvPr>
          <p:cNvSpPr/>
          <p:nvPr/>
        </p:nvSpPr>
        <p:spPr>
          <a:xfrm>
            <a:off x="102303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Nav-11">
            <a:hlinkClick action="ppaction://hlinksldjump" r:id="rId13"/>
          </p:cNvPr>
          <p:cNvSpPr/>
          <p:nvPr/>
        </p:nvSpPr>
        <p:spPr>
          <a:xfrm>
            <a:off x="10344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Nav-12">
            <a:hlinkClick action="ppaction://hlinksldjump" r:id="rId14"/>
          </p:cNvPr>
          <p:cNvSpPr/>
          <p:nvPr/>
        </p:nvSpPr>
        <p:spPr>
          <a:xfrm>
            <a:off x="10458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Nav-13">
            <a:hlinkClick action="ppaction://hlinksldjump" r:id="rId15"/>
          </p:cNvPr>
          <p:cNvSpPr/>
          <p:nvPr/>
        </p:nvSpPr>
        <p:spPr>
          <a:xfrm>
            <a:off x="10573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Nav-14">
            <a:hlinkClick action="ppaction://hlinksldjump" r:id="rId16"/>
          </p:cNvPr>
          <p:cNvSpPr/>
          <p:nvPr/>
        </p:nvSpPr>
        <p:spPr>
          <a:xfrm>
            <a:off x="10687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935604"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02 · 질문 2-1 | AS-IS 기준 프로세스 모델</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E2E 기준 프로세스는 단방향·병렬 구조이며, 접수→실사 구간의 대기(평균</a:t>
            </a:r>
            <a:br/>
            <a:r>
              <a:rPr sz="2400" b="1" i="0">
                <a:solidFill>
                  <a:srgbClr val="0F172A"/>
                </a:solidFill>
                <a:latin typeface="맑은 고딕"/>
                <a:ea typeface="맑은 고딕"/>
                <a:cs typeface="맑은 고딕"/>
              </a:rPr>
              <a:t>76.8h)가 가장 굵은 병목이다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repair_cleaned.csv · case_pivot_table.csv (927건 코호트) · 화살표 굵기 = 1차 수리 케이스 수, 색 = 평균 대기시간</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07 / 14</a:t>
            </a:r>
          </a:p>
        </p:txBody>
      </p:sp>
      <p:sp>
        <p:nvSpPr>
          <p:cNvPr id="20" name="ProcessMapFrame"/>
          <p:cNvSpPr/>
          <p:nvPr/>
        </p:nvSpPr>
        <p:spPr>
          <a:xfrm>
            <a:off x="502920" y="1627632"/>
            <a:ext cx="11185855" cy="3273552"/>
          </a:xfrm>
          <a:prstGeom prst="roundRect">
            <a:avLst>
              <a:gd name="adj" fmla="val 391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2E 프로세스 맵: 접수→실사 평균 76.8h(중앙값 48.8h) 대기가 가장 굵은 병목, 사내수리 착수 30.5h, 교차 인계 123건, 리워크 26건"/>
          <p:cNvPicPr>
            <a:picLocks noChangeAspect="1"/>
          </p:cNvPicPr>
          <p:nvPr/>
        </p:nvPicPr>
        <p:blipFill>
          <a:blip r:embed="rId2"/>
          <a:stretch>
            <a:fillRect/>
          </a:stretch>
        </p:blipFill>
        <p:spPr>
          <a:xfrm>
            <a:off x="581702" y="1673352"/>
            <a:ext cx="11028291" cy="3182111"/>
          </a:xfrm>
          <a:prstGeom prst="rect">
            <a:avLst/>
          </a:prstGeom>
        </p:spPr>
      </p:pic>
      <p:sp>
        <p:nvSpPr>
          <p:cNvPr id="22" name="PhaseCard-1"/>
          <p:cNvSpPr/>
          <p:nvPr/>
        </p:nvSpPr>
        <p:spPr>
          <a:xfrm>
            <a:off x="502920" y="4992624"/>
            <a:ext cx="3576218" cy="1298448"/>
          </a:xfrm>
          <a:prstGeom prst="roundRect">
            <a:avLst>
              <a:gd name="adj" fmla="val 845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ill-01 접수"/>
          <p:cNvSpPr/>
          <p:nvPr/>
        </p:nvSpPr>
        <p:spPr>
          <a:xfrm>
            <a:off x="685800" y="5120640"/>
            <a:ext cx="697801"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1E40AF"/>
                </a:solidFill>
                <a:latin typeface="맑은 고딕"/>
                <a:ea typeface="맑은 고딕"/>
                <a:cs typeface="맑은 고딕"/>
              </a:rPr>
              <a:t>01 접수</a:t>
            </a:r>
          </a:p>
        </p:txBody>
      </p:sp>
      <p:sp>
        <p:nvSpPr>
          <p:cNvPr id="24" name="TextBox 23"/>
          <p:cNvSpPr txBox="1"/>
          <p:nvPr/>
        </p:nvSpPr>
        <p:spPr>
          <a:xfrm>
            <a:off x="1493329" y="5084064"/>
            <a:ext cx="2402928" cy="310896"/>
          </a:xfrm>
          <a:prstGeom prst="rect">
            <a:avLst/>
          </a:prstGeom>
          <a:noFill/>
        </p:spPr>
        <p:txBody>
          <a:bodyPr wrap="square" lIns="0" tIns="0" rIns="0" bIns="0" anchor="ctr"/>
          <a:lstStyle/>
          <a:p>
            <a:pPr algn="l" eaLnBrk="0">
              <a:lnSpc>
                <a:spcPct val="100000"/>
              </a:lnSpc>
              <a:spcBef>
                <a:spcPts val="0"/>
              </a:spcBef>
              <a:spcAft>
                <a:spcPts val="0"/>
              </a:spcAft>
              <a:buNone/>
            </a:pPr>
            <a:r>
              <a:rPr sz="1250" b="1" i="0">
                <a:solidFill>
                  <a:srgbClr val="0F172A"/>
                </a:solidFill>
                <a:latin typeface="맑은 고딕"/>
                <a:ea typeface="맑은 고딕"/>
                <a:cs typeface="맑은 고딕"/>
              </a:rPr>
              <a:t>오접수 격리 &amp; 시스템 앵커</a:t>
            </a:r>
          </a:p>
        </p:txBody>
      </p:sp>
      <p:sp>
        <p:nvSpPr>
          <p:cNvPr id="25" name="TextBox 24"/>
          <p:cNvSpPr txBox="1"/>
          <p:nvPr/>
        </p:nvSpPr>
        <p:spPr>
          <a:xfrm>
            <a:off x="685800" y="5486400"/>
            <a:ext cx="3210458" cy="749808"/>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FirstContact 1,000건 중 73건(7.3%)을 타 기관</a:t>
            </a:r>
            <a:br/>
            <a:r>
              <a:rPr sz="1050" b="0" i="0">
                <a:solidFill>
                  <a:srgbClr val="475569"/>
                </a:solidFill>
                <a:latin typeface="맑은 고딕"/>
                <a:ea typeface="맑은 고딕"/>
                <a:cs typeface="맑은 고딕"/>
              </a:rPr>
              <a:t>관할로 조기 격리</a:t>
            </a:r>
          </a:p>
          <a:p>
            <a:pPr algn="l" eaLnBrk="0"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InformClientSurvey 0초 자동 발송 ➔ 접수 종료</a:t>
            </a:r>
            <a:br/>
            <a:r>
              <a:rPr sz="1050" b="0" i="0">
                <a:solidFill>
                  <a:srgbClr val="475569"/>
                </a:solidFill>
                <a:latin typeface="맑은 고딕"/>
                <a:ea typeface="맑은 고딕"/>
                <a:cs typeface="맑은 고딕"/>
              </a:rPr>
              <a:t>앵커, 기준선 RepairReady 927건</a:t>
            </a:r>
          </a:p>
        </p:txBody>
      </p:sp>
      <p:sp>
        <p:nvSpPr>
          <p:cNvPr id="26" name="PhaseCard-2"/>
          <p:cNvSpPr/>
          <p:nvPr/>
        </p:nvSpPr>
        <p:spPr>
          <a:xfrm>
            <a:off x="4307738" y="4992624"/>
            <a:ext cx="3576218" cy="1298448"/>
          </a:xfrm>
          <a:prstGeom prst="roundRect">
            <a:avLst>
              <a:gd name="adj" fmla="val 845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ill-02 현장"/>
          <p:cNvSpPr/>
          <p:nvPr/>
        </p:nvSpPr>
        <p:spPr>
          <a:xfrm>
            <a:off x="4490618" y="5120640"/>
            <a:ext cx="697801"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02 현장</a:t>
            </a:r>
          </a:p>
        </p:txBody>
      </p:sp>
      <p:sp>
        <p:nvSpPr>
          <p:cNvPr id="28" name="TextBox 27"/>
          <p:cNvSpPr txBox="1"/>
          <p:nvPr/>
        </p:nvSpPr>
        <p:spPr>
          <a:xfrm>
            <a:off x="5298147" y="5084064"/>
            <a:ext cx="2402928" cy="310896"/>
          </a:xfrm>
          <a:prstGeom prst="rect">
            <a:avLst/>
          </a:prstGeom>
          <a:noFill/>
        </p:spPr>
        <p:txBody>
          <a:bodyPr wrap="square" lIns="0" tIns="0" rIns="0" bIns="0" anchor="ctr"/>
          <a:lstStyle/>
          <a:p>
            <a:pPr algn="l" eaLnBrk="0">
              <a:lnSpc>
                <a:spcPct val="100000"/>
              </a:lnSpc>
              <a:spcBef>
                <a:spcPts val="0"/>
              </a:spcBef>
              <a:spcAft>
                <a:spcPts val="0"/>
              </a:spcAft>
              <a:buNone/>
            </a:pPr>
            <a:r>
              <a:rPr sz="1250" b="1" i="0">
                <a:solidFill>
                  <a:srgbClr val="0F172A"/>
                </a:solidFill>
                <a:latin typeface="맑은 고딕"/>
                <a:ea typeface="맑은 고딕"/>
                <a:cs typeface="맑은 고딕"/>
              </a:rPr>
              <a:t>단방향 · 역류 0건 앵커</a:t>
            </a:r>
          </a:p>
        </p:txBody>
      </p:sp>
      <p:sp>
        <p:nvSpPr>
          <p:cNvPr id="29" name="TextBox 28"/>
          <p:cNvSpPr txBox="1"/>
          <p:nvPr/>
        </p:nvSpPr>
        <p:spPr>
          <a:xfrm>
            <a:off x="4490618" y="5486400"/>
            <a:ext cx="3210458" cy="749808"/>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즉시 ➔ 사내 ➔ 외주로만 전이, 외주 이관 후 사내</a:t>
            </a:r>
            <a:br/>
            <a:r>
              <a:rPr sz="1050" b="0" i="0">
                <a:solidFill>
                  <a:srgbClr val="475569"/>
                </a:solidFill>
                <a:latin typeface="맑은 고딕"/>
                <a:ea typeface="맑은 고딕"/>
                <a:cs typeface="맑은 고딕"/>
              </a:rPr>
              <a:t>역류 0건(0.0%)</a:t>
            </a:r>
          </a:p>
          <a:p>
            <a:pPr algn="l" eaLnBrk="0"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수리 완료 커밋 시 RepairReady(927건) 자동 발행</a:t>
            </a:r>
            <a:br/>
            <a:r>
              <a:rPr sz="1050" b="0" i="0">
                <a:solidFill>
                  <a:srgbClr val="475569"/>
                </a:solidFill>
                <a:latin typeface="맑은 고딕"/>
                <a:ea typeface="맑은 고딕"/>
                <a:cs typeface="맑은 고딕"/>
              </a:rPr>
              <a:t>➔ 즉시 정산 이관</a:t>
            </a:r>
          </a:p>
        </p:txBody>
      </p:sp>
      <p:sp>
        <p:nvSpPr>
          <p:cNvPr id="30" name="PhaseCard-3"/>
          <p:cNvSpPr/>
          <p:nvPr/>
        </p:nvSpPr>
        <p:spPr>
          <a:xfrm>
            <a:off x="8112556" y="4992624"/>
            <a:ext cx="3576218" cy="1298448"/>
          </a:xfrm>
          <a:prstGeom prst="roundRect">
            <a:avLst>
              <a:gd name="adj" fmla="val 845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ill-03 정산"/>
          <p:cNvSpPr/>
          <p:nvPr/>
        </p:nvSpPr>
        <p:spPr>
          <a:xfrm>
            <a:off x="8295436" y="5120640"/>
            <a:ext cx="697801"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03 정산</a:t>
            </a:r>
          </a:p>
        </p:txBody>
      </p:sp>
      <p:sp>
        <p:nvSpPr>
          <p:cNvPr id="32" name="TextBox 31"/>
          <p:cNvSpPr txBox="1"/>
          <p:nvPr/>
        </p:nvSpPr>
        <p:spPr>
          <a:xfrm>
            <a:off x="9102966" y="5084064"/>
            <a:ext cx="2402928" cy="310896"/>
          </a:xfrm>
          <a:prstGeom prst="rect">
            <a:avLst/>
          </a:prstGeom>
          <a:noFill/>
        </p:spPr>
        <p:txBody>
          <a:bodyPr wrap="square" lIns="0" tIns="0" rIns="0" bIns="0" anchor="ctr"/>
          <a:lstStyle/>
          <a:p>
            <a:pPr algn="l" eaLnBrk="0">
              <a:lnSpc>
                <a:spcPct val="100000"/>
              </a:lnSpc>
              <a:spcBef>
                <a:spcPts val="0"/>
              </a:spcBef>
              <a:spcAft>
                <a:spcPts val="0"/>
              </a:spcAft>
              <a:buNone/>
            </a:pPr>
            <a:r>
              <a:rPr sz="1250" b="1" i="0">
                <a:solidFill>
                  <a:srgbClr val="0F172A"/>
                </a:solidFill>
                <a:latin typeface="맑은 고딕"/>
                <a:ea typeface="맑은 고딕"/>
                <a:cs typeface="맑은 고딕"/>
              </a:rPr>
              <a:t>대칭 병렬 AND-Join</a:t>
            </a:r>
          </a:p>
        </p:txBody>
      </p:sp>
      <p:sp>
        <p:nvSpPr>
          <p:cNvPr id="33" name="TextBox 32"/>
          <p:cNvSpPr txBox="1"/>
          <p:nvPr/>
        </p:nvSpPr>
        <p:spPr>
          <a:xfrm>
            <a:off x="8295436" y="5486400"/>
            <a:ext cx="3210458" cy="749808"/>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고객 통보 선행 50.6%(469건) vs 재무 전송 선행</a:t>
            </a:r>
            <a:br/>
            <a:r>
              <a:rPr sz="1050" b="0" i="0">
                <a:solidFill>
                  <a:srgbClr val="475569"/>
                </a:solidFill>
                <a:latin typeface="맑은 고딕"/>
                <a:ea typeface="맑은 고딕"/>
                <a:cs typeface="맑은 고딕"/>
              </a:rPr>
              <a:t>49.2%(456건) = 대칭 병렬</a:t>
            </a:r>
          </a:p>
          <a:p>
            <a:pPr algn="l" eaLnBrk="0"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TicketReady는 후행 완료 시각과 99.8%(925건)</a:t>
            </a:r>
            <a:br/>
            <a:r>
              <a:rPr sz="1050" b="0" i="0">
                <a:solidFill>
                  <a:srgbClr val="475569"/>
                </a:solidFill>
                <a:latin typeface="맑은 고딕"/>
                <a:ea typeface="맑은 고딕"/>
                <a:cs typeface="맑은 고딕"/>
              </a:rPr>
              <a:t>일치, 대기 0.0h</a:t>
            </a:r>
          </a:p>
        </p:txBody>
      </p:sp>
      <p:sp>
        <p:nvSpPr>
          <p:cNvPr id="34" name="Nav-1">
            <a:hlinkClick action="ppaction://hlinksldjump" r:id="rId4"/>
          </p:cNvPr>
          <p:cNvSpPr/>
          <p:nvPr/>
        </p:nvSpPr>
        <p:spPr>
          <a:xfrm>
            <a:off x="9201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Nav-2">
            <a:hlinkClick action="ppaction://hlinksldjump" r:id="rId5"/>
          </p:cNvPr>
          <p:cNvSpPr/>
          <p:nvPr/>
        </p:nvSpPr>
        <p:spPr>
          <a:xfrm>
            <a:off x="9315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Nav-3">
            <a:hlinkClick action="ppaction://hlinksldjump" r:id="rId6"/>
          </p:cNvPr>
          <p:cNvSpPr/>
          <p:nvPr/>
        </p:nvSpPr>
        <p:spPr>
          <a:xfrm>
            <a:off x="9430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Nav-4">
            <a:hlinkClick action="ppaction://hlinksldjump" r:id="rId7"/>
          </p:cNvPr>
          <p:cNvSpPr/>
          <p:nvPr/>
        </p:nvSpPr>
        <p:spPr>
          <a:xfrm>
            <a:off x="9544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Nav-5">
            <a:hlinkClick action="ppaction://hlinksldjump" r:id="rId8"/>
          </p:cNvPr>
          <p:cNvSpPr/>
          <p:nvPr/>
        </p:nvSpPr>
        <p:spPr>
          <a:xfrm>
            <a:off x="96588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Nav-6">
            <a:hlinkClick action="ppaction://hlinksldjump" r:id="rId9"/>
          </p:cNvPr>
          <p:cNvSpPr/>
          <p:nvPr/>
        </p:nvSpPr>
        <p:spPr>
          <a:xfrm>
            <a:off x="97731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Nav-7">
            <a:hlinkClick action="ppaction://hlinksldjump" r:id="rId10"/>
          </p:cNvPr>
          <p:cNvSpPr/>
          <p:nvPr/>
        </p:nvSpPr>
        <p:spPr>
          <a:xfrm>
            <a:off x="98874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Nav-8">
            <a:hlinkClick action="ppaction://hlinksldjump" r:id="rId11"/>
          </p:cNvPr>
          <p:cNvSpPr/>
          <p:nvPr/>
        </p:nvSpPr>
        <p:spPr>
          <a:xfrm>
            <a:off x="100017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Nav-9">
            <a:hlinkClick action="ppaction://hlinksldjump" r:id="rId12"/>
          </p:cNvPr>
          <p:cNvSpPr/>
          <p:nvPr/>
        </p:nvSpPr>
        <p:spPr>
          <a:xfrm>
            <a:off x="101160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Nav-10">
            <a:hlinkClick action="ppaction://hlinksldjump" r:id="rId13"/>
          </p:cNvPr>
          <p:cNvSpPr/>
          <p:nvPr/>
        </p:nvSpPr>
        <p:spPr>
          <a:xfrm>
            <a:off x="102303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Nav-11">
            <a:hlinkClick action="ppaction://hlinksldjump" r:id="rId14"/>
          </p:cNvPr>
          <p:cNvSpPr/>
          <p:nvPr/>
        </p:nvSpPr>
        <p:spPr>
          <a:xfrm>
            <a:off x="10344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Nav-12">
            <a:hlinkClick action="ppaction://hlinksldjump" r:id="rId15"/>
          </p:cNvPr>
          <p:cNvSpPr/>
          <p:nvPr/>
        </p:nvSpPr>
        <p:spPr>
          <a:xfrm>
            <a:off x="10458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Nav-13">
            <a:hlinkClick action="ppaction://hlinksldjump" r:id="rId16"/>
          </p:cNvPr>
          <p:cNvSpPr/>
          <p:nvPr/>
        </p:nvSpPr>
        <p:spPr>
          <a:xfrm>
            <a:off x="10573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Nav-14">
            <a:hlinkClick action="ppaction://hlinksldjump" r:id="rId17"/>
          </p:cNvPr>
          <p:cNvSpPr/>
          <p:nvPr/>
        </p:nvSpPr>
        <p:spPr>
          <a:xfrm>
            <a:off x="10687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56603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02 · 질문 2-2 | 거시 리드타임 분해</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리드타임 105.9시간의 90.5%는 공정 간 대기·조율이며, 그중 97.8%가 현장</a:t>
            </a:r>
            <a:br/>
            <a:r>
              <a:rPr sz="2400" b="1" i="0">
                <a:solidFill>
                  <a:srgbClr val="0F172A"/>
                </a:solidFill>
                <a:latin typeface="맑은 고딕"/>
                <a:ea typeface="맑은 고딕"/>
                <a:cs typeface="맑은 고딕"/>
              </a:rPr>
              <a:t>국면에 집중된다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analysis.sql 2절 · 대기·조율 = E2E − 현장 실작업 4.6h − 정산 시스템 처리 5.5h (엄격 정의: start→complete만 작업 시 94.6%)</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08 / 14</a:t>
            </a:r>
          </a:p>
        </p:txBody>
      </p:sp>
      <p:sp>
        <p:nvSpPr>
          <p:cNvPr id="20" name="LeadtimeChartFrame"/>
          <p:cNvSpPr/>
          <p:nvPr/>
        </p:nvSpPr>
        <p:spPr>
          <a:xfrm>
            <a:off x="502920" y="1627632"/>
            <a:ext cx="6858000" cy="2395728"/>
          </a:xfrm>
          <a:prstGeom prst="roundRect">
            <a:avLst>
              <a:gd name="adj" fmla="val 534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국면별 리드타임 구성: 접수 2.1h 전부 대기·조율, 현장 98.3h 중 대기 95.3%, 정산 5.5h 시스템 처리, E2E 105.9h 중 대기·조율 90.5%"/>
          <p:cNvPicPr>
            <a:picLocks noChangeAspect="1"/>
          </p:cNvPicPr>
          <p:nvPr/>
        </p:nvPicPr>
        <p:blipFill>
          <a:blip r:embed="rId2"/>
          <a:stretch>
            <a:fillRect/>
          </a:stretch>
        </p:blipFill>
        <p:spPr>
          <a:xfrm>
            <a:off x="502919" y="1627632"/>
            <a:ext cx="6858000" cy="2395728"/>
          </a:xfrm>
          <a:prstGeom prst="rect">
            <a:avLst/>
          </a:prstGeom>
        </p:spPr>
      </p:pic>
      <p:sp>
        <p:nvSpPr>
          <p:cNvPr id="22" name="KPI-1"/>
          <p:cNvSpPr/>
          <p:nvPr/>
        </p:nvSpPr>
        <p:spPr>
          <a:xfrm>
            <a:off x="7589520" y="1627632"/>
            <a:ext cx="4099255" cy="731520"/>
          </a:xfrm>
          <a:prstGeom prst="roundRect">
            <a:avLst>
              <a:gd name="adj" fmla="val 12500"/>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ill-E2E 전체 대기"/>
          <p:cNvSpPr/>
          <p:nvPr/>
        </p:nvSpPr>
        <p:spPr>
          <a:xfrm>
            <a:off x="7726680" y="1737360"/>
            <a:ext cx="1041654"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E2E 전체 대기</a:t>
            </a:r>
          </a:p>
        </p:txBody>
      </p:sp>
      <p:sp>
        <p:nvSpPr>
          <p:cNvPr id="24" name="TextBox 23"/>
          <p:cNvSpPr txBox="1"/>
          <p:nvPr/>
        </p:nvSpPr>
        <p:spPr>
          <a:xfrm>
            <a:off x="7726680" y="2048256"/>
            <a:ext cx="1828800" cy="237744"/>
          </a:xfrm>
          <a:prstGeom prst="rect">
            <a:avLst/>
          </a:prstGeom>
          <a:noFill/>
        </p:spPr>
        <p:txBody>
          <a:bodyPr wrap="square" lIns="0" tIns="0" rIns="0" bIns="0" anchor="t"/>
          <a:lstStyle/>
          <a:p>
            <a:pPr algn="l" eaLnBrk="0">
              <a:lnSpc>
                <a:spcPct val="100000"/>
              </a:lnSpc>
              <a:spcBef>
                <a:spcPts val="0"/>
              </a:spcBef>
              <a:spcAft>
                <a:spcPts val="0"/>
              </a:spcAft>
              <a:buNone/>
            </a:pPr>
            <a:r>
              <a:rPr sz="1000" b="0" i="0">
                <a:solidFill>
                  <a:srgbClr val="64748B"/>
                </a:solidFill>
                <a:latin typeface="맑은 고딕"/>
                <a:ea typeface="맑은 고딕"/>
                <a:cs typeface="맑은 고딕"/>
              </a:rPr>
              <a:t>공정 간 대기·조율 시간</a:t>
            </a:r>
          </a:p>
        </p:txBody>
      </p:sp>
      <p:sp>
        <p:nvSpPr>
          <p:cNvPr id="25" name="TextBox 24"/>
          <p:cNvSpPr txBox="1"/>
          <p:nvPr/>
        </p:nvSpPr>
        <p:spPr>
          <a:xfrm>
            <a:off x="9418320" y="1664208"/>
            <a:ext cx="2133295" cy="438912"/>
          </a:xfrm>
          <a:prstGeom prst="rect">
            <a:avLst/>
          </a:prstGeom>
          <a:noFill/>
        </p:spPr>
        <p:txBody>
          <a:bodyPr wrap="square" lIns="0" tIns="0" rIns="0" bIns="0" anchor="t"/>
          <a:lstStyle/>
          <a:p>
            <a:pPr algn="r" eaLnBrk="0">
              <a:lnSpc>
                <a:spcPct val="100000"/>
              </a:lnSpc>
              <a:spcBef>
                <a:spcPts val="0"/>
              </a:spcBef>
              <a:spcAft>
                <a:spcPts val="0"/>
              </a:spcAft>
              <a:buNone/>
            </a:pPr>
            <a:r>
              <a:rPr sz="2500" b="1" i="0">
                <a:solidFill>
                  <a:srgbClr val="EA580C"/>
                </a:solidFill>
                <a:latin typeface="Consolas"/>
                <a:ea typeface="맑은 고딕"/>
                <a:cs typeface="맑은 고딕"/>
              </a:rPr>
              <a:t>90.5%</a:t>
            </a:r>
          </a:p>
        </p:txBody>
      </p:sp>
      <p:sp>
        <p:nvSpPr>
          <p:cNvPr id="26" name="TextBox 25"/>
          <p:cNvSpPr txBox="1"/>
          <p:nvPr/>
        </p:nvSpPr>
        <p:spPr>
          <a:xfrm>
            <a:off x="9418320" y="2103120"/>
            <a:ext cx="2133295" cy="219456"/>
          </a:xfrm>
          <a:prstGeom prst="rect">
            <a:avLst/>
          </a:prstGeom>
          <a:noFill/>
        </p:spPr>
        <p:txBody>
          <a:bodyPr wrap="square" lIns="0" tIns="0" rIns="0" bIns="0" anchor="t"/>
          <a:lstStyle/>
          <a:p>
            <a:pPr algn="r" eaLnBrk="0">
              <a:lnSpc>
                <a:spcPct val="100000"/>
              </a:lnSpc>
              <a:spcBef>
                <a:spcPts val="0"/>
              </a:spcBef>
              <a:spcAft>
                <a:spcPts val="0"/>
              </a:spcAft>
              <a:buNone/>
            </a:pPr>
            <a:r>
              <a:rPr sz="950" b="0" i="0">
                <a:solidFill>
                  <a:srgbClr val="475569"/>
                </a:solidFill>
                <a:latin typeface="Consolas"/>
                <a:ea typeface="맑은 고딕"/>
                <a:cs typeface="맑은 고딕"/>
              </a:rPr>
              <a:t>95.8h / 105.9h</a:t>
            </a:r>
          </a:p>
        </p:txBody>
      </p:sp>
      <p:sp>
        <p:nvSpPr>
          <p:cNvPr id="27" name="KPI-2"/>
          <p:cNvSpPr/>
          <p:nvPr/>
        </p:nvSpPr>
        <p:spPr>
          <a:xfrm>
            <a:off x="7589520" y="2459736"/>
            <a:ext cx="4099255" cy="731520"/>
          </a:xfrm>
          <a:prstGeom prst="roundRect">
            <a:avLst>
              <a:gd name="adj" fmla="val 125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ill-현장 국면 편중"/>
          <p:cNvSpPr/>
          <p:nvPr/>
        </p:nvSpPr>
        <p:spPr>
          <a:xfrm>
            <a:off x="7726680" y="2569464"/>
            <a:ext cx="1082675" cy="246888"/>
          </a:xfrm>
          <a:prstGeom prst="roundRect">
            <a:avLst>
              <a:gd name="adj" fmla="val 50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B91C1C"/>
                </a:solidFill>
                <a:latin typeface="맑은 고딕"/>
                <a:ea typeface="맑은 고딕"/>
                <a:cs typeface="맑은 고딕"/>
              </a:rPr>
              <a:t>현장 국면 편중</a:t>
            </a:r>
          </a:p>
        </p:txBody>
      </p:sp>
      <p:sp>
        <p:nvSpPr>
          <p:cNvPr id="29" name="TextBox 28"/>
          <p:cNvSpPr txBox="1"/>
          <p:nvPr/>
        </p:nvSpPr>
        <p:spPr>
          <a:xfrm>
            <a:off x="7726680" y="2880360"/>
            <a:ext cx="1828800" cy="237744"/>
          </a:xfrm>
          <a:prstGeom prst="rect">
            <a:avLst/>
          </a:prstGeom>
          <a:noFill/>
        </p:spPr>
        <p:txBody>
          <a:bodyPr wrap="square" lIns="0" tIns="0" rIns="0" bIns="0" anchor="t"/>
          <a:lstStyle/>
          <a:p>
            <a:pPr algn="l" eaLnBrk="0">
              <a:lnSpc>
                <a:spcPct val="100000"/>
              </a:lnSpc>
              <a:spcBef>
                <a:spcPts val="0"/>
              </a:spcBef>
              <a:spcAft>
                <a:spcPts val="0"/>
              </a:spcAft>
              <a:buNone/>
            </a:pPr>
            <a:r>
              <a:rPr sz="1000" b="0" i="0">
                <a:solidFill>
                  <a:srgbClr val="64748B"/>
                </a:solidFill>
                <a:latin typeface="맑은 고딕"/>
                <a:ea typeface="맑은 고딕"/>
                <a:cs typeface="맑은 고딕"/>
              </a:rPr>
              <a:t>대기·조율의 현장 독점도</a:t>
            </a:r>
          </a:p>
        </p:txBody>
      </p:sp>
      <p:sp>
        <p:nvSpPr>
          <p:cNvPr id="30" name="TextBox 29"/>
          <p:cNvSpPr txBox="1"/>
          <p:nvPr/>
        </p:nvSpPr>
        <p:spPr>
          <a:xfrm>
            <a:off x="9418320" y="2496312"/>
            <a:ext cx="2133295" cy="438912"/>
          </a:xfrm>
          <a:prstGeom prst="rect">
            <a:avLst/>
          </a:prstGeom>
          <a:noFill/>
        </p:spPr>
        <p:txBody>
          <a:bodyPr wrap="square" lIns="0" tIns="0" rIns="0" bIns="0" anchor="t"/>
          <a:lstStyle/>
          <a:p>
            <a:pPr algn="r" eaLnBrk="0">
              <a:lnSpc>
                <a:spcPct val="100000"/>
              </a:lnSpc>
              <a:spcBef>
                <a:spcPts val="0"/>
              </a:spcBef>
              <a:spcAft>
                <a:spcPts val="0"/>
              </a:spcAft>
              <a:buNone/>
            </a:pPr>
            <a:r>
              <a:rPr sz="2500" b="1" i="0">
                <a:solidFill>
                  <a:srgbClr val="DC2626"/>
                </a:solidFill>
                <a:latin typeface="Consolas"/>
                <a:ea typeface="맑은 고딕"/>
                <a:cs typeface="맑은 고딕"/>
              </a:rPr>
              <a:t>97.8%</a:t>
            </a:r>
          </a:p>
        </p:txBody>
      </p:sp>
      <p:sp>
        <p:nvSpPr>
          <p:cNvPr id="31" name="TextBox 30"/>
          <p:cNvSpPr txBox="1"/>
          <p:nvPr/>
        </p:nvSpPr>
        <p:spPr>
          <a:xfrm>
            <a:off x="9418320" y="2935224"/>
            <a:ext cx="2133295" cy="219456"/>
          </a:xfrm>
          <a:prstGeom prst="rect">
            <a:avLst/>
          </a:prstGeom>
          <a:noFill/>
        </p:spPr>
        <p:txBody>
          <a:bodyPr wrap="square" lIns="0" tIns="0" rIns="0" bIns="0" anchor="t"/>
          <a:lstStyle/>
          <a:p>
            <a:pPr algn="r" eaLnBrk="0">
              <a:lnSpc>
                <a:spcPct val="100000"/>
              </a:lnSpc>
              <a:spcBef>
                <a:spcPts val="0"/>
              </a:spcBef>
              <a:spcAft>
                <a:spcPts val="0"/>
              </a:spcAft>
              <a:buNone/>
            </a:pPr>
            <a:r>
              <a:rPr sz="950" b="0" i="0">
                <a:solidFill>
                  <a:srgbClr val="475569"/>
                </a:solidFill>
                <a:latin typeface="Consolas"/>
                <a:ea typeface="맑은 고딕"/>
                <a:cs typeface="맑은 고딕"/>
              </a:rPr>
              <a:t>현장 93.7h / 전체 95.8h</a:t>
            </a:r>
          </a:p>
        </p:txBody>
      </p:sp>
      <p:sp>
        <p:nvSpPr>
          <p:cNvPr id="32" name="KPI-3"/>
          <p:cNvSpPr/>
          <p:nvPr/>
        </p:nvSpPr>
        <p:spPr>
          <a:xfrm>
            <a:off x="7589520" y="3291840"/>
            <a:ext cx="4099255" cy="731520"/>
          </a:xfrm>
          <a:prstGeom prst="roundRect">
            <a:avLst>
              <a:gd name="adj" fmla="val 12500"/>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ill-정산 자동화"/>
          <p:cNvSpPr/>
          <p:nvPr/>
        </p:nvSpPr>
        <p:spPr>
          <a:xfrm>
            <a:off x="7726680" y="3401568"/>
            <a:ext cx="919797"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정산 자동화</a:t>
            </a:r>
          </a:p>
        </p:txBody>
      </p:sp>
      <p:sp>
        <p:nvSpPr>
          <p:cNvPr id="34" name="TextBox 33"/>
          <p:cNvSpPr txBox="1"/>
          <p:nvPr/>
        </p:nvSpPr>
        <p:spPr>
          <a:xfrm>
            <a:off x="7726680" y="3712464"/>
            <a:ext cx="1828800" cy="237744"/>
          </a:xfrm>
          <a:prstGeom prst="rect">
            <a:avLst/>
          </a:prstGeom>
          <a:noFill/>
        </p:spPr>
        <p:txBody>
          <a:bodyPr wrap="square" lIns="0" tIns="0" rIns="0" bIns="0" anchor="t"/>
          <a:lstStyle/>
          <a:p>
            <a:pPr algn="l" eaLnBrk="0">
              <a:lnSpc>
                <a:spcPct val="100000"/>
              </a:lnSpc>
              <a:spcBef>
                <a:spcPts val="0"/>
              </a:spcBef>
              <a:spcAft>
                <a:spcPts val="0"/>
              </a:spcAft>
              <a:buNone/>
            </a:pPr>
            <a:r>
              <a:rPr sz="1000" b="0" i="0">
                <a:solidFill>
                  <a:srgbClr val="64748B"/>
                </a:solidFill>
                <a:latin typeface="맑은 고딕"/>
                <a:ea typeface="맑은 고딕"/>
                <a:cs typeface="맑은 고딕"/>
              </a:rPr>
              <a:t>정산 구간 대기 0.0시간</a:t>
            </a:r>
          </a:p>
        </p:txBody>
      </p:sp>
      <p:sp>
        <p:nvSpPr>
          <p:cNvPr id="35" name="TextBox 34"/>
          <p:cNvSpPr txBox="1"/>
          <p:nvPr/>
        </p:nvSpPr>
        <p:spPr>
          <a:xfrm>
            <a:off x="9418320" y="3328416"/>
            <a:ext cx="2133295" cy="438912"/>
          </a:xfrm>
          <a:prstGeom prst="rect">
            <a:avLst/>
          </a:prstGeom>
          <a:noFill/>
        </p:spPr>
        <p:txBody>
          <a:bodyPr wrap="square" lIns="0" tIns="0" rIns="0" bIns="0" anchor="t"/>
          <a:lstStyle/>
          <a:p>
            <a:pPr algn="r" eaLnBrk="0">
              <a:lnSpc>
                <a:spcPct val="100000"/>
              </a:lnSpc>
              <a:spcBef>
                <a:spcPts val="0"/>
              </a:spcBef>
              <a:spcAft>
                <a:spcPts val="0"/>
              </a:spcAft>
              <a:buNone/>
            </a:pPr>
            <a:r>
              <a:rPr sz="2500" b="1" i="0">
                <a:solidFill>
                  <a:srgbClr val="059669"/>
                </a:solidFill>
                <a:latin typeface="Consolas"/>
                <a:ea typeface="맑은 고딕"/>
                <a:cs typeface="맑은 고딕"/>
              </a:rPr>
              <a:t>0.0h</a:t>
            </a:r>
          </a:p>
        </p:txBody>
      </p:sp>
      <p:sp>
        <p:nvSpPr>
          <p:cNvPr id="36" name="TextBox 35"/>
          <p:cNvSpPr txBox="1"/>
          <p:nvPr/>
        </p:nvSpPr>
        <p:spPr>
          <a:xfrm>
            <a:off x="9418320" y="3767328"/>
            <a:ext cx="2133295" cy="219456"/>
          </a:xfrm>
          <a:prstGeom prst="rect">
            <a:avLst/>
          </a:prstGeom>
          <a:noFill/>
        </p:spPr>
        <p:txBody>
          <a:bodyPr wrap="square" lIns="0" tIns="0" rIns="0" bIns="0" anchor="t"/>
          <a:lstStyle/>
          <a:p>
            <a:pPr algn="r" eaLnBrk="0">
              <a:lnSpc>
                <a:spcPct val="100000"/>
              </a:lnSpc>
              <a:spcBef>
                <a:spcPts val="0"/>
              </a:spcBef>
              <a:spcAft>
                <a:spcPts val="0"/>
              </a:spcAft>
              <a:buNone/>
            </a:pPr>
            <a:r>
              <a:rPr sz="950" b="0" i="0">
                <a:solidFill>
                  <a:srgbClr val="475569"/>
                </a:solidFill>
                <a:latin typeface="Consolas"/>
                <a:ea typeface="맑은 고딕"/>
                <a:cs typeface="맑은 고딕"/>
              </a:rPr>
              <a:t>시스템 자동 처리 5.5h</a:t>
            </a:r>
          </a:p>
        </p:txBody>
      </p:sp>
      <p:sp>
        <p:nvSpPr>
          <p:cNvPr id="37" name="Rounded Rectangle 36"/>
          <p:cNvSpPr/>
          <p:nvPr/>
        </p:nvSpPr>
        <p:spPr>
          <a:xfrm>
            <a:off x="502920" y="4224528"/>
            <a:ext cx="3576218" cy="2066543"/>
          </a:xfrm>
          <a:prstGeom prst="roundRect">
            <a:avLst>
              <a:gd name="adj" fmla="val 530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ill-01 접수 병목"/>
          <p:cNvSpPr/>
          <p:nvPr/>
        </p:nvSpPr>
        <p:spPr>
          <a:xfrm>
            <a:off x="685800" y="4370832"/>
            <a:ext cx="981329"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1E40AF"/>
                </a:solidFill>
                <a:latin typeface="맑은 고딕"/>
                <a:ea typeface="맑은 고딕"/>
                <a:cs typeface="맑은 고딕"/>
              </a:rPr>
              <a:t>01 접수 병목</a:t>
            </a:r>
          </a:p>
        </p:txBody>
      </p:sp>
      <p:sp>
        <p:nvSpPr>
          <p:cNvPr id="39" name="TextBox 38"/>
          <p:cNvSpPr txBox="1"/>
          <p:nvPr/>
        </p:nvSpPr>
        <p:spPr>
          <a:xfrm>
            <a:off x="685800" y="4700016"/>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50" b="1" i="0">
                <a:solidFill>
                  <a:srgbClr val="0F172A"/>
                </a:solidFill>
                <a:latin typeface="맑은 고딕"/>
                <a:ea typeface="맑은 고딕"/>
                <a:cs typeface="맑은 고딕"/>
              </a:rPr>
              <a:t>일정 조율 2.0h (접수 2.1h의 96%)</a:t>
            </a:r>
          </a:p>
        </p:txBody>
      </p:sp>
      <p:sp>
        <p:nvSpPr>
          <p:cNvPr id="40" name="TextBox 39"/>
          <p:cNvSpPr txBox="1"/>
          <p:nvPr/>
        </p:nvSpPr>
        <p:spPr>
          <a:xfrm>
            <a:off x="685800" y="5047488"/>
            <a:ext cx="3210458" cy="1106423"/>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전화·대면(479건): 평균 0.06h, 15분 내 완결</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웹·우편(448건): 평균 4.5h·3.6h — 중앙값은</a:t>
            </a:r>
            <a:br/>
            <a:r>
              <a:rPr sz="1100" b="0" i="0">
                <a:solidFill>
                  <a:srgbClr val="475569"/>
                </a:solidFill>
                <a:latin typeface="맑은 고딕"/>
                <a:ea typeface="맑은 고딕"/>
                <a:cs typeface="맑은 고딕"/>
              </a:rPr>
              <a:t>4분, 일부 케이스에 집중</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교차 인계 123건 발생 시 6.6배 폭증 (1.2h ➔</a:t>
            </a:r>
            <a:br/>
            <a:r>
              <a:rPr sz="1100" b="0" i="0">
                <a:solidFill>
                  <a:srgbClr val="475569"/>
                </a:solidFill>
                <a:latin typeface="맑은 고딕"/>
                <a:ea typeface="맑은 고딕"/>
                <a:cs typeface="맑은 고딕"/>
              </a:rPr>
              <a:t>7.9h)</a:t>
            </a:r>
          </a:p>
        </p:txBody>
      </p:sp>
      <p:sp>
        <p:nvSpPr>
          <p:cNvPr id="41" name="Rounded Rectangle 40"/>
          <p:cNvSpPr/>
          <p:nvPr/>
        </p:nvSpPr>
        <p:spPr>
          <a:xfrm>
            <a:off x="4307738" y="4224528"/>
            <a:ext cx="3576218" cy="2066543"/>
          </a:xfrm>
          <a:prstGeom prst="roundRect">
            <a:avLst>
              <a:gd name="adj" fmla="val 5309"/>
            </a:avLst>
          </a:prstGeom>
          <a:solidFill>
            <a:srgbClr val="FFFFFF"/>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ill-02 현장 1위 병목"/>
          <p:cNvSpPr/>
          <p:nvPr/>
        </p:nvSpPr>
        <p:spPr>
          <a:xfrm>
            <a:off x="4490618" y="4370832"/>
            <a:ext cx="1214183" cy="246888"/>
          </a:xfrm>
          <a:prstGeom prst="roundRect">
            <a:avLst>
              <a:gd name="adj" fmla="val 50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B91C1C"/>
                </a:solidFill>
                <a:latin typeface="맑은 고딕"/>
                <a:ea typeface="맑은 고딕"/>
                <a:cs typeface="맑은 고딕"/>
              </a:rPr>
              <a:t>02 현장 1위 병목</a:t>
            </a:r>
          </a:p>
        </p:txBody>
      </p:sp>
      <p:sp>
        <p:nvSpPr>
          <p:cNvPr id="43" name="TextBox 42"/>
          <p:cNvSpPr txBox="1"/>
          <p:nvPr/>
        </p:nvSpPr>
        <p:spPr>
          <a:xfrm>
            <a:off x="4490618" y="4700016"/>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50" b="1" i="0">
                <a:solidFill>
                  <a:srgbClr val="DC2626"/>
                </a:solidFill>
                <a:latin typeface="맑은 고딕"/>
                <a:ea typeface="맑은 고딕"/>
                <a:cs typeface="맑은 고딕"/>
              </a:rPr>
              <a:t>실사 방문 대기 76.8h</a:t>
            </a:r>
          </a:p>
        </p:txBody>
      </p:sp>
      <p:sp>
        <p:nvSpPr>
          <p:cNvPr id="44" name="TextBox 43"/>
          <p:cNvSpPr txBox="1"/>
          <p:nvPr/>
        </p:nvSpPr>
        <p:spPr>
          <a:xfrm>
            <a:off x="4490618" y="5047488"/>
            <a:ext cx="3210458" cy="1106423"/>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현장 소요시간 98.3h 중 78.2% 독점 (압도적</a:t>
            </a:r>
            <a:br/>
            <a:r>
              <a:rPr sz="1100" b="0" i="0">
                <a:solidFill>
                  <a:srgbClr val="475569"/>
                </a:solidFill>
                <a:latin typeface="맑은 고딕"/>
                <a:ea typeface="맑은 고딕"/>
                <a:cs typeface="맑은 고딕"/>
              </a:rPr>
              <a:t>1위)</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일 유입 134건 vs 기사 CAPA 68건 (소화율</a:t>
            </a:r>
            <a:br/>
            <a:r>
              <a:rPr sz="1100" b="0" i="0">
                <a:solidFill>
                  <a:srgbClr val="475569"/>
                </a:solidFill>
                <a:latin typeface="맑은 고딕"/>
                <a:ea typeface="맑은 고딕"/>
                <a:cs typeface="맑은 고딕"/>
              </a:rPr>
              <a:t>51%)</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매일 66건 누적 ➔ 피크 시 403건 미처리</a:t>
            </a:r>
            <a:br/>
            <a:r>
              <a:rPr sz="1100" b="0" i="0">
                <a:solidFill>
                  <a:srgbClr val="475569"/>
                </a:solidFill>
                <a:latin typeface="맑은 고딕"/>
                <a:ea typeface="맑은 고딕"/>
                <a:cs typeface="맑은 고딕"/>
              </a:rPr>
              <a:t>적체(WIP)</a:t>
            </a:r>
          </a:p>
        </p:txBody>
      </p:sp>
      <p:sp>
        <p:nvSpPr>
          <p:cNvPr id="45" name="Rounded Rectangle 44"/>
          <p:cNvSpPr/>
          <p:nvPr/>
        </p:nvSpPr>
        <p:spPr>
          <a:xfrm>
            <a:off x="8112556" y="4224528"/>
            <a:ext cx="3576218" cy="2066543"/>
          </a:xfrm>
          <a:prstGeom prst="roundRect">
            <a:avLst>
              <a:gd name="adj" fmla="val 530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ill-03 현장 수리 병목"/>
          <p:cNvSpPr/>
          <p:nvPr/>
        </p:nvSpPr>
        <p:spPr>
          <a:xfrm>
            <a:off x="8295436" y="4370832"/>
            <a:ext cx="1264856"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03 현장 수리 병목</a:t>
            </a:r>
          </a:p>
        </p:txBody>
      </p:sp>
      <p:sp>
        <p:nvSpPr>
          <p:cNvPr id="47" name="TextBox 46"/>
          <p:cNvSpPr txBox="1"/>
          <p:nvPr/>
        </p:nvSpPr>
        <p:spPr>
          <a:xfrm>
            <a:off x="8295436" y="4700016"/>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50" b="1" i="0">
                <a:solidFill>
                  <a:srgbClr val="0F172A"/>
                </a:solidFill>
                <a:latin typeface="맑은 고딕"/>
                <a:ea typeface="맑은 고딕"/>
                <a:cs typeface="맑은 고딕"/>
              </a:rPr>
              <a:t>자재 대기 30.5h &amp; 하자 루프</a:t>
            </a:r>
          </a:p>
        </p:txBody>
      </p:sp>
      <p:sp>
        <p:nvSpPr>
          <p:cNvPr id="48" name="TextBox 47"/>
          <p:cNvSpPr txBox="1"/>
          <p:nvPr/>
        </p:nvSpPr>
        <p:spPr>
          <a:xfrm>
            <a:off x="8295436" y="5047488"/>
            <a:ext cx="3210458" cy="1106423"/>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즉시·외주 대기 0.0h, 사내수리만 부품 대기</a:t>
            </a:r>
            <a:br/>
            <a:r>
              <a:rPr sz="1100" b="0" i="0">
                <a:solidFill>
                  <a:srgbClr val="475569"/>
                </a:solidFill>
                <a:latin typeface="맑은 고딕"/>
                <a:ea typeface="맑은 고딕"/>
                <a:cs typeface="맑은 고딕"/>
              </a:rPr>
              <a:t>30.5h</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하자 재방문 26건 ➔ 평균 +32.9시간 추가 대기</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재수리 시 최대 10.1일(241.6h) 장기 억류</a:t>
            </a:r>
          </a:p>
        </p:txBody>
      </p:sp>
      <p:sp>
        <p:nvSpPr>
          <p:cNvPr id="49" name="Nav-1">
            <a:hlinkClick action="ppaction://hlinksldjump" r:id="rId4"/>
          </p:cNvPr>
          <p:cNvSpPr/>
          <p:nvPr/>
        </p:nvSpPr>
        <p:spPr>
          <a:xfrm>
            <a:off x="9201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Nav-2">
            <a:hlinkClick action="ppaction://hlinksldjump" r:id="rId5"/>
          </p:cNvPr>
          <p:cNvSpPr/>
          <p:nvPr/>
        </p:nvSpPr>
        <p:spPr>
          <a:xfrm>
            <a:off x="9315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Nav-3">
            <a:hlinkClick action="ppaction://hlinksldjump" r:id="rId6"/>
          </p:cNvPr>
          <p:cNvSpPr/>
          <p:nvPr/>
        </p:nvSpPr>
        <p:spPr>
          <a:xfrm>
            <a:off x="9430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Nav-4">
            <a:hlinkClick action="ppaction://hlinksldjump" r:id="rId7"/>
          </p:cNvPr>
          <p:cNvSpPr/>
          <p:nvPr/>
        </p:nvSpPr>
        <p:spPr>
          <a:xfrm>
            <a:off x="9544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Nav-5">
            <a:hlinkClick action="ppaction://hlinksldjump" r:id="rId8"/>
          </p:cNvPr>
          <p:cNvSpPr/>
          <p:nvPr/>
        </p:nvSpPr>
        <p:spPr>
          <a:xfrm>
            <a:off x="96588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Nav-6">
            <a:hlinkClick action="ppaction://hlinksldjump" r:id="rId9"/>
          </p:cNvPr>
          <p:cNvSpPr/>
          <p:nvPr/>
        </p:nvSpPr>
        <p:spPr>
          <a:xfrm>
            <a:off x="97731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Nav-7">
            <a:hlinkClick action="ppaction://hlinksldjump" r:id="rId10"/>
          </p:cNvPr>
          <p:cNvSpPr/>
          <p:nvPr/>
        </p:nvSpPr>
        <p:spPr>
          <a:xfrm>
            <a:off x="98874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Nav-8">
            <a:hlinkClick action="ppaction://hlinksldjump" r:id="rId11"/>
          </p:cNvPr>
          <p:cNvSpPr/>
          <p:nvPr/>
        </p:nvSpPr>
        <p:spPr>
          <a:xfrm>
            <a:off x="100017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Nav-9">
            <a:hlinkClick action="ppaction://hlinksldjump" r:id="rId12"/>
          </p:cNvPr>
          <p:cNvSpPr/>
          <p:nvPr/>
        </p:nvSpPr>
        <p:spPr>
          <a:xfrm>
            <a:off x="101160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av-10">
            <a:hlinkClick action="ppaction://hlinksldjump" r:id="rId13"/>
          </p:cNvPr>
          <p:cNvSpPr/>
          <p:nvPr/>
        </p:nvSpPr>
        <p:spPr>
          <a:xfrm>
            <a:off x="102303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Nav-11">
            <a:hlinkClick action="ppaction://hlinksldjump" r:id="rId14"/>
          </p:cNvPr>
          <p:cNvSpPr/>
          <p:nvPr/>
        </p:nvSpPr>
        <p:spPr>
          <a:xfrm>
            <a:off x="10344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Nav-12">
            <a:hlinkClick action="ppaction://hlinksldjump" r:id="rId15"/>
          </p:cNvPr>
          <p:cNvSpPr/>
          <p:nvPr/>
        </p:nvSpPr>
        <p:spPr>
          <a:xfrm>
            <a:off x="10458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Nav-13">
            <a:hlinkClick action="ppaction://hlinksldjump" r:id="rId16"/>
          </p:cNvPr>
          <p:cNvSpPr/>
          <p:nvPr/>
        </p:nvSpPr>
        <p:spPr>
          <a:xfrm>
            <a:off x="10573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Nav-14">
            <a:hlinkClick action="ppaction://hlinksldjump" r:id="rId17"/>
          </p:cNvPr>
          <p:cNvSpPr/>
          <p:nvPr/>
        </p:nvSpPr>
        <p:spPr>
          <a:xfrm>
            <a:off x="10687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77558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02 · 질문 2-2 | 제1대 병목 (접수 국면)</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접수 지연은 물량 과부하가 아닌 '교차 인계(123건)'에서 비롯되며, 비실시간</a:t>
            </a:r>
            <a:br/>
            <a:r>
              <a:rPr sz="2400" b="1" i="0">
                <a:solidFill>
                  <a:srgbClr val="0F172A"/>
                </a:solidFill>
                <a:latin typeface="맑은 고딕"/>
                <a:ea typeface="맑은 고딕"/>
                <a:cs typeface="맑은 고딕"/>
              </a:rPr>
              <a:t>채널 공백이 6.6배 폭증을 유발했다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analysis.sql 접수 단독 OLS (R² = 0.300, F = 131.9, p &lt; 0.001) · 접수 모델 VIF ≤ 1.20 · 15분 이내 = 접수 소요 ≤ 15분</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09 / 14</a:t>
            </a:r>
          </a:p>
        </p:txBody>
      </p:sp>
      <p:sp>
        <p:nvSpPr>
          <p:cNvPr id="20" name="ReceptionChartFrame"/>
          <p:cNvSpPr/>
          <p:nvPr/>
        </p:nvSpPr>
        <p:spPr>
          <a:xfrm>
            <a:off x="502920" y="1627632"/>
            <a:ext cx="11185855" cy="2176272"/>
          </a:xfrm>
          <a:prstGeom prst="roundRect">
            <a:avLst>
              <a:gd name="adj" fmla="val 588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접수 3패널: 인계 여부별 소요시간 1.2h 대 7.9h, 채널별 완료 속도 분포, 15분 이내 완료 건 평균 소요시간"/>
          <p:cNvPicPr>
            <a:picLocks noChangeAspect="1"/>
          </p:cNvPicPr>
          <p:nvPr/>
        </p:nvPicPr>
        <p:blipFill>
          <a:blip r:embed="rId2"/>
          <a:stretch>
            <a:fillRect/>
          </a:stretch>
        </p:blipFill>
        <p:spPr>
          <a:xfrm>
            <a:off x="679486" y="1655064"/>
            <a:ext cx="10832721" cy="2121408"/>
          </a:xfrm>
          <a:prstGeom prst="rect">
            <a:avLst/>
          </a:prstGeom>
        </p:spPr>
      </p:pic>
      <p:sp>
        <p:nvSpPr>
          <p:cNvPr id="22" name="Rounded Rectangle 21"/>
          <p:cNvSpPr/>
          <p:nvPr/>
        </p:nvSpPr>
        <p:spPr>
          <a:xfrm>
            <a:off x="502920" y="3931920"/>
            <a:ext cx="3576218" cy="2359152"/>
          </a:xfrm>
          <a:prstGeom prst="roundRect">
            <a:avLst>
              <a:gd name="adj" fmla="val 465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ill-가설 기각"/>
          <p:cNvSpPr/>
          <p:nvPr/>
        </p:nvSpPr>
        <p:spPr>
          <a:xfrm>
            <a:off x="685800" y="4078224"/>
            <a:ext cx="799147"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가설 기각</a:t>
            </a:r>
          </a:p>
        </p:txBody>
      </p:sp>
      <p:sp>
        <p:nvSpPr>
          <p:cNvPr id="24" name="TextBox 23"/>
          <p:cNvSpPr txBox="1"/>
          <p:nvPr/>
        </p:nvSpPr>
        <p:spPr>
          <a:xfrm>
            <a:off x="685800" y="4407408"/>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0F172A"/>
                </a:solidFill>
                <a:latin typeface="맑은 고딕"/>
                <a:ea typeface="맑은 고딕"/>
                <a:cs typeface="맑은 고딕"/>
              </a:rPr>
              <a:t>물량 과부하 가설 완전 기각</a:t>
            </a:r>
          </a:p>
        </p:txBody>
      </p:sp>
      <p:sp>
        <p:nvSpPr>
          <p:cNvPr id="25" name="TextBox 24"/>
          <p:cNvSpPr txBox="1"/>
          <p:nvPr/>
        </p:nvSpPr>
        <p:spPr>
          <a:xfrm>
            <a:off x="685800" y="4754880"/>
            <a:ext cx="3210458" cy="374395"/>
          </a:xfrm>
          <a:prstGeom prst="rect">
            <a:avLst/>
          </a:prstGeom>
          <a:noFill/>
        </p:spPr>
        <p:txBody>
          <a:bodyPr wrap="square" lIns="0" tIns="0" rIns="0" bIns="0" anchor="t"/>
          <a:lstStyle/>
          <a:p>
            <a:pPr algn="l" eaLnBrk="0">
              <a:lnSpc>
                <a:spcPct val="100000"/>
              </a:lnSpc>
              <a:spcBef>
                <a:spcPts val="0"/>
              </a:spcBef>
              <a:spcAft>
                <a:spcPts val="0"/>
              </a:spcAft>
              <a:buNone/>
            </a:pPr>
            <a:r>
              <a:rPr sz="1900" b="1" i="0">
                <a:solidFill>
                  <a:srgbClr val="334155"/>
                </a:solidFill>
                <a:latin typeface="Consolas"/>
                <a:ea typeface="맑은 고딕"/>
                <a:cs typeface="맑은 고딕"/>
              </a:rPr>
              <a:t>r = 0.01</a:t>
            </a:r>
          </a:p>
        </p:txBody>
      </p:sp>
      <p:sp>
        <p:nvSpPr>
          <p:cNvPr id="26" name="TextBox 25"/>
          <p:cNvSpPr txBox="1"/>
          <p:nvPr/>
        </p:nvSpPr>
        <p:spPr>
          <a:xfrm>
            <a:off x="685800" y="5202428"/>
            <a:ext cx="3210458" cy="951483"/>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일일 인입량(10~141건)과 소요시간은 무상관</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다중 OLS 계수 p = 0.752 (비유의)</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창구 처리 용량(CAPA) 부족이 원인이 아님</a:t>
            </a:r>
          </a:p>
        </p:txBody>
      </p:sp>
      <p:sp>
        <p:nvSpPr>
          <p:cNvPr id="27" name="Rounded Rectangle 26"/>
          <p:cNvSpPr/>
          <p:nvPr/>
        </p:nvSpPr>
        <p:spPr>
          <a:xfrm>
            <a:off x="4307738" y="3931920"/>
            <a:ext cx="3576218" cy="2359152"/>
          </a:xfrm>
          <a:prstGeom prst="roundRect">
            <a:avLst>
              <a:gd name="adj" fmla="val 4651"/>
            </a:avLst>
          </a:prstGeom>
          <a:solidFill>
            <a:srgbClr val="FFFFFF"/>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ill-핵심 원인"/>
          <p:cNvSpPr/>
          <p:nvPr/>
        </p:nvSpPr>
        <p:spPr>
          <a:xfrm>
            <a:off x="4490618" y="4078224"/>
            <a:ext cx="799147"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핵심 원인</a:t>
            </a:r>
          </a:p>
        </p:txBody>
      </p:sp>
      <p:sp>
        <p:nvSpPr>
          <p:cNvPr id="29" name="TextBox 28"/>
          <p:cNvSpPr txBox="1"/>
          <p:nvPr/>
        </p:nvSpPr>
        <p:spPr>
          <a:xfrm>
            <a:off x="4490618" y="4407408"/>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EA580C"/>
                </a:solidFill>
                <a:latin typeface="맑은 고딕"/>
                <a:ea typeface="맑은 고딕"/>
                <a:cs typeface="맑은 고딕"/>
              </a:rPr>
              <a:t>교차 인계 시 6.6배 시간 폭증</a:t>
            </a:r>
          </a:p>
        </p:txBody>
      </p:sp>
      <p:sp>
        <p:nvSpPr>
          <p:cNvPr id="30" name="TextBox 29"/>
          <p:cNvSpPr txBox="1"/>
          <p:nvPr/>
        </p:nvSpPr>
        <p:spPr>
          <a:xfrm>
            <a:off x="4490618" y="4754880"/>
            <a:ext cx="3210458" cy="374395"/>
          </a:xfrm>
          <a:prstGeom prst="rect">
            <a:avLst/>
          </a:prstGeom>
          <a:noFill/>
        </p:spPr>
        <p:txBody>
          <a:bodyPr wrap="square" lIns="0" tIns="0" rIns="0" bIns="0" anchor="t"/>
          <a:lstStyle/>
          <a:p>
            <a:pPr algn="l" eaLnBrk="0">
              <a:lnSpc>
                <a:spcPct val="100000"/>
              </a:lnSpc>
              <a:spcBef>
                <a:spcPts val="0"/>
              </a:spcBef>
              <a:spcAft>
                <a:spcPts val="0"/>
              </a:spcAft>
              <a:buNone/>
            </a:pPr>
            <a:r>
              <a:rPr sz="1900" b="1" i="0">
                <a:solidFill>
                  <a:srgbClr val="EA580C"/>
                </a:solidFill>
                <a:latin typeface="Consolas"/>
                <a:ea typeface="맑은 고딕"/>
                <a:cs typeface="맑은 고딕"/>
              </a:rPr>
              <a:t>6.6배 (+6.7h)</a:t>
            </a:r>
          </a:p>
        </p:txBody>
      </p:sp>
      <p:sp>
        <p:nvSpPr>
          <p:cNvPr id="31" name="TextBox 30"/>
          <p:cNvSpPr txBox="1"/>
          <p:nvPr/>
        </p:nvSpPr>
        <p:spPr>
          <a:xfrm>
            <a:off x="4490618" y="5202428"/>
            <a:ext cx="3210458" cy="951483"/>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단독 처리군(804건): 평균 1.2h (중앙값 8분)</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교차 인계군(123건): 평균 7.9h (중앙값 5.6h)</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인계 123건 전수가 웹 69건·우편 54건에서</a:t>
            </a:r>
            <a:br/>
            <a:r>
              <a:rPr sz="1100" b="0" i="0">
                <a:solidFill>
                  <a:srgbClr val="475569"/>
                </a:solidFill>
                <a:latin typeface="맑은 고딕"/>
                <a:ea typeface="맑은 고딕"/>
                <a:cs typeface="맑은 고딕"/>
              </a:rPr>
              <a:t>발생</a:t>
            </a:r>
          </a:p>
        </p:txBody>
      </p:sp>
      <p:sp>
        <p:nvSpPr>
          <p:cNvPr id="32" name="Rounded Rectangle 31"/>
          <p:cNvSpPr/>
          <p:nvPr/>
        </p:nvSpPr>
        <p:spPr>
          <a:xfrm>
            <a:off x="8112556" y="3931920"/>
            <a:ext cx="3576218" cy="2359152"/>
          </a:xfrm>
          <a:prstGeom prst="roundRect">
            <a:avLst>
              <a:gd name="adj" fmla="val 4651"/>
            </a:avLst>
          </a:prstGeom>
          <a:solidFill>
            <a:srgbClr val="FFFFFF"/>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ill-반전 통찰"/>
          <p:cNvSpPr/>
          <p:nvPr/>
        </p:nvSpPr>
        <p:spPr>
          <a:xfrm>
            <a:off x="8295436" y="4078224"/>
            <a:ext cx="799147"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반전 통찰</a:t>
            </a:r>
          </a:p>
        </p:txBody>
      </p:sp>
      <p:sp>
        <p:nvSpPr>
          <p:cNvPr id="34" name="TextBox 33"/>
          <p:cNvSpPr txBox="1"/>
          <p:nvPr/>
        </p:nvSpPr>
        <p:spPr>
          <a:xfrm>
            <a:off x="8295436" y="4407408"/>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047857"/>
                </a:solidFill>
                <a:latin typeface="맑은 고딕"/>
                <a:ea typeface="맑은 고딕"/>
                <a:cs typeface="맑은 고딕"/>
              </a:rPr>
              <a:t>Web 채널 6.8분의 본질적 우수성</a:t>
            </a:r>
          </a:p>
        </p:txBody>
      </p:sp>
      <p:sp>
        <p:nvSpPr>
          <p:cNvPr id="35" name="TextBox 34"/>
          <p:cNvSpPr txBox="1"/>
          <p:nvPr/>
        </p:nvSpPr>
        <p:spPr>
          <a:xfrm>
            <a:off x="8295436" y="4754880"/>
            <a:ext cx="3210458" cy="374395"/>
          </a:xfrm>
          <a:prstGeom prst="rect">
            <a:avLst/>
          </a:prstGeom>
          <a:noFill/>
        </p:spPr>
        <p:txBody>
          <a:bodyPr wrap="square" lIns="0" tIns="0" rIns="0" bIns="0" anchor="t"/>
          <a:lstStyle/>
          <a:p>
            <a:pPr algn="l" eaLnBrk="0">
              <a:lnSpc>
                <a:spcPct val="100000"/>
              </a:lnSpc>
              <a:spcBef>
                <a:spcPts val="0"/>
              </a:spcBef>
              <a:spcAft>
                <a:spcPts val="0"/>
              </a:spcAft>
              <a:buNone/>
            </a:pPr>
            <a:r>
              <a:rPr sz="1900" b="1" i="0">
                <a:solidFill>
                  <a:srgbClr val="059669"/>
                </a:solidFill>
                <a:latin typeface="Consolas"/>
                <a:ea typeface="맑은 고딕"/>
                <a:cs typeface="맑은 고딕"/>
              </a:rPr>
              <a:t>6.8분 (최속)</a:t>
            </a:r>
          </a:p>
        </p:txBody>
      </p:sp>
      <p:sp>
        <p:nvSpPr>
          <p:cNvPr id="36" name="TextBox 35"/>
          <p:cNvSpPr txBox="1"/>
          <p:nvPr/>
        </p:nvSpPr>
        <p:spPr>
          <a:xfrm>
            <a:off x="8295436" y="5202428"/>
            <a:ext cx="3210458" cy="951483"/>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15분 내 완료 건: 웹 6.8분 &lt; 전화 8.2분</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웹 시스템이 아닌 '일정 조율 공백'이 원인</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Direct Booking(자가 일정 확정)으로 제거</a:t>
            </a:r>
          </a:p>
        </p:txBody>
      </p:sp>
      <p:sp>
        <p:nvSpPr>
          <p:cNvPr id="37" name="Nav-1">
            <a:hlinkClick action="ppaction://hlinksldjump" r:id="rId4"/>
          </p:cNvPr>
          <p:cNvSpPr/>
          <p:nvPr/>
        </p:nvSpPr>
        <p:spPr>
          <a:xfrm>
            <a:off x="9201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Nav-2">
            <a:hlinkClick action="ppaction://hlinksldjump" r:id="rId5"/>
          </p:cNvPr>
          <p:cNvSpPr/>
          <p:nvPr/>
        </p:nvSpPr>
        <p:spPr>
          <a:xfrm>
            <a:off x="9315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Nav-3">
            <a:hlinkClick action="ppaction://hlinksldjump" r:id="rId6"/>
          </p:cNvPr>
          <p:cNvSpPr/>
          <p:nvPr/>
        </p:nvSpPr>
        <p:spPr>
          <a:xfrm>
            <a:off x="9430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Nav-4">
            <a:hlinkClick action="ppaction://hlinksldjump" r:id="rId7"/>
          </p:cNvPr>
          <p:cNvSpPr/>
          <p:nvPr/>
        </p:nvSpPr>
        <p:spPr>
          <a:xfrm>
            <a:off x="9544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Nav-5">
            <a:hlinkClick action="ppaction://hlinksldjump" r:id="rId8"/>
          </p:cNvPr>
          <p:cNvSpPr/>
          <p:nvPr/>
        </p:nvSpPr>
        <p:spPr>
          <a:xfrm>
            <a:off x="96588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Nav-6">
            <a:hlinkClick action="ppaction://hlinksldjump" r:id="rId9"/>
          </p:cNvPr>
          <p:cNvSpPr/>
          <p:nvPr/>
        </p:nvSpPr>
        <p:spPr>
          <a:xfrm>
            <a:off x="97731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Nav-7">
            <a:hlinkClick action="ppaction://hlinksldjump" r:id="rId10"/>
          </p:cNvPr>
          <p:cNvSpPr/>
          <p:nvPr/>
        </p:nvSpPr>
        <p:spPr>
          <a:xfrm>
            <a:off x="98874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Nav-8">
            <a:hlinkClick action="ppaction://hlinksldjump" r:id="rId11"/>
          </p:cNvPr>
          <p:cNvSpPr/>
          <p:nvPr/>
        </p:nvSpPr>
        <p:spPr>
          <a:xfrm>
            <a:off x="100017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Nav-9">
            <a:hlinkClick action="ppaction://hlinksldjump" r:id="rId12"/>
          </p:cNvPr>
          <p:cNvSpPr/>
          <p:nvPr/>
        </p:nvSpPr>
        <p:spPr>
          <a:xfrm>
            <a:off x="101160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Nav-10">
            <a:hlinkClick action="ppaction://hlinksldjump" r:id="rId13"/>
          </p:cNvPr>
          <p:cNvSpPr/>
          <p:nvPr/>
        </p:nvSpPr>
        <p:spPr>
          <a:xfrm>
            <a:off x="102303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Nav-11">
            <a:hlinkClick action="ppaction://hlinksldjump" r:id="rId14"/>
          </p:cNvPr>
          <p:cNvSpPr/>
          <p:nvPr/>
        </p:nvSpPr>
        <p:spPr>
          <a:xfrm>
            <a:off x="10344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Nav-12">
            <a:hlinkClick action="ppaction://hlinksldjump" r:id="rId15"/>
          </p:cNvPr>
          <p:cNvSpPr/>
          <p:nvPr/>
        </p:nvSpPr>
        <p:spPr>
          <a:xfrm>
            <a:off x="10458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av-13">
            <a:hlinkClick action="ppaction://hlinksldjump" r:id="rId16"/>
          </p:cNvPr>
          <p:cNvSpPr/>
          <p:nvPr/>
        </p:nvSpPr>
        <p:spPr>
          <a:xfrm>
            <a:off x="10573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Nav-14">
            <a:hlinkClick action="ppaction://hlinksldjump" r:id="rId17"/>
          </p:cNvPr>
          <p:cNvSpPr/>
          <p:nvPr/>
        </p:nvSpPr>
        <p:spPr>
          <a:xfrm>
            <a:off x="10687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77558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02 · 질문 2-2 | 제2대 병목 (현장 국면)</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현장 소요시간(98.3h)의 95.3%가 대기이며, 기사 CAPA를 2배 넘는 유입이</a:t>
            </a:r>
            <a:br/>
            <a:r>
              <a:rPr sz="2400" b="1" i="0">
                <a:solidFill>
                  <a:srgbClr val="0F172A"/>
                </a:solidFill>
                <a:latin typeface="맑은 고딕"/>
                <a:ea typeface="맑은 고딕"/>
                <a:cs typeface="맑은 고딕"/>
              </a:rPr>
              <a:t>403건의 미처리 적체(WIP)를 만들었다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analysis.sql 2-3(Wait 1·2), 3-1~3-5(일별 유입 vs CAPA, WIP) · 유입 = 1/2~1/7 일평균 현장 이관, CAPA = 1/1~1/8 일평균 실사 착수</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10 / 14</a:t>
            </a:r>
          </a:p>
        </p:txBody>
      </p:sp>
      <p:sp>
        <p:nvSpPr>
          <p:cNvPr id="20" name="FieldDonutCard"/>
          <p:cNvSpPr/>
          <p:nvPr/>
        </p:nvSpPr>
        <p:spPr>
          <a:xfrm>
            <a:off x="502920" y="1627632"/>
            <a:ext cx="4572000" cy="4663440"/>
          </a:xfrm>
          <a:prstGeom prst="roundRect">
            <a:avLst>
              <a:gd name="adj" fmla="val 28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1737360"/>
            <a:ext cx="4206240" cy="256032"/>
          </a:xfrm>
          <a:prstGeom prst="rect">
            <a:avLst/>
          </a:prstGeom>
          <a:noFill/>
        </p:spPr>
        <p:txBody>
          <a:bodyPr wrap="square" lIns="0" tIns="0" rIns="0" bIns="0" anchor="t"/>
          <a:lstStyle/>
          <a:p>
            <a:pPr algn="l" eaLnBrk="0">
              <a:lnSpc>
                <a:spcPct val="100000"/>
              </a:lnSpc>
              <a:spcBef>
                <a:spcPts val="0"/>
              </a:spcBef>
              <a:spcAft>
                <a:spcPts val="0"/>
              </a:spcAft>
              <a:buNone/>
            </a:pPr>
            <a:r>
              <a:rPr sz="1200" b="1" i="0">
                <a:solidFill>
                  <a:srgbClr val="0F172A"/>
                </a:solidFill>
                <a:latin typeface="맑은 고딕"/>
                <a:ea typeface="맑은 고딕"/>
                <a:cs typeface="맑은 고딕"/>
              </a:rPr>
              <a:t>현장 소요시간 98.3h 구조 분해</a:t>
            </a:r>
          </a:p>
        </p:txBody>
      </p:sp>
      <p:pic>
        <p:nvPicPr>
          <p:cNvPr id="22" name="Picture 21" descr="현장 98.3시간 4대 소요시간 구조: 실사 방문 대기 78.2%, 수리 착수·공정 대기 17.2%, 본수리 4.0%, 실사 점검 0.7%"/>
          <p:cNvPicPr>
            <a:picLocks noChangeAspect="1"/>
          </p:cNvPicPr>
          <p:nvPr/>
        </p:nvPicPr>
        <p:blipFill>
          <a:blip r:embed="rId2"/>
          <a:stretch>
            <a:fillRect/>
          </a:stretch>
        </p:blipFill>
        <p:spPr>
          <a:xfrm>
            <a:off x="1616026" y="1993392"/>
            <a:ext cx="2345787" cy="2103120"/>
          </a:xfrm>
          <a:prstGeom prst="rect">
            <a:avLst/>
          </a:prstGeom>
        </p:spPr>
      </p:pic>
      <p:sp>
        <p:nvSpPr>
          <p:cNvPr id="23" name="Strip-1"/>
          <p:cNvSpPr/>
          <p:nvPr/>
        </p:nvSpPr>
        <p:spPr>
          <a:xfrm>
            <a:off x="667512" y="4187952"/>
            <a:ext cx="4242816" cy="438912"/>
          </a:xfrm>
          <a:prstGeom prst="roundRect">
            <a:avLst>
              <a:gd name="adj" fmla="val 16666"/>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7240" y="4334256"/>
            <a:ext cx="146304" cy="14630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187952"/>
            <a:ext cx="2377440" cy="438912"/>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① 실사 방문 대기 (Wait 1)</a:t>
            </a:r>
          </a:p>
        </p:txBody>
      </p:sp>
      <p:sp>
        <p:nvSpPr>
          <p:cNvPr id="26" name="TextBox 25"/>
          <p:cNvSpPr txBox="1"/>
          <p:nvPr/>
        </p:nvSpPr>
        <p:spPr>
          <a:xfrm>
            <a:off x="3200400" y="4187952"/>
            <a:ext cx="1618487" cy="438912"/>
          </a:xfrm>
          <a:prstGeom prst="rect">
            <a:avLst/>
          </a:prstGeom>
          <a:noFill/>
        </p:spPr>
        <p:txBody>
          <a:bodyPr wrap="square" lIns="0" tIns="0" rIns="0" bIns="0" anchor="ctr"/>
          <a:lstStyle/>
          <a:p>
            <a:pPr algn="r" eaLnBrk="0">
              <a:lnSpc>
                <a:spcPct val="100000"/>
              </a:lnSpc>
              <a:spcBef>
                <a:spcPts val="0"/>
              </a:spcBef>
              <a:spcAft>
                <a:spcPts val="0"/>
              </a:spcAft>
              <a:buNone/>
            </a:pPr>
            <a:r>
              <a:rPr sz="1050" b="1" i="0">
                <a:solidFill>
                  <a:srgbClr val="DC2626"/>
                </a:solidFill>
                <a:latin typeface="Consolas"/>
                <a:ea typeface="맑은 고딕"/>
                <a:cs typeface="맑은 고딕"/>
              </a:rPr>
              <a:t>76.81h (78.2%)</a:t>
            </a:r>
          </a:p>
        </p:txBody>
      </p:sp>
      <p:sp>
        <p:nvSpPr>
          <p:cNvPr id="27" name="Strip-2"/>
          <p:cNvSpPr/>
          <p:nvPr/>
        </p:nvSpPr>
        <p:spPr>
          <a:xfrm>
            <a:off x="667512" y="4709160"/>
            <a:ext cx="4242816" cy="438912"/>
          </a:xfrm>
          <a:prstGeom prst="roundRect">
            <a:avLst>
              <a:gd name="adj" fmla="val 16666"/>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77240" y="4855464"/>
            <a:ext cx="146304" cy="146304"/>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709160"/>
            <a:ext cx="2377440" cy="438912"/>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② 수리 착수·공정 대기 (Wait 2)</a:t>
            </a:r>
          </a:p>
        </p:txBody>
      </p:sp>
      <p:sp>
        <p:nvSpPr>
          <p:cNvPr id="30" name="TextBox 29"/>
          <p:cNvSpPr txBox="1"/>
          <p:nvPr/>
        </p:nvSpPr>
        <p:spPr>
          <a:xfrm>
            <a:off x="3200400" y="4709160"/>
            <a:ext cx="1618487" cy="438912"/>
          </a:xfrm>
          <a:prstGeom prst="rect">
            <a:avLst/>
          </a:prstGeom>
          <a:noFill/>
        </p:spPr>
        <p:txBody>
          <a:bodyPr wrap="square" lIns="0" tIns="0" rIns="0" bIns="0" anchor="ctr"/>
          <a:lstStyle/>
          <a:p>
            <a:pPr algn="r" eaLnBrk="0">
              <a:lnSpc>
                <a:spcPct val="100000"/>
              </a:lnSpc>
              <a:spcBef>
                <a:spcPts val="0"/>
              </a:spcBef>
              <a:spcAft>
                <a:spcPts val="0"/>
              </a:spcAft>
              <a:buNone/>
            </a:pPr>
            <a:r>
              <a:rPr sz="1050" b="1" i="0">
                <a:solidFill>
                  <a:srgbClr val="EA580C"/>
                </a:solidFill>
                <a:latin typeface="Consolas"/>
                <a:ea typeface="맑은 고딕"/>
                <a:cs typeface="맑은 고딕"/>
              </a:rPr>
              <a:t>16.90h (17.2%)</a:t>
            </a:r>
          </a:p>
        </p:txBody>
      </p:sp>
      <p:sp>
        <p:nvSpPr>
          <p:cNvPr id="31" name="Strip-3"/>
          <p:cNvSpPr/>
          <p:nvPr/>
        </p:nvSpPr>
        <p:spPr>
          <a:xfrm>
            <a:off x="667512" y="5230368"/>
            <a:ext cx="4242816" cy="438912"/>
          </a:xfrm>
          <a:prstGeom prst="roundRect">
            <a:avLst>
              <a:gd name="adj" fmla="val 1666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77240" y="5376672"/>
            <a:ext cx="146304" cy="14630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230368"/>
            <a:ext cx="2377440" cy="438912"/>
          </a:xfrm>
          <a:prstGeom prst="rect">
            <a:avLst/>
          </a:prstGeom>
          <a:noFill/>
        </p:spPr>
        <p:txBody>
          <a:bodyPr wrap="square" lIns="0" tIns="0" rIns="0" bIns="0" anchor="ctr"/>
          <a:lstStyle/>
          <a:p>
            <a:pPr algn="l" eaLnBrk="0">
              <a:lnSpc>
                <a:spcPct val="100000"/>
              </a:lnSpc>
              <a:spcBef>
                <a:spcPts val="0"/>
              </a:spcBef>
              <a:spcAft>
                <a:spcPts val="0"/>
              </a:spcAft>
              <a:buNone/>
            </a:pPr>
            <a:r>
              <a:rPr sz="1050" b="0" i="0">
                <a:solidFill>
                  <a:srgbClr val="1E293B"/>
                </a:solidFill>
                <a:latin typeface="맑은 고딕"/>
                <a:ea typeface="맑은 고딕"/>
                <a:cs typeface="맑은 고딕"/>
              </a:rPr>
              <a:t>③ 본수리 순수 작업</a:t>
            </a:r>
          </a:p>
        </p:txBody>
      </p:sp>
      <p:sp>
        <p:nvSpPr>
          <p:cNvPr id="34" name="TextBox 33"/>
          <p:cNvSpPr txBox="1"/>
          <p:nvPr/>
        </p:nvSpPr>
        <p:spPr>
          <a:xfrm>
            <a:off x="3200400" y="5230368"/>
            <a:ext cx="1618487" cy="438912"/>
          </a:xfrm>
          <a:prstGeom prst="rect">
            <a:avLst/>
          </a:prstGeom>
          <a:noFill/>
        </p:spPr>
        <p:txBody>
          <a:bodyPr wrap="square" lIns="0" tIns="0" rIns="0" bIns="0" anchor="ctr"/>
          <a:lstStyle/>
          <a:p>
            <a:pPr algn="r" eaLnBrk="0">
              <a:lnSpc>
                <a:spcPct val="100000"/>
              </a:lnSpc>
              <a:spcBef>
                <a:spcPts val="0"/>
              </a:spcBef>
              <a:spcAft>
                <a:spcPts val="0"/>
              </a:spcAft>
              <a:buNone/>
            </a:pPr>
            <a:r>
              <a:rPr sz="1050" b="1" i="0">
                <a:solidFill>
                  <a:srgbClr val="334155"/>
                </a:solidFill>
                <a:latin typeface="Consolas"/>
                <a:ea typeface="맑은 고딕"/>
                <a:cs typeface="맑은 고딕"/>
              </a:rPr>
              <a:t>3.90h (4.0%)</a:t>
            </a:r>
          </a:p>
        </p:txBody>
      </p:sp>
      <p:sp>
        <p:nvSpPr>
          <p:cNvPr id="35" name="Strip-4"/>
          <p:cNvSpPr/>
          <p:nvPr/>
        </p:nvSpPr>
        <p:spPr>
          <a:xfrm>
            <a:off x="667512" y="5751576"/>
            <a:ext cx="4242816" cy="438912"/>
          </a:xfrm>
          <a:prstGeom prst="roundRect">
            <a:avLst>
              <a:gd name="adj" fmla="val 1666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77240" y="5897880"/>
            <a:ext cx="146304" cy="146304"/>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40" y="5751576"/>
            <a:ext cx="2377440" cy="438912"/>
          </a:xfrm>
          <a:prstGeom prst="rect">
            <a:avLst/>
          </a:prstGeom>
          <a:noFill/>
        </p:spPr>
        <p:txBody>
          <a:bodyPr wrap="square" lIns="0" tIns="0" rIns="0" bIns="0" anchor="ctr"/>
          <a:lstStyle/>
          <a:p>
            <a:pPr algn="l" eaLnBrk="0">
              <a:lnSpc>
                <a:spcPct val="100000"/>
              </a:lnSpc>
              <a:spcBef>
                <a:spcPts val="0"/>
              </a:spcBef>
              <a:spcAft>
                <a:spcPts val="0"/>
              </a:spcAft>
              <a:buNone/>
            </a:pPr>
            <a:r>
              <a:rPr sz="1050" b="0" i="0">
                <a:solidFill>
                  <a:srgbClr val="1E293B"/>
                </a:solidFill>
                <a:latin typeface="맑은 고딕"/>
                <a:ea typeface="맑은 고딕"/>
                <a:cs typeface="맑은 고딕"/>
              </a:rPr>
              <a:t>④ 실사 점검 순수 작업</a:t>
            </a:r>
          </a:p>
        </p:txBody>
      </p:sp>
      <p:sp>
        <p:nvSpPr>
          <p:cNvPr id="38" name="TextBox 37"/>
          <p:cNvSpPr txBox="1"/>
          <p:nvPr/>
        </p:nvSpPr>
        <p:spPr>
          <a:xfrm>
            <a:off x="3200400" y="5751576"/>
            <a:ext cx="1618487" cy="438912"/>
          </a:xfrm>
          <a:prstGeom prst="rect">
            <a:avLst/>
          </a:prstGeom>
          <a:noFill/>
        </p:spPr>
        <p:txBody>
          <a:bodyPr wrap="square" lIns="0" tIns="0" rIns="0" bIns="0" anchor="ctr"/>
          <a:lstStyle/>
          <a:p>
            <a:pPr algn="r" eaLnBrk="0">
              <a:lnSpc>
                <a:spcPct val="100000"/>
              </a:lnSpc>
              <a:spcBef>
                <a:spcPts val="0"/>
              </a:spcBef>
              <a:spcAft>
                <a:spcPts val="0"/>
              </a:spcAft>
              <a:buNone/>
            </a:pPr>
            <a:r>
              <a:rPr sz="1050" b="1" i="0">
                <a:solidFill>
                  <a:srgbClr val="334155"/>
                </a:solidFill>
                <a:latin typeface="Consolas"/>
                <a:ea typeface="맑은 고딕"/>
                <a:cs typeface="맑은 고딕"/>
              </a:rPr>
              <a:t>0.68h (0.7%, 40.5분)</a:t>
            </a:r>
          </a:p>
        </p:txBody>
      </p:sp>
      <p:sp>
        <p:nvSpPr>
          <p:cNvPr id="39" name="WipCard"/>
          <p:cNvSpPr/>
          <p:nvPr/>
        </p:nvSpPr>
        <p:spPr>
          <a:xfrm>
            <a:off x="5303520" y="1627632"/>
            <a:ext cx="6385255" cy="4663440"/>
          </a:xfrm>
          <a:prstGeom prst="roundRect">
            <a:avLst>
              <a:gd name="adj" fmla="val 274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0" y="1737360"/>
            <a:ext cx="6019495" cy="256032"/>
          </a:xfrm>
          <a:prstGeom prst="rect">
            <a:avLst/>
          </a:prstGeom>
          <a:noFill/>
        </p:spPr>
        <p:txBody>
          <a:bodyPr wrap="square" lIns="0" tIns="0" rIns="0" bIns="0" anchor="t"/>
          <a:lstStyle/>
          <a:p>
            <a:pPr algn="l" eaLnBrk="0">
              <a:lnSpc>
                <a:spcPct val="100000"/>
              </a:lnSpc>
              <a:spcBef>
                <a:spcPts val="0"/>
              </a:spcBef>
              <a:spcAft>
                <a:spcPts val="0"/>
              </a:spcAft>
              <a:buNone/>
            </a:pPr>
            <a:r>
              <a:rPr sz="1200" b="1" i="0">
                <a:solidFill>
                  <a:srgbClr val="0F172A"/>
                </a:solidFill>
                <a:latin typeface="맑은 고딕"/>
                <a:ea typeface="맑은 고딕"/>
                <a:cs typeface="맑은 고딕"/>
              </a:rPr>
              <a:t>일별 현장 이관 유입 vs 실사 CAPA 및 적체 대기열(WIP)</a:t>
            </a:r>
          </a:p>
        </p:txBody>
      </p:sp>
      <p:pic>
        <p:nvPicPr>
          <p:cNvPr id="41" name="Picture 40" descr="일별 현장 이관 유입 대 실사 착수 막대와 미처리 적체 대기열(WIP) 꺾은선, 1/7 피크 403건"/>
          <p:cNvPicPr>
            <a:picLocks noChangeAspect="1"/>
          </p:cNvPicPr>
          <p:nvPr/>
        </p:nvPicPr>
        <p:blipFill>
          <a:blip r:embed="rId3"/>
          <a:stretch>
            <a:fillRect/>
          </a:stretch>
        </p:blipFill>
        <p:spPr>
          <a:xfrm>
            <a:off x="5673539" y="1993392"/>
            <a:ext cx="5645216" cy="2331720"/>
          </a:xfrm>
          <a:prstGeom prst="rect">
            <a:avLst/>
          </a:prstGeom>
        </p:spPr>
      </p:pic>
      <p:sp>
        <p:nvSpPr>
          <p:cNvPr id="42" name="Metric-1"/>
          <p:cNvSpPr/>
          <p:nvPr/>
        </p:nvSpPr>
        <p:spPr>
          <a:xfrm>
            <a:off x="5468112" y="4443984"/>
            <a:ext cx="1957730" cy="914400"/>
          </a:xfrm>
          <a:prstGeom prst="roundRect">
            <a:avLst>
              <a:gd name="adj" fmla="val 1000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59551" y="4489704"/>
            <a:ext cx="1774850" cy="237744"/>
          </a:xfrm>
          <a:prstGeom prst="rect">
            <a:avLst/>
          </a:prstGeom>
          <a:noFill/>
        </p:spPr>
        <p:txBody>
          <a:bodyPr wrap="square" lIns="0" tIns="0" rIns="0" bIns="0" anchor="t"/>
          <a:lstStyle/>
          <a:p>
            <a:pPr algn="l" eaLnBrk="0">
              <a:lnSpc>
                <a:spcPct val="100000"/>
              </a:lnSpc>
              <a:spcBef>
                <a:spcPts val="0"/>
              </a:spcBef>
              <a:spcAft>
                <a:spcPts val="0"/>
              </a:spcAft>
              <a:buNone/>
            </a:pPr>
            <a:r>
              <a:rPr sz="950" b="1" i="0">
                <a:solidFill>
                  <a:srgbClr val="475569"/>
                </a:solidFill>
                <a:latin typeface="맑은 고딕"/>
                <a:ea typeface="맑은 고딕"/>
                <a:cs typeface="맑은 고딕"/>
              </a:rPr>
              <a:t>일일 현장 이관 유입</a:t>
            </a:r>
          </a:p>
        </p:txBody>
      </p:sp>
      <p:sp>
        <p:nvSpPr>
          <p:cNvPr id="44" name="TextBox 43"/>
          <p:cNvSpPr txBox="1"/>
          <p:nvPr/>
        </p:nvSpPr>
        <p:spPr>
          <a:xfrm>
            <a:off x="5559551" y="4736592"/>
            <a:ext cx="1774850" cy="365760"/>
          </a:xfrm>
          <a:prstGeom prst="rect">
            <a:avLst/>
          </a:prstGeom>
          <a:noFill/>
        </p:spPr>
        <p:txBody>
          <a:bodyPr wrap="square" lIns="0" tIns="0" rIns="0" bIns="0" anchor="t"/>
          <a:lstStyle/>
          <a:p>
            <a:pPr algn="l" eaLnBrk="0">
              <a:lnSpc>
                <a:spcPct val="100000"/>
              </a:lnSpc>
              <a:spcBef>
                <a:spcPts val="0"/>
              </a:spcBef>
              <a:spcAft>
                <a:spcPts val="0"/>
              </a:spcAft>
              <a:buNone/>
            </a:pPr>
            <a:r>
              <a:rPr sz="1700" b="1" i="0">
                <a:solidFill>
                  <a:srgbClr val="1D4ED8"/>
                </a:solidFill>
                <a:latin typeface="Consolas"/>
                <a:ea typeface="맑은 고딕"/>
                <a:cs typeface="맑은 고딕"/>
              </a:rPr>
              <a:t>134.3건/일</a:t>
            </a:r>
          </a:p>
        </p:txBody>
      </p:sp>
      <p:sp>
        <p:nvSpPr>
          <p:cNvPr id="45" name="TextBox 44"/>
          <p:cNvSpPr txBox="1"/>
          <p:nvPr/>
        </p:nvSpPr>
        <p:spPr>
          <a:xfrm>
            <a:off x="5559551" y="5084064"/>
            <a:ext cx="1774850" cy="228600"/>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1/2~1/7 평균 · 피크 141건</a:t>
            </a:r>
          </a:p>
        </p:txBody>
      </p:sp>
      <p:sp>
        <p:nvSpPr>
          <p:cNvPr id="46" name="Metric-2"/>
          <p:cNvSpPr/>
          <p:nvPr/>
        </p:nvSpPr>
        <p:spPr>
          <a:xfrm>
            <a:off x="7517282" y="4443984"/>
            <a:ext cx="1957730" cy="914400"/>
          </a:xfrm>
          <a:prstGeom prst="roundRect">
            <a:avLst>
              <a:gd name="adj" fmla="val 1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08722" y="4489704"/>
            <a:ext cx="1774850" cy="237744"/>
          </a:xfrm>
          <a:prstGeom prst="rect">
            <a:avLst/>
          </a:prstGeom>
          <a:noFill/>
        </p:spPr>
        <p:txBody>
          <a:bodyPr wrap="square" lIns="0" tIns="0" rIns="0" bIns="0" anchor="t"/>
          <a:lstStyle/>
          <a:p>
            <a:pPr algn="l" eaLnBrk="0">
              <a:lnSpc>
                <a:spcPct val="100000"/>
              </a:lnSpc>
              <a:spcBef>
                <a:spcPts val="0"/>
              </a:spcBef>
              <a:spcAft>
                <a:spcPts val="0"/>
              </a:spcAft>
              <a:buNone/>
            </a:pPr>
            <a:r>
              <a:rPr sz="950" b="1" i="0">
                <a:solidFill>
                  <a:srgbClr val="475569"/>
                </a:solidFill>
                <a:latin typeface="맑은 고딕"/>
                <a:ea typeface="맑은 고딕"/>
                <a:cs typeface="맑은 고딕"/>
              </a:rPr>
              <a:t>실사 CAPA (기사 11인)</a:t>
            </a:r>
          </a:p>
        </p:txBody>
      </p:sp>
      <p:sp>
        <p:nvSpPr>
          <p:cNvPr id="48" name="TextBox 47"/>
          <p:cNvSpPr txBox="1"/>
          <p:nvPr/>
        </p:nvSpPr>
        <p:spPr>
          <a:xfrm>
            <a:off x="7608722" y="4736592"/>
            <a:ext cx="1774850" cy="365760"/>
          </a:xfrm>
          <a:prstGeom prst="rect">
            <a:avLst/>
          </a:prstGeom>
          <a:noFill/>
        </p:spPr>
        <p:txBody>
          <a:bodyPr wrap="square" lIns="0" tIns="0" rIns="0" bIns="0" anchor="t"/>
          <a:lstStyle/>
          <a:p>
            <a:pPr algn="l" eaLnBrk="0">
              <a:lnSpc>
                <a:spcPct val="100000"/>
              </a:lnSpc>
              <a:spcBef>
                <a:spcPts val="0"/>
              </a:spcBef>
              <a:spcAft>
                <a:spcPts val="0"/>
              </a:spcAft>
              <a:buNone/>
            </a:pPr>
            <a:r>
              <a:rPr sz="1700" b="1" i="0">
                <a:solidFill>
                  <a:srgbClr val="334155"/>
                </a:solidFill>
                <a:latin typeface="Consolas"/>
                <a:ea typeface="맑은 고딕"/>
                <a:cs typeface="맑은 고딕"/>
              </a:rPr>
              <a:t>68.0건/일</a:t>
            </a:r>
          </a:p>
        </p:txBody>
      </p:sp>
      <p:sp>
        <p:nvSpPr>
          <p:cNvPr id="49" name="TextBox 48"/>
          <p:cNvSpPr txBox="1"/>
          <p:nvPr/>
        </p:nvSpPr>
        <p:spPr>
          <a:xfrm>
            <a:off x="7608722" y="5084064"/>
            <a:ext cx="1774850" cy="228600"/>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소화율 50.6% 한계</a:t>
            </a:r>
          </a:p>
        </p:txBody>
      </p:sp>
      <p:sp>
        <p:nvSpPr>
          <p:cNvPr id="50" name="Metric-3"/>
          <p:cNvSpPr/>
          <p:nvPr/>
        </p:nvSpPr>
        <p:spPr>
          <a:xfrm>
            <a:off x="9566452" y="4443984"/>
            <a:ext cx="1957730" cy="914400"/>
          </a:xfrm>
          <a:prstGeom prst="roundRect">
            <a:avLst>
              <a:gd name="adj" fmla="val 10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57892" y="4489704"/>
            <a:ext cx="1774850" cy="237744"/>
          </a:xfrm>
          <a:prstGeom prst="rect">
            <a:avLst/>
          </a:prstGeom>
          <a:noFill/>
        </p:spPr>
        <p:txBody>
          <a:bodyPr wrap="square" lIns="0" tIns="0" rIns="0" bIns="0" anchor="t"/>
          <a:lstStyle/>
          <a:p>
            <a:pPr algn="l" eaLnBrk="0">
              <a:lnSpc>
                <a:spcPct val="100000"/>
              </a:lnSpc>
              <a:spcBef>
                <a:spcPts val="0"/>
              </a:spcBef>
              <a:spcAft>
                <a:spcPts val="0"/>
              </a:spcAft>
              <a:buNone/>
            </a:pPr>
            <a:r>
              <a:rPr sz="950" b="1" i="0">
                <a:solidFill>
                  <a:srgbClr val="475569"/>
                </a:solidFill>
                <a:latin typeface="맑은 고딕"/>
                <a:ea typeface="맑은 고딕"/>
                <a:cs typeface="맑은 고딕"/>
              </a:rPr>
              <a:t>미처리 적체 피크 (WIP)</a:t>
            </a:r>
          </a:p>
        </p:txBody>
      </p:sp>
      <p:sp>
        <p:nvSpPr>
          <p:cNvPr id="52" name="TextBox 51"/>
          <p:cNvSpPr txBox="1"/>
          <p:nvPr/>
        </p:nvSpPr>
        <p:spPr>
          <a:xfrm>
            <a:off x="9657892" y="4736592"/>
            <a:ext cx="1774850" cy="365760"/>
          </a:xfrm>
          <a:prstGeom prst="rect">
            <a:avLst/>
          </a:prstGeom>
          <a:noFill/>
        </p:spPr>
        <p:txBody>
          <a:bodyPr wrap="square" lIns="0" tIns="0" rIns="0" bIns="0" anchor="t"/>
          <a:lstStyle/>
          <a:p>
            <a:pPr algn="l" eaLnBrk="0">
              <a:lnSpc>
                <a:spcPct val="100000"/>
              </a:lnSpc>
              <a:spcBef>
                <a:spcPts val="0"/>
              </a:spcBef>
              <a:spcAft>
                <a:spcPts val="0"/>
              </a:spcAft>
              <a:buNone/>
            </a:pPr>
            <a:r>
              <a:rPr sz="1700" b="1" i="0">
                <a:solidFill>
                  <a:srgbClr val="DC2626"/>
                </a:solidFill>
                <a:latin typeface="Consolas"/>
                <a:ea typeface="맑은 고딕"/>
                <a:cs typeface="맑은 고딕"/>
              </a:rPr>
              <a:t>403건 (20배)</a:t>
            </a:r>
          </a:p>
        </p:txBody>
      </p:sp>
      <p:sp>
        <p:nvSpPr>
          <p:cNvPr id="53" name="TextBox 52"/>
          <p:cNvSpPr txBox="1"/>
          <p:nvPr/>
        </p:nvSpPr>
        <p:spPr>
          <a:xfrm>
            <a:off x="9657892" y="5084064"/>
            <a:ext cx="1774850" cy="228600"/>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1/1 20건 ➔ 1/7 403건</a:t>
            </a:r>
          </a:p>
        </p:txBody>
      </p:sp>
      <p:sp>
        <p:nvSpPr>
          <p:cNvPr id="54" name="TakeawayBanner"/>
          <p:cNvSpPr/>
          <p:nvPr/>
        </p:nvSpPr>
        <p:spPr>
          <a:xfrm>
            <a:off x="5468112" y="5468112"/>
            <a:ext cx="6056071" cy="694944"/>
          </a:xfrm>
          <a:prstGeom prst="roundRect">
            <a:avLst>
              <a:gd name="adj" fmla="val 13157"/>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623559" y="5468112"/>
            <a:ext cx="5745175" cy="694944"/>
          </a:xfrm>
          <a:prstGeom prst="rect">
            <a:avLst/>
          </a:prstGeom>
          <a:noFill/>
        </p:spPr>
        <p:txBody>
          <a:bodyPr wrap="square" lIns="0" tIns="0" rIns="0" bIns="0" anchor="ctr"/>
          <a:lstStyle/>
          <a:p>
            <a:pPr algn="ctr" eaLnBrk="0">
              <a:lnSpc>
                <a:spcPct val="100000"/>
              </a:lnSpc>
              <a:spcBef>
                <a:spcPts val="0"/>
              </a:spcBef>
              <a:spcAft>
                <a:spcPts val="0"/>
              </a:spcAft>
              <a:buNone/>
            </a:pPr>
            <a:r>
              <a:rPr sz="1150" b="1" i="0">
                <a:solidFill>
                  <a:srgbClr val="FFFFFF"/>
                </a:solidFill>
                <a:latin typeface="맑은 고딕"/>
                <a:ea typeface="맑은 고딕"/>
                <a:cs typeface="맑은 고딕"/>
              </a:rPr>
              <a:t>기사가 게으른 것이 아니라, CAPA(68건)의 2배에 이르는 전수 방문 실사 관행(유입</a:t>
            </a:r>
            <a:br/>
            <a:r>
              <a:rPr sz="1150" b="1" i="0">
                <a:solidFill>
                  <a:srgbClr val="FFFFFF"/>
                </a:solidFill>
                <a:latin typeface="맑은 고딕"/>
                <a:ea typeface="맑은 고딕"/>
                <a:cs typeface="맑은 고딕"/>
              </a:rPr>
              <a:t>134건)이 403건 적체와 76.8h 대기를 만든 본질이다</a:t>
            </a:r>
          </a:p>
        </p:txBody>
      </p:sp>
      <p:sp>
        <p:nvSpPr>
          <p:cNvPr id="56" name="Nav-1">
            <a:hlinkClick action="ppaction://hlinksldjump" r:id="rId5"/>
          </p:cNvPr>
          <p:cNvSpPr/>
          <p:nvPr/>
        </p:nvSpPr>
        <p:spPr>
          <a:xfrm>
            <a:off x="9201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Nav-2">
            <a:hlinkClick action="ppaction://hlinksldjump" r:id="rId6"/>
          </p:cNvPr>
          <p:cNvSpPr/>
          <p:nvPr/>
        </p:nvSpPr>
        <p:spPr>
          <a:xfrm>
            <a:off x="9315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av-3">
            <a:hlinkClick action="ppaction://hlinksldjump" r:id="rId7"/>
          </p:cNvPr>
          <p:cNvSpPr/>
          <p:nvPr/>
        </p:nvSpPr>
        <p:spPr>
          <a:xfrm>
            <a:off x="9430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Nav-4">
            <a:hlinkClick action="ppaction://hlinksldjump" r:id="rId8"/>
          </p:cNvPr>
          <p:cNvSpPr/>
          <p:nvPr/>
        </p:nvSpPr>
        <p:spPr>
          <a:xfrm>
            <a:off x="9544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Nav-5">
            <a:hlinkClick action="ppaction://hlinksldjump" r:id="rId9"/>
          </p:cNvPr>
          <p:cNvSpPr/>
          <p:nvPr/>
        </p:nvSpPr>
        <p:spPr>
          <a:xfrm>
            <a:off x="96588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Nav-6">
            <a:hlinkClick action="ppaction://hlinksldjump" r:id="rId10"/>
          </p:cNvPr>
          <p:cNvSpPr/>
          <p:nvPr/>
        </p:nvSpPr>
        <p:spPr>
          <a:xfrm>
            <a:off x="97731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Nav-7">
            <a:hlinkClick action="ppaction://hlinksldjump" r:id="rId11"/>
          </p:cNvPr>
          <p:cNvSpPr/>
          <p:nvPr/>
        </p:nvSpPr>
        <p:spPr>
          <a:xfrm>
            <a:off x="98874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Nav-8">
            <a:hlinkClick action="ppaction://hlinksldjump" r:id="rId12"/>
          </p:cNvPr>
          <p:cNvSpPr/>
          <p:nvPr/>
        </p:nvSpPr>
        <p:spPr>
          <a:xfrm>
            <a:off x="100017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Nav-9">
            <a:hlinkClick action="ppaction://hlinksldjump" r:id="rId13"/>
          </p:cNvPr>
          <p:cNvSpPr/>
          <p:nvPr/>
        </p:nvSpPr>
        <p:spPr>
          <a:xfrm>
            <a:off x="101160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Nav-10">
            <a:hlinkClick action="ppaction://hlinksldjump" r:id="rId14"/>
          </p:cNvPr>
          <p:cNvSpPr/>
          <p:nvPr/>
        </p:nvSpPr>
        <p:spPr>
          <a:xfrm>
            <a:off x="102303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Nav-11">
            <a:hlinkClick action="ppaction://hlinksldjump" r:id="rId15"/>
          </p:cNvPr>
          <p:cNvSpPr/>
          <p:nvPr/>
        </p:nvSpPr>
        <p:spPr>
          <a:xfrm>
            <a:off x="10344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Nav-12">
            <a:hlinkClick action="ppaction://hlinksldjump" r:id="rId16"/>
          </p:cNvPr>
          <p:cNvSpPr/>
          <p:nvPr/>
        </p:nvSpPr>
        <p:spPr>
          <a:xfrm>
            <a:off x="10458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Nav-13">
            <a:hlinkClick action="ppaction://hlinksldjump" r:id="rId17"/>
          </p:cNvPr>
          <p:cNvSpPr/>
          <p:nvPr/>
        </p:nvSpPr>
        <p:spPr>
          <a:xfrm>
            <a:off x="10573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Nav-14">
            <a:hlinkClick action="ppaction://hlinksldjump" r:id="rId18"/>
          </p:cNvPr>
          <p:cNvSpPr/>
          <p:nvPr/>
        </p:nvSpPr>
        <p:spPr>
          <a:xfrm>
            <a:off x="10687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3542030"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02 · 질문 2-3 &amp; 2-2 | 소요시간 영향 요인 &amp; 리워크</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OLS 평균 기여: 실사 대기가 105.9h 중 86h(81%), 사내수리가 17h(16%)를</a:t>
            </a:r>
            <a:br/>
            <a:r>
              <a:rPr sz="2400" b="1" i="0">
                <a:solidFill>
                  <a:srgbClr val="0F172A"/>
                </a:solidFill>
                <a:latin typeface="맑은 고딕"/>
                <a:ea typeface="맑은 고딕"/>
                <a:cs typeface="맑은 고딕"/>
              </a:rPr>
              <a:t>차지하고 하자 루프(26건)가 적체를 키웠다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hypothesis_testing_and_visualization.ipynb Part 5 (E2E OLS, n = 927) · analysis.sql 2-4 · 평균 기여 = 회귀계수 × 변수 평균값</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11 / 14</a:t>
            </a:r>
          </a:p>
        </p:txBody>
      </p:sp>
      <p:sp>
        <p:nvSpPr>
          <p:cNvPr id="20" name="OlsCard"/>
          <p:cNvSpPr/>
          <p:nvPr/>
        </p:nvSpPr>
        <p:spPr>
          <a:xfrm>
            <a:off x="502920" y="1627632"/>
            <a:ext cx="5478627" cy="4041648"/>
          </a:xfrm>
          <a:prstGeom prst="roundRect">
            <a:avLst>
              <a:gd name="adj" fmla="val 316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1719072"/>
            <a:ext cx="5112867" cy="256032"/>
          </a:xfrm>
          <a:prstGeom prst="rect">
            <a:avLst/>
          </a:prstGeom>
          <a:noFill/>
        </p:spPr>
        <p:txBody>
          <a:bodyPr wrap="square" lIns="0" tIns="0" rIns="0" bIns="0" anchor="t"/>
          <a:lstStyle/>
          <a:p>
            <a:pPr algn="l" eaLnBrk="0">
              <a:lnSpc>
                <a:spcPct val="100000"/>
              </a:lnSpc>
              <a:spcBef>
                <a:spcPts val="0"/>
              </a:spcBef>
              <a:spcAft>
                <a:spcPts val="0"/>
              </a:spcAft>
              <a:buNone/>
            </a:pPr>
            <a:r>
              <a:rPr sz="1150" b="1" i="0">
                <a:solidFill>
                  <a:srgbClr val="0F172A"/>
                </a:solidFill>
                <a:latin typeface="맑은 고딕"/>
                <a:ea typeface="맑은 고딕"/>
                <a:cs typeface="맑은 고딕"/>
              </a:rPr>
              <a:t>리드타임 105.9h에 대한 평균 기여 (회귀계수 × 평균)</a:t>
            </a:r>
          </a:p>
        </p:txBody>
      </p:sp>
      <p:pic>
        <p:nvPicPr>
          <p:cNvPr id="22" name="Picture 21" descr="E2E 리드타임 평균 기여: 실사 방문 대기 86.3h, 사내 수리 배정 16.6h, 비실시간 채널 2.4h, 2차 에스컬레이션 0.8h"/>
          <p:cNvPicPr>
            <a:picLocks noChangeAspect="1"/>
          </p:cNvPicPr>
          <p:nvPr/>
        </p:nvPicPr>
        <p:blipFill>
          <a:blip r:embed="rId2"/>
          <a:stretch>
            <a:fillRect/>
          </a:stretch>
        </p:blipFill>
        <p:spPr>
          <a:xfrm>
            <a:off x="640080" y="1976672"/>
            <a:ext cx="5204307" cy="2099983"/>
          </a:xfrm>
          <a:prstGeom prst="rect">
            <a:avLst/>
          </a:prstGeom>
        </p:spPr>
      </p:pic>
      <p:sp>
        <p:nvSpPr>
          <p:cNvPr id="23" name="Ols-1"/>
          <p:cNvSpPr/>
          <p:nvPr/>
        </p:nvSpPr>
        <p:spPr>
          <a:xfrm>
            <a:off x="667512" y="4151376"/>
            <a:ext cx="5149443" cy="347472"/>
          </a:xfrm>
          <a:prstGeom prst="roundRect">
            <a:avLst>
              <a:gd name="adj" fmla="val 21052"/>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151376"/>
            <a:ext cx="3108960" cy="347472"/>
          </a:xfrm>
          <a:prstGeom prst="rect">
            <a:avLst/>
          </a:prstGeom>
          <a:noFill/>
        </p:spPr>
        <p:txBody>
          <a:bodyPr wrap="square" lIns="0" tIns="0" rIns="0" bIns="0" anchor="ctr"/>
          <a:lstStyle/>
          <a:p>
            <a:pPr algn="l" eaLnBrk="0">
              <a:lnSpc>
                <a:spcPct val="100000"/>
              </a:lnSpc>
              <a:spcBef>
                <a:spcPts val="0"/>
              </a:spcBef>
              <a:spcAft>
                <a:spcPts val="0"/>
              </a:spcAft>
              <a:buNone/>
            </a:pPr>
            <a:r>
              <a:rPr sz="1000" b="0" i="0">
                <a:solidFill>
                  <a:srgbClr val="1E293B"/>
                </a:solidFill>
                <a:latin typeface="맑은 고딕"/>
                <a:ea typeface="맑은 고딕"/>
                <a:cs typeface="맑은 고딕"/>
              </a:rPr>
              <a:t>사내 수리 방식 (is_intern_repair)</a:t>
            </a:r>
          </a:p>
        </p:txBody>
      </p:sp>
      <p:sp>
        <p:nvSpPr>
          <p:cNvPr id="25" name="TextBox 24"/>
          <p:cNvSpPr txBox="1"/>
          <p:nvPr/>
        </p:nvSpPr>
        <p:spPr>
          <a:xfrm>
            <a:off x="3703320" y="4151376"/>
            <a:ext cx="2040483" cy="347472"/>
          </a:xfrm>
          <a:prstGeom prst="rect">
            <a:avLst/>
          </a:prstGeom>
          <a:noFill/>
        </p:spPr>
        <p:txBody>
          <a:bodyPr wrap="square" lIns="0" tIns="0" rIns="0" bIns="0" anchor="ctr"/>
          <a:lstStyle/>
          <a:p>
            <a:pPr algn="r" eaLnBrk="0">
              <a:lnSpc>
                <a:spcPct val="100000"/>
              </a:lnSpc>
              <a:spcBef>
                <a:spcPts val="0"/>
              </a:spcBef>
              <a:spcAft>
                <a:spcPts val="0"/>
              </a:spcAft>
              <a:buNone/>
            </a:pPr>
            <a:r>
              <a:rPr sz="1050" b="1" i="0">
                <a:solidFill>
                  <a:srgbClr val="C2410C"/>
                </a:solidFill>
                <a:latin typeface="Consolas"/>
                <a:ea typeface="맑은 고딕"/>
                <a:cs typeface="맑은 고딕"/>
              </a:rPr>
              <a:t>+31.75h (p &lt; 0.001)</a:t>
            </a:r>
          </a:p>
        </p:txBody>
      </p:sp>
      <p:sp>
        <p:nvSpPr>
          <p:cNvPr id="26" name="Ols-2"/>
          <p:cNvSpPr/>
          <p:nvPr/>
        </p:nvSpPr>
        <p:spPr>
          <a:xfrm>
            <a:off x="667512" y="4553712"/>
            <a:ext cx="5149443" cy="347472"/>
          </a:xfrm>
          <a:prstGeom prst="roundRect">
            <a:avLst>
              <a:gd name="adj" fmla="val 21052"/>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553712"/>
            <a:ext cx="3108960" cy="347472"/>
          </a:xfrm>
          <a:prstGeom prst="rect">
            <a:avLst/>
          </a:prstGeom>
          <a:noFill/>
        </p:spPr>
        <p:txBody>
          <a:bodyPr wrap="square" lIns="0" tIns="0" rIns="0" bIns="0" anchor="ctr"/>
          <a:lstStyle/>
          <a:p>
            <a:pPr algn="l" eaLnBrk="0">
              <a:lnSpc>
                <a:spcPct val="100000"/>
              </a:lnSpc>
              <a:spcBef>
                <a:spcPts val="0"/>
              </a:spcBef>
              <a:spcAft>
                <a:spcPts val="0"/>
              </a:spcAft>
              <a:buNone/>
            </a:pPr>
            <a:r>
              <a:rPr sz="1000" b="0" i="0">
                <a:solidFill>
                  <a:srgbClr val="1E293B"/>
                </a:solidFill>
                <a:latin typeface="맑은 고딕"/>
                <a:ea typeface="맑은 고딕"/>
                <a:cs typeface="맑은 고딕"/>
              </a:rPr>
              <a:t>실사 방문 지연 (visit_lag_hours)</a:t>
            </a:r>
          </a:p>
        </p:txBody>
      </p:sp>
      <p:sp>
        <p:nvSpPr>
          <p:cNvPr id="28" name="TextBox 27"/>
          <p:cNvSpPr txBox="1"/>
          <p:nvPr/>
        </p:nvSpPr>
        <p:spPr>
          <a:xfrm>
            <a:off x="3703320" y="4553712"/>
            <a:ext cx="2040483" cy="347472"/>
          </a:xfrm>
          <a:prstGeom prst="rect">
            <a:avLst/>
          </a:prstGeom>
          <a:noFill/>
        </p:spPr>
        <p:txBody>
          <a:bodyPr wrap="square" lIns="0" tIns="0" rIns="0" bIns="0" anchor="ctr"/>
          <a:lstStyle/>
          <a:p>
            <a:pPr algn="r" eaLnBrk="0">
              <a:lnSpc>
                <a:spcPct val="100000"/>
              </a:lnSpc>
              <a:spcBef>
                <a:spcPts val="0"/>
              </a:spcBef>
              <a:spcAft>
                <a:spcPts val="0"/>
              </a:spcAft>
              <a:buNone/>
            </a:pPr>
            <a:r>
              <a:rPr sz="1050" b="1" i="0">
                <a:solidFill>
                  <a:srgbClr val="B91C1C"/>
                </a:solidFill>
                <a:latin typeface="Consolas"/>
                <a:ea typeface="맑은 고딕"/>
                <a:cs typeface="맑은 고딕"/>
              </a:rPr>
              <a:t>+1.12h/h (p &lt; 0.001)</a:t>
            </a:r>
          </a:p>
        </p:txBody>
      </p:sp>
      <p:sp>
        <p:nvSpPr>
          <p:cNvPr id="29" name="Ols-3"/>
          <p:cNvSpPr/>
          <p:nvPr/>
        </p:nvSpPr>
        <p:spPr>
          <a:xfrm>
            <a:off x="667512" y="4956048"/>
            <a:ext cx="5149443" cy="347472"/>
          </a:xfrm>
          <a:prstGeom prst="roundRect">
            <a:avLst>
              <a:gd name="adj" fmla="val 2105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956048"/>
            <a:ext cx="3108960" cy="347472"/>
          </a:xfrm>
          <a:prstGeom prst="rect">
            <a:avLst/>
          </a:prstGeom>
          <a:noFill/>
        </p:spPr>
        <p:txBody>
          <a:bodyPr wrap="square" lIns="0" tIns="0" rIns="0" bIns="0" anchor="ctr"/>
          <a:lstStyle/>
          <a:p>
            <a:pPr algn="l" eaLnBrk="0">
              <a:lnSpc>
                <a:spcPct val="100000"/>
              </a:lnSpc>
              <a:spcBef>
                <a:spcPts val="0"/>
              </a:spcBef>
              <a:spcAft>
                <a:spcPts val="0"/>
              </a:spcAft>
              <a:buNone/>
            </a:pPr>
            <a:r>
              <a:rPr sz="1000" b="0" i="0">
                <a:solidFill>
                  <a:srgbClr val="1E293B"/>
                </a:solidFill>
                <a:latin typeface="맑은 고딕"/>
                <a:ea typeface="맑은 고딕"/>
                <a:cs typeface="맑은 고딕"/>
              </a:rPr>
              <a:t>비실시간 접수 채널 (is_async_channel)</a:t>
            </a:r>
          </a:p>
        </p:txBody>
      </p:sp>
      <p:sp>
        <p:nvSpPr>
          <p:cNvPr id="31" name="TextBox 30"/>
          <p:cNvSpPr txBox="1"/>
          <p:nvPr/>
        </p:nvSpPr>
        <p:spPr>
          <a:xfrm>
            <a:off x="3703320" y="4956048"/>
            <a:ext cx="2040483" cy="347472"/>
          </a:xfrm>
          <a:prstGeom prst="rect">
            <a:avLst/>
          </a:prstGeom>
          <a:noFill/>
        </p:spPr>
        <p:txBody>
          <a:bodyPr wrap="square" lIns="0" tIns="0" rIns="0" bIns="0" anchor="ctr"/>
          <a:lstStyle/>
          <a:p>
            <a:pPr algn="r" eaLnBrk="0">
              <a:lnSpc>
                <a:spcPct val="100000"/>
              </a:lnSpc>
              <a:spcBef>
                <a:spcPts val="0"/>
              </a:spcBef>
              <a:spcAft>
                <a:spcPts val="0"/>
              </a:spcAft>
              <a:buNone/>
            </a:pPr>
            <a:r>
              <a:rPr sz="1050" b="1" i="0">
                <a:solidFill>
                  <a:srgbClr val="334155"/>
                </a:solidFill>
                <a:latin typeface="Consolas"/>
                <a:ea typeface="맑은 고딕"/>
                <a:cs typeface="맑은 고딕"/>
              </a:rPr>
              <a:t>+4.89h (p = 0.030)</a:t>
            </a:r>
          </a:p>
        </p:txBody>
      </p:sp>
      <p:sp>
        <p:nvSpPr>
          <p:cNvPr id="32" name="TextBox 31"/>
          <p:cNvSpPr txBox="1"/>
          <p:nvPr/>
        </p:nvSpPr>
        <p:spPr>
          <a:xfrm>
            <a:off x="685800" y="5376672"/>
            <a:ext cx="5112867" cy="274320"/>
          </a:xfrm>
          <a:prstGeom prst="rect">
            <a:avLst/>
          </a:prstGeom>
          <a:noFill/>
        </p:spPr>
        <p:txBody>
          <a:bodyPr wrap="square" lIns="0" tIns="0" rIns="0" bIns="0" anchor="t"/>
          <a:lstStyle/>
          <a:p>
            <a:pPr algn="l" eaLnBrk="0">
              <a:lnSpc>
                <a:spcPct val="100000"/>
              </a:lnSpc>
              <a:spcBef>
                <a:spcPts val="0"/>
              </a:spcBef>
              <a:spcAft>
                <a:spcPts val="0"/>
              </a:spcAft>
              <a:buNone/>
            </a:pPr>
            <a:r>
              <a:rPr sz="900" b="0" i="0">
                <a:solidFill>
                  <a:srgbClr val="64748B"/>
                </a:solidFill>
                <a:latin typeface="맑은 고딕"/>
                <a:ea typeface="맑은 고딕"/>
                <a:cs typeface="맑은 고딕"/>
              </a:rPr>
              <a:t>R² = 0.878 · F = 1,652.8 · p &lt; 0.001 · VIF 최대 1.02 · 2차 에스컬레이션 비유의(p = 0.079)</a:t>
            </a:r>
          </a:p>
        </p:txBody>
      </p:sp>
      <p:sp>
        <p:nvSpPr>
          <p:cNvPr id="33" name="ReworkCard"/>
          <p:cNvSpPr/>
          <p:nvPr/>
        </p:nvSpPr>
        <p:spPr>
          <a:xfrm>
            <a:off x="6210147" y="1627632"/>
            <a:ext cx="5478627" cy="4041648"/>
          </a:xfrm>
          <a:prstGeom prst="roundRect">
            <a:avLst>
              <a:gd name="adj" fmla="val 316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93027" y="1719072"/>
            <a:ext cx="5112867" cy="256032"/>
          </a:xfrm>
          <a:prstGeom prst="rect">
            <a:avLst/>
          </a:prstGeom>
          <a:noFill/>
        </p:spPr>
        <p:txBody>
          <a:bodyPr wrap="square" lIns="0" tIns="0" rIns="0" bIns="0" anchor="t"/>
          <a:lstStyle/>
          <a:p>
            <a:pPr algn="l" eaLnBrk="0">
              <a:lnSpc>
                <a:spcPct val="100000"/>
              </a:lnSpc>
              <a:spcBef>
                <a:spcPts val="0"/>
              </a:spcBef>
              <a:spcAft>
                <a:spcPts val="0"/>
              </a:spcAft>
              <a:buNone/>
            </a:pPr>
            <a:r>
              <a:rPr sz="1150" b="1" i="0">
                <a:solidFill>
                  <a:srgbClr val="0F172A"/>
                </a:solidFill>
                <a:latin typeface="맑은 고딕"/>
                <a:ea typeface="맑은 고딕"/>
                <a:cs typeface="맑은 고딕"/>
              </a:rPr>
              <a:t>수리 방식별 착수 대기와 하자 재방문 루프</a:t>
            </a:r>
          </a:p>
        </p:txBody>
      </p:sp>
      <p:pic>
        <p:nvPicPr>
          <p:cNvPr id="35" name="Picture 34" descr="수리 방식별 착수 대기: 즉시·외주 0.0h, 사내수리 1차 30.5h, 사내 하자 재방문 평균 +32.9h 최대 241.6h"/>
          <p:cNvPicPr>
            <a:picLocks noChangeAspect="1"/>
          </p:cNvPicPr>
          <p:nvPr/>
        </p:nvPicPr>
        <p:blipFill>
          <a:blip r:embed="rId3"/>
          <a:stretch>
            <a:fillRect/>
          </a:stretch>
        </p:blipFill>
        <p:spPr>
          <a:xfrm>
            <a:off x="6347307" y="1976672"/>
            <a:ext cx="5204307" cy="2099983"/>
          </a:xfrm>
          <a:prstGeom prst="rect">
            <a:avLst/>
          </a:prstGeom>
        </p:spPr>
      </p:pic>
      <p:sp>
        <p:nvSpPr>
          <p:cNvPr id="36" name="Rework-Block1"/>
          <p:cNvSpPr/>
          <p:nvPr/>
        </p:nvSpPr>
        <p:spPr>
          <a:xfrm>
            <a:off x="6374739" y="4151376"/>
            <a:ext cx="5149443" cy="713232"/>
          </a:xfrm>
          <a:prstGeom prst="roundRect">
            <a:avLst>
              <a:gd name="adj" fmla="val 1282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84467" y="4169663"/>
            <a:ext cx="4929987" cy="676656"/>
          </a:xfrm>
          <a:prstGeom prst="rect">
            <a:avLst/>
          </a:prstGeom>
          <a:noFill/>
        </p:spPr>
        <p:txBody>
          <a:bodyPr wrap="square" lIns="0" tIns="0" rIns="0" bIns="0" anchor="ctr"/>
          <a:lstStyle/>
          <a:p>
            <a:pPr algn="l" eaLnBrk="0">
              <a:lnSpc>
                <a:spcPct val="100000"/>
              </a:lnSpc>
              <a:spcBef>
                <a:spcPts val="0"/>
              </a:spcBef>
              <a:spcAft>
                <a:spcPts val="200"/>
              </a:spcAft>
              <a:buNone/>
            </a:pPr>
            <a:r>
              <a:rPr sz="1100" b="1" i="0">
                <a:solidFill>
                  <a:srgbClr val="0F172A"/>
                </a:solidFill>
                <a:latin typeface="맑은 고딕"/>
                <a:ea typeface="맑은 고딕"/>
                <a:cs typeface="맑은 고딕"/>
              </a:rPr>
              <a:t>사내수리 자재 대기 30.5h</a:t>
            </a:r>
          </a:p>
          <a:p>
            <a:pPr algn="l" eaLnBrk="0">
              <a:lnSpc>
                <a:spcPct val="100000"/>
              </a:lnSpc>
              <a:spcBef>
                <a:spcPts val="0"/>
              </a:spcBef>
              <a:spcAft>
                <a:spcPts val="0"/>
              </a:spcAft>
              <a:buNone/>
            </a:pPr>
            <a:r>
              <a:rPr sz="1000" b="0" i="0">
                <a:solidFill>
                  <a:srgbClr val="475569"/>
                </a:solidFill>
                <a:latin typeface="맑은 고딕"/>
                <a:ea typeface="맑은 고딕"/>
                <a:cs typeface="맑은 고딕"/>
              </a:rPr>
              <a:t>즉시·외주수리는 대기 0.0h로 즉시 착수. 사내수리만 부품 조달·2차 일정 조율로</a:t>
            </a:r>
            <a:br/>
            <a:r>
              <a:rPr sz="1000" b="0" i="0">
                <a:solidFill>
                  <a:srgbClr val="475569"/>
                </a:solidFill>
                <a:latin typeface="맑은 고딕"/>
                <a:ea typeface="맑은 고딕"/>
                <a:cs typeface="맑은 고딕"/>
              </a:rPr>
              <a:t>대기가 발생.</a:t>
            </a:r>
          </a:p>
        </p:txBody>
      </p:sp>
      <p:sp>
        <p:nvSpPr>
          <p:cNvPr id="38" name="Rework-Block2"/>
          <p:cNvSpPr/>
          <p:nvPr/>
        </p:nvSpPr>
        <p:spPr>
          <a:xfrm>
            <a:off x="6374739" y="4919472"/>
            <a:ext cx="5149443" cy="676656"/>
          </a:xfrm>
          <a:prstGeom prst="roundRect">
            <a:avLst>
              <a:gd name="adj" fmla="val 13513"/>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84467" y="4937760"/>
            <a:ext cx="4929987" cy="640080"/>
          </a:xfrm>
          <a:prstGeom prst="rect">
            <a:avLst/>
          </a:prstGeom>
          <a:noFill/>
        </p:spPr>
        <p:txBody>
          <a:bodyPr wrap="square" lIns="0" tIns="0" rIns="0" bIns="0" anchor="ctr"/>
          <a:lstStyle/>
          <a:p>
            <a:pPr algn="l" eaLnBrk="0">
              <a:lnSpc>
                <a:spcPct val="100000"/>
              </a:lnSpc>
              <a:spcBef>
                <a:spcPts val="0"/>
              </a:spcBef>
              <a:spcAft>
                <a:spcPts val="200"/>
              </a:spcAft>
              <a:buNone/>
            </a:pPr>
            <a:r>
              <a:rPr sz="1100" b="1" i="0">
                <a:solidFill>
                  <a:srgbClr val="B91C1C"/>
                </a:solidFill>
                <a:latin typeface="맑은 고딕"/>
                <a:ea typeface="맑은 고딕"/>
                <a:cs typeface="맑은 고딕"/>
              </a:rPr>
              <a:t>사내 하자 리워크 26건: 평균 +32.9시간</a:t>
            </a:r>
          </a:p>
          <a:p>
            <a:pPr algn="l" eaLnBrk="0">
              <a:lnSpc>
                <a:spcPct val="100000"/>
              </a:lnSpc>
              <a:spcBef>
                <a:spcPts val="0"/>
              </a:spcBef>
              <a:spcAft>
                <a:spcPts val="0"/>
              </a:spcAft>
              <a:buNone/>
            </a:pPr>
            <a:r>
              <a:rPr sz="1000" b="0" i="0">
                <a:solidFill>
                  <a:srgbClr val="B91C1C"/>
                </a:solidFill>
                <a:latin typeface="맑은 고딕"/>
                <a:ea typeface="맑은 고딕"/>
                <a:cs typeface="맑은 고딕"/>
              </a:rPr>
              <a:t>E-1/E-2가 22건(84.6%)에 집중, 최대 10.1일(241.6h) 억류.</a:t>
            </a:r>
          </a:p>
        </p:txBody>
      </p:sp>
      <p:sp>
        <p:nvSpPr>
          <p:cNvPr id="40" name="OlsBanner"/>
          <p:cNvSpPr/>
          <p:nvPr/>
        </p:nvSpPr>
        <p:spPr>
          <a:xfrm>
            <a:off x="502920" y="5760720"/>
            <a:ext cx="11185855" cy="512064"/>
          </a:xfrm>
          <a:prstGeom prst="roundRect">
            <a:avLst>
              <a:gd name="adj" fmla="val 17857"/>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5760720"/>
            <a:ext cx="7863840" cy="512064"/>
          </a:xfrm>
          <a:prstGeom prst="rect">
            <a:avLst/>
          </a:prstGeom>
          <a:noFill/>
        </p:spPr>
        <p:txBody>
          <a:bodyPr wrap="square" lIns="0" tIns="0" rIns="0" bIns="0" anchor="ctr"/>
          <a:lstStyle/>
          <a:p>
            <a:pPr algn="l" eaLnBrk="0">
              <a:lnSpc>
                <a:spcPct val="100000"/>
              </a:lnSpc>
              <a:spcBef>
                <a:spcPts val="0"/>
              </a:spcBef>
              <a:spcAft>
                <a:spcPts val="0"/>
              </a:spcAft>
              <a:buNone/>
            </a:pPr>
            <a:r>
              <a:rPr sz="1150" b="1" i="0">
                <a:solidFill>
                  <a:srgbClr val="FFFFFF"/>
                </a:solidFill>
                <a:latin typeface="맑은 고딕"/>
                <a:ea typeface="맑은 고딕"/>
                <a:cs typeface="맑은 고딕"/>
              </a:rPr>
              <a:t>OLS 계수: 실사 대기가 1시간 길어질수록 전체 리드타임은 평균 1.12시간 길어진다 (관측 기반 연관)</a:t>
            </a:r>
          </a:p>
        </p:txBody>
      </p:sp>
      <p:sp>
        <p:nvSpPr>
          <p:cNvPr id="42" name="TextBox 41"/>
          <p:cNvSpPr txBox="1"/>
          <p:nvPr/>
        </p:nvSpPr>
        <p:spPr>
          <a:xfrm>
            <a:off x="8641080" y="5760720"/>
            <a:ext cx="2773375" cy="512064"/>
          </a:xfrm>
          <a:prstGeom prst="rect">
            <a:avLst/>
          </a:prstGeom>
          <a:noFill/>
        </p:spPr>
        <p:txBody>
          <a:bodyPr wrap="square" lIns="0" tIns="0" rIns="0" bIns="0" anchor="ctr"/>
          <a:lstStyle/>
          <a:p>
            <a:pPr algn="r" eaLnBrk="0">
              <a:lnSpc>
                <a:spcPct val="100000"/>
              </a:lnSpc>
              <a:spcBef>
                <a:spcPts val="0"/>
              </a:spcBef>
              <a:spcAft>
                <a:spcPts val="0"/>
              </a:spcAft>
              <a:buNone/>
            </a:pPr>
            <a:r>
              <a:rPr sz="1150" b="1" i="0">
                <a:solidFill>
                  <a:srgbClr val="34D399"/>
                </a:solidFill>
                <a:latin typeface="Consolas"/>
                <a:ea typeface="맑은 고딕"/>
                <a:cs typeface="맑은 고딕"/>
              </a:rPr>
              <a:t>β = +1.12h/h (p &lt; 0.001)</a:t>
            </a:r>
          </a:p>
        </p:txBody>
      </p:sp>
      <p:sp>
        <p:nvSpPr>
          <p:cNvPr id="43" name="Nav-1">
            <a:hlinkClick action="ppaction://hlinksldjump" r:id="rId5"/>
          </p:cNvPr>
          <p:cNvSpPr/>
          <p:nvPr/>
        </p:nvSpPr>
        <p:spPr>
          <a:xfrm>
            <a:off x="9201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Nav-2">
            <a:hlinkClick action="ppaction://hlinksldjump" r:id="rId6"/>
          </p:cNvPr>
          <p:cNvSpPr/>
          <p:nvPr/>
        </p:nvSpPr>
        <p:spPr>
          <a:xfrm>
            <a:off x="9315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Nav-3">
            <a:hlinkClick action="ppaction://hlinksldjump" r:id="rId7"/>
          </p:cNvPr>
          <p:cNvSpPr/>
          <p:nvPr/>
        </p:nvSpPr>
        <p:spPr>
          <a:xfrm>
            <a:off x="9430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Nav-4">
            <a:hlinkClick action="ppaction://hlinksldjump" r:id="rId8"/>
          </p:cNvPr>
          <p:cNvSpPr/>
          <p:nvPr/>
        </p:nvSpPr>
        <p:spPr>
          <a:xfrm>
            <a:off x="9544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Nav-5">
            <a:hlinkClick action="ppaction://hlinksldjump" r:id="rId9"/>
          </p:cNvPr>
          <p:cNvSpPr/>
          <p:nvPr/>
        </p:nvSpPr>
        <p:spPr>
          <a:xfrm>
            <a:off x="96588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Nav-6">
            <a:hlinkClick action="ppaction://hlinksldjump" r:id="rId10"/>
          </p:cNvPr>
          <p:cNvSpPr/>
          <p:nvPr/>
        </p:nvSpPr>
        <p:spPr>
          <a:xfrm>
            <a:off x="97731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av-7">
            <a:hlinkClick action="ppaction://hlinksldjump" r:id="rId11"/>
          </p:cNvPr>
          <p:cNvSpPr/>
          <p:nvPr/>
        </p:nvSpPr>
        <p:spPr>
          <a:xfrm>
            <a:off x="98874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Nav-8">
            <a:hlinkClick action="ppaction://hlinksldjump" r:id="rId12"/>
          </p:cNvPr>
          <p:cNvSpPr/>
          <p:nvPr/>
        </p:nvSpPr>
        <p:spPr>
          <a:xfrm>
            <a:off x="100017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Nav-9">
            <a:hlinkClick action="ppaction://hlinksldjump" r:id="rId13"/>
          </p:cNvPr>
          <p:cNvSpPr/>
          <p:nvPr/>
        </p:nvSpPr>
        <p:spPr>
          <a:xfrm>
            <a:off x="101160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Nav-10">
            <a:hlinkClick action="ppaction://hlinksldjump" r:id="rId14"/>
          </p:cNvPr>
          <p:cNvSpPr/>
          <p:nvPr/>
        </p:nvSpPr>
        <p:spPr>
          <a:xfrm>
            <a:off x="102303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Nav-11">
            <a:hlinkClick action="ppaction://hlinksldjump" r:id="rId15"/>
          </p:cNvPr>
          <p:cNvSpPr/>
          <p:nvPr/>
        </p:nvSpPr>
        <p:spPr>
          <a:xfrm>
            <a:off x="10344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Nav-12">
            <a:hlinkClick action="ppaction://hlinksldjump" r:id="rId16"/>
          </p:cNvPr>
          <p:cNvSpPr/>
          <p:nvPr/>
        </p:nvSpPr>
        <p:spPr>
          <a:xfrm>
            <a:off x="10458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Nav-13">
            <a:hlinkClick action="ppaction://hlinksldjump" r:id="rId17"/>
          </p:cNvPr>
          <p:cNvSpPr/>
          <p:nvPr/>
        </p:nvSpPr>
        <p:spPr>
          <a:xfrm>
            <a:off x="10573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Nav-14">
            <a:hlinkClick action="ppaction://hlinksldjump" r:id="rId18"/>
          </p:cNvPr>
          <p:cNvSpPr/>
          <p:nvPr/>
        </p:nvSpPr>
        <p:spPr>
          <a:xfrm>
            <a:off x="10687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3502660"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02 &amp; Part 03 발단 | 핵심 문제 규명 &amp; 해결 아젠다</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사전 분류가 이미 83~87%의 현장 결과와 맞는데도, '정보 해상도 단절'로</a:t>
            </a:r>
            <a:br/>
            <a:r>
              <a:rPr sz="2400" b="1" i="0">
                <a:solidFill>
                  <a:srgbClr val="0F172A"/>
                </a:solidFill>
                <a:latin typeface="맑은 고딕"/>
                <a:ea typeface="맑은 고딕"/>
                <a:cs typeface="맑은 고딕"/>
              </a:rPr>
              <a:t>403건 적체와 이중 출장이 고착되었다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analysis.sql 4절(사전 분류 정합성)·5절 시나리오 1 · 87.3% = E+P 전체(낙관 상한), 83.2% = 내부 완결 771건(보수 기준)</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12 / 14</a:t>
            </a:r>
          </a:p>
        </p:txBody>
      </p:sp>
      <p:sp>
        <p:nvSpPr>
          <p:cNvPr id="20" name="Fact87"/>
          <p:cNvSpPr/>
          <p:nvPr/>
        </p:nvSpPr>
        <p:spPr>
          <a:xfrm>
            <a:off x="502920" y="1627632"/>
            <a:ext cx="3576218" cy="4663440"/>
          </a:xfrm>
          <a:prstGeom prst="roundRect">
            <a:avLst>
              <a:gd name="adj" fmla="val 357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ll-데이터 팩트"/>
          <p:cNvSpPr/>
          <p:nvPr/>
        </p:nvSpPr>
        <p:spPr>
          <a:xfrm>
            <a:off x="685800" y="1773936"/>
            <a:ext cx="919797"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1E40AF"/>
                </a:solidFill>
                <a:latin typeface="맑은 고딕"/>
                <a:ea typeface="맑은 고딕"/>
                <a:cs typeface="맑은 고딕"/>
              </a:rPr>
              <a:t>데이터 팩트</a:t>
            </a:r>
          </a:p>
        </p:txBody>
      </p:sp>
      <p:sp>
        <p:nvSpPr>
          <p:cNvPr id="22" name="TextBox 21"/>
          <p:cNvSpPr txBox="1"/>
          <p:nvPr/>
        </p:nvSpPr>
        <p:spPr>
          <a:xfrm>
            <a:off x="685800" y="2084832"/>
            <a:ext cx="3210458" cy="274320"/>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0F172A"/>
                </a:solidFill>
                <a:latin typeface="맑은 고딕"/>
                <a:ea typeface="맑은 고딕"/>
                <a:cs typeface="맑은 고딕"/>
              </a:rPr>
              <a:t>사전 분류와 현장 결과의 정합도</a:t>
            </a:r>
          </a:p>
        </p:txBody>
      </p:sp>
      <p:sp>
        <p:nvSpPr>
          <p:cNvPr id="23" name="TextBox 22"/>
          <p:cNvSpPr txBox="1"/>
          <p:nvPr/>
        </p:nvSpPr>
        <p:spPr>
          <a:xfrm>
            <a:off x="685800" y="2395728"/>
            <a:ext cx="3210458" cy="457200"/>
          </a:xfrm>
          <a:prstGeom prst="rect">
            <a:avLst/>
          </a:prstGeom>
          <a:noFill/>
        </p:spPr>
        <p:txBody>
          <a:bodyPr wrap="square" lIns="0" tIns="0" rIns="0" bIns="0" anchor="t"/>
          <a:lstStyle/>
          <a:p>
            <a:pPr algn="l" eaLnBrk="0">
              <a:lnSpc>
                <a:spcPct val="100000"/>
              </a:lnSpc>
              <a:spcBef>
                <a:spcPts val="0"/>
              </a:spcBef>
              <a:spcAft>
                <a:spcPts val="0"/>
              </a:spcAft>
              <a:buNone/>
            </a:pPr>
            <a:r>
              <a:rPr sz="2600" b="1" i="0">
                <a:solidFill>
                  <a:srgbClr val="1D4ED8"/>
                </a:solidFill>
                <a:latin typeface="Consolas"/>
                <a:ea typeface="맑은 고딕"/>
                <a:cs typeface="맑은 고딕"/>
              </a:rPr>
              <a:t>83~87</a:t>
            </a:r>
            <a:r>
              <a:rPr sz="1600" b="1" i="0">
                <a:solidFill>
                  <a:srgbClr val="1D4ED8"/>
                </a:solidFill>
                <a:latin typeface="Consolas"/>
                <a:ea typeface="맑은 고딕"/>
                <a:cs typeface="맑은 고딕"/>
              </a:rPr>
              <a:t>%</a:t>
            </a:r>
            <a:r>
              <a:rPr sz="950" b="0" i="0">
                <a:solidFill>
                  <a:srgbClr val="64748B"/>
                </a:solidFill>
                <a:latin typeface="맑은 고딕"/>
                <a:ea typeface="맑은 고딕"/>
                <a:cs typeface="맑은 고딕"/>
              </a:rPr>
              <a:t>   보수 83.2% ~ 상한 87.3%</a:t>
            </a:r>
          </a:p>
        </p:txBody>
      </p:sp>
      <p:pic>
        <p:nvPicPr>
          <p:cNvPr id="24" name="Picture 23" descr="사전 분류별 1차 수리 결과: E형 370건 전원 사내수리, P형 439건 중 즉시 365·사내 36·외주 38, B형 118건 분산"/>
          <p:cNvPicPr>
            <a:picLocks noChangeAspect="1"/>
          </p:cNvPicPr>
          <p:nvPr/>
        </p:nvPicPr>
        <p:blipFill>
          <a:blip r:embed="rId2"/>
          <a:stretch>
            <a:fillRect/>
          </a:stretch>
        </p:blipFill>
        <p:spPr>
          <a:xfrm>
            <a:off x="690829" y="2926080"/>
            <a:ext cx="3200400" cy="1691640"/>
          </a:xfrm>
          <a:prstGeom prst="rect">
            <a:avLst/>
          </a:prstGeom>
        </p:spPr>
      </p:pic>
      <p:sp>
        <p:nvSpPr>
          <p:cNvPr id="25" name="TextBox 24"/>
          <p:cNvSpPr txBox="1"/>
          <p:nvPr/>
        </p:nvSpPr>
        <p:spPr>
          <a:xfrm>
            <a:off x="685800" y="4672584"/>
            <a:ext cx="3210458" cy="822960"/>
          </a:xfrm>
          <a:prstGeom prst="rect">
            <a:avLst/>
          </a:prstGeom>
          <a:noFill/>
        </p:spPr>
        <p:txBody>
          <a:bodyPr wrap="square" lIns="0" tIns="0" rIns="0" bIns="0" anchor="t"/>
          <a:lstStyle/>
          <a:p>
            <a:pPr algn="l" eaLnBrk="0" marL="155448" indent="-155448">
              <a:lnSpc>
                <a:spcPct val="100000"/>
              </a:lnSpc>
              <a:spcBef>
                <a:spcPts val="0"/>
              </a:spcBef>
              <a:spcAft>
                <a:spcPts val="200"/>
              </a:spcAft>
              <a:buClr>
                <a:srgbClr val="94A3B8"/>
              </a:buClr>
              <a:buFont typeface="Arial"/>
              <a:buChar char="•"/>
            </a:pPr>
            <a:r>
              <a:rPr sz="1050" b="0" i="0">
                <a:solidFill>
                  <a:srgbClr val="475569"/>
                </a:solidFill>
                <a:latin typeface="맑은 고딕"/>
                <a:ea typeface="맑은 고딕"/>
                <a:cs typeface="맑은 고딕"/>
              </a:rPr>
              <a:t>E형 370건: 100% 사내수리 완결</a:t>
            </a:r>
          </a:p>
          <a:p>
            <a:pPr algn="l" eaLnBrk="0" marL="155448" indent="-155448">
              <a:lnSpc>
                <a:spcPct val="100000"/>
              </a:lnSpc>
              <a:spcBef>
                <a:spcPts val="0"/>
              </a:spcBef>
              <a:spcAft>
                <a:spcPts val="200"/>
              </a:spcAft>
              <a:buClr>
                <a:srgbClr val="94A3B8"/>
              </a:buClr>
              <a:buFont typeface="Arial"/>
              <a:buChar char="•"/>
            </a:pPr>
            <a:r>
              <a:rPr sz="1050" b="0" i="0">
                <a:solidFill>
                  <a:srgbClr val="475569"/>
                </a:solidFill>
                <a:latin typeface="맑은 고딕"/>
                <a:ea typeface="맑은 고딕"/>
                <a:cs typeface="맑은 고딕"/>
              </a:rPr>
              <a:t>P형 439건: 91.3%(401건) 내부 완결</a:t>
            </a:r>
          </a:p>
          <a:p>
            <a:pPr algn="l" eaLnBrk="0" marL="155448" indent="-155448">
              <a:lnSpc>
                <a:spcPct val="100000"/>
              </a:lnSpc>
              <a:spcBef>
                <a:spcPts val="0"/>
              </a:spcBef>
              <a:spcAft>
                <a:spcPts val="200"/>
              </a:spcAft>
              <a:buClr>
                <a:srgbClr val="94A3B8"/>
              </a:buClr>
              <a:buFont typeface="Arial"/>
              <a:buChar char="•"/>
            </a:pPr>
            <a:r>
              <a:rPr sz="1050" b="0" i="0">
                <a:solidFill>
                  <a:srgbClr val="475569"/>
                </a:solidFill>
                <a:latin typeface="맑은 고딕"/>
                <a:ea typeface="맑은 고딕"/>
                <a:cs typeface="맑은 고딕"/>
              </a:rPr>
              <a:t>E+P 809건 = 87.3% (P-4 외주 38건 제외 시</a:t>
            </a:r>
            <a:br/>
            <a:r>
              <a:rPr sz="1050" b="0" i="0">
                <a:solidFill>
                  <a:srgbClr val="475569"/>
                </a:solidFill>
                <a:latin typeface="맑은 고딕"/>
                <a:ea typeface="맑은 고딕"/>
                <a:cs typeface="맑은 고딕"/>
              </a:rPr>
              <a:t>83.2%)</a:t>
            </a:r>
          </a:p>
        </p:txBody>
      </p:sp>
      <p:sp>
        <p:nvSpPr>
          <p:cNvPr id="26" name="Question"/>
          <p:cNvSpPr/>
          <p:nvPr/>
        </p:nvSpPr>
        <p:spPr>
          <a:xfrm>
            <a:off x="685800" y="5532120"/>
            <a:ext cx="3210458" cy="658368"/>
          </a:xfrm>
          <a:prstGeom prst="roundRect">
            <a:avLst>
              <a:gd name="adj" fmla="val 11111"/>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8" y="5532120"/>
            <a:ext cx="2991002" cy="658368"/>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1E40AF"/>
                </a:solidFill>
                <a:latin typeface="맑은 고딕"/>
                <a:ea typeface="맑은 고딕"/>
                <a:cs typeface="맑은 고딕"/>
              </a:rPr>
              <a:t>이미 83~87%를 맞히는데 왜 40분짜리 헛걸음</a:t>
            </a:r>
            <a:br/>
            <a:r>
              <a:rPr sz="1050" b="1" i="0">
                <a:solidFill>
                  <a:srgbClr val="1E40AF"/>
                </a:solidFill>
                <a:latin typeface="맑은 고딕"/>
                <a:ea typeface="맑은 고딕"/>
                <a:cs typeface="맑은 고딕"/>
              </a:rPr>
              <a:t>실사로 403건 적체를 자초했는가?</a:t>
            </a:r>
          </a:p>
        </p:txBody>
      </p:sp>
      <p:sp>
        <p:nvSpPr>
          <p:cNvPr id="28" name="ResolutionGap"/>
          <p:cNvSpPr/>
          <p:nvPr/>
        </p:nvSpPr>
        <p:spPr>
          <a:xfrm>
            <a:off x="4307738" y="1627632"/>
            <a:ext cx="3576218" cy="4663440"/>
          </a:xfrm>
          <a:prstGeom prst="roundRect">
            <a:avLst>
              <a:gd name="adj" fmla="val 3579"/>
            </a:avLst>
          </a:prstGeom>
          <a:solidFill>
            <a:srgbClr val="FFFFFF"/>
          </a:solidFill>
          <a:ln w="12700">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ill-원인 규명"/>
          <p:cNvSpPr/>
          <p:nvPr/>
        </p:nvSpPr>
        <p:spPr>
          <a:xfrm>
            <a:off x="4490618" y="1773936"/>
            <a:ext cx="799147"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원인 규명</a:t>
            </a:r>
          </a:p>
        </p:txBody>
      </p:sp>
      <p:sp>
        <p:nvSpPr>
          <p:cNvPr id="30" name="TextBox 29"/>
          <p:cNvSpPr txBox="1"/>
          <p:nvPr/>
        </p:nvSpPr>
        <p:spPr>
          <a:xfrm>
            <a:off x="4490618" y="2084832"/>
            <a:ext cx="3210458" cy="274320"/>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EA580C"/>
                </a:solidFill>
                <a:latin typeface="맑은 고딕"/>
                <a:ea typeface="맑은 고딕"/>
                <a:cs typeface="맑은 고딕"/>
              </a:rPr>
              <a:t>정보 해상도 단절</a:t>
            </a:r>
          </a:p>
        </p:txBody>
      </p:sp>
      <p:sp>
        <p:nvSpPr>
          <p:cNvPr id="31" name="TextBox 30"/>
          <p:cNvSpPr txBox="1"/>
          <p:nvPr/>
        </p:nvSpPr>
        <p:spPr>
          <a:xfrm>
            <a:off x="4490618" y="2395728"/>
            <a:ext cx="3210458" cy="457200"/>
          </a:xfrm>
          <a:prstGeom prst="rect">
            <a:avLst/>
          </a:prstGeom>
          <a:noFill/>
        </p:spPr>
        <p:txBody>
          <a:bodyPr wrap="square" lIns="0" tIns="0" rIns="0" bIns="0" anchor="t"/>
          <a:lstStyle/>
          <a:p>
            <a:pPr algn="l" eaLnBrk="0">
              <a:lnSpc>
                <a:spcPct val="100000"/>
              </a:lnSpc>
              <a:spcBef>
                <a:spcPts val="0"/>
              </a:spcBef>
              <a:spcAft>
                <a:spcPts val="0"/>
              </a:spcAft>
              <a:buNone/>
            </a:pPr>
            <a:r>
              <a:rPr sz="2600" b="1" i="0">
                <a:solidFill>
                  <a:srgbClr val="EA580C"/>
                </a:solidFill>
                <a:latin typeface="Consolas"/>
                <a:ea typeface="맑은 고딕"/>
                <a:cs typeface="맑은 고딕"/>
              </a:rPr>
              <a:t>Resolution Gap</a:t>
            </a:r>
          </a:p>
        </p:txBody>
      </p:sp>
      <p:sp>
        <p:nvSpPr>
          <p:cNvPr id="32" name="Contrast-1"/>
          <p:cNvSpPr/>
          <p:nvPr/>
        </p:nvSpPr>
        <p:spPr>
          <a:xfrm>
            <a:off x="4490618" y="2999232"/>
            <a:ext cx="3210458" cy="1170432"/>
          </a:xfrm>
          <a:prstGeom prst="roundRect">
            <a:avLst>
              <a:gd name="adj" fmla="val 625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18634" y="3072384"/>
            <a:ext cx="2954426" cy="1042415"/>
          </a:xfrm>
          <a:prstGeom prst="rect">
            <a:avLst/>
          </a:prstGeom>
          <a:noFill/>
        </p:spPr>
        <p:txBody>
          <a:bodyPr wrap="square" lIns="0" tIns="0" rIns="0" bIns="0" anchor="t"/>
          <a:lstStyle/>
          <a:p>
            <a:pPr algn="l" eaLnBrk="0">
              <a:lnSpc>
                <a:spcPct val="100000"/>
              </a:lnSpc>
              <a:spcBef>
                <a:spcPts val="0"/>
              </a:spcBef>
              <a:spcAft>
                <a:spcPts val="200"/>
              </a:spcAft>
              <a:buNone/>
            </a:pPr>
            <a:r>
              <a:rPr sz="1200" b="1" i="0">
                <a:solidFill>
                  <a:srgbClr val="0F172A"/>
                </a:solidFill>
                <a:latin typeface="맑은 고딕"/>
                <a:ea typeface="맑은 고딕"/>
                <a:cs typeface="맑은 고딕"/>
              </a:rPr>
              <a:t>현행 접수 상담원</a:t>
            </a:r>
          </a:p>
          <a:p>
            <a:pPr algn="l" eaLnBrk="0">
              <a:lnSpc>
                <a:spcPct val="100000"/>
              </a:lnSpc>
              <a:spcBef>
                <a:spcPts val="0"/>
              </a:spcBef>
              <a:spcAft>
                <a:spcPts val="400"/>
              </a:spcAft>
              <a:buNone/>
            </a:pPr>
            <a:r>
              <a:rPr sz="1100" b="1" i="0">
                <a:solidFill>
                  <a:srgbClr val="334155"/>
                </a:solidFill>
                <a:latin typeface="맑은 고딕"/>
                <a:ea typeface="맑은 고딕"/>
                <a:cs typeface="맑은 고딕"/>
              </a:rPr>
              <a:t>➔ 알파벳 대분류(B·P·E)만 수집</a:t>
            </a:r>
          </a:p>
          <a:p>
            <a:pPr algn="l" eaLnBrk="0">
              <a:lnSpc>
                <a:spcPct val="100000"/>
              </a:lnSpc>
              <a:spcBef>
                <a:spcPts val="0"/>
              </a:spcBef>
              <a:spcAft>
                <a:spcPts val="0"/>
              </a:spcAft>
              <a:buNone/>
            </a:pPr>
            <a:r>
              <a:rPr sz="1100" b="0" i="0">
                <a:solidFill>
                  <a:srgbClr val="475569"/>
                </a:solidFill>
                <a:latin typeface="맑은 고딕"/>
                <a:ea typeface="맑은 고딕"/>
                <a:cs typeface="맑은 고딕"/>
              </a:rPr>
              <a:t>한계: 알파벳만으로는 차에 실을 자재 규격을</a:t>
            </a:r>
            <a:br/>
            <a:r>
              <a:rPr sz="1100" b="0" i="0">
                <a:solidFill>
                  <a:srgbClr val="475569"/>
                </a:solidFill>
                <a:latin typeface="맑은 고딕"/>
                <a:ea typeface="맑은 고딕"/>
                <a:cs typeface="맑은 고딕"/>
              </a:rPr>
              <a:t>특정할 수 없음</a:t>
            </a:r>
          </a:p>
        </p:txBody>
      </p:sp>
      <p:sp>
        <p:nvSpPr>
          <p:cNvPr id="34" name="Contrast-2"/>
          <p:cNvSpPr/>
          <p:nvPr/>
        </p:nvSpPr>
        <p:spPr>
          <a:xfrm>
            <a:off x="4490618" y="4261104"/>
            <a:ext cx="3210458" cy="1170432"/>
          </a:xfrm>
          <a:prstGeom prst="roundRect">
            <a:avLst>
              <a:gd name="adj" fmla="val 625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18634" y="4334256"/>
            <a:ext cx="2954426" cy="1042415"/>
          </a:xfrm>
          <a:prstGeom prst="rect">
            <a:avLst/>
          </a:prstGeom>
          <a:noFill/>
        </p:spPr>
        <p:txBody>
          <a:bodyPr wrap="square" lIns="0" tIns="0" rIns="0" bIns="0" anchor="t"/>
          <a:lstStyle/>
          <a:p>
            <a:pPr algn="l" eaLnBrk="0">
              <a:lnSpc>
                <a:spcPct val="100000"/>
              </a:lnSpc>
              <a:spcBef>
                <a:spcPts val="0"/>
              </a:spcBef>
              <a:spcAft>
                <a:spcPts val="200"/>
              </a:spcAft>
              <a:buNone/>
            </a:pPr>
            <a:r>
              <a:rPr sz="1200" b="1" i="0">
                <a:solidFill>
                  <a:srgbClr val="0F172A"/>
                </a:solidFill>
                <a:latin typeface="맑은 고딕"/>
                <a:ea typeface="맑은 고딕"/>
                <a:cs typeface="맑은 고딕"/>
              </a:rPr>
              <a:t>현장 방문 기사</a:t>
            </a:r>
          </a:p>
          <a:p>
            <a:pPr algn="l" eaLnBrk="0">
              <a:lnSpc>
                <a:spcPct val="100000"/>
              </a:lnSpc>
              <a:spcBef>
                <a:spcPts val="0"/>
              </a:spcBef>
              <a:spcAft>
                <a:spcPts val="400"/>
              </a:spcAft>
              <a:buNone/>
            </a:pPr>
            <a:r>
              <a:rPr sz="1100" b="1" i="0">
                <a:solidFill>
                  <a:srgbClr val="334155"/>
                </a:solidFill>
                <a:latin typeface="맑은 고딕"/>
                <a:ea typeface="맑은 고딕"/>
                <a:cs typeface="맑은 고딕"/>
              </a:rPr>
              <a:t>➔ 40분 방문 실사 후 세부 코드(1~4) 판정</a:t>
            </a:r>
          </a:p>
          <a:p>
            <a:pPr algn="l" eaLnBrk="0">
              <a:lnSpc>
                <a:spcPct val="100000"/>
              </a:lnSpc>
              <a:spcBef>
                <a:spcPts val="0"/>
              </a:spcBef>
              <a:spcAft>
                <a:spcPts val="0"/>
              </a:spcAft>
              <a:buNone/>
            </a:pPr>
            <a:r>
              <a:rPr sz="1100" b="0" i="0">
                <a:solidFill>
                  <a:srgbClr val="475569"/>
                </a:solidFill>
                <a:latin typeface="맑은 고딕"/>
                <a:ea typeface="맑은 고딕"/>
                <a:cs typeface="맑은 고딕"/>
              </a:rPr>
              <a:t>결과: 실사(40분) ➔ 부품 주문(30.5h) ➔</a:t>
            </a:r>
            <a:br/>
            <a:r>
              <a:rPr sz="1100" b="0" i="0">
                <a:solidFill>
                  <a:srgbClr val="475569"/>
                </a:solidFill>
                <a:latin typeface="맑은 고딕"/>
                <a:ea typeface="맑은 고딕"/>
                <a:cs typeface="맑은 고딕"/>
              </a:rPr>
              <a:t>재방문 수리 = 이중 출장 고착</a:t>
            </a:r>
          </a:p>
        </p:txBody>
      </p:sp>
      <p:sp>
        <p:nvSpPr>
          <p:cNvPr id="36" name="GapSummary"/>
          <p:cNvSpPr/>
          <p:nvPr/>
        </p:nvSpPr>
        <p:spPr>
          <a:xfrm>
            <a:off x="4490618" y="5532120"/>
            <a:ext cx="3210458" cy="658368"/>
          </a:xfrm>
          <a:prstGeom prst="roundRect">
            <a:avLst>
              <a:gd name="adj" fmla="val 11111"/>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00346" y="5532120"/>
            <a:ext cx="2991002" cy="658368"/>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9A3412"/>
                </a:solidFill>
                <a:latin typeface="맑은 고딕"/>
                <a:ea typeface="맑은 고딕"/>
                <a:cs typeface="맑은 고딕"/>
              </a:rPr>
              <a:t>접수와 현장의 정보 해상도 단절이 이중 출장</a:t>
            </a:r>
            <a:br/>
            <a:r>
              <a:rPr sz="1050" b="1" i="0">
                <a:solidFill>
                  <a:srgbClr val="9A3412"/>
                </a:solidFill>
                <a:latin typeface="맑은 고딕"/>
                <a:ea typeface="맑은 고딕"/>
                <a:cs typeface="맑은 고딕"/>
              </a:rPr>
              <a:t>비효율의 핵심 원인</a:t>
            </a:r>
          </a:p>
        </p:txBody>
      </p:sp>
      <p:sp>
        <p:nvSpPr>
          <p:cNvPr id="38" name="ConservativeFix"/>
          <p:cNvSpPr/>
          <p:nvPr/>
        </p:nvSpPr>
        <p:spPr>
          <a:xfrm>
            <a:off x="8112556" y="1627632"/>
            <a:ext cx="3576218" cy="4663440"/>
          </a:xfrm>
          <a:prstGeom prst="roundRect">
            <a:avLst>
              <a:gd name="adj" fmla="val 3579"/>
            </a:avLst>
          </a:prstGeom>
          <a:solidFill>
            <a:srgbClr val="FFFFFF"/>
          </a:solidFill>
          <a:ln w="254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ill-보수적 해결책"/>
          <p:cNvSpPr/>
          <p:nvPr/>
        </p:nvSpPr>
        <p:spPr>
          <a:xfrm>
            <a:off x="8295436" y="1773936"/>
            <a:ext cx="1040447"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보수적 해결책</a:t>
            </a:r>
          </a:p>
        </p:txBody>
      </p:sp>
      <p:sp>
        <p:nvSpPr>
          <p:cNvPr id="40" name="TextBox 39"/>
          <p:cNvSpPr txBox="1"/>
          <p:nvPr/>
        </p:nvSpPr>
        <p:spPr>
          <a:xfrm>
            <a:off x="8295436" y="2084832"/>
            <a:ext cx="3210458" cy="274320"/>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047857"/>
                </a:solidFill>
                <a:latin typeface="맑은 고딕"/>
                <a:ea typeface="맑은 고딕"/>
                <a:cs typeface="맑은 고딕"/>
              </a:rPr>
              <a:t>E형 우선 신뢰 시 즉각적 대기 단축</a:t>
            </a:r>
          </a:p>
        </p:txBody>
      </p:sp>
      <p:sp>
        <p:nvSpPr>
          <p:cNvPr id="41" name="TextBox 40"/>
          <p:cNvSpPr txBox="1"/>
          <p:nvPr/>
        </p:nvSpPr>
        <p:spPr>
          <a:xfrm>
            <a:off x="8295436" y="2432304"/>
            <a:ext cx="3210458" cy="237744"/>
          </a:xfrm>
          <a:prstGeom prst="rect">
            <a:avLst/>
          </a:prstGeom>
          <a:noFill/>
        </p:spPr>
        <p:txBody>
          <a:bodyPr wrap="square" lIns="0" tIns="0" rIns="0" bIns="0" anchor="t"/>
          <a:lstStyle/>
          <a:p>
            <a:pPr algn="l" eaLnBrk="0">
              <a:lnSpc>
                <a:spcPct val="100000"/>
              </a:lnSpc>
              <a:spcBef>
                <a:spcPts val="0"/>
              </a:spcBef>
              <a:spcAft>
                <a:spcPts val="0"/>
              </a:spcAft>
              <a:buNone/>
            </a:pPr>
            <a:r>
              <a:rPr sz="1100" b="1" i="0">
                <a:solidFill>
                  <a:srgbClr val="0F172A"/>
                </a:solidFill>
                <a:latin typeface="맑은 고딕"/>
                <a:ea typeface="맑은 고딕"/>
                <a:cs typeface="맑은 고딕"/>
              </a:rPr>
              <a:t>① CAPA 부하 경감 (일 실사 유입)</a:t>
            </a:r>
          </a:p>
        </p:txBody>
      </p:sp>
      <p:sp>
        <p:nvSpPr>
          <p:cNvPr id="42" name="TextBox 41"/>
          <p:cNvSpPr txBox="1"/>
          <p:nvPr/>
        </p:nvSpPr>
        <p:spPr>
          <a:xfrm>
            <a:off x="8295436" y="2724912"/>
            <a:ext cx="868680" cy="219456"/>
          </a:xfrm>
          <a:prstGeom prst="rect">
            <a:avLst/>
          </a:prstGeom>
          <a:noFill/>
        </p:spPr>
        <p:txBody>
          <a:bodyPr wrap="square" lIns="0" tIns="0" rIns="0" bIns="0" anchor="ctr"/>
          <a:lstStyle/>
          <a:p>
            <a:pPr algn="l" eaLnBrk="0">
              <a:lnSpc>
                <a:spcPct val="100000"/>
              </a:lnSpc>
              <a:spcBef>
                <a:spcPts val="0"/>
              </a:spcBef>
              <a:spcAft>
                <a:spcPts val="0"/>
              </a:spcAft>
              <a:buNone/>
            </a:pPr>
            <a:r>
              <a:rPr sz="1000" b="0" i="0">
                <a:solidFill>
                  <a:srgbClr val="1E293B"/>
                </a:solidFill>
                <a:latin typeface="맑은 고딕"/>
                <a:ea typeface="맑은 고딕"/>
                <a:cs typeface="맑은 고딕"/>
              </a:rPr>
              <a:t>현재 유입</a:t>
            </a:r>
          </a:p>
        </p:txBody>
      </p:sp>
      <p:sp>
        <p:nvSpPr>
          <p:cNvPr id="43" name="MiniBar-1"/>
          <p:cNvSpPr/>
          <p:nvPr/>
        </p:nvSpPr>
        <p:spPr>
          <a:xfrm>
            <a:off x="9209836" y="2752344"/>
            <a:ext cx="1783079" cy="1645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038636" y="2724912"/>
            <a:ext cx="548640" cy="219456"/>
          </a:xfrm>
          <a:prstGeom prst="rect">
            <a:avLst/>
          </a:prstGeom>
          <a:noFill/>
        </p:spPr>
        <p:txBody>
          <a:bodyPr wrap="square" lIns="0" tIns="0" rIns="0" bIns="0" anchor="ctr"/>
          <a:lstStyle/>
          <a:p>
            <a:pPr algn="l" eaLnBrk="0">
              <a:lnSpc>
                <a:spcPct val="100000"/>
              </a:lnSpc>
              <a:spcBef>
                <a:spcPts val="0"/>
              </a:spcBef>
              <a:spcAft>
                <a:spcPts val="0"/>
              </a:spcAft>
              <a:buNone/>
            </a:pPr>
            <a:r>
              <a:rPr sz="1000" b="1" i="0">
                <a:solidFill>
                  <a:srgbClr val="1E293B"/>
                </a:solidFill>
                <a:latin typeface="Consolas"/>
                <a:ea typeface="맑은 고딕"/>
                <a:cs typeface="맑은 고딕"/>
              </a:rPr>
              <a:t>134.3</a:t>
            </a:r>
          </a:p>
        </p:txBody>
      </p:sp>
      <p:sp>
        <p:nvSpPr>
          <p:cNvPr id="45" name="TextBox 44"/>
          <p:cNvSpPr txBox="1"/>
          <p:nvPr/>
        </p:nvSpPr>
        <p:spPr>
          <a:xfrm>
            <a:off x="8295436" y="2999232"/>
            <a:ext cx="868680" cy="219456"/>
          </a:xfrm>
          <a:prstGeom prst="rect">
            <a:avLst/>
          </a:prstGeom>
          <a:noFill/>
        </p:spPr>
        <p:txBody>
          <a:bodyPr wrap="square" lIns="0" tIns="0" rIns="0" bIns="0" anchor="ctr"/>
          <a:lstStyle/>
          <a:p>
            <a:pPr algn="l" eaLnBrk="0">
              <a:lnSpc>
                <a:spcPct val="100000"/>
              </a:lnSpc>
              <a:spcBef>
                <a:spcPts val="0"/>
              </a:spcBef>
              <a:spcAft>
                <a:spcPts val="0"/>
              </a:spcAft>
              <a:buNone/>
            </a:pPr>
            <a:r>
              <a:rPr sz="1000" b="1" i="0">
                <a:solidFill>
                  <a:srgbClr val="047857"/>
                </a:solidFill>
                <a:latin typeface="맑은 고딕"/>
                <a:ea typeface="맑은 고딕"/>
                <a:cs typeface="맑은 고딕"/>
              </a:rPr>
              <a:t>E형 직행 후</a:t>
            </a:r>
          </a:p>
        </p:txBody>
      </p:sp>
      <p:sp>
        <p:nvSpPr>
          <p:cNvPr id="46" name="MiniBar-2"/>
          <p:cNvSpPr/>
          <p:nvPr/>
        </p:nvSpPr>
        <p:spPr>
          <a:xfrm>
            <a:off x="9209836" y="3026663"/>
            <a:ext cx="1071441" cy="16459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26998" y="2999232"/>
            <a:ext cx="548640" cy="219456"/>
          </a:xfrm>
          <a:prstGeom prst="rect">
            <a:avLst/>
          </a:prstGeom>
          <a:noFill/>
        </p:spPr>
        <p:txBody>
          <a:bodyPr wrap="square" lIns="0" tIns="0" rIns="0" bIns="0" anchor="ctr"/>
          <a:lstStyle/>
          <a:p>
            <a:pPr algn="l" eaLnBrk="0">
              <a:lnSpc>
                <a:spcPct val="100000"/>
              </a:lnSpc>
              <a:spcBef>
                <a:spcPts val="0"/>
              </a:spcBef>
              <a:spcAft>
                <a:spcPts val="0"/>
              </a:spcAft>
              <a:buNone/>
            </a:pPr>
            <a:r>
              <a:rPr sz="1000" b="1" i="0">
                <a:solidFill>
                  <a:srgbClr val="047857"/>
                </a:solidFill>
                <a:latin typeface="Consolas"/>
                <a:ea typeface="맑은 고딕"/>
                <a:cs typeface="맑은 고딕"/>
              </a:rPr>
              <a:t>80.7</a:t>
            </a:r>
          </a:p>
        </p:txBody>
      </p:sp>
      <p:sp>
        <p:nvSpPr>
          <p:cNvPr id="48" name="TextBox 47"/>
          <p:cNvSpPr txBox="1"/>
          <p:nvPr/>
        </p:nvSpPr>
        <p:spPr>
          <a:xfrm>
            <a:off x="8295436" y="3273552"/>
            <a:ext cx="868680" cy="219456"/>
          </a:xfrm>
          <a:prstGeom prst="rect">
            <a:avLst/>
          </a:prstGeom>
          <a:noFill/>
        </p:spPr>
        <p:txBody>
          <a:bodyPr wrap="square" lIns="0" tIns="0" rIns="0" bIns="0" anchor="ctr"/>
          <a:lstStyle/>
          <a:p>
            <a:pPr algn="l" eaLnBrk="0">
              <a:lnSpc>
                <a:spcPct val="100000"/>
              </a:lnSpc>
              <a:spcBef>
                <a:spcPts val="0"/>
              </a:spcBef>
              <a:spcAft>
                <a:spcPts val="0"/>
              </a:spcAft>
              <a:buNone/>
            </a:pPr>
            <a:r>
              <a:rPr sz="1000" b="0" i="0">
                <a:solidFill>
                  <a:srgbClr val="475569"/>
                </a:solidFill>
                <a:latin typeface="맑은 고딕"/>
                <a:ea typeface="맑은 고딕"/>
                <a:cs typeface="맑은 고딕"/>
              </a:rPr>
              <a:t>기사 CAPA</a:t>
            </a:r>
          </a:p>
        </p:txBody>
      </p:sp>
      <p:sp>
        <p:nvSpPr>
          <p:cNvPr id="49" name="MiniBar-3"/>
          <p:cNvSpPr/>
          <p:nvPr/>
        </p:nvSpPr>
        <p:spPr>
          <a:xfrm>
            <a:off x="9209836" y="3300984"/>
            <a:ext cx="902825" cy="164592"/>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58382" y="3273552"/>
            <a:ext cx="548640" cy="219456"/>
          </a:xfrm>
          <a:prstGeom prst="rect">
            <a:avLst/>
          </a:prstGeom>
          <a:noFill/>
        </p:spPr>
        <p:txBody>
          <a:bodyPr wrap="square" lIns="0" tIns="0" rIns="0" bIns="0" anchor="ctr"/>
          <a:lstStyle/>
          <a:p>
            <a:pPr algn="l" eaLnBrk="0">
              <a:lnSpc>
                <a:spcPct val="100000"/>
              </a:lnSpc>
              <a:spcBef>
                <a:spcPts val="0"/>
              </a:spcBef>
              <a:spcAft>
                <a:spcPts val="0"/>
              </a:spcAft>
              <a:buNone/>
            </a:pPr>
            <a:r>
              <a:rPr sz="1000" b="1" i="0">
                <a:solidFill>
                  <a:srgbClr val="475569"/>
                </a:solidFill>
                <a:latin typeface="Consolas"/>
                <a:ea typeface="맑은 고딕"/>
                <a:cs typeface="맑은 고딕"/>
              </a:rPr>
              <a:t>68.0</a:t>
            </a:r>
          </a:p>
        </p:txBody>
      </p:sp>
      <p:sp>
        <p:nvSpPr>
          <p:cNvPr id="51" name="TextBox 50"/>
          <p:cNvSpPr txBox="1"/>
          <p:nvPr/>
        </p:nvSpPr>
        <p:spPr>
          <a:xfrm>
            <a:off x="8295436" y="3584448"/>
            <a:ext cx="3210458" cy="457200"/>
          </a:xfrm>
          <a:prstGeom prst="rect">
            <a:avLst/>
          </a:prstGeom>
          <a:noFill/>
        </p:spPr>
        <p:txBody>
          <a:bodyPr wrap="square" lIns="0" tIns="0" rIns="0" bIns="0" anchor="t"/>
          <a:lstStyle/>
          <a:p>
            <a:pPr algn="l" eaLnBrk="0" marL="155448" indent="-155448">
              <a:lnSpc>
                <a:spcPct val="100000"/>
              </a:lnSpc>
              <a:spcBef>
                <a:spcPts val="0"/>
              </a:spcBef>
              <a:spcAft>
                <a:spcPts val="0"/>
              </a:spcAft>
              <a:buClr>
                <a:srgbClr val="94A3B8"/>
              </a:buClr>
              <a:buFont typeface="Arial"/>
              <a:buChar char="•"/>
            </a:pPr>
            <a:r>
              <a:rPr sz="1050" b="0" i="0">
                <a:solidFill>
                  <a:srgbClr val="475569"/>
                </a:solidFill>
                <a:latin typeface="맑은 고딕"/>
                <a:ea typeface="맑은 고딕"/>
                <a:cs typeface="맑은 고딕"/>
              </a:rPr>
              <a:t>E형 370건 직행 ➔ 유입 40% 감소, 적체 누적</a:t>
            </a:r>
            <a:br/>
            <a:r>
              <a:rPr sz="1050" b="0" i="0">
                <a:solidFill>
                  <a:srgbClr val="475569"/>
                </a:solidFill>
                <a:latin typeface="맑은 고딕"/>
                <a:ea typeface="맑은 고딕"/>
                <a:cs typeface="맑은 고딕"/>
              </a:rPr>
              <a:t>속도 80.8% 격감 (일 66.3건 ➔ 12.7건)</a:t>
            </a:r>
          </a:p>
        </p:txBody>
      </p:sp>
      <p:sp>
        <p:nvSpPr>
          <p:cNvPr id="52" name="TextBox 51"/>
          <p:cNvSpPr txBox="1"/>
          <p:nvPr/>
        </p:nvSpPr>
        <p:spPr>
          <a:xfrm>
            <a:off x="8295436" y="4114800"/>
            <a:ext cx="3210458" cy="237744"/>
          </a:xfrm>
          <a:prstGeom prst="rect">
            <a:avLst/>
          </a:prstGeom>
          <a:noFill/>
        </p:spPr>
        <p:txBody>
          <a:bodyPr wrap="square" lIns="0" tIns="0" rIns="0" bIns="0" anchor="t"/>
          <a:lstStyle/>
          <a:p>
            <a:pPr algn="l" eaLnBrk="0">
              <a:lnSpc>
                <a:spcPct val="100000"/>
              </a:lnSpc>
              <a:spcBef>
                <a:spcPts val="0"/>
              </a:spcBef>
              <a:spcAft>
                <a:spcPts val="0"/>
              </a:spcAft>
              <a:buNone/>
            </a:pPr>
            <a:r>
              <a:rPr sz="1100" b="1" i="0">
                <a:solidFill>
                  <a:srgbClr val="0F172A"/>
                </a:solidFill>
                <a:latin typeface="맑은 고딕"/>
                <a:ea typeface="맑은 고딕"/>
                <a:cs typeface="맑은 고딕"/>
              </a:rPr>
              <a:t>② 보수적 20% 대기 단축</a:t>
            </a:r>
          </a:p>
        </p:txBody>
      </p:sp>
      <p:sp>
        <p:nvSpPr>
          <p:cNvPr id="53" name="TextBox 52"/>
          <p:cNvSpPr txBox="1"/>
          <p:nvPr/>
        </p:nvSpPr>
        <p:spPr>
          <a:xfrm>
            <a:off x="8295436" y="4370832"/>
            <a:ext cx="3210458" cy="237744"/>
          </a:xfrm>
          <a:prstGeom prst="rect">
            <a:avLst/>
          </a:prstGeom>
          <a:noFill/>
        </p:spPr>
        <p:txBody>
          <a:bodyPr wrap="square" lIns="0" tIns="0" rIns="0" bIns="0" anchor="t"/>
          <a:lstStyle/>
          <a:p>
            <a:pPr algn="l" eaLnBrk="0" marL="155448" indent="-155448">
              <a:lnSpc>
                <a:spcPct val="100000"/>
              </a:lnSpc>
              <a:spcBef>
                <a:spcPts val="0"/>
              </a:spcBef>
              <a:spcAft>
                <a:spcPts val="0"/>
              </a:spcAft>
              <a:buClr>
                <a:srgbClr val="94A3B8"/>
              </a:buClr>
              <a:buFont typeface="Arial"/>
              <a:buChar char="•"/>
            </a:pPr>
            <a:r>
              <a:rPr sz="1050" b="0" i="0">
                <a:solidFill>
                  <a:srgbClr val="475569"/>
                </a:solidFill>
                <a:latin typeface="맑은 고딕"/>
                <a:ea typeface="맑은 고딕"/>
                <a:cs typeface="맑은 고딕"/>
              </a:rPr>
              <a:t>실사 대기(76.8h) 20% 단축 ➔ -15.4시간</a:t>
            </a:r>
          </a:p>
        </p:txBody>
      </p:sp>
      <p:sp>
        <p:nvSpPr>
          <p:cNvPr id="54" name="TextBox 53"/>
          <p:cNvSpPr txBox="1"/>
          <p:nvPr/>
        </p:nvSpPr>
        <p:spPr>
          <a:xfrm>
            <a:off x="8295436" y="4645152"/>
            <a:ext cx="3210458" cy="237744"/>
          </a:xfrm>
          <a:prstGeom prst="rect">
            <a:avLst/>
          </a:prstGeom>
          <a:noFill/>
        </p:spPr>
        <p:txBody>
          <a:bodyPr wrap="square" lIns="0" tIns="0" rIns="0" bIns="0" anchor="t"/>
          <a:lstStyle/>
          <a:p>
            <a:pPr algn="l" eaLnBrk="0">
              <a:lnSpc>
                <a:spcPct val="100000"/>
              </a:lnSpc>
              <a:spcBef>
                <a:spcPts val="0"/>
              </a:spcBef>
              <a:spcAft>
                <a:spcPts val="0"/>
              </a:spcAft>
              <a:buNone/>
            </a:pPr>
            <a:r>
              <a:rPr sz="1100" b="1" i="0">
                <a:solidFill>
                  <a:srgbClr val="0F172A"/>
                </a:solidFill>
                <a:latin typeface="맑은 고딕"/>
                <a:ea typeface="맑은 고딕"/>
                <a:cs typeface="맑은 고딕"/>
              </a:rPr>
              <a:t>③ OLS 계수(+1.12h/h) 연동</a:t>
            </a:r>
          </a:p>
        </p:txBody>
      </p:sp>
      <p:sp>
        <p:nvSpPr>
          <p:cNvPr id="55" name="TextBox 54"/>
          <p:cNvSpPr txBox="1"/>
          <p:nvPr/>
        </p:nvSpPr>
        <p:spPr>
          <a:xfrm>
            <a:off x="8295436" y="4901184"/>
            <a:ext cx="3210458" cy="365760"/>
          </a:xfrm>
          <a:prstGeom prst="rect">
            <a:avLst/>
          </a:prstGeom>
          <a:noFill/>
        </p:spPr>
        <p:txBody>
          <a:bodyPr wrap="square" lIns="0" tIns="0" rIns="0" bIns="0" anchor="t"/>
          <a:lstStyle/>
          <a:p>
            <a:pPr algn="l" eaLnBrk="0" marL="155448" indent="-155448">
              <a:lnSpc>
                <a:spcPct val="100000"/>
              </a:lnSpc>
              <a:spcBef>
                <a:spcPts val="0"/>
              </a:spcBef>
              <a:spcAft>
                <a:spcPts val="0"/>
              </a:spcAft>
              <a:buClr>
                <a:srgbClr val="94A3B8"/>
              </a:buClr>
              <a:buFont typeface="Arial"/>
              <a:buChar char="•"/>
            </a:pPr>
            <a:r>
              <a:rPr sz="1050" b="0" i="0">
                <a:solidFill>
                  <a:srgbClr val="475569"/>
                </a:solidFill>
                <a:latin typeface="맑은 고딕"/>
                <a:ea typeface="맑은 고딕"/>
                <a:cs typeface="맑은 고딕"/>
              </a:rPr>
              <a:t>15.4h × 1.12 = 전체 리드타임 -17.2시간</a:t>
            </a:r>
          </a:p>
        </p:txBody>
      </p:sp>
      <p:sp>
        <p:nvSpPr>
          <p:cNvPr id="56" name="FloorBig"/>
          <p:cNvSpPr/>
          <p:nvPr/>
        </p:nvSpPr>
        <p:spPr>
          <a:xfrm>
            <a:off x="8295436" y="5285232"/>
            <a:ext cx="3210458" cy="905256"/>
          </a:xfrm>
          <a:prstGeom prst="roundRect">
            <a:avLst>
              <a:gd name="adj" fmla="val 10101"/>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95436" y="5321808"/>
            <a:ext cx="3210458" cy="530352"/>
          </a:xfrm>
          <a:prstGeom prst="rect">
            <a:avLst/>
          </a:prstGeom>
          <a:noFill/>
        </p:spPr>
        <p:txBody>
          <a:bodyPr wrap="square" lIns="0" tIns="0" rIns="0" bIns="0" anchor="ctr"/>
          <a:lstStyle/>
          <a:p>
            <a:pPr algn="ctr" eaLnBrk="0">
              <a:lnSpc>
                <a:spcPct val="100000"/>
              </a:lnSpc>
              <a:spcBef>
                <a:spcPts val="0"/>
              </a:spcBef>
              <a:spcAft>
                <a:spcPts val="0"/>
              </a:spcAft>
              <a:buNone/>
            </a:pPr>
            <a:r>
              <a:rPr sz="1600" b="1" i="0">
                <a:solidFill>
                  <a:srgbClr val="059669"/>
                </a:solidFill>
                <a:latin typeface="맑은 고딕"/>
                <a:ea typeface="맑은 고딕"/>
                <a:cs typeface="맑은 고딕"/>
              </a:rPr>
              <a:t>▼ </a:t>
            </a:r>
            <a:r>
              <a:rPr sz="2600" b="1" i="0">
                <a:solidFill>
                  <a:srgbClr val="059669"/>
                </a:solidFill>
                <a:latin typeface="Consolas"/>
                <a:ea typeface="맑은 고딕"/>
                <a:cs typeface="맑은 고딕"/>
              </a:rPr>
              <a:t>17.2시간</a:t>
            </a:r>
          </a:p>
        </p:txBody>
      </p:sp>
      <p:sp>
        <p:nvSpPr>
          <p:cNvPr id="58" name="TextBox 57"/>
          <p:cNvSpPr txBox="1"/>
          <p:nvPr/>
        </p:nvSpPr>
        <p:spPr>
          <a:xfrm>
            <a:off x="8295436" y="5870448"/>
            <a:ext cx="3210458" cy="274320"/>
          </a:xfrm>
          <a:prstGeom prst="rect">
            <a:avLst/>
          </a:prstGeom>
          <a:noFill/>
        </p:spPr>
        <p:txBody>
          <a:bodyPr wrap="square" lIns="0" tIns="0" rIns="0" bIns="0" anchor="t"/>
          <a:lstStyle/>
          <a:p>
            <a:pPr algn="ctr" eaLnBrk="0">
              <a:lnSpc>
                <a:spcPct val="100000"/>
              </a:lnSpc>
              <a:spcBef>
                <a:spcPts val="0"/>
              </a:spcBef>
              <a:spcAft>
                <a:spcPts val="0"/>
              </a:spcAft>
              <a:buNone/>
            </a:pPr>
            <a:r>
              <a:rPr sz="1050" b="1" i="0">
                <a:solidFill>
                  <a:srgbClr val="065F46"/>
                </a:solidFill>
                <a:latin typeface="맑은 고딕"/>
                <a:ea typeface="맑은 고딕"/>
                <a:cs typeface="맑은 고딕"/>
              </a:rPr>
              <a:t>검증된 하한 (리드타임의 16.2%)</a:t>
            </a:r>
          </a:p>
        </p:txBody>
      </p:sp>
      <p:sp>
        <p:nvSpPr>
          <p:cNvPr id="59" name="Nav-1">
            <a:hlinkClick action="ppaction://hlinksldjump" r:id="rId4"/>
          </p:cNvPr>
          <p:cNvSpPr/>
          <p:nvPr/>
        </p:nvSpPr>
        <p:spPr>
          <a:xfrm>
            <a:off x="9201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Nav-2">
            <a:hlinkClick action="ppaction://hlinksldjump" r:id="rId5"/>
          </p:cNvPr>
          <p:cNvSpPr/>
          <p:nvPr/>
        </p:nvSpPr>
        <p:spPr>
          <a:xfrm>
            <a:off x="9315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Nav-3">
            <a:hlinkClick action="ppaction://hlinksldjump" r:id="rId6"/>
          </p:cNvPr>
          <p:cNvSpPr/>
          <p:nvPr/>
        </p:nvSpPr>
        <p:spPr>
          <a:xfrm>
            <a:off x="9430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Nav-4">
            <a:hlinkClick action="ppaction://hlinksldjump" r:id="rId7"/>
          </p:cNvPr>
          <p:cNvSpPr/>
          <p:nvPr/>
        </p:nvSpPr>
        <p:spPr>
          <a:xfrm>
            <a:off x="9544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Nav-5">
            <a:hlinkClick action="ppaction://hlinksldjump" r:id="rId8"/>
          </p:cNvPr>
          <p:cNvSpPr/>
          <p:nvPr/>
        </p:nvSpPr>
        <p:spPr>
          <a:xfrm>
            <a:off x="96588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Nav-6">
            <a:hlinkClick action="ppaction://hlinksldjump" r:id="rId9"/>
          </p:cNvPr>
          <p:cNvSpPr/>
          <p:nvPr/>
        </p:nvSpPr>
        <p:spPr>
          <a:xfrm>
            <a:off x="97731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Nav-7">
            <a:hlinkClick action="ppaction://hlinksldjump" r:id="rId10"/>
          </p:cNvPr>
          <p:cNvSpPr/>
          <p:nvPr/>
        </p:nvSpPr>
        <p:spPr>
          <a:xfrm>
            <a:off x="98874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Nav-8">
            <a:hlinkClick action="ppaction://hlinksldjump" r:id="rId11"/>
          </p:cNvPr>
          <p:cNvSpPr/>
          <p:nvPr/>
        </p:nvSpPr>
        <p:spPr>
          <a:xfrm>
            <a:off x="100017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Nav-9">
            <a:hlinkClick action="ppaction://hlinksldjump" r:id="rId12"/>
          </p:cNvPr>
          <p:cNvSpPr/>
          <p:nvPr/>
        </p:nvSpPr>
        <p:spPr>
          <a:xfrm>
            <a:off x="101160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Nav-10">
            <a:hlinkClick action="ppaction://hlinksldjump" r:id="rId13"/>
          </p:cNvPr>
          <p:cNvSpPr/>
          <p:nvPr/>
        </p:nvSpPr>
        <p:spPr>
          <a:xfrm>
            <a:off x="102303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Nav-11">
            <a:hlinkClick action="ppaction://hlinksldjump" r:id="rId14"/>
          </p:cNvPr>
          <p:cNvSpPr/>
          <p:nvPr/>
        </p:nvSpPr>
        <p:spPr>
          <a:xfrm>
            <a:off x="10344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Nav-12">
            <a:hlinkClick action="ppaction://hlinksldjump" r:id="rId15"/>
          </p:cNvPr>
          <p:cNvSpPr/>
          <p:nvPr/>
        </p:nvSpPr>
        <p:spPr>
          <a:xfrm>
            <a:off x="10458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Nav-13">
            <a:hlinkClick action="ppaction://hlinksldjump" r:id="rId16"/>
          </p:cNvPr>
          <p:cNvSpPr/>
          <p:nvPr/>
        </p:nvSpPr>
        <p:spPr>
          <a:xfrm>
            <a:off x="10573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Nav-14">
            <a:hlinkClick action="ppaction://hlinksldjump" r:id="rId17"/>
          </p:cNvPr>
          <p:cNvSpPr/>
          <p:nvPr/>
        </p:nvSpPr>
        <p:spPr>
          <a:xfrm>
            <a:off x="10687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731690"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03 · 질문 3 | TO-BE 구체적 실행 전략</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사전 체크리스트로 자재 대기(30.5h)를 압축하고, E-1/E-2 정밀검사로 리워크</a:t>
            </a:r>
            <a:br/>
            <a:r>
              <a:rPr sz="2400" b="1" i="0">
                <a:solidFill>
                  <a:srgbClr val="0F172A"/>
                </a:solidFill>
                <a:latin typeface="맑은 고딕"/>
                <a:ea typeface="맑은 고딕"/>
                <a:cs typeface="맑은 고딕"/>
              </a:rPr>
              <a:t>84.6%(+32.9h)를 표적 차단한다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analysis.sql 2-4(리워크 26건: E-1 16·E-2 6)·5절 시나리오 · 통합 목표치는 시나리오 가정 기반이며 검증된 하한은 -17.2h</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13 / 14</a:t>
            </a:r>
          </a:p>
        </p:txBody>
      </p:sp>
      <p:sp>
        <p:nvSpPr>
          <p:cNvPr id="20" name="Rounded Rectangle 19"/>
          <p:cNvSpPr/>
          <p:nvPr/>
        </p:nvSpPr>
        <p:spPr>
          <a:xfrm>
            <a:off x="502920" y="1627632"/>
            <a:ext cx="3576218" cy="3108960"/>
          </a:xfrm>
          <a:prstGeom prst="roundRect">
            <a:avLst>
              <a:gd name="adj" fmla="val 3529"/>
            </a:avLst>
          </a:prstGeom>
          <a:solidFill>
            <a:srgbClr val="FFFF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ll-전략 1: 자재 대기 "/>
          <p:cNvSpPr/>
          <p:nvPr/>
        </p:nvSpPr>
        <p:spPr>
          <a:xfrm>
            <a:off x="685800" y="1773936"/>
            <a:ext cx="1509776"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1E40AF"/>
                </a:solidFill>
                <a:latin typeface="맑은 고딕"/>
                <a:ea typeface="맑은 고딕"/>
                <a:cs typeface="맑은 고딕"/>
              </a:rPr>
              <a:t>전략 1: 자재 대기 단축</a:t>
            </a:r>
          </a:p>
        </p:txBody>
      </p:sp>
      <p:sp>
        <p:nvSpPr>
          <p:cNvPr id="22" name="TextBox 21"/>
          <p:cNvSpPr txBox="1"/>
          <p:nvPr/>
        </p:nvSpPr>
        <p:spPr>
          <a:xfrm>
            <a:off x="685800" y="2103120"/>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1D4ED8"/>
                </a:solidFill>
                <a:latin typeface="맑은 고딕"/>
                <a:ea typeface="맑은 고딕"/>
                <a:cs typeface="맑은 고딕"/>
              </a:rPr>
              <a:t>스마트폰 사진 기반 부품 사전 특정</a:t>
            </a:r>
          </a:p>
        </p:txBody>
      </p:sp>
      <p:sp>
        <p:nvSpPr>
          <p:cNvPr id="23" name="TextBox 22"/>
          <p:cNvSpPr txBox="1"/>
          <p:nvPr/>
        </p:nvSpPr>
        <p:spPr>
          <a:xfrm>
            <a:off x="685800" y="2450591"/>
            <a:ext cx="3210458" cy="338835"/>
          </a:xfrm>
          <a:prstGeom prst="rect">
            <a:avLst/>
          </a:prstGeom>
          <a:noFill/>
        </p:spPr>
        <p:txBody>
          <a:bodyPr wrap="square" lIns="0" tIns="0" rIns="0" bIns="0" anchor="t"/>
          <a:lstStyle/>
          <a:p>
            <a:pPr algn="l" eaLnBrk="0">
              <a:lnSpc>
                <a:spcPct val="100000"/>
              </a:lnSpc>
              <a:spcBef>
                <a:spcPts val="0"/>
              </a:spcBef>
              <a:spcAft>
                <a:spcPts val="0"/>
              </a:spcAft>
              <a:buNone/>
            </a:pPr>
            <a:r>
              <a:rPr sz="1700" b="1" i="0">
                <a:solidFill>
                  <a:srgbClr val="2563EB"/>
                </a:solidFill>
                <a:latin typeface="Consolas"/>
                <a:ea typeface="맑은 고딕"/>
                <a:cs typeface="맑은 고딕"/>
              </a:rPr>
              <a:t>30.5h ➔ 사전 패킹</a:t>
            </a:r>
          </a:p>
        </p:txBody>
      </p:sp>
      <p:sp>
        <p:nvSpPr>
          <p:cNvPr id="24" name="TextBox 23"/>
          <p:cNvSpPr txBox="1"/>
          <p:nvPr/>
        </p:nvSpPr>
        <p:spPr>
          <a:xfrm>
            <a:off x="685800" y="2862579"/>
            <a:ext cx="3210458" cy="1489964"/>
          </a:xfrm>
          <a:prstGeom prst="rect">
            <a:avLst/>
          </a:prstGeom>
          <a:noFill/>
        </p:spPr>
        <p:txBody>
          <a:bodyPr wrap="square" lIns="0" tIns="0" rIns="0" bIns="0" anchor="t"/>
          <a:lstStyle/>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접수 시 고장 부위·모델 라벨 사진 1장을</a:t>
            </a:r>
            <a:br/>
            <a:r>
              <a:rPr sz="1150" b="0" i="0">
                <a:solidFill>
                  <a:srgbClr val="475569"/>
                </a:solidFill>
                <a:latin typeface="맑은 고딕"/>
                <a:ea typeface="맑은 고딕"/>
                <a:cs typeface="맑은 고딕"/>
              </a:rPr>
              <a:t>필수 등록해 출동 전 부품 규격 특정</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방문 후 주문하던 30.5h 자재 대기를 '출동 전</a:t>
            </a:r>
            <a:br/>
            <a:r>
              <a:rPr sz="1150" b="0" i="0">
                <a:solidFill>
                  <a:srgbClr val="475569"/>
                </a:solidFill>
                <a:latin typeface="맑은 고딕"/>
                <a:ea typeface="맑은 고딕"/>
                <a:cs typeface="맑은 고딕"/>
              </a:rPr>
              <a:t>사전 패키징'으로 압축</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실사(40.5분) 생략으로 회수되는 공수</a:t>
            </a:r>
            <a:br/>
            <a:r>
              <a:rPr sz="1150" b="0" i="0">
                <a:solidFill>
                  <a:srgbClr val="475569"/>
                </a:solidFill>
                <a:latin typeface="맑은 고딕"/>
                <a:ea typeface="맑은 고딕"/>
                <a:cs typeface="맑은 고딕"/>
              </a:rPr>
              <a:t>496.1h(735건)를 부품 준비·상차에 재배치</a:t>
            </a:r>
          </a:p>
        </p:txBody>
      </p:sp>
      <p:sp>
        <p:nvSpPr>
          <p:cNvPr id="25" name="TextBox 24"/>
          <p:cNvSpPr txBox="1"/>
          <p:nvPr/>
        </p:nvSpPr>
        <p:spPr>
          <a:xfrm>
            <a:off x="685800" y="4398264"/>
            <a:ext cx="3210458" cy="219456"/>
          </a:xfrm>
          <a:prstGeom prst="rect">
            <a:avLst/>
          </a:prstGeom>
          <a:noFill/>
        </p:spPr>
        <p:txBody>
          <a:bodyPr wrap="square" lIns="0" tIns="0" rIns="0" bIns="0" anchor="t"/>
          <a:lstStyle/>
          <a:p>
            <a:pPr algn="l" eaLnBrk="0">
              <a:lnSpc>
                <a:spcPct val="100000"/>
              </a:lnSpc>
              <a:spcBef>
                <a:spcPts val="0"/>
              </a:spcBef>
              <a:spcAft>
                <a:spcPts val="0"/>
              </a:spcAft>
              <a:buNone/>
            </a:pPr>
            <a:r>
              <a:rPr sz="950" b="1" i="0">
                <a:solidFill>
                  <a:srgbClr val="64748B"/>
                </a:solidFill>
                <a:latin typeface="맑은 고딕"/>
                <a:ea typeface="맑은 고딕"/>
                <a:cs typeface="맑은 고딕"/>
              </a:rPr>
              <a:t>근거: 사내수리 485건 · 착수 대기 30.5h</a:t>
            </a:r>
          </a:p>
        </p:txBody>
      </p:sp>
      <p:sp>
        <p:nvSpPr>
          <p:cNvPr id="26" name="Rounded Rectangle 25"/>
          <p:cNvSpPr/>
          <p:nvPr/>
        </p:nvSpPr>
        <p:spPr>
          <a:xfrm>
            <a:off x="4307738" y="1627632"/>
            <a:ext cx="3576218" cy="3108960"/>
          </a:xfrm>
          <a:prstGeom prst="roundRect">
            <a:avLst>
              <a:gd name="adj" fmla="val 3529"/>
            </a:avLst>
          </a:prstGeom>
          <a:solidFill>
            <a:srgbClr val="FFFFFF"/>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ill-전략 2: 품질 루프 "/>
          <p:cNvSpPr/>
          <p:nvPr/>
        </p:nvSpPr>
        <p:spPr>
          <a:xfrm>
            <a:off x="4490618" y="1773936"/>
            <a:ext cx="1509776" cy="246888"/>
          </a:xfrm>
          <a:prstGeom prst="roundRect">
            <a:avLst>
              <a:gd name="adj" fmla="val 50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B91C1C"/>
                </a:solidFill>
                <a:latin typeface="맑은 고딕"/>
                <a:ea typeface="맑은 고딕"/>
                <a:cs typeface="맑은 고딕"/>
              </a:rPr>
              <a:t>전략 2: 품질 루프 차단</a:t>
            </a:r>
          </a:p>
        </p:txBody>
      </p:sp>
      <p:sp>
        <p:nvSpPr>
          <p:cNvPr id="28" name="TextBox 27"/>
          <p:cNvSpPr txBox="1"/>
          <p:nvPr/>
        </p:nvSpPr>
        <p:spPr>
          <a:xfrm>
            <a:off x="4490618" y="2103120"/>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DC2626"/>
                </a:solidFill>
                <a:latin typeface="맑은 고딕"/>
                <a:ea typeface="맑은 고딕"/>
                <a:cs typeface="맑은 고딕"/>
              </a:rPr>
              <a:t>E-1/E-2 2차 정밀검사 프로토콜</a:t>
            </a:r>
          </a:p>
        </p:txBody>
      </p:sp>
      <p:sp>
        <p:nvSpPr>
          <p:cNvPr id="29" name="TextBox 28"/>
          <p:cNvSpPr txBox="1"/>
          <p:nvPr/>
        </p:nvSpPr>
        <p:spPr>
          <a:xfrm>
            <a:off x="4490618" y="2450591"/>
            <a:ext cx="3210458" cy="338835"/>
          </a:xfrm>
          <a:prstGeom prst="rect">
            <a:avLst/>
          </a:prstGeom>
          <a:noFill/>
        </p:spPr>
        <p:txBody>
          <a:bodyPr wrap="square" lIns="0" tIns="0" rIns="0" bIns="0" anchor="t"/>
          <a:lstStyle/>
          <a:p>
            <a:pPr algn="l" eaLnBrk="0">
              <a:lnSpc>
                <a:spcPct val="100000"/>
              </a:lnSpc>
              <a:spcBef>
                <a:spcPts val="0"/>
              </a:spcBef>
              <a:spcAft>
                <a:spcPts val="0"/>
              </a:spcAft>
              <a:buNone/>
            </a:pPr>
            <a:r>
              <a:rPr sz="1700" b="1" i="0">
                <a:solidFill>
                  <a:srgbClr val="DC2626"/>
                </a:solidFill>
                <a:latin typeface="Consolas"/>
                <a:ea typeface="맑은 고딕"/>
                <a:cs typeface="맑은 고딕"/>
              </a:rPr>
              <a:t>리워크 84.6% 표적</a:t>
            </a:r>
          </a:p>
        </p:txBody>
      </p:sp>
      <p:sp>
        <p:nvSpPr>
          <p:cNvPr id="30" name="TextBox 29"/>
          <p:cNvSpPr txBox="1"/>
          <p:nvPr/>
        </p:nvSpPr>
        <p:spPr>
          <a:xfrm>
            <a:off x="4490618" y="2862579"/>
            <a:ext cx="3210458" cy="1489964"/>
          </a:xfrm>
          <a:prstGeom prst="rect">
            <a:avLst/>
          </a:prstGeom>
          <a:noFill/>
        </p:spPr>
        <p:txBody>
          <a:bodyPr wrap="square" lIns="0" tIns="0" rIns="0" bIns="0" anchor="t"/>
          <a:lstStyle/>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사내 하자 리워크 26건 중 84.6%(22건)가</a:t>
            </a:r>
            <a:br/>
            <a:r>
              <a:rPr sz="1150" b="0" i="0">
                <a:solidFill>
                  <a:srgbClr val="475569"/>
                </a:solidFill>
                <a:latin typeface="맑은 고딕"/>
                <a:ea typeface="맑은 고딕"/>
                <a:cs typeface="맑은 고딕"/>
              </a:rPr>
              <a:t>E-1(16건)·E-2(6건)에 집중</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정밀검사 체크리스트: 인접 배관·연계 부속</a:t>
            </a:r>
            <a:br/>
            <a:r>
              <a:rPr sz="1150" b="0" i="0">
                <a:solidFill>
                  <a:srgbClr val="475569"/>
                </a:solidFill>
                <a:latin typeface="맑은 고딕"/>
                <a:ea typeface="맑은 고딕"/>
                <a:cs typeface="맑은 고딕"/>
              </a:rPr>
              <a:t>2차 노후도 점검 의무화로 규격 불일치 차단</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재수리 평균 +32.9h(최대 10.1일) 재방문</a:t>
            </a:r>
            <a:br/>
            <a:r>
              <a:rPr sz="1150" b="0" i="0">
                <a:solidFill>
                  <a:srgbClr val="475569"/>
                </a:solidFill>
                <a:latin typeface="맑은 고딕"/>
                <a:ea typeface="맑은 고딕"/>
                <a:cs typeface="맑은 고딕"/>
              </a:rPr>
              <a:t>루프 방지</a:t>
            </a:r>
          </a:p>
        </p:txBody>
      </p:sp>
      <p:sp>
        <p:nvSpPr>
          <p:cNvPr id="31" name="TextBox 30"/>
          <p:cNvSpPr txBox="1"/>
          <p:nvPr/>
        </p:nvSpPr>
        <p:spPr>
          <a:xfrm>
            <a:off x="4490618" y="4398264"/>
            <a:ext cx="3210458" cy="219456"/>
          </a:xfrm>
          <a:prstGeom prst="rect">
            <a:avLst/>
          </a:prstGeom>
          <a:noFill/>
        </p:spPr>
        <p:txBody>
          <a:bodyPr wrap="square" lIns="0" tIns="0" rIns="0" bIns="0" anchor="t"/>
          <a:lstStyle/>
          <a:p>
            <a:pPr algn="l" eaLnBrk="0">
              <a:lnSpc>
                <a:spcPct val="100000"/>
              </a:lnSpc>
              <a:spcBef>
                <a:spcPts val="0"/>
              </a:spcBef>
              <a:spcAft>
                <a:spcPts val="0"/>
              </a:spcAft>
              <a:buNone/>
            </a:pPr>
            <a:r>
              <a:rPr sz="950" b="1" i="0">
                <a:solidFill>
                  <a:srgbClr val="64748B"/>
                </a:solidFill>
                <a:latin typeface="맑은 고딕"/>
                <a:ea typeface="맑은 고딕"/>
                <a:cs typeface="맑은 고딕"/>
              </a:rPr>
              <a:t>근거: 리워크 26건 · E-1 16건 + E-2 6건</a:t>
            </a:r>
          </a:p>
        </p:txBody>
      </p:sp>
      <p:sp>
        <p:nvSpPr>
          <p:cNvPr id="32" name="Rounded Rectangle 31"/>
          <p:cNvSpPr/>
          <p:nvPr/>
        </p:nvSpPr>
        <p:spPr>
          <a:xfrm>
            <a:off x="8112556" y="1627632"/>
            <a:ext cx="3576218" cy="3108960"/>
          </a:xfrm>
          <a:prstGeom prst="roundRect">
            <a:avLst>
              <a:gd name="adj" fmla="val 3529"/>
            </a:avLst>
          </a:prstGeom>
          <a:solidFill>
            <a:srgbClr val="FFFFFF"/>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ill-전략 3: 물류·외주 "/>
          <p:cNvSpPr/>
          <p:nvPr/>
        </p:nvSpPr>
        <p:spPr>
          <a:xfrm>
            <a:off x="8295436" y="1773936"/>
            <a:ext cx="1619567"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전략 3: 물류·외주 최적화</a:t>
            </a:r>
          </a:p>
        </p:txBody>
      </p:sp>
      <p:sp>
        <p:nvSpPr>
          <p:cNvPr id="34" name="TextBox 33"/>
          <p:cNvSpPr txBox="1"/>
          <p:nvPr/>
        </p:nvSpPr>
        <p:spPr>
          <a:xfrm>
            <a:off x="8295436" y="2103120"/>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047857"/>
                </a:solidFill>
                <a:latin typeface="맑은 고딕"/>
                <a:ea typeface="맑은 고딕"/>
                <a:cs typeface="맑은 고딕"/>
              </a:rPr>
              <a:t>모듈형 번들 키트 &amp; 외주 직행</a:t>
            </a:r>
          </a:p>
        </p:txBody>
      </p:sp>
      <p:sp>
        <p:nvSpPr>
          <p:cNvPr id="35" name="TextBox 34"/>
          <p:cNvSpPr txBox="1"/>
          <p:nvPr/>
        </p:nvSpPr>
        <p:spPr>
          <a:xfrm>
            <a:off x="8295436" y="2450591"/>
            <a:ext cx="3210458" cy="338835"/>
          </a:xfrm>
          <a:prstGeom prst="rect">
            <a:avLst/>
          </a:prstGeom>
          <a:noFill/>
        </p:spPr>
        <p:txBody>
          <a:bodyPr wrap="square" lIns="0" tIns="0" rIns="0" bIns="0" anchor="t"/>
          <a:lstStyle/>
          <a:p>
            <a:pPr algn="l" eaLnBrk="0">
              <a:lnSpc>
                <a:spcPct val="100000"/>
              </a:lnSpc>
              <a:spcBef>
                <a:spcPts val="0"/>
              </a:spcBef>
              <a:spcAft>
                <a:spcPts val="0"/>
              </a:spcAft>
              <a:buNone/>
            </a:pPr>
            <a:r>
              <a:rPr sz="1700" b="1" i="0">
                <a:solidFill>
                  <a:srgbClr val="059669"/>
                </a:solidFill>
                <a:latin typeface="Consolas"/>
                <a:ea typeface="맑은 고딕"/>
                <a:cs typeface="맑은 고딕"/>
              </a:rPr>
              <a:t>외주 대기 0.0h 유지</a:t>
            </a:r>
          </a:p>
        </p:txBody>
      </p:sp>
      <p:sp>
        <p:nvSpPr>
          <p:cNvPr id="36" name="TextBox 35"/>
          <p:cNvSpPr txBox="1"/>
          <p:nvPr/>
        </p:nvSpPr>
        <p:spPr>
          <a:xfrm>
            <a:off x="8295436" y="2862579"/>
            <a:ext cx="3210458" cy="1489964"/>
          </a:xfrm>
          <a:prstGeom prst="rect">
            <a:avLst/>
          </a:prstGeom>
          <a:noFill/>
        </p:spPr>
        <p:txBody>
          <a:bodyPr wrap="square" lIns="0" tIns="0" rIns="0" bIns="0" anchor="t"/>
          <a:lstStyle/>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E-1/E-2 출동 시 빈번 고장 연관 부품을 번들</a:t>
            </a:r>
            <a:br/>
            <a:r>
              <a:rPr sz="1150" b="0" i="0">
                <a:solidFill>
                  <a:srgbClr val="475569"/>
                </a:solidFill>
                <a:latin typeface="맑은 고딕"/>
                <a:ea typeface="맑은 고딕"/>
                <a:cs typeface="맑은 고딕"/>
              </a:rPr>
              <a:t>키트로 사전 적재해 재출하 대기 제거</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외주 패스트트랙(P-4 38건): 사진상 대규모</a:t>
            </a:r>
            <a:br/>
            <a:r>
              <a:rPr sz="1150" b="0" i="0">
                <a:solidFill>
                  <a:srgbClr val="475569"/>
                </a:solidFill>
                <a:latin typeface="맑은 고딕"/>
                <a:ea typeface="맑은 고딕"/>
                <a:cs typeface="맑은 고딕"/>
              </a:rPr>
              <a:t>배관·전문 공사 식별 시 실사 생략</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전문 외주업체(FixIt/DoIt)로 직접 전산 이관</a:t>
            </a:r>
          </a:p>
        </p:txBody>
      </p:sp>
      <p:sp>
        <p:nvSpPr>
          <p:cNvPr id="37" name="TextBox 36"/>
          <p:cNvSpPr txBox="1"/>
          <p:nvPr/>
        </p:nvSpPr>
        <p:spPr>
          <a:xfrm>
            <a:off x="8295436" y="4398264"/>
            <a:ext cx="3210458" cy="219456"/>
          </a:xfrm>
          <a:prstGeom prst="rect">
            <a:avLst/>
          </a:prstGeom>
          <a:noFill/>
        </p:spPr>
        <p:txBody>
          <a:bodyPr wrap="square" lIns="0" tIns="0" rIns="0" bIns="0" anchor="t"/>
          <a:lstStyle/>
          <a:p>
            <a:pPr algn="l" eaLnBrk="0">
              <a:lnSpc>
                <a:spcPct val="100000"/>
              </a:lnSpc>
              <a:spcBef>
                <a:spcPts val="0"/>
              </a:spcBef>
              <a:spcAft>
                <a:spcPts val="0"/>
              </a:spcAft>
              <a:buNone/>
            </a:pPr>
            <a:r>
              <a:rPr sz="950" b="1" i="0">
                <a:solidFill>
                  <a:srgbClr val="64748B"/>
                </a:solidFill>
                <a:latin typeface="맑은 고딕"/>
                <a:ea typeface="맑은 고딕"/>
                <a:cs typeface="맑은 고딕"/>
              </a:rPr>
              <a:t>근거: P-4 38건 · 외주 착수 대기 0.0h</a:t>
            </a:r>
          </a:p>
        </p:txBody>
      </p:sp>
      <p:sp>
        <p:nvSpPr>
          <p:cNvPr id="38" name="RoiPanel"/>
          <p:cNvSpPr/>
          <p:nvPr/>
        </p:nvSpPr>
        <p:spPr>
          <a:xfrm>
            <a:off x="502920" y="4846320"/>
            <a:ext cx="11185855" cy="1444752"/>
          </a:xfrm>
          <a:prstGeom prst="roundRect">
            <a:avLst>
              <a:gd name="adj" fmla="val 7594"/>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ill-TO-BE 효과 범위 "/>
          <p:cNvSpPr/>
          <p:nvPr/>
        </p:nvSpPr>
        <p:spPr>
          <a:xfrm>
            <a:off x="731520" y="4992624"/>
            <a:ext cx="2051419"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TO-BE 효과 범위 (E2E 리드타임)</a:t>
            </a:r>
          </a:p>
        </p:txBody>
      </p:sp>
      <p:sp>
        <p:nvSpPr>
          <p:cNvPr id="40" name="TextBox 39"/>
          <p:cNvSpPr txBox="1"/>
          <p:nvPr/>
        </p:nvSpPr>
        <p:spPr>
          <a:xfrm>
            <a:off x="731520" y="5321808"/>
            <a:ext cx="3063240" cy="914400"/>
          </a:xfrm>
          <a:prstGeom prst="rect">
            <a:avLst/>
          </a:prstGeom>
          <a:noFill/>
        </p:spPr>
        <p:txBody>
          <a:bodyPr wrap="square" lIns="0" tIns="0" rIns="0" bIns="0" anchor="t"/>
          <a:lstStyle/>
          <a:p>
            <a:pPr algn="l" eaLnBrk="0">
              <a:lnSpc>
                <a:spcPct val="100000"/>
              </a:lnSpc>
              <a:spcBef>
                <a:spcPts val="0"/>
              </a:spcBef>
              <a:spcAft>
                <a:spcPts val="300"/>
              </a:spcAft>
              <a:buNone/>
            </a:pPr>
            <a:r>
              <a:rPr sz="1100" b="1" i="0">
                <a:solidFill>
                  <a:srgbClr val="1E293B"/>
                </a:solidFill>
                <a:latin typeface="맑은 고딕"/>
                <a:ea typeface="맑은 고딕"/>
                <a:cs typeface="맑은 고딕"/>
              </a:rPr>
              <a:t>하한은 시뮬레이션으로 검증, 통합 목표는 가정</a:t>
            </a:r>
            <a:br/>
            <a:r>
              <a:rPr sz="1100" b="1" i="0">
                <a:solidFill>
                  <a:srgbClr val="1E293B"/>
                </a:solidFill>
                <a:latin typeface="맑은 고딕"/>
                <a:ea typeface="맑은 고딕"/>
                <a:cs typeface="맑은 고딕"/>
              </a:rPr>
              <a:t>기반</a:t>
            </a:r>
          </a:p>
          <a:p>
            <a:pPr algn="l" eaLnBrk="0">
              <a:lnSpc>
                <a:spcPct val="100000"/>
              </a:lnSpc>
              <a:spcBef>
                <a:spcPts val="0"/>
              </a:spcBef>
              <a:spcAft>
                <a:spcPts val="0"/>
              </a:spcAft>
              <a:buNone/>
            </a:pPr>
            <a:r>
              <a:rPr sz="950" b="0" i="0">
                <a:solidFill>
                  <a:srgbClr val="64748B"/>
                </a:solidFill>
                <a:latin typeface="맑은 고딕"/>
                <a:ea typeface="맑은 고딕"/>
                <a:cs typeface="맑은 고딕"/>
              </a:rPr>
              <a:t>하한 = 실사 대기 20% 단축 × OLS 1.12 · 목표 = 자재</a:t>
            </a:r>
            <a:br/>
            <a:r>
              <a:rPr sz="950" b="0" i="0">
                <a:solidFill>
                  <a:srgbClr val="64748B"/>
                </a:solidFill>
                <a:latin typeface="맑은 고딕"/>
                <a:ea typeface="맑은 고딕"/>
                <a:cs typeface="맑은 고딕"/>
              </a:rPr>
              <a:t>대기·리워크 차단까지 합산한 가정</a:t>
            </a:r>
          </a:p>
        </p:txBody>
      </p:sp>
      <p:sp>
        <p:nvSpPr>
          <p:cNvPr id="41" name="TextBox 40"/>
          <p:cNvSpPr txBox="1"/>
          <p:nvPr/>
        </p:nvSpPr>
        <p:spPr>
          <a:xfrm>
            <a:off x="4023360" y="5001768"/>
            <a:ext cx="1005840" cy="310896"/>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AS-IS 현재</a:t>
            </a:r>
          </a:p>
        </p:txBody>
      </p:sp>
      <p:sp>
        <p:nvSpPr>
          <p:cNvPr id="42" name="RoiBar-1"/>
          <p:cNvSpPr/>
          <p:nvPr/>
        </p:nvSpPr>
        <p:spPr>
          <a:xfrm>
            <a:off x="5074920" y="5029200"/>
            <a:ext cx="4480560" cy="256032"/>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65207" y="5001768"/>
            <a:ext cx="2468880" cy="310896"/>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1E293B"/>
                </a:solidFill>
                <a:latin typeface="Consolas"/>
                <a:ea typeface="맑은 고딕"/>
                <a:cs typeface="맑은 고딕"/>
              </a:rPr>
              <a:t>105.9h</a:t>
            </a:r>
          </a:p>
        </p:txBody>
      </p:sp>
      <p:sp>
        <p:nvSpPr>
          <p:cNvPr id="44" name="TextBox 43"/>
          <p:cNvSpPr txBox="1"/>
          <p:nvPr/>
        </p:nvSpPr>
        <p:spPr>
          <a:xfrm>
            <a:off x="4023360" y="5422392"/>
            <a:ext cx="1005840" cy="310896"/>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검증 하한</a:t>
            </a:r>
          </a:p>
        </p:txBody>
      </p:sp>
      <p:sp>
        <p:nvSpPr>
          <p:cNvPr id="45" name="RoiBar-2"/>
          <p:cNvSpPr/>
          <p:nvPr/>
        </p:nvSpPr>
        <p:spPr>
          <a:xfrm>
            <a:off x="5074920" y="5449824"/>
            <a:ext cx="3752839" cy="25603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37487" y="5422392"/>
            <a:ext cx="2468880" cy="310896"/>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047857"/>
                </a:solidFill>
                <a:latin typeface="Consolas"/>
                <a:ea typeface="맑은 고딕"/>
                <a:cs typeface="맑은 고딕"/>
              </a:rPr>
              <a:t>88.7h  (-17.2h · -16%)</a:t>
            </a:r>
          </a:p>
        </p:txBody>
      </p:sp>
      <p:sp>
        <p:nvSpPr>
          <p:cNvPr id="47" name="TextBox 46"/>
          <p:cNvSpPr txBox="1"/>
          <p:nvPr/>
        </p:nvSpPr>
        <p:spPr>
          <a:xfrm>
            <a:off x="4023360" y="5843016"/>
            <a:ext cx="1005840" cy="310896"/>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통합 목표</a:t>
            </a:r>
          </a:p>
        </p:txBody>
      </p:sp>
      <p:sp>
        <p:nvSpPr>
          <p:cNvPr id="48" name="RoiBar-3"/>
          <p:cNvSpPr/>
          <p:nvPr/>
        </p:nvSpPr>
        <p:spPr>
          <a:xfrm>
            <a:off x="5074920" y="5870448"/>
            <a:ext cx="1607755" cy="256032"/>
          </a:xfrm>
          <a:prstGeom prst="rect">
            <a:avLst/>
          </a:prstGeom>
          <a:solidFill>
            <a:srgbClr val="D1FAE5"/>
          </a:solidFill>
          <a:ln w="15875">
            <a:solidFill>
              <a:srgbClr val="05966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92403" y="5843016"/>
            <a:ext cx="2468880" cy="310896"/>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047857"/>
                </a:solidFill>
                <a:latin typeface="Consolas"/>
                <a:ea typeface="맑은 고딕"/>
                <a:cs typeface="맑은 고딕"/>
              </a:rPr>
              <a:t>약 38h  (-67.9h · -64% · 가정)</a:t>
            </a:r>
          </a:p>
        </p:txBody>
      </p:sp>
      <p:sp>
        <p:nvSpPr>
          <p:cNvPr id="50" name="Nav-1">
            <a:hlinkClick action="ppaction://hlinksldjump" r:id="rId3"/>
          </p:cNvPr>
          <p:cNvSpPr/>
          <p:nvPr/>
        </p:nvSpPr>
        <p:spPr>
          <a:xfrm>
            <a:off x="9201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Nav-2">
            <a:hlinkClick action="ppaction://hlinksldjump" r:id="rId4"/>
          </p:cNvPr>
          <p:cNvSpPr/>
          <p:nvPr/>
        </p:nvSpPr>
        <p:spPr>
          <a:xfrm>
            <a:off x="9315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Nav-3">
            <a:hlinkClick action="ppaction://hlinksldjump" r:id="rId5"/>
          </p:cNvPr>
          <p:cNvSpPr/>
          <p:nvPr/>
        </p:nvSpPr>
        <p:spPr>
          <a:xfrm>
            <a:off x="9430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Nav-4">
            <a:hlinkClick action="ppaction://hlinksldjump" r:id="rId6"/>
          </p:cNvPr>
          <p:cNvSpPr/>
          <p:nvPr/>
        </p:nvSpPr>
        <p:spPr>
          <a:xfrm>
            <a:off x="9544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Nav-5">
            <a:hlinkClick action="ppaction://hlinksldjump" r:id="rId7"/>
          </p:cNvPr>
          <p:cNvSpPr/>
          <p:nvPr/>
        </p:nvSpPr>
        <p:spPr>
          <a:xfrm>
            <a:off x="96588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Nav-6">
            <a:hlinkClick action="ppaction://hlinksldjump" r:id="rId8"/>
          </p:cNvPr>
          <p:cNvSpPr/>
          <p:nvPr/>
        </p:nvSpPr>
        <p:spPr>
          <a:xfrm>
            <a:off x="97731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Nav-7">
            <a:hlinkClick action="ppaction://hlinksldjump" r:id="rId9"/>
          </p:cNvPr>
          <p:cNvSpPr/>
          <p:nvPr/>
        </p:nvSpPr>
        <p:spPr>
          <a:xfrm>
            <a:off x="98874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Nav-8">
            <a:hlinkClick action="ppaction://hlinksldjump" r:id="rId10"/>
          </p:cNvPr>
          <p:cNvSpPr/>
          <p:nvPr/>
        </p:nvSpPr>
        <p:spPr>
          <a:xfrm>
            <a:off x="100017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av-9">
            <a:hlinkClick action="ppaction://hlinksldjump" r:id="rId11"/>
          </p:cNvPr>
          <p:cNvSpPr/>
          <p:nvPr/>
        </p:nvSpPr>
        <p:spPr>
          <a:xfrm>
            <a:off x="101160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Nav-10">
            <a:hlinkClick action="ppaction://hlinksldjump" r:id="rId12"/>
          </p:cNvPr>
          <p:cNvSpPr/>
          <p:nvPr/>
        </p:nvSpPr>
        <p:spPr>
          <a:xfrm>
            <a:off x="102303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Nav-11">
            <a:hlinkClick action="ppaction://hlinksldjump" r:id="rId13"/>
          </p:cNvPr>
          <p:cNvSpPr/>
          <p:nvPr/>
        </p:nvSpPr>
        <p:spPr>
          <a:xfrm>
            <a:off x="10344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Nav-12">
            <a:hlinkClick action="ppaction://hlinksldjump" r:id="rId14"/>
          </p:cNvPr>
          <p:cNvSpPr/>
          <p:nvPr/>
        </p:nvSpPr>
        <p:spPr>
          <a:xfrm>
            <a:off x="10458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Nav-13">
            <a:hlinkClick action="ppaction://hlinksldjump" r:id="rId15"/>
          </p:cNvPr>
          <p:cNvSpPr/>
          <p:nvPr/>
        </p:nvSpPr>
        <p:spPr>
          <a:xfrm>
            <a:off x="10573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Nav-14">
            <a:hlinkClick action="ppaction://hlinksldjump" r:id="rId16"/>
          </p:cNvPr>
          <p:cNvSpPr/>
          <p:nvPr/>
        </p:nvSpPr>
        <p:spPr>
          <a:xfrm>
            <a:off x="10687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28409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04 · 마무리 | 질의응답 (Q&amp;A)</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경청해 주셔서 감사합니다. 수리 프로세스 최적화 방안에 대한 질의응답을</a:t>
            </a:r>
            <a:br/>
            <a:r>
              <a:rPr sz="2400" b="1" i="0">
                <a:solidFill>
                  <a:srgbClr val="0F172A"/>
                </a:solidFill>
                <a:latin typeface="맑은 고딕"/>
                <a:ea typeface="맑은 고딕"/>
                <a:cs typeface="맑은 고딕"/>
              </a:rPr>
              <a:t>진행하겠습니다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퍼즐데이터 과제 분석 보고서 (Slide 01 ~ 14 완결 · 부록 A-1~A-4 별첨)</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14 / 14</a:t>
            </a:r>
          </a:p>
        </p:txBody>
      </p:sp>
      <p:sp>
        <p:nvSpPr>
          <p:cNvPr id="20" name="Journey-1"/>
          <p:cNvSpPr/>
          <p:nvPr/>
        </p:nvSpPr>
        <p:spPr>
          <a:xfrm>
            <a:off x="502920" y="1691640"/>
            <a:ext cx="5486400" cy="1371600"/>
          </a:xfrm>
          <a:prstGeom prst="roundRect">
            <a:avLst>
              <a:gd name="adj" fmla="val 8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ll-Part 01"/>
          <p:cNvSpPr/>
          <p:nvPr/>
        </p:nvSpPr>
        <p:spPr>
          <a:xfrm>
            <a:off x="704088" y="1874520"/>
            <a:ext cx="690562"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1E40AF"/>
                </a:solidFill>
                <a:latin typeface="맑은 고딕"/>
                <a:ea typeface="맑은 고딕"/>
                <a:cs typeface="맑은 고딕"/>
              </a:rPr>
              <a:t>Part 01</a:t>
            </a:r>
          </a:p>
        </p:txBody>
      </p:sp>
      <p:sp>
        <p:nvSpPr>
          <p:cNvPr id="22" name="TextBox 21"/>
          <p:cNvSpPr txBox="1"/>
          <p:nvPr/>
        </p:nvSpPr>
        <p:spPr>
          <a:xfrm>
            <a:off x="1691640" y="1819656"/>
            <a:ext cx="2606040" cy="1143000"/>
          </a:xfrm>
          <a:prstGeom prst="rect">
            <a:avLst/>
          </a:prstGeom>
          <a:noFill/>
        </p:spPr>
        <p:txBody>
          <a:bodyPr wrap="square" lIns="0" tIns="0" rIns="0" bIns="0" anchor="t"/>
          <a:lstStyle/>
          <a:p>
            <a:pPr algn="l" eaLnBrk="0">
              <a:lnSpc>
                <a:spcPct val="100000"/>
              </a:lnSpc>
              <a:spcBef>
                <a:spcPts val="0"/>
              </a:spcBef>
              <a:spcAft>
                <a:spcPts val="500"/>
              </a:spcAft>
              <a:buNone/>
            </a:pPr>
            <a:r>
              <a:rPr sz="1350" b="1" i="0">
                <a:solidFill>
                  <a:srgbClr val="0F172A"/>
                </a:solidFill>
                <a:latin typeface="맑은 고딕"/>
                <a:ea typeface="맑은 고딕"/>
                <a:cs typeface="맑은 고딕"/>
              </a:rPr>
              <a:t>전수 보존 &amp; 인과 복원</a:t>
            </a:r>
          </a:p>
          <a:p>
            <a:pPr algn="l" eaLnBrk="0">
              <a:lnSpc>
                <a:spcPct val="100000"/>
              </a:lnSpc>
              <a:spcBef>
                <a:spcPts val="0"/>
              </a:spcBef>
              <a:spcAft>
                <a:spcPts val="0"/>
              </a:spcAft>
              <a:buNone/>
            </a:pPr>
            <a:r>
              <a:rPr sz="1100" b="0" i="0">
                <a:solidFill>
                  <a:srgbClr val="475569"/>
                </a:solidFill>
                <a:latin typeface="맑은 고딕"/>
                <a:ea typeface="맑은 고딕"/>
                <a:cs typeface="맑은 고딕"/>
              </a:rPr>
              <a:t>13,262행 임의 삭제 0건 · 결측 20행</a:t>
            </a:r>
            <a:br/>
            <a:r>
              <a:rPr sz="1100" b="0" i="0">
                <a:solidFill>
                  <a:srgbClr val="475569"/>
                </a:solidFill>
                <a:latin typeface="맑은 고딕"/>
                <a:ea typeface="맑은 고딕"/>
                <a:cs typeface="맑은 고딕"/>
              </a:rPr>
              <a:t>복원 · 시간 역전 0건</a:t>
            </a:r>
          </a:p>
        </p:txBody>
      </p:sp>
      <p:sp>
        <p:nvSpPr>
          <p:cNvPr id="23" name="TextBox 22"/>
          <p:cNvSpPr txBox="1"/>
          <p:nvPr/>
        </p:nvSpPr>
        <p:spPr>
          <a:xfrm>
            <a:off x="4343400" y="1965960"/>
            <a:ext cx="1508760" cy="502920"/>
          </a:xfrm>
          <a:prstGeom prst="rect">
            <a:avLst/>
          </a:prstGeom>
          <a:noFill/>
        </p:spPr>
        <p:txBody>
          <a:bodyPr wrap="square" lIns="0" tIns="0" rIns="0" bIns="0" anchor="t"/>
          <a:lstStyle/>
          <a:p>
            <a:pPr algn="r" eaLnBrk="0">
              <a:lnSpc>
                <a:spcPct val="100000"/>
              </a:lnSpc>
              <a:spcBef>
                <a:spcPts val="0"/>
              </a:spcBef>
              <a:spcAft>
                <a:spcPts val="0"/>
              </a:spcAft>
              <a:buNone/>
            </a:pPr>
            <a:r>
              <a:rPr sz="2400" b="1" i="0">
                <a:solidFill>
                  <a:srgbClr val="0F172A"/>
                </a:solidFill>
                <a:latin typeface="Consolas"/>
                <a:ea typeface="맑은 고딕"/>
                <a:cs typeface="맑은 고딕"/>
              </a:rPr>
              <a:t>927건</a:t>
            </a:r>
          </a:p>
        </p:txBody>
      </p:sp>
      <p:sp>
        <p:nvSpPr>
          <p:cNvPr id="24" name="TextBox 23"/>
          <p:cNvSpPr txBox="1"/>
          <p:nvPr/>
        </p:nvSpPr>
        <p:spPr>
          <a:xfrm>
            <a:off x="4343400" y="2496312"/>
            <a:ext cx="1508760" cy="274320"/>
          </a:xfrm>
          <a:prstGeom prst="rect">
            <a:avLst/>
          </a:prstGeom>
          <a:noFill/>
        </p:spPr>
        <p:txBody>
          <a:bodyPr wrap="square" lIns="0" tIns="0" rIns="0" bIns="0" anchor="t"/>
          <a:lstStyle/>
          <a:p>
            <a:pPr algn="r" eaLnBrk="0">
              <a:lnSpc>
                <a:spcPct val="100000"/>
              </a:lnSpc>
              <a:spcBef>
                <a:spcPts val="0"/>
              </a:spcBef>
              <a:spcAft>
                <a:spcPts val="0"/>
              </a:spcAft>
              <a:buNone/>
            </a:pPr>
            <a:r>
              <a:rPr sz="1000" b="0" i="0">
                <a:solidFill>
                  <a:srgbClr val="64748B"/>
                </a:solidFill>
                <a:latin typeface="맑은 고딕"/>
                <a:ea typeface="맑은 고딕"/>
                <a:cs typeface="맑은 고딕"/>
              </a:rPr>
              <a:t>정상 코호트</a:t>
            </a:r>
          </a:p>
        </p:txBody>
      </p:sp>
      <p:sp>
        <p:nvSpPr>
          <p:cNvPr id="25" name="Journey-2"/>
          <p:cNvSpPr/>
          <p:nvPr/>
        </p:nvSpPr>
        <p:spPr>
          <a:xfrm>
            <a:off x="502920" y="3246120"/>
            <a:ext cx="5486400" cy="1371600"/>
          </a:xfrm>
          <a:prstGeom prst="roundRect">
            <a:avLst>
              <a:gd name="adj" fmla="val 8000"/>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ill-Part 02"/>
          <p:cNvSpPr/>
          <p:nvPr/>
        </p:nvSpPr>
        <p:spPr>
          <a:xfrm>
            <a:off x="704088" y="3429000"/>
            <a:ext cx="690562"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Part 02</a:t>
            </a:r>
          </a:p>
        </p:txBody>
      </p:sp>
      <p:sp>
        <p:nvSpPr>
          <p:cNvPr id="27" name="TextBox 26"/>
          <p:cNvSpPr txBox="1"/>
          <p:nvPr/>
        </p:nvSpPr>
        <p:spPr>
          <a:xfrm>
            <a:off x="1691640" y="3374136"/>
            <a:ext cx="2606040" cy="1143000"/>
          </a:xfrm>
          <a:prstGeom prst="rect">
            <a:avLst/>
          </a:prstGeom>
          <a:noFill/>
        </p:spPr>
        <p:txBody>
          <a:bodyPr wrap="square" lIns="0" tIns="0" rIns="0" bIns="0" anchor="t"/>
          <a:lstStyle/>
          <a:p>
            <a:pPr algn="l" eaLnBrk="0">
              <a:lnSpc>
                <a:spcPct val="100000"/>
              </a:lnSpc>
              <a:spcBef>
                <a:spcPts val="0"/>
              </a:spcBef>
              <a:spcAft>
                <a:spcPts val="500"/>
              </a:spcAft>
              <a:buNone/>
            </a:pPr>
            <a:r>
              <a:rPr sz="1350" b="1" i="0">
                <a:solidFill>
                  <a:srgbClr val="9A3412"/>
                </a:solidFill>
                <a:latin typeface="맑은 고딕"/>
                <a:ea typeface="맑은 고딕"/>
                <a:cs typeface="맑은 고딕"/>
              </a:rPr>
              <a:t>병목 원인 규명</a:t>
            </a:r>
          </a:p>
          <a:p>
            <a:pPr algn="l" eaLnBrk="0">
              <a:lnSpc>
                <a:spcPct val="100000"/>
              </a:lnSpc>
              <a:spcBef>
                <a:spcPts val="0"/>
              </a:spcBef>
              <a:spcAft>
                <a:spcPts val="0"/>
              </a:spcAft>
              <a:buNone/>
            </a:pPr>
            <a:r>
              <a:rPr sz="1100" b="0" i="0">
                <a:solidFill>
                  <a:srgbClr val="475569"/>
                </a:solidFill>
                <a:latin typeface="맑은 고딕"/>
                <a:ea typeface="맑은 고딕"/>
                <a:cs typeface="맑은 고딕"/>
              </a:rPr>
              <a:t>76.8h 실사 대기 · 일 134건 유입 vs</a:t>
            </a:r>
            <a:br/>
            <a:r>
              <a:rPr sz="1100" b="0" i="0">
                <a:solidFill>
                  <a:srgbClr val="475569"/>
                </a:solidFill>
                <a:latin typeface="맑은 고딕"/>
                <a:ea typeface="맑은 고딕"/>
                <a:cs typeface="맑은 고딕"/>
              </a:rPr>
              <a:t>CAPA 68건 · 접수 인계 6.6배</a:t>
            </a:r>
          </a:p>
        </p:txBody>
      </p:sp>
      <p:sp>
        <p:nvSpPr>
          <p:cNvPr id="28" name="TextBox 27"/>
          <p:cNvSpPr txBox="1"/>
          <p:nvPr/>
        </p:nvSpPr>
        <p:spPr>
          <a:xfrm>
            <a:off x="4343400" y="3520439"/>
            <a:ext cx="1508760" cy="502920"/>
          </a:xfrm>
          <a:prstGeom prst="rect">
            <a:avLst/>
          </a:prstGeom>
          <a:noFill/>
        </p:spPr>
        <p:txBody>
          <a:bodyPr wrap="square" lIns="0" tIns="0" rIns="0" bIns="0" anchor="t"/>
          <a:lstStyle/>
          <a:p>
            <a:pPr algn="r" eaLnBrk="0">
              <a:lnSpc>
                <a:spcPct val="100000"/>
              </a:lnSpc>
              <a:spcBef>
                <a:spcPts val="0"/>
              </a:spcBef>
              <a:spcAft>
                <a:spcPts val="0"/>
              </a:spcAft>
              <a:buNone/>
            </a:pPr>
            <a:r>
              <a:rPr sz="2400" b="1" i="0">
                <a:solidFill>
                  <a:srgbClr val="DC2626"/>
                </a:solidFill>
                <a:latin typeface="Consolas"/>
                <a:ea typeface="맑은 고딕"/>
                <a:cs typeface="맑은 고딕"/>
              </a:rPr>
              <a:t>403건</a:t>
            </a:r>
          </a:p>
        </p:txBody>
      </p:sp>
      <p:sp>
        <p:nvSpPr>
          <p:cNvPr id="29" name="TextBox 28"/>
          <p:cNvSpPr txBox="1"/>
          <p:nvPr/>
        </p:nvSpPr>
        <p:spPr>
          <a:xfrm>
            <a:off x="4343400" y="4050791"/>
            <a:ext cx="1508760" cy="274320"/>
          </a:xfrm>
          <a:prstGeom prst="rect">
            <a:avLst/>
          </a:prstGeom>
          <a:noFill/>
        </p:spPr>
        <p:txBody>
          <a:bodyPr wrap="square" lIns="0" tIns="0" rIns="0" bIns="0" anchor="t"/>
          <a:lstStyle/>
          <a:p>
            <a:pPr algn="r" eaLnBrk="0">
              <a:lnSpc>
                <a:spcPct val="100000"/>
              </a:lnSpc>
              <a:spcBef>
                <a:spcPts val="0"/>
              </a:spcBef>
              <a:spcAft>
                <a:spcPts val="0"/>
              </a:spcAft>
              <a:buNone/>
            </a:pPr>
            <a:r>
              <a:rPr sz="1000" b="0" i="0">
                <a:solidFill>
                  <a:srgbClr val="64748B"/>
                </a:solidFill>
                <a:latin typeface="맑은 고딕"/>
                <a:ea typeface="맑은 고딕"/>
                <a:cs typeface="맑은 고딕"/>
              </a:rPr>
              <a:t>WIP 피크</a:t>
            </a:r>
          </a:p>
        </p:txBody>
      </p:sp>
      <p:sp>
        <p:nvSpPr>
          <p:cNvPr id="30" name="Journey-3"/>
          <p:cNvSpPr/>
          <p:nvPr/>
        </p:nvSpPr>
        <p:spPr>
          <a:xfrm>
            <a:off x="502920" y="4800600"/>
            <a:ext cx="5486400" cy="1371600"/>
          </a:xfrm>
          <a:prstGeom prst="roundRect">
            <a:avLst>
              <a:gd name="adj" fmla="val 8000"/>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ill-Part 03"/>
          <p:cNvSpPr/>
          <p:nvPr/>
        </p:nvSpPr>
        <p:spPr>
          <a:xfrm>
            <a:off x="704088" y="4983480"/>
            <a:ext cx="690562"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Part 03</a:t>
            </a:r>
          </a:p>
        </p:txBody>
      </p:sp>
      <p:sp>
        <p:nvSpPr>
          <p:cNvPr id="32" name="TextBox 31"/>
          <p:cNvSpPr txBox="1"/>
          <p:nvPr/>
        </p:nvSpPr>
        <p:spPr>
          <a:xfrm>
            <a:off x="1691640" y="4928616"/>
            <a:ext cx="2606040" cy="1143000"/>
          </a:xfrm>
          <a:prstGeom prst="rect">
            <a:avLst/>
          </a:prstGeom>
          <a:noFill/>
        </p:spPr>
        <p:txBody>
          <a:bodyPr wrap="square" lIns="0" tIns="0" rIns="0" bIns="0" anchor="t"/>
          <a:lstStyle/>
          <a:p>
            <a:pPr algn="l" eaLnBrk="0">
              <a:lnSpc>
                <a:spcPct val="100000"/>
              </a:lnSpc>
              <a:spcBef>
                <a:spcPts val="0"/>
              </a:spcBef>
              <a:spcAft>
                <a:spcPts val="500"/>
              </a:spcAft>
              <a:buNone/>
            </a:pPr>
            <a:r>
              <a:rPr sz="1350" b="1" i="0">
                <a:solidFill>
                  <a:srgbClr val="065F46"/>
                </a:solidFill>
                <a:latin typeface="맑은 고딕"/>
                <a:ea typeface="맑은 고딕"/>
                <a:cs typeface="맑은 고딕"/>
              </a:rPr>
              <a:t>TO-BE 실행 전략</a:t>
            </a:r>
          </a:p>
          <a:p>
            <a:pPr algn="l" eaLnBrk="0">
              <a:lnSpc>
                <a:spcPct val="100000"/>
              </a:lnSpc>
              <a:spcBef>
                <a:spcPts val="0"/>
              </a:spcBef>
              <a:spcAft>
                <a:spcPts val="0"/>
              </a:spcAft>
              <a:buNone/>
            </a:pPr>
            <a:r>
              <a:rPr sz="1100" b="0" i="0">
                <a:solidFill>
                  <a:srgbClr val="475569"/>
                </a:solidFill>
                <a:latin typeface="맑은 고딕"/>
                <a:ea typeface="맑은 고딕"/>
                <a:cs typeface="맑은 고딕"/>
              </a:rPr>
              <a:t>E형 직행 · 사진 사전 패킹 · E-1/E-2</a:t>
            </a:r>
            <a:br/>
            <a:r>
              <a:rPr sz="1100" b="0" i="0">
                <a:solidFill>
                  <a:srgbClr val="475569"/>
                </a:solidFill>
                <a:latin typeface="맑은 고딕"/>
                <a:ea typeface="맑은 고딕"/>
                <a:cs typeface="맑은 고딕"/>
              </a:rPr>
              <a:t>정밀검사 ➔ 통합 목표 60% 이상</a:t>
            </a:r>
          </a:p>
        </p:txBody>
      </p:sp>
      <p:sp>
        <p:nvSpPr>
          <p:cNvPr id="33" name="TextBox 32"/>
          <p:cNvSpPr txBox="1"/>
          <p:nvPr/>
        </p:nvSpPr>
        <p:spPr>
          <a:xfrm>
            <a:off x="4343400" y="5074920"/>
            <a:ext cx="1508760" cy="502920"/>
          </a:xfrm>
          <a:prstGeom prst="rect">
            <a:avLst/>
          </a:prstGeom>
          <a:noFill/>
        </p:spPr>
        <p:txBody>
          <a:bodyPr wrap="square" lIns="0" tIns="0" rIns="0" bIns="0" anchor="t"/>
          <a:lstStyle/>
          <a:p>
            <a:pPr algn="r" eaLnBrk="0">
              <a:lnSpc>
                <a:spcPct val="100000"/>
              </a:lnSpc>
              <a:spcBef>
                <a:spcPts val="0"/>
              </a:spcBef>
              <a:spcAft>
                <a:spcPts val="0"/>
              </a:spcAft>
              <a:buNone/>
            </a:pPr>
            <a:r>
              <a:rPr sz="2400" b="1" i="0">
                <a:solidFill>
                  <a:srgbClr val="059669"/>
                </a:solidFill>
                <a:latin typeface="Consolas"/>
                <a:ea typeface="맑은 고딕"/>
                <a:cs typeface="맑은 고딕"/>
              </a:rPr>
              <a:t>-17.2h</a:t>
            </a:r>
          </a:p>
        </p:txBody>
      </p:sp>
      <p:sp>
        <p:nvSpPr>
          <p:cNvPr id="34" name="TextBox 33"/>
          <p:cNvSpPr txBox="1"/>
          <p:nvPr/>
        </p:nvSpPr>
        <p:spPr>
          <a:xfrm>
            <a:off x="4343400" y="5605272"/>
            <a:ext cx="1508760" cy="274320"/>
          </a:xfrm>
          <a:prstGeom prst="rect">
            <a:avLst/>
          </a:prstGeom>
          <a:noFill/>
        </p:spPr>
        <p:txBody>
          <a:bodyPr wrap="square" lIns="0" tIns="0" rIns="0" bIns="0" anchor="t"/>
          <a:lstStyle/>
          <a:p>
            <a:pPr algn="r" eaLnBrk="0">
              <a:lnSpc>
                <a:spcPct val="100000"/>
              </a:lnSpc>
              <a:spcBef>
                <a:spcPts val="0"/>
              </a:spcBef>
              <a:spcAft>
                <a:spcPts val="0"/>
              </a:spcAft>
              <a:buNone/>
            </a:pPr>
            <a:r>
              <a:rPr sz="1000" b="0" i="0">
                <a:solidFill>
                  <a:srgbClr val="64748B"/>
                </a:solidFill>
                <a:latin typeface="맑은 고딕"/>
                <a:ea typeface="맑은 고딕"/>
                <a:cs typeface="맑은 고딕"/>
              </a:rPr>
              <a:t>검증된 하한</a:t>
            </a:r>
          </a:p>
        </p:txBody>
      </p:sp>
      <p:sp>
        <p:nvSpPr>
          <p:cNvPr id="35" name="QaHero"/>
          <p:cNvSpPr/>
          <p:nvPr/>
        </p:nvSpPr>
        <p:spPr>
          <a:xfrm>
            <a:off x="6263640" y="1691640"/>
            <a:ext cx="5425135" cy="4480560"/>
          </a:xfrm>
          <a:prstGeom prst="roundRect">
            <a:avLst>
              <a:gd name="adj" fmla="val 3265"/>
            </a:avLst>
          </a:prstGeom>
          <a:solidFill>
            <a:srgbClr val="FFFFFF"/>
          </a:solidFill>
          <a:ln w="254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ill-QUESTION &amp; A"/>
          <p:cNvSpPr/>
          <p:nvPr/>
        </p:nvSpPr>
        <p:spPr>
          <a:xfrm>
            <a:off x="8065903" y="2011680"/>
            <a:ext cx="1729168" cy="292608"/>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50" b="1" i="0">
                <a:solidFill>
                  <a:srgbClr val="065F46"/>
                </a:solidFill>
                <a:latin typeface="맑은 고딕"/>
                <a:ea typeface="맑은 고딕"/>
                <a:cs typeface="맑은 고딕"/>
              </a:rPr>
              <a:t>QUESTION &amp; ANSWER</a:t>
            </a:r>
          </a:p>
        </p:txBody>
      </p:sp>
      <p:sp>
        <p:nvSpPr>
          <p:cNvPr id="37" name="TextBox 36"/>
          <p:cNvSpPr txBox="1"/>
          <p:nvPr/>
        </p:nvSpPr>
        <p:spPr>
          <a:xfrm>
            <a:off x="6263640" y="2560320"/>
            <a:ext cx="5425135" cy="1097280"/>
          </a:xfrm>
          <a:prstGeom prst="rect">
            <a:avLst/>
          </a:prstGeom>
          <a:noFill/>
        </p:spPr>
        <p:txBody>
          <a:bodyPr wrap="square" lIns="0" tIns="0" rIns="0" bIns="0" anchor="t"/>
          <a:lstStyle/>
          <a:p>
            <a:pPr algn="ctr" eaLnBrk="0">
              <a:lnSpc>
                <a:spcPct val="100000"/>
              </a:lnSpc>
              <a:spcBef>
                <a:spcPts val="0"/>
              </a:spcBef>
              <a:spcAft>
                <a:spcPts val="0"/>
              </a:spcAft>
              <a:buNone/>
            </a:pPr>
            <a:r>
              <a:rPr sz="6600" b="1" i="0">
                <a:solidFill>
                  <a:srgbClr val="0F172A"/>
                </a:solidFill>
                <a:latin typeface="Consolas"/>
                <a:ea typeface="맑은 고딕"/>
                <a:cs typeface="맑은 고딕"/>
              </a:rPr>
              <a:t>Q &amp; A</a:t>
            </a:r>
          </a:p>
        </p:txBody>
      </p:sp>
      <p:sp>
        <p:nvSpPr>
          <p:cNvPr id="38" name="TextBox 37"/>
          <p:cNvSpPr txBox="1"/>
          <p:nvPr/>
        </p:nvSpPr>
        <p:spPr>
          <a:xfrm>
            <a:off x="6263640" y="3840480"/>
            <a:ext cx="5425135" cy="457200"/>
          </a:xfrm>
          <a:prstGeom prst="rect">
            <a:avLst/>
          </a:prstGeom>
          <a:noFill/>
        </p:spPr>
        <p:txBody>
          <a:bodyPr wrap="square" lIns="0" tIns="0" rIns="0" bIns="0" anchor="t"/>
          <a:lstStyle/>
          <a:p>
            <a:pPr algn="ctr" eaLnBrk="0">
              <a:lnSpc>
                <a:spcPct val="100000"/>
              </a:lnSpc>
              <a:spcBef>
                <a:spcPts val="0"/>
              </a:spcBef>
              <a:spcAft>
                <a:spcPts val="0"/>
              </a:spcAft>
              <a:buNone/>
            </a:pPr>
            <a:r>
              <a:rPr sz="2200" b="1" i="0">
                <a:solidFill>
                  <a:srgbClr val="0F172A"/>
                </a:solidFill>
                <a:latin typeface="맑은 고딕"/>
                <a:ea typeface="맑은 고딕"/>
                <a:cs typeface="맑은 고딕"/>
              </a:rPr>
              <a:t>경청해 주셔서 감사합니다</a:t>
            </a:r>
          </a:p>
        </p:txBody>
      </p:sp>
      <p:sp>
        <p:nvSpPr>
          <p:cNvPr id="39" name="TextBox 38"/>
          <p:cNvSpPr txBox="1"/>
          <p:nvPr/>
        </p:nvSpPr>
        <p:spPr>
          <a:xfrm>
            <a:off x="6263640" y="4434840"/>
            <a:ext cx="5425135" cy="731520"/>
          </a:xfrm>
          <a:prstGeom prst="rect">
            <a:avLst/>
          </a:prstGeom>
          <a:noFill/>
        </p:spPr>
        <p:txBody>
          <a:bodyPr wrap="square" lIns="0" tIns="0" rIns="0" bIns="0" anchor="t"/>
          <a:lstStyle/>
          <a:p>
            <a:pPr algn="ctr" eaLnBrk="0">
              <a:lnSpc>
                <a:spcPct val="100000"/>
              </a:lnSpc>
              <a:spcBef>
                <a:spcPts val="0"/>
              </a:spcBef>
              <a:spcAft>
                <a:spcPts val="0"/>
              </a:spcAft>
              <a:buNone/>
            </a:pPr>
            <a:r>
              <a:rPr sz="1350" b="0" i="0">
                <a:solidFill>
                  <a:srgbClr val="475569"/>
                </a:solidFill>
                <a:latin typeface="맑은 고딕"/>
                <a:ea typeface="맑은 고딕"/>
                <a:cs typeface="맑은 고딕"/>
              </a:rPr>
              <a:t>데이터 진단부터 병목 규명, 실행 전략까지</a:t>
            </a:r>
            <a:br/>
            <a:r>
              <a:rPr sz="1350" b="0" i="0">
                <a:solidFill>
                  <a:srgbClr val="475569"/>
                </a:solidFill>
                <a:latin typeface="맑은 고딕"/>
                <a:ea typeface="맑은 고딕"/>
                <a:cs typeface="맑은 고딕"/>
              </a:rPr>
              <a:t>자유롭게 질문해 주시기 바랍니다.</a:t>
            </a:r>
          </a:p>
        </p:txBody>
      </p:sp>
      <p:sp>
        <p:nvSpPr>
          <p:cNvPr id="40" name="TextBox 39"/>
          <p:cNvSpPr txBox="1"/>
          <p:nvPr/>
        </p:nvSpPr>
        <p:spPr>
          <a:xfrm>
            <a:off x="6537959" y="5623560"/>
            <a:ext cx="4876495" cy="365760"/>
          </a:xfrm>
          <a:prstGeom prst="rect">
            <a:avLst/>
          </a:prstGeom>
          <a:noFill/>
        </p:spPr>
        <p:txBody>
          <a:bodyPr wrap="square" lIns="0" tIns="0" rIns="0" bIns="0" anchor="t"/>
          <a:lstStyle/>
          <a:p>
            <a:pPr algn="ctr" eaLnBrk="0">
              <a:lnSpc>
                <a:spcPct val="100000"/>
              </a:lnSpc>
              <a:spcBef>
                <a:spcPts val="0"/>
              </a:spcBef>
              <a:spcAft>
                <a:spcPts val="0"/>
              </a:spcAft>
              <a:buNone/>
            </a:pPr>
            <a:r>
              <a:rPr sz="950" b="0" i="0">
                <a:solidFill>
                  <a:srgbClr val="64748B"/>
                </a:solidFill>
                <a:latin typeface="맑은 고딕"/>
                <a:ea typeface="맑은 고딕"/>
                <a:cs typeface="맑은 고딕"/>
              </a:rPr>
              <a:t>퍼즐데이터 채용 과제 수리 프로세스 데이터 분석 및 운영 최적화 방안  |  2026. 10. 27</a:t>
            </a:r>
          </a:p>
        </p:txBody>
      </p:sp>
      <p:sp>
        <p:nvSpPr>
          <p:cNvPr id="41" name="Nav-1">
            <a:hlinkClick action="ppaction://hlinksldjump" r:id="rId3"/>
          </p:cNvPr>
          <p:cNvSpPr/>
          <p:nvPr/>
        </p:nvSpPr>
        <p:spPr>
          <a:xfrm>
            <a:off x="9201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Nav-2">
            <a:hlinkClick action="ppaction://hlinksldjump" r:id="rId4"/>
          </p:cNvPr>
          <p:cNvSpPr/>
          <p:nvPr/>
        </p:nvSpPr>
        <p:spPr>
          <a:xfrm>
            <a:off x="9315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Nav-3">
            <a:hlinkClick action="ppaction://hlinksldjump" r:id="rId5"/>
          </p:cNvPr>
          <p:cNvSpPr/>
          <p:nvPr/>
        </p:nvSpPr>
        <p:spPr>
          <a:xfrm>
            <a:off x="9430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Nav-4">
            <a:hlinkClick action="ppaction://hlinksldjump" r:id="rId6"/>
          </p:cNvPr>
          <p:cNvSpPr/>
          <p:nvPr/>
        </p:nvSpPr>
        <p:spPr>
          <a:xfrm>
            <a:off x="9544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Nav-5">
            <a:hlinkClick action="ppaction://hlinksldjump" r:id="rId7"/>
          </p:cNvPr>
          <p:cNvSpPr/>
          <p:nvPr/>
        </p:nvSpPr>
        <p:spPr>
          <a:xfrm>
            <a:off x="96588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Nav-6">
            <a:hlinkClick action="ppaction://hlinksldjump" r:id="rId8"/>
          </p:cNvPr>
          <p:cNvSpPr/>
          <p:nvPr/>
        </p:nvSpPr>
        <p:spPr>
          <a:xfrm>
            <a:off x="97731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Nav-7">
            <a:hlinkClick action="ppaction://hlinksldjump" r:id="rId9"/>
          </p:cNvPr>
          <p:cNvSpPr/>
          <p:nvPr/>
        </p:nvSpPr>
        <p:spPr>
          <a:xfrm>
            <a:off x="98874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Nav-8">
            <a:hlinkClick action="ppaction://hlinksldjump" r:id="rId10"/>
          </p:cNvPr>
          <p:cNvSpPr/>
          <p:nvPr/>
        </p:nvSpPr>
        <p:spPr>
          <a:xfrm>
            <a:off x="100017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av-9">
            <a:hlinkClick action="ppaction://hlinksldjump" r:id="rId11"/>
          </p:cNvPr>
          <p:cNvSpPr/>
          <p:nvPr/>
        </p:nvSpPr>
        <p:spPr>
          <a:xfrm>
            <a:off x="101160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Nav-10">
            <a:hlinkClick action="ppaction://hlinksldjump" r:id="rId12"/>
          </p:cNvPr>
          <p:cNvSpPr/>
          <p:nvPr/>
        </p:nvSpPr>
        <p:spPr>
          <a:xfrm>
            <a:off x="102303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Nav-11">
            <a:hlinkClick action="ppaction://hlinksldjump" r:id="rId13"/>
          </p:cNvPr>
          <p:cNvSpPr/>
          <p:nvPr/>
        </p:nvSpPr>
        <p:spPr>
          <a:xfrm>
            <a:off x="103446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Nav-12">
            <a:hlinkClick action="ppaction://hlinksldjump" r:id="rId14"/>
          </p:cNvPr>
          <p:cNvSpPr/>
          <p:nvPr/>
        </p:nvSpPr>
        <p:spPr>
          <a:xfrm>
            <a:off x="104589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Nav-13">
            <a:hlinkClick action="ppaction://hlinksldjump" r:id="rId15"/>
          </p:cNvPr>
          <p:cNvSpPr/>
          <p:nvPr/>
        </p:nvSpPr>
        <p:spPr>
          <a:xfrm>
            <a:off x="105732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Nav-14">
            <a:hlinkClick action="ppaction://hlinksldjump" r:id="rId16"/>
          </p:cNvPr>
          <p:cNvSpPr/>
          <p:nvPr/>
        </p:nvSpPr>
        <p:spPr>
          <a:xfrm>
            <a:off x="10687507" y="6455664"/>
            <a:ext cx="114300" cy="18288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219324"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Appendix A-1 | 원본 프로세스 맵</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원본 프로세스 맵(이벤트 수 기준)은 노드 빈도와 반복 구간의 근거 자료이다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repair_cleaned.csv 프로세스 마이닝 (노드 = 이벤트 수 EV, 구간 머리말 = 케이스 수) · docs/repair_process_map.html</a:t>
            </a:r>
          </a:p>
        </p:txBody>
      </p:sp>
      <p:sp>
        <p:nvSpPr>
          <p:cNvPr id="5"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A-1</a:t>
            </a:r>
          </a:p>
        </p:txBody>
      </p:sp>
      <p:sp>
        <p:nvSpPr>
          <p:cNvPr id="6" name="OriginalMapFrame"/>
          <p:cNvSpPr/>
          <p:nvPr/>
        </p:nvSpPr>
        <p:spPr>
          <a:xfrm>
            <a:off x="502920" y="1627632"/>
            <a:ext cx="11185855" cy="3310128"/>
          </a:xfrm>
          <a:prstGeom prst="roundRect">
            <a:avLst>
              <a:gd name="adj" fmla="val 386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원본 프로세스 맵: 접수·현장·정산 노드의 이벤트 수와 평균·중앙값 대기(76.8h / 48.8h)"/>
          <p:cNvPicPr>
            <a:picLocks noChangeAspect="1"/>
          </p:cNvPicPr>
          <p:nvPr/>
        </p:nvPicPr>
        <p:blipFill>
          <a:blip r:embed="rId2"/>
          <a:stretch>
            <a:fillRect/>
          </a:stretch>
        </p:blipFill>
        <p:spPr>
          <a:xfrm>
            <a:off x="846320" y="1673352"/>
            <a:ext cx="10499053" cy="3218688"/>
          </a:xfrm>
          <a:prstGeom prst="rect">
            <a:avLst/>
          </a:prstGeom>
        </p:spPr>
      </p:pic>
      <p:sp>
        <p:nvSpPr>
          <p:cNvPr id="8" name="A1Note-1"/>
          <p:cNvSpPr/>
          <p:nvPr/>
        </p:nvSpPr>
        <p:spPr>
          <a:xfrm>
            <a:off x="502920" y="5074920"/>
            <a:ext cx="3576218" cy="1216152"/>
          </a:xfrm>
          <a:prstGeom prst="roundRect">
            <a:avLst>
              <a:gd name="adj" fmla="val 902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166360"/>
            <a:ext cx="3210458" cy="1051560"/>
          </a:xfrm>
          <a:prstGeom prst="rect">
            <a:avLst/>
          </a:prstGeom>
          <a:noFill/>
        </p:spPr>
        <p:txBody>
          <a:bodyPr wrap="square" lIns="0" tIns="0" rIns="0" bIns="0" anchor="t"/>
          <a:lstStyle/>
          <a:p>
            <a:pPr algn="l" eaLnBrk="0">
              <a:lnSpc>
                <a:spcPct val="100000"/>
              </a:lnSpc>
              <a:spcBef>
                <a:spcPts val="0"/>
              </a:spcBef>
              <a:spcAft>
                <a:spcPts val="300"/>
              </a:spcAft>
              <a:buNone/>
            </a:pPr>
            <a:r>
              <a:rPr sz="1150" b="1" i="0">
                <a:solidFill>
                  <a:srgbClr val="0F172A"/>
                </a:solidFill>
                <a:latin typeface="맑은 고딕"/>
                <a:ea typeface="맑은 고딕"/>
                <a:cs typeface="맑은 고딕"/>
              </a:rPr>
              <a:t>노드 = 이벤트 수(EV)</a:t>
            </a:r>
          </a:p>
          <a:p>
            <a:pPr algn="l" eaLnBrk="0">
              <a:lnSpc>
                <a:spcPct val="100000"/>
              </a:lnSpc>
              <a:spcBef>
                <a:spcPts val="0"/>
              </a:spcBef>
              <a:spcAft>
                <a:spcPts val="0"/>
              </a:spcAft>
              <a:buNone/>
            </a:pPr>
            <a:r>
              <a:rPr sz="1050" b="0" i="0">
                <a:solidFill>
                  <a:srgbClr val="475569"/>
                </a:solidFill>
                <a:latin typeface="맑은 고딕"/>
                <a:ea typeface="맑은 고딕"/>
                <a:cs typeface="맑은 고딕"/>
              </a:rPr>
              <a:t>InternRepair 547 EV / 508 케이스처럼 한</a:t>
            </a:r>
            <a:br/>
            <a:r>
              <a:rPr sz="1050" b="0" i="0">
                <a:solidFill>
                  <a:srgbClr val="475569"/>
                </a:solidFill>
                <a:latin typeface="맑은 고딕"/>
                <a:ea typeface="맑은 고딕"/>
                <a:cs typeface="맑은 고딕"/>
              </a:rPr>
              <a:t>케이스에서 같은 업무가 반복되면 EV가 케이스보다</a:t>
            </a:r>
            <a:br/>
            <a:r>
              <a:rPr sz="1050" b="0" i="0">
                <a:solidFill>
                  <a:srgbClr val="475569"/>
                </a:solidFill>
                <a:latin typeface="맑은 고딕"/>
                <a:ea typeface="맑은 고딕"/>
                <a:cs typeface="맑은 고딕"/>
              </a:rPr>
              <a:t>많다. 사내수리 반복은 39회.</a:t>
            </a:r>
          </a:p>
        </p:txBody>
      </p:sp>
      <p:sp>
        <p:nvSpPr>
          <p:cNvPr id="10" name="A1Note-2"/>
          <p:cNvSpPr/>
          <p:nvPr/>
        </p:nvSpPr>
        <p:spPr>
          <a:xfrm>
            <a:off x="4307738" y="5074920"/>
            <a:ext cx="3576218" cy="1216152"/>
          </a:xfrm>
          <a:prstGeom prst="roundRect">
            <a:avLst>
              <a:gd name="adj" fmla="val 902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0618" y="5166360"/>
            <a:ext cx="3210458" cy="1051560"/>
          </a:xfrm>
          <a:prstGeom prst="rect">
            <a:avLst/>
          </a:prstGeom>
          <a:noFill/>
        </p:spPr>
        <p:txBody>
          <a:bodyPr wrap="square" lIns="0" tIns="0" rIns="0" bIns="0" anchor="t"/>
          <a:lstStyle/>
          <a:p>
            <a:pPr algn="l" eaLnBrk="0">
              <a:lnSpc>
                <a:spcPct val="100000"/>
              </a:lnSpc>
              <a:spcBef>
                <a:spcPts val="0"/>
              </a:spcBef>
              <a:spcAft>
                <a:spcPts val="300"/>
              </a:spcAft>
              <a:buNone/>
            </a:pPr>
            <a:r>
              <a:rPr sz="1150" b="1" i="0">
                <a:solidFill>
                  <a:srgbClr val="0F172A"/>
                </a:solidFill>
                <a:latin typeface="맑은 고딕"/>
                <a:ea typeface="맑은 고딕"/>
                <a:cs typeface="맑은 고딕"/>
              </a:rPr>
              <a:t>수리 1,062 EV &gt; 927 케이스</a:t>
            </a:r>
          </a:p>
          <a:p>
            <a:pPr algn="l" eaLnBrk="0">
              <a:lnSpc>
                <a:spcPct val="100000"/>
              </a:lnSpc>
              <a:spcBef>
                <a:spcPts val="0"/>
              </a:spcBef>
              <a:spcAft>
                <a:spcPts val="0"/>
              </a:spcAft>
              <a:buNone/>
            </a:pPr>
            <a:r>
              <a:rPr sz="1050" b="0" i="0">
                <a:solidFill>
                  <a:srgbClr val="475569"/>
                </a:solidFill>
                <a:latin typeface="맑은 고딕"/>
                <a:ea typeface="맑은 고딕"/>
                <a:cs typeface="맑은 고딕"/>
              </a:rPr>
              <a:t>한 케이스 안에서 수리 유형이 바뀌거나 반복된</a:t>
            </a:r>
            <a:br/>
            <a:r>
              <a:rPr sz="1050" b="0" i="0">
                <a:solidFill>
                  <a:srgbClr val="475569"/>
                </a:solidFill>
                <a:latin typeface="맑은 고딕"/>
                <a:ea typeface="맑은 고딕"/>
                <a:cs typeface="맑은 고딕"/>
              </a:rPr>
              <a:t>경우(복수 유형 91건)가 포함된다. 1차 실패 후 2차</a:t>
            </a:r>
            <a:br/>
            <a:r>
              <a:rPr sz="1050" b="0" i="0">
                <a:solidFill>
                  <a:srgbClr val="475569"/>
                </a:solidFill>
                <a:latin typeface="맑은 고딕"/>
                <a:ea typeface="맑은 고딕"/>
                <a:cs typeface="맑은 고딕"/>
              </a:rPr>
              <a:t>수리 전환은 117건(12.6%).</a:t>
            </a:r>
          </a:p>
        </p:txBody>
      </p:sp>
      <p:sp>
        <p:nvSpPr>
          <p:cNvPr id="12" name="A1Note-3"/>
          <p:cNvSpPr/>
          <p:nvPr/>
        </p:nvSpPr>
        <p:spPr>
          <a:xfrm>
            <a:off x="8112556" y="5074920"/>
            <a:ext cx="3576218" cy="1216152"/>
          </a:xfrm>
          <a:prstGeom prst="roundRect">
            <a:avLst>
              <a:gd name="adj" fmla="val 902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5436" y="5166360"/>
            <a:ext cx="3210458" cy="1051560"/>
          </a:xfrm>
          <a:prstGeom prst="rect">
            <a:avLst/>
          </a:prstGeom>
          <a:noFill/>
        </p:spPr>
        <p:txBody>
          <a:bodyPr wrap="square" lIns="0" tIns="0" rIns="0" bIns="0" anchor="t"/>
          <a:lstStyle/>
          <a:p>
            <a:pPr algn="l" eaLnBrk="0">
              <a:lnSpc>
                <a:spcPct val="100000"/>
              </a:lnSpc>
              <a:spcBef>
                <a:spcPts val="0"/>
              </a:spcBef>
              <a:spcAft>
                <a:spcPts val="300"/>
              </a:spcAft>
              <a:buNone/>
            </a:pPr>
            <a:r>
              <a:rPr sz="1150" b="1" i="0">
                <a:solidFill>
                  <a:srgbClr val="0F172A"/>
                </a:solidFill>
                <a:latin typeface="맑은 고딕"/>
                <a:ea typeface="맑은 고딕"/>
                <a:cs typeface="맑은 고딕"/>
              </a:rPr>
              <a:t>MakeTicket의 교차 인계</a:t>
            </a:r>
          </a:p>
          <a:p>
            <a:pPr algn="l" eaLnBrk="0">
              <a:lnSpc>
                <a:spcPct val="100000"/>
              </a:lnSpc>
              <a:spcBef>
                <a:spcPts val="0"/>
              </a:spcBef>
              <a:spcAft>
                <a:spcPts val="0"/>
              </a:spcAft>
              <a:buNone/>
            </a:pPr>
            <a:r>
              <a:rPr sz="1050" b="0" i="0">
                <a:solidFill>
                  <a:srgbClr val="475569"/>
                </a:solidFill>
                <a:latin typeface="맑은 고딕"/>
                <a:ea typeface="맑은 고딕"/>
                <a:cs typeface="맑은 고딕"/>
              </a:rPr>
              <a:t>접수 4활동에 상담원 2명 이상이 관여한</a:t>
            </a:r>
            <a:br/>
            <a:r>
              <a:rPr sz="1050" b="0" i="0">
                <a:solidFill>
                  <a:srgbClr val="475569"/>
                </a:solidFill>
                <a:latin typeface="맑은 고딕"/>
                <a:ea typeface="맑은 고딕"/>
                <a:cs typeface="맑은 고딕"/>
              </a:rPr>
              <a:t>123건(13.3%). 건당 +5.11h는 접수 단독 OLS의</a:t>
            </a:r>
            <a:br/>
            <a:r>
              <a:rPr sz="1050" b="0" i="0">
                <a:solidFill>
                  <a:srgbClr val="475569"/>
                </a:solidFill>
                <a:latin typeface="맑은 고딕"/>
                <a:ea typeface="맑은 고딕"/>
                <a:cs typeface="맑은 고딕"/>
              </a:rPr>
              <a:t>계수이며 본문의 6.6배는 평균 비교.</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09232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Appendix A-2 | 핵심 지표 정의</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본문 수치는 모두 아래 정의와 산식으로 927건 코호트에서 재계산했다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analysis.sql 2·3절, hypothesis_testing_and_visualization.ipynb Part 3~5, scripts/verify_deck_facts.py (재계산 76항목)</a:t>
            </a:r>
          </a:p>
        </p:txBody>
      </p:sp>
      <p:sp>
        <p:nvSpPr>
          <p:cNvPr id="5"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A-2</a:t>
            </a:r>
          </a:p>
        </p:txBody>
      </p:sp>
      <p:graphicFrame>
        <p:nvGraphicFramePr>
          <p:cNvPr id="6" name="DefinitionTable"/>
          <p:cNvGraphicFramePr>
            <a:graphicFrameLocks noGrp="1"/>
          </p:cNvGraphicFramePr>
          <p:nvPr/>
        </p:nvGraphicFramePr>
        <p:xfrm>
          <a:off x="502920" y="1664208"/>
          <a:ext cx="11183112" cy="4617720"/>
        </p:xfrm>
        <a:graphic>
          <a:graphicData uri="http://schemas.openxmlformats.org/drawingml/2006/table">
            <a:tbl>
              <a:tblPr firstRow="0" bandRow="0" firstCol="0" lastRow="0" lastCol="0" bandCol="0">
                <a:tableStyleId>{2D5ABB26-0587-4C30-8999-92F81FD0307C}</a:tableStyleId>
              </a:tblPr>
              <a:tblGrid>
                <a:gridCol w="2148840"/>
                <a:gridCol w="5074920"/>
                <a:gridCol w="2377440"/>
                <a:gridCol w="1581912"/>
              </a:tblGrid>
              <a:tr h="365760">
                <a:tc>
                  <a:txBody>
                    <a:bodyPr wrap="square"/>
                    <a:lstStyle/>
                    <a:p>
                      <a:pPr algn="l" eaLnBrk="0">
                        <a:lnSpc>
                          <a:spcPct val="100000"/>
                        </a:lnSpc>
                        <a:spcBef>
                          <a:spcPts val="0"/>
                        </a:spcBef>
                        <a:spcAft>
                          <a:spcPts val="0"/>
                        </a:spcAft>
                        <a:buNone/>
                      </a:pPr>
                      <a:r>
                        <a:rPr sz="1050" b="1" i="0">
                          <a:solidFill>
                            <a:srgbClr val="334155"/>
                          </a:solidFill>
                          <a:latin typeface="맑은 고딕"/>
                          <a:ea typeface="맑은 고딕"/>
                          <a:cs typeface="맑은 고딕"/>
                        </a:rPr>
                        <a:t>지표</a:t>
                      </a:r>
                    </a:p>
                  </a:txBody>
                  <a:tcPr marL="109728" marR="109728" marT="36576" marB="36576" anchor="ctr">
                    <a:lnL w="0">
                      <a:noFill/>
                    </a:lnL>
                    <a:lnR w="0">
                      <a:noFill/>
                    </a:lnR>
                    <a:lnT w="0">
                      <a:noFill/>
                    </a:lnT>
                    <a:lnB w="9525">
                      <a:solidFill>
                        <a:srgbClr val="E2E8F0"/>
                      </a:solidFill>
                    </a:lnB>
                    <a:solidFill>
                      <a:srgbClr val="F1F5F9"/>
                    </a:solidFill>
                  </a:tcPr>
                </a:tc>
                <a:tc>
                  <a:txBody>
                    <a:bodyPr wrap="square"/>
                    <a:lstStyle/>
                    <a:p>
                      <a:pPr algn="l" eaLnBrk="0">
                        <a:lnSpc>
                          <a:spcPct val="100000"/>
                        </a:lnSpc>
                        <a:spcBef>
                          <a:spcPts val="0"/>
                        </a:spcBef>
                        <a:spcAft>
                          <a:spcPts val="0"/>
                        </a:spcAft>
                        <a:buNone/>
                      </a:pPr>
                      <a:r>
                        <a:rPr sz="1050" b="1" i="0">
                          <a:solidFill>
                            <a:srgbClr val="334155"/>
                          </a:solidFill>
                          <a:latin typeface="맑은 고딕"/>
                          <a:ea typeface="맑은 고딕"/>
                          <a:cs typeface="맑은 고딕"/>
                        </a:rPr>
                        <a:t>정의 · 산식</a:t>
                      </a:r>
                    </a:p>
                  </a:txBody>
                  <a:tcPr marL="109728" marR="109728" marT="36576" marB="36576" anchor="ctr">
                    <a:lnL w="0">
                      <a:noFill/>
                    </a:lnL>
                    <a:lnR w="0">
                      <a:noFill/>
                    </a:lnR>
                    <a:lnT w="0">
                      <a:noFill/>
                    </a:lnT>
                    <a:lnB w="9525">
                      <a:solidFill>
                        <a:srgbClr val="E2E8F0"/>
                      </a:solidFill>
                    </a:lnB>
                    <a:solidFill>
                      <a:srgbClr val="F1F5F9"/>
                    </a:solidFill>
                  </a:tcPr>
                </a:tc>
                <a:tc>
                  <a:txBody>
                    <a:bodyPr wrap="square"/>
                    <a:lstStyle/>
                    <a:p>
                      <a:pPr algn="l" eaLnBrk="0">
                        <a:lnSpc>
                          <a:spcPct val="100000"/>
                        </a:lnSpc>
                        <a:spcBef>
                          <a:spcPts val="0"/>
                        </a:spcBef>
                        <a:spcAft>
                          <a:spcPts val="0"/>
                        </a:spcAft>
                        <a:buNone/>
                      </a:pPr>
                      <a:r>
                        <a:rPr sz="1050" b="1" i="0">
                          <a:solidFill>
                            <a:srgbClr val="334155"/>
                          </a:solidFill>
                          <a:latin typeface="맑은 고딕"/>
                          <a:ea typeface="맑은 고딕"/>
                          <a:cs typeface="맑은 고딕"/>
                        </a:rPr>
                        <a:t>값</a:t>
                      </a:r>
                    </a:p>
                  </a:txBody>
                  <a:tcPr marL="109728" marR="109728" marT="36576" marB="36576" anchor="ctr">
                    <a:lnL w="0">
                      <a:noFill/>
                    </a:lnL>
                    <a:lnR w="0">
                      <a:noFill/>
                    </a:lnR>
                    <a:lnT w="0">
                      <a:noFill/>
                    </a:lnT>
                    <a:lnB w="9525">
                      <a:solidFill>
                        <a:srgbClr val="E2E8F0"/>
                      </a:solidFill>
                    </a:lnB>
                    <a:solidFill>
                      <a:srgbClr val="F1F5F9"/>
                    </a:solidFill>
                  </a:tcPr>
                </a:tc>
                <a:tc>
                  <a:txBody>
                    <a:bodyPr wrap="square"/>
                    <a:lstStyle/>
                    <a:p>
                      <a:pPr algn="l" eaLnBrk="0">
                        <a:lnSpc>
                          <a:spcPct val="100000"/>
                        </a:lnSpc>
                        <a:spcBef>
                          <a:spcPts val="0"/>
                        </a:spcBef>
                        <a:spcAft>
                          <a:spcPts val="0"/>
                        </a:spcAft>
                        <a:buNone/>
                      </a:pPr>
                      <a:r>
                        <a:rPr sz="1050" b="1" i="0">
                          <a:solidFill>
                            <a:srgbClr val="334155"/>
                          </a:solidFill>
                          <a:latin typeface="맑은 고딕"/>
                          <a:ea typeface="맑은 고딕"/>
                          <a:cs typeface="맑은 고딕"/>
                        </a:rPr>
                        <a:t>출처</a:t>
                      </a:r>
                    </a:p>
                  </a:txBody>
                  <a:tcPr marL="109728" marR="109728" marT="36576" marB="36576" anchor="ctr">
                    <a:lnL w="0">
                      <a:noFill/>
                    </a:lnL>
                    <a:lnR w="0">
                      <a:noFill/>
                    </a:lnR>
                    <a:lnT w="0">
                      <a:noFill/>
                    </a:lnT>
                    <a:lnB w="9525">
                      <a:solidFill>
                        <a:srgbClr val="E2E8F0"/>
                      </a:solidFill>
                    </a:lnB>
                    <a:solidFill>
                      <a:srgbClr val="F1F5F9"/>
                    </a:solidFill>
                  </a:tcPr>
                </a:tc>
              </a:tr>
              <a:tr h="425196">
                <a:tc>
                  <a:txBody>
                    <a:bodyPr wrap="square"/>
                    <a:lstStyle/>
                    <a:p>
                      <a:pPr algn="l" eaLnBrk="0">
                        <a:lnSpc>
                          <a:spcPct val="100000"/>
                        </a:lnSpc>
                        <a:spcBef>
                          <a:spcPts val="0"/>
                        </a:spcBef>
                        <a:spcAft>
                          <a:spcPts val="0"/>
                        </a:spcAft>
                        <a:buNone/>
                      </a:pPr>
                      <a:r>
                        <a:rPr sz="1050" b="1" i="0">
                          <a:solidFill>
                            <a:srgbClr val="0F172A"/>
                          </a:solidFill>
                          <a:latin typeface="맑은 고딕"/>
                          <a:ea typeface="맑은 고딕"/>
                          <a:cs typeface="맑은 고딕"/>
                        </a:rPr>
                        <a:t>케이스 리드타임</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FirstContact 시작 → TicketReady 완료 (접수 ~ 정산 종료)</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평균 105.9h</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SQL 2-1</a:t>
                      </a:r>
                    </a:p>
                  </a:txBody>
                  <a:tcPr marL="109728" marR="109728" marT="36576" marB="36576" anchor="ctr">
                    <a:lnL w="0">
                      <a:noFill/>
                    </a:lnL>
                    <a:lnR w="0">
                      <a:noFill/>
                    </a:lnR>
                    <a:lnT w="0">
                      <a:noFill/>
                    </a:lnT>
                    <a:lnB w="9525">
                      <a:solidFill>
                        <a:srgbClr val="E2E8F0"/>
                      </a:solidFill>
                    </a:lnB>
                    <a:noFill/>
                  </a:tcPr>
                </a:tc>
              </a:tr>
              <a:tr h="425196">
                <a:tc>
                  <a:txBody>
                    <a:bodyPr wrap="square"/>
                    <a:lstStyle/>
                    <a:p>
                      <a:pPr algn="l" eaLnBrk="0">
                        <a:lnSpc>
                          <a:spcPct val="100000"/>
                        </a:lnSpc>
                        <a:spcBef>
                          <a:spcPts val="0"/>
                        </a:spcBef>
                        <a:spcAft>
                          <a:spcPts val="0"/>
                        </a:spcAft>
                        <a:buNone/>
                      </a:pPr>
                      <a:r>
                        <a:rPr sz="1050" b="1" i="0">
                          <a:solidFill>
                            <a:srgbClr val="0F172A"/>
                          </a:solidFill>
                          <a:latin typeface="맑은 고딕"/>
                          <a:ea typeface="맑은 고딕"/>
                          <a:cs typeface="맑은 고딕"/>
                        </a:rPr>
                        <a:t>현장 국면</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InformClientSurvey → RepairReady</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98.3h (리드타임의 92.8%)</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SQL 2-1</a:t>
                      </a:r>
                    </a:p>
                  </a:txBody>
                  <a:tcPr marL="109728" marR="109728" marT="36576" marB="36576" anchor="ctr">
                    <a:lnL w="0">
                      <a:noFill/>
                    </a:lnL>
                    <a:lnR w="0">
                      <a:noFill/>
                    </a:lnR>
                    <a:lnT w="0">
                      <a:noFill/>
                    </a:lnT>
                    <a:lnB w="9525">
                      <a:solidFill>
                        <a:srgbClr val="E2E8F0"/>
                      </a:solidFill>
                    </a:lnB>
                    <a:noFill/>
                  </a:tcPr>
                </a:tc>
              </a:tr>
              <a:tr h="425196">
                <a:tc>
                  <a:txBody>
                    <a:bodyPr wrap="square"/>
                    <a:lstStyle/>
                    <a:p>
                      <a:pPr algn="l" eaLnBrk="0">
                        <a:lnSpc>
                          <a:spcPct val="100000"/>
                        </a:lnSpc>
                        <a:spcBef>
                          <a:spcPts val="0"/>
                        </a:spcBef>
                        <a:spcAft>
                          <a:spcPts val="0"/>
                        </a:spcAft>
                        <a:buNone/>
                      </a:pPr>
                      <a:r>
                        <a:rPr sz="1050" b="1" i="0">
                          <a:solidFill>
                            <a:srgbClr val="0F172A"/>
                          </a:solidFill>
                          <a:latin typeface="맑은 고딕"/>
                          <a:ea typeface="맑은 고딕"/>
                          <a:cs typeface="맑은 고딕"/>
                        </a:rPr>
                        <a:t>현장 실작업</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Survey + 수리 1~3차의 start → complete 합</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4.6h (현장의 4.7%)</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SQL 2-2</a:t>
                      </a:r>
                    </a:p>
                  </a:txBody>
                  <a:tcPr marL="109728" marR="109728" marT="36576" marB="36576" anchor="ctr">
                    <a:lnL w="0">
                      <a:noFill/>
                    </a:lnL>
                    <a:lnR w="0">
                      <a:noFill/>
                    </a:lnR>
                    <a:lnT w="0">
                      <a:noFill/>
                    </a:lnT>
                    <a:lnB w="9525">
                      <a:solidFill>
                        <a:srgbClr val="E2E8F0"/>
                      </a:solidFill>
                    </a:lnB>
                    <a:noFill/>
                  </a:tcPr>
                </a:tc>
              </a:tr>
              <a:tr h="425196">
                <a:tc>
                  <a:txBody>
                    <a:bodyPr wrap="square"/>
                    <a:lstStyle/>
                    <a:p>
                      <a:pPr algn="l" eaLnBrk="0">
                        <a:lnSpc>
                          <a:spcPct val="100000"/>
                        </a:lnSpc>
                        <a:spcBef>
                          <a:spcPts val="0"/>
                        </a:spcBef>
                        <a:spcAft>
                          <a:spcPts val="0"/>
                        </a:spcAft>
                        <a:buNone/>
                      </a:pPr>
                      <a:r>
                        <a:rPr sz="1050" b="1" i="0">
                          <a:solidFill>
                            <a:srgbClr val="0F172A"/>
                          </a:solidFill>
                          <a:latin typeface="맑은 고딕"/>
                          <a:ea typeface="맑은 고딕"/>
                          <a:cs typeface="맑은 고딕"/>
                        </a:rPr>
                        <a:t>실사 방문 대기 (Wait 1)</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InformClientSurvey → Survey start</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76.8h (중앙값 48.8h)</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SQL 2-3</a:t>
                      </a:r>
                    </a:p>
                  </a:txBody>
                  <a:tcPr marL="109728" marR="109728" marT="36576" marB="36576" anchor="ctr">
                    <a:lnL w="0">
                      <a:noFill/>
                    </a:lnL>
                    <a:lnR w="0">
                      <a:noFill/>
                    </a:lnR>
                    <a:lnT w="0">
                      <a:noFill/>
                    </a:lnT>
                    <a:lnB w="9525">
                      <a:solidFill>
                        <a:srgbClr val="E2E8F0"/>
                      </a:solidFill>
                    </a:lnB>
                    <a:noFill/>
                  </a:tcPr>
                </a:tc>
              </a:tr>
              <a:tr h="425196">
                <a:tc>
                  <a:txBody>
                    <a:bodyPr wrap="square"/>
                    <a:lstStyle/>
                    <a:p>
                      <a:pPr algn="l" eaLnBrk="0">
                        <a:lnSpc>
                          <a:spcPct val="100000"/>
                        </a:lnSpc>
                        <a:spcBef>
                          <a:spcPts val="0"/>
                        </a:spcBef>
                        <a:spcAft>
                          <a:spcPts val="0"/>
                        </a:spcAft>
                        <a:buNone/>
                      </a:pPr>
                      <a:r>
                        <a:rPr sz="1050" b="1" i="0">
                          <a:solidFill>
                            <a:srgbClr val="0F172A"/>
                          </a:solidFill>
                          <a:latin typeface="맑은 고딕"/>
                          <a:ea typeface="맑은 고딕"/>
                          <a:cs typeface="맑은 고딕"/>
                        </a:rPr>
                        <a:t>수리 착수 대기 (Wait 2)</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Survey complete → 1차 수리 start</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15.9h (사내수리 30.5h)</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SQL 2-3</a:t>
                      </a:r>
                    </a:p>
                  </a:txBody>
                  <a:tcPr marL="109728" marR="109728" marT="36576" marB="36576" anchor="ctr">
                    <a:lnL w="0">
                      <a:noFill/>
                    </a:lnL>
                    <a:lnR w="0">
                      <a:noFill/>
                    </a:lnR>
                    <a:lnT w="0">
                      <a:noFill/>
                    </a:lnT>
                    <a:lnB w="9525">
                      <a:solidFill>
                        <a:srgbClr val="E2E8F0"/>
                      </a:solidFill>
                    </a:lnB>
                    <a:noFill/>
                  </a:tcPr>
                </a:tc>
              </a:tr>
              <a:tr h="425196">
                <a:tc>
                  <a:txBody>
                    <a:bodyPr wrap="square"/>
                    <a:lstStyle/>
                    <a:p>
                      <a:pPr algn="l" eaLnBrk="0">
                        <a:lnSpc>
                          <a:spcPct val="100000"/>
                        </a:lnSpc>
                        <a:spcBef>
                          <a:spcPts val="0"/>
                        </a:spcBef>
                        <a:spcAft>
                          <a:spcPts val="0"/>
                        </a:spcAft>
                        <a:buNone/>
                      </a:pPr>
                      <a:r>
                        <a:rPr sz="1050" b="1" i="0">
                          <a:solidFill>
                            <a:srgbClr val="0F172A"/>
                          </a:solidFill>
                          <a:latin typeface="맑은 고딕"/>
                          <a:ea typeface="맑은 고딕"/>
                          <a:cs typeface="맑은 고딕"/>
                        </a:rPr>
                        <a:t>대기·조율 시간</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리드타임 − 현장 실작업 − 정산 시스템 처리(5.5h)</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95.8h = 90.5% (엄격 94.6%)</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재계산</a:t>
                      </a:r>
                    </a:p>
                  </a:txBody>
                  <a:tcPr marL="109728" marR="109728" marT="36576" marB="36576" anchor="ctr">
                    <a:lnL w="0">
                      <a:noFill/>
                    </a:lnL>
                    <a:lnR w="0">
                      <a:noFill/>
                    </a:lnR>
                    <a:lnT w="0">
                      <a:noFill/>
                    </a:lnT>
                    <a:lnB w="9525">
                      <a:solidFill>
                        <a:srgbClr val="E2E8F0"/>
                      </a:solidFill>
                    </a:lnB>
                    <a:noFill/>
                  </a:tcPr>
                </a:tc>
              </a:tr>
              <a:tr h="425196">
                <a:tc>
                  <a:txBody>
                    <a:bodyPr wrap="square"/>
                    <a:lstStyle/>
                    <a:p>
                      <a:pPr algn="l" eaLnBrk="0">
                        <a:lnSpc>
                          <a:spcPct val="100000"/>
                        </a:lnSpc>
                        <a:spcBef>
                          <a:spcPts val="0"/>
                        </a:spcBef>
                        <a:spcAft>
                          <a:spcPts val="0"/>
                        </a:spcAft>
                        <a:buNone/>
                      </a:pPr>
                      <a:r>
                        <a:rPr sz="1050" b="1" i="0">
                          <a:solidFill>
                            <a:srgbClr val="0F172A"/>
                          </a:solidFill>
                          <a:latin typeface="맑은 고딕"/>
                          <a:ea typeface="맑은 고딕"/>
                          <a:cs typeface="맑은 고딕"/>
                        </a:rPr>
                        <a:t>교차 인계</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접수 4활동(FirstContact·MakeTicket·ArrangeSurvey·InformClientSurvey)에</a:t>
                      </a:r>
                      <a:br/>
                      <a:r>
                        <a:rPr sz="1050" b="0" i="0">
                          <a:solidFill>
                            <a:srgbClr val="475569"/>
                          </a:solidFill>
                          <a:latin typeface="맑은 고딕"/>
                          <a:ea typeface="맑은 고딕"/>
                          <a:cs typeface="맑은 고딕"/>
                        </a:rPr>
                        <a:t>상담원 2명 이상 관여</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123건 (13.3%)</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노트북 Part 2</a:t>
                      </a:r>
                    </a:p>
                  </a:txBody>
                  <a:tcPr marL="109728" marR="109728" marT="36576" marB="36576" anchor="ctr">
                    <a:lnL w="0">
                      <a:noFill/>
                    </a:lnL>
                    <a:lnR w="0">
                      <a:noFill/>
                    </a:lnR>
                    <a:lnT w="0">
                      <a:noFill/>
                    </a:lnT>
                    <a:lnB w="9525">
                      <a:solidFill>
                        <a:srgbClr val="E2E8F0"/>
                      </a:solidFill>
                    </a:lnB>
                    <a:noFill/>
                  </a:tcPr>
                </a:tc>
              </a:tr>
              <a:tr h="425196">
                <a:tc>
                  <a:txBody>
                    <a:bodyPr wrap="square"/>
                    <a:lstStyle/>
                    <a:p>
                      <a:pPr algn="l" eaLnBrk="0">
                        <a:lnSpc>
                          <a:spcPct val="100000"/>
                        </a:lnSpc>
                        <a:spcBef>
                          <a:spcPts val="0"/>
                        </a:spcBef>
                        <a:spcAft>
                          <a:spcPts val="0"/>
                        </a:spcAft>
                        <a:buNone/>
                      </a:pPr>
                      <a:r>
                        <a:rPr sz="1050" b="1" i="0">
                          <a:solidFill>
                            <a:srgbClr val="0F172A"/>
                          </a:solidFill>
                          <a:latin typeface="맑은 고딕"/>
                          <a:ea typeface="맑은 고딕"/>
                          <a:cs typeface="맑은 고딕"/>
                        </a:rPr>
                        <a:t>리워크(하자 재방문)</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1차·2차 수리가 모두 InternRepair</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26건, 평균 +32.9h</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SQL 2-4</a:t>
                      </a:r>
                    </a:p>
                  </a:txBody>
                  <a:tcPr marL="109728" marR="109728" marT="36576" marB="36576" anchor="ctr">
                    <a:lnL w="0">
                      <a:noFill/>
                    </a:lnL>
                    <a:lnR w="0">
                      <a:noFill/>
                    </a:lnR>
                    <a:lnT w="0">
                      <a:noFill/>
                    </a:lnT>
                    <a:lnB w="9525">
                      <a:solidFill>
                        <a:srgbClr val="E2E8F0"/>
                      </a:solidFill>
                    </a:lnB>
                    <a:noFill/>
                  </a:tcPr>
                </a:tc>
              </a:tr>
              <a:tr h="425196">
                <a:tc>
                  <a:txBody>
                    <a:bodyPr wrap="square"/>
                    <a:lstStyle/>
                    <a:p>
                      <a:pPr algn="l" eaLnBrk="0">
                        <a:lnSpc>
                          <a:spcPct val="100000"/>
                        </a:lnSpc>
                        <a:spcBef>
                          <a:spcPts val="0"/>
                        </a:spcBef>
                        <a:spcAft>
                          <a:spcPts val="0"/>
                        </a:spcAft>
                        <a:buNone/>
                      </a:pPr>
                      <a:r>
                        <a:rPr sz="1050" b="1" i="0">
                          <a:solidFill>
                            <a:srgbClr val="0F172A"/>
                          </a:solidFill>
                          <a:latin typeface="맑은 고딕"/>
                          <a:ea typeface="맑은 고딕"/>
                          <a:cs typeface="맑은 고딕"/>
                        </a:rPr>
                        <a:t>WIP (현장 적체)</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누적 현장 이관 − 누적 실사 착수</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피크 403건 (1/7)</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SQL 3-1</a:t>
                      </a:r>
                    </a:p>
                  </a:txBody>
                  <a:tcPr marL="109728" marR="109728" marT="36576" marB="36576" anchor="ctr">
                    <a:lnL w="0">
                      <a:noFill/>
                    </a:lnL>
                    <a:lnR w="0">
                      <a:noFill/>
                    </a:lnR>
                    <a:lnT w="0">
                      <a:noFill/>
                    </a:lnT>
                    <a:lnB w="9525">
                      <a:solidFill>
                        <a:srgbClr val="E2E8F0"/>
                      </a:solidFill>
                    </a:lnB>
                    <a:noFill/>
                  </a:tcPr>
                </a:tc>
              </a:tr>
              <a:tr h="425196">
                <a:tc>
                  <a:txBody>
                    <a:bodyPr wrap="square"/>
                    <a:lstStyle/>
                    <a:p>
                      <a:pPr algn="l" eaLnBrk="0">
                        <a:lnSpc>
                          <a:spcPct val="100000"/>
                        </a:lnSpc>
                        <a:spcBef>
                          <a:spcPts val="0"/>
                        </a:spcBef>
                        <a:spcAft>
                          <a:spcPts val="0"/>
                        </a:spcAft>
                        <a:buNone/>
                      </a:pPr>
                      <a:r>
                        <a:rPr sz="1050" b="1" i="0">
                          <a:solidFill>
                            <a:srgbClr val="0F172A"/>
                          </a:solidFill>
                          <a:latin typeface="맑은 고딕"/>
                          <a:ea typeface="맑은 고딕"/>
                          <a:cs typeface="맑은 고딕"/>
                        </a:rPr>
                        <a:t>평균 기여</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OLS 계수 × 변수 평균 (E2E, n = 927, R² = 0.878)</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실사 대기 86.3h (81%)</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노트북 Part 5</a:t>
                      </a:r>
                    </a:p>
                  </a:txBody>
                  <a:tcPr marL="109728" marR="109728" marT="36576" marB="36576" anchor="ctr">
                    <a:lnL w="0">
                      <a:noFill/>
                    </a:lnL>
                    <a:lnR w="0">
                      <a:noFill/>
                    </a:lnR>
                    <a:lnT w="0">
                      <a:noFill/>
                    </a:lnT>
                    <a:lnB w="9525">
                      <a:solidFill>
                        <a:srgbClr val="E2E8F0"/>
                      </a:solidFill>
                    </a:lnB>
                    <a:no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219324"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Appendix A-3 | 전처리 규칙 요약</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5대 비정상 항목은 업무 인과 규칙으로 복원했고, 정상 결측은 대체하지 않고</a:t>
            </a:r>
            <a:br/>
            <a:r>
              <a:rPr sz="2400" b="1" i="0">
                <a:solidFill>
                  <a:srgbClr val="0F172A"/>
                </a:solidFill>
                <a:latin typeface="맑은 고딕"/>
                <a:ea typeface="맑은 고딕"/>
                <a:cs typeface="맑은 고딕"/>
              </a:rPr>
              <a:t>보존했다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analysis.ipynb Cell 18·20·51·53·77·81 · CASE 4·5 건수에는 결측 행(각 13건)이 포함됨</a:t>
            </a:r>
          </a:p>
        </p:txBody>
      </p:sp>
      <p:sp>
        <p:nvSpPr>
          <p:cNvPr id="5"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A-3</a:t>
            </a:r>
          </a:p>
        </p:txBody>
      </p:sp>
      <p:graphicFrame>
        <p:nvGraphicFramePr>
          <p:cNvPr id="6" name="RuleTable"/>
          <p:cNvGraphicFramePr>
            <a:graphicFrameLocks noGrp="1"/>
          </p:cNvGraphicFramePr>
          <p:nvPr/>
        </p:nvGraphicFramePr>
        <p:xfrm>
          <a:off x="502920" y="1664208"/>
          <a:ext cx="11183112" cy="3749040"/>
        </p:xfrm>
        <a:graphic>
          <a:graphicData uri="http://schemas.openxmlformats.org/drawingml/2006/table">
            <a:tbl>
              <a:tblPr firstRow="0" bandRow="0" firstCol="0" lastRow="0" lastCol="0" bandCol="0">
                <a:tableStyleId>{2D5ABB26-0587-4C30-8999-92F81FD0307C}</a:tableStyleId>
              </a:tblPr>
              <a:tblGrid>
                <a:gridCol w="1783080"/>
                <a:gridCol w="2011680"/>
                <a:gridCol w="4572000"/>
                <a:gridCol w="1600200"/>
                <a:gridCol w="1216152"/>
              </a:tblGrid>
              <a:tr h="365760">
                <a:tc>
                  <a:txBody>
                    <a:bodyPr wrap="square"/>
                    <a:lstStyle/>
                    <a:p>
                      <a:pPr algn="l" eaLnBrk="0">
                        <a:lnSpc>
                          <a:spcPct val="100000"/>
                        </a:lnSpc>
                        <a:spcBef>
                          <a:spcPts val="0"/>
                        </a:spcBef>
                        <a:spcAft>
                          <a:spcPts val="0"/>
                        </a:spcAft>
                        <a:buNone/>
                      </a:pPr>
                      <a:r>
                        <a:rPr sz="1050" b="1" i="0">
                          <a:solidFill>
                            <a:srgbClr val="334155"/>
                          </a:solidFill>
                          <a:latin typeface="맑은 고딕"/>
                          <a:ea typeface="맑은 고딕"/>
                          <a:cs typeface="맑은 고딕"/>
                        </a:rPr>
                        <a:t>대상 속성</a:t>
                      </a:r>
                    </a:p>
                  </a:txBody>
                  <a:tcPr marL="109728" marR="109728" marT="36576" marB="36576" anchor="ctr">
                    <a:lnL w="0">
                      <a:noFill/>
                    </a:lnL>
                    <a:lnR w="0">
                      <a:noFill/>
                    </a:lnR>
                    <a:lnT w="0">
                      <a:noFill/>
                    </a:lnT>
                    <a:lnB w="9525">
                      <a:solidFill>
                        <a:srgbClr val="E2E8F0"/>
                      </a:solidFill>
                    </a:lnB>
                    <a:solidFill>
                      <a:srgbClr val="F1F5F9"/>
                    </a:solidFill>
                  </a:tcPr>
                </a:tc>
                <a:tc>
                  <a:txBody>
                    <a:bodyPr wrap="square"/>
                    <a:lstStyle/>
                    <a:p>
                      <a:pPr algn="l" eaLnBrk="0">
                        <a:lnSpc>
                          <a:spcPct val="100000"/>
                        </a:lnSpc>
                        <a:spcBef>
                          <a:spcPts val="0"/>
                        </a:spcBef>
                        <a:spcAft>
                          <a:spcPts val="0"/>
                        </a:spcAft>
                        <a:buNone/>
                      </a:pPr>
                      <a:r>
                        <a:rPr sz="1050" b="1" i="0">
                          <a:solidFill>
                            <a:srgbClr val="334155"/>
                          </a:solidFill>
                          <a:latin typeface="맑은 고딕"/>
                          <a:ea typeface="맑은 고딕"/>
                          <a:cs typeface="맑은 고딕"/>
                        </a:rPr>
                        <a:t>이상 유형 · 건수</a:t>
                      </a:r>
                    </a:p>
                  </a:txBody>
                  <a:tcPr marL="109728" marR="109728" marT="36576" marB="36576" anchor="ctr">
                    <a:lnL w="0">
                      <a:noFill/>
                    </a:lnL>
                    <a:lnR w="0">
                      <a:noFill/>
                    </a:lnR>
                    <a:lnT w="0">
                      <a:noFill/>
                    </a:lnT>
                    <a:lnB w="9525">
                      <a:solidFill>
                        <a:srgbClr val="E2E8F0"/>
                      </a:solidFill>
                    </a:lnB>
                    <a:solidFill>
                      <a:srgbClr val="F1F5F9"/>
                    </a:solidFill>
                  </a:tcPr>
                </a:tc>
                <a:tc>
                  <a:txBody>
                    <a:bodyPr wrap="square"/>
                    <a:lstStyle/>
                    <a:p>
                      <a:pPr algn="l" eaLnBrk="0">
                        <a:lnSpc>
                          <a:spcPct val="100000"/>
                        </a:lnSpc>
                        <a:spcBef>
                          <a:spcPts val="0"/>
                        </a:spcBef>
                        <a:spcAft>
                          <a:spcPts val="0"/>
                        </a:spcAft>
                        <a:buNone/>
                      </a:pPr>
                      <a:r>
                        <a:rPr sz="1050" b="1" i="0">
                          <a:solidFill>
                            <a:srgbClr val="334155"/>
                          </a:solidFill>
                          <a:latin typeface="맑은 고딕"/>
                          <a:ea typeface="맑은 고딕"/>
                          <a:cs typeface="맑은 고딕"/>
                        </a:rPr>
                        <a:t>복원 규칙</a:t>
                      </a:r>
                    </a:p>
                  </a:txBody>
                  <a:tcPr marL="109728" marR="109728" marT="36576" marB="36576" anchor="ctr">
                    <a:lnL w="0">
                      <a:noFill/>
                    </a:lnL>
                    <a:lnR w="0">
                      <a:noFill/>
                    </a:lnR>
                    <a:lnT w="0">
                      <a:noFill/>
                    </a:lnT>
                    <a:lnB w="9525">
                      <a:solidFill>
                        <a:srgbClr val="E2E8F0"/>
                      </a:solidFill>
                    </a:lnB>
                    <a:solidFill>
                      <a:srgbClr val="F1F5F9"/>
                    </a:solidFill>
                  </a:tcPr>
                </a:tc>
                <a:tc>
                  <a:txBody>
                    <a:bodyPr wrap="square"/>
                    <a:lstStyle/>
                    <a:p>
                      <a:pPr algn="l" eaLnBrk="0">
                        <a:lnSpc>
                          <a:spcPct val="100000"/>
                        </a:lnSpc>
                        <a:spcBef>
                          <a:spcPts val="0"/>
                        </a:spcBef>
                        <a:spcAft>
                          <a:spcPts val="0"/>
                        </a:spcAft>
                        <a:buNone/>
                      </a:pPr>
                      <a:r>
                        <a:rPr sz="1050" b="1" i="0">
                          <a:solidFill>
                            <a:srgbClr val="334155"/>
                          </a:solidFill>
                          <a:latin typeface="맑은 고딕"/>
                          <a:ea typeface="맑은 고딕"/>
                          <a:cs typeface="맑은 고딕"/>
                        </a:rPr>
                        <a:t>결과</a:t>
                      </a:r>
                    </a:p>
                  </a:txBody>
                  <a:tcPr marL="109728" marR="109728" marT="36576" marB="36576" anchor="ctr">
                    <a:lnL w="0">
                      <a:noFill/>
                    </a:lnL>
                    <a:lnR w="0">
                      <a:noFill/>
                    </a:lnR>
                    <a:lnT w="0">
                      <a:noFill/>
                    </a:lnT>
                    <a:lnB w="9525">
                      <a:solidFill>
                        <a:srgbClr val="E2E8F0"/>
                      </a:solidFill>
                    </a:lnB>
                    <a:solidFill>
                      <a:srgbClr val="F1F5F9"/>
                    </a:solidFill>
                  </a:tcPr>
                </a:tc>
                <a:tc>
                  <a:txBody>
                    <a:bodyPr wrap="square"/>
                    <a:lstStyle/>
                    <a:p>
                      <a:pPr algn="l" eaLnBrk="0">
                        <a:lnSpc>
                          <a:spcPct val="100000"/>
                        </a:lnSpc>
                        <a:spcBef>
                          <a:spcPts val="0"/>
                        </a:spcBef>
                        <a:spcAft>
                          <a:spcPts val="0"/>
                        </a:spcAft>
                        <a:buNone/>
                      </a:pPr>
                      <a:r>
                        <a:rPr sz="1050" b="1" i="0">
                          <a:solidFill>
                            <a:srgbClr val="334155"/>
                          </a:solidFill>
                          <a:latin typeface="맑은 고딕"/>
                          <a:ea typeface="맑은 고딕"/>
                          <a:cs typeface="맑은 고딕"/>
                        </a:rPr>
                        <a:t>근거</a:t>
                      </a:r>
                    </a:p>
                  </a:txBody>
                  <a:tcPr marL="109728" marR="109728" marT="36576" marB="36576" anchor="ctr">
                    <a:lnL w="0">
                      <a:noFill/>
                    </a:lnL>
                    <a:lnR w="0">
                      <a:noFill/>
                    </a:lnR>
                    <a:lnT w="0">
                      <a:noFill/>
                    </a:lnT>
                    <a:lnB w="9525">
                      <a:solidFill>
                        <a:srgbClr val="E2E8F0"/>
                      </a:solidFill>
                    </a:lnB>
                    <a:solidFill>
                      <a:srgbClr val="F1F5F9"/>
                    </a:solidFill>
                  </a:tcPr>
                </a:tc>
              </a:tr>
              <a:tr h="676656">
                <a:tc>
                  <a:txBody>
                    <a:bodyPr wrap="square"/>
                    <a:lstStyle/>
                    <a:p>
                      <a:pPr algn="l" eaLnBrk="0">
                        <a:lnSpc>
                          <a:spcPct val="100000"/>
                        </a:lnSpc>
                        <a:spcBef>
                          <a:spcPts val="0"/>
                        </a:spcBef>
                        <a:spcAft>
                          <a:spcPts val="0"/>
                        </a:spcAft>
                        <a:buNone/>
                      </a:pPr>
                      <a:r>
                        <a:rPr sz="1050" b="1" i="0">
                          <a:solidFill>
                            <a:srgbClr val="0F172A"/>
                          </a:solidFill>
                          <a:latin typeface="맑은 고딕"/>
                          <a:ea typeface="맑은 고딕"/>
                          <a:cs typeface="맑은 고딕"/>
                        </a:rPr>
                        <a:t>CASE 1 · taskID</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C2410C"/>
                          </a:solidFill>
                          <a:latin typeface="맑은 고딕"/>
                          <a:ea typeface="맑은 고딕"/>
                          <a:cs typeface="맑은 고딕"/>
                        </a:rPr>
                        <a:t>결측 2건</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contact 값은 FirstContact에만 기록되는 속성 → FirstContact /</a:t>
                      </a:r>
                      <a:br/>
                      <a:r>
                        <a:rPr sz="1050" b="0" i="0">
                          <a:solidFill>
                            <a:srgbClr val="475569"/>
                          </a:solidFill>
                          <a:latin typeface="맑은 고딕"/>
                          <a:ea typeface="맑은 고딕"/>
                          <a:cs typeface="맑은 고딕"/>
                        </a:rPr>
                        <a:t>InformClientSurvey로 확정</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047857"/>
                          </a:solidFill>
                          <a:latin typeface="맑은 고딕"/>
                          <a:ea typeface="맑은 고딕"/>
                          <a:cs typeface="맑은 고딕"/>
                        </a:rPr>
                        <a:t>2건 복원</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Cell 18</a:t>
                      </a:r>
                    </a:p>
                  </a:txBody>
                  <a:tcPr marL="109728" marR="109728" marT="36576" marB="36576" anchor="ctr">
                    <a:lnL w="0">
                      <a:noFill/>
                    </a:lnL>
                    <a:lnR w="0">
                      <a:noFill/>
                    </a:lnR>
                    <a:lnT w="0">
                      <a:noFill/>
                    </a:lnT>
                    <a:lnB w="9525">
                      <a:solidFill>
                        <a:srgbClr val="E2E8F0"/>
                      </a:solidFill>
                    </a:lnB>
                    <a:noFill/>
                  </a:tcPr>
                </a:tc>
              </a:tr>
              <a:tr h="676656">
                <a:tc>
                  <a:txBody>
                    <a:bodyPr wrap="square"/>
                    <a:lstStyle/>
                    <a:p>
                      <a:pPr algn="l" eaLnBrk="0">
                        <a:lnSpc>
                          <a:spcPct val="100000"/>
                        </a:lnSpc>
                        <a:spcBef>
                          <a:spcPts val="0"/>
                        </a:spcBef>
                        <a:spcAft>
                          <a:spcPts val="0"/>
                        </a:spcAft>
                        <a:buNone/>
                      </a:pPr>
                      <a:r>
                        <a:rPr sz="1050" b="1" i="0">
                          <a:solidFill>
                            <a:srgbClr val="0F172A"/>
                          </a:solidFill>
                          <a:latin typeface="맑은 고딕"/>
                          <a:ea typeface="맑은 고딕"/>
                          <a:cs typeface="맑은 고딕"/>
                        </a:rPr>
                        <a:t>CASE 2 · originator</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C2410C"/>
                          </a:solidFill>
                          <a:latin typeface="맑은 고딕"/>
                          <a:ea typeface="맑은 고딕"/>
                          <a:cs typeface="맑은 고딕"/>
                        </a:rPr>
                        <a:t>결측 2건</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동일 작업의 start·complete 담당자가 100.0% 일치 → 짝 이벤트의</a:t>
                      </a:r>
                      <a:br/>
                      <a:r>
                        <a:rPr sz="1050" b="0" i="0">
                          <a:solidFill>
                            <a:srgbClr val="475569"/>
                          </a:solidFill>
                          <a:latin typeface="맑은 고딕"/>
                          <a:ea typeface="맑은 고딕"/>
                          <a:cs typeface="맑은 고딕"/>
                        </a:rPr>
                        <a:t>담당자(Anne, Paul) 승계</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047857"/>
                          </a:solidFill>
                          <a:latin typeface="맑은 고딕"/>
                          <a:ea typeface="맑은 고딕"/>
                          <a:cs typeface="맑은 고딕"/>
                        </a:rPr>
                        <a:t>2건 복원</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Cell 18</a:t>
                      </a:r>
                    </a:p>
                  </a:txBody>
                  <a:tcPr marL="109728" marR="109728" marT="36576" marB="36576" anchor="ctr">
                    <a:lnL w="0">
                      <a:noFill/>
                    </a:lnL>
                    <a:lnR w="0">
                      <a:noFill/>
                    </a:lnR>
                    <a:lnT w="0">
                      <a:noFill/>
                    </a:lnT>
                    <a:lnB w="9525">
                      <a:solidFill>
                        <a:srgbClr val="E2E8F0"/>
                      </a:solidFill>
                    </a:lnB>
                    <a:noFill/>
                  </a:tcPr>
                </a:tc>
              </a:tr>
              <a:tr h="676656">
                <a:tc>
                  <a:txBody>
                    <a:bodyPr wrap="square"/>
                    <a:lstStyle/>
                    <a:p>
                      <a:pPr algn="l" eaLnBrk="0">
                        <a:lnSpc>
                          <a:spcPct val="100000"/>
                        </a:lnSpc>
                        <a:spcBef>
                          <a:spcPts val="0"/>
                        </a:spcBef>
                        <a:spcAft>
                          <a:spcPts val="0"/>
                        </a:spcAft>
                        <a:buNone/>
                      </a:pPr>
                      <a:r>
                        <a:rPr sz="1050" b="1" i="0">
                          <a:solidFill>
                            <a:srgbClr val="0F172A"/>
                          </a:solidFill>
                          <a:latin typeface="맑은 고딕"/>
                          <a:ea typeface="맑은 고딕"/>
                          <a:cs typeface="맑은 고딕"/>
                        </a:rPr>
                        <a:t>CASE 3 · eventtype</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C2410C"/>
                          </a:solidFill>
                          <a:latin typeface="맑은 고딕"/>
                          <a:ea typeface="맑은 고딕"/>
                          <a:cs typeface="맑은 고딕"/>
                        </a:rPr>
                        <a:t>결측 5건</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기간 작업은 start → complete 1:1 페어(3건), 마일스톤은 complete</a:t>
                      </a:r>
                      <a:br/>
                      <a:r>
                        <a:rPr sz="1050" b="0" i="0">
                          <a:solidFill>
                            <a:srgbClr val="475569"/>
                          </a:solidFill>
                          <a:latin typeface="맑은 고딕"/>
                          <a:ea typeface="맑은 고딕"/>
                          <a:cs typeface="맑은 고딕"/>
                        </a:rPr>
                        <a:t>단독(2건)으로 추적</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047857"/>
                          </a:solidFill>
                          <a:latin typeface="맑은 고딕"/>
                          <a:ea typeface="맑은 고딕"/>
                          <a:cs typeface="맑은 고딕"/>
                        </a:rPr>
                        <a:t>5건 복원</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Cell 20</a:t>
                      </a:r>
                    </a:p>
                  </a:txBody>
                  <a:tcPr marL="109728" marR="109728" marT="36576" marB="36576" anchor="ctr">
                    <a:lnL w="0">
                      <a:noFill/>
                    </a:lnL>
                    <a:lnR w="0">
                      <a:noFill/>
                    </a:lnR>
                    <a:lnT w="0">
                      <a:noFill/>
                    </a:lnT>
                    <a:lnB w="9525">
                      <a:solidFill>
                        <a:srgbClr val="E2E8F0"/>
                      </a:solidFill>
                    </a:lnB>
                    <a:noFill/>
                  </a:tcPr>
                </a:tc>
              </a:tr>
              <a:tr h="676656">
                <a:tc>
                  <a:txBody>
                    <a:bodyPr wrap="square"/>
                    <a:lstStyle/>
                    <a:p>
                      <a:pPr algn="l" eaLnBrk="0">
                        <a:lnSpc>
                          <a:spcPct val="100000"/>
                        </a:lnSpc>
                        <a:spcBef>
                          <a:spcPts val="0"/>
                        </a:spcBef>
                        <a:spcAft>
                          <a:spcPts val="0"/>
                        </a:spcAft>
                        <a:buNone/>
                      </a:pPr>
                      <a:r>
                        <a:rPr sz="1050" b="1" i="0">
                          <a:solidFill>
                            <a:srgbClr val="0F172A"/>
                          </a:solidFill>
                          <a:latin typeface="맑은 고딕"/>
                          <a:ea typeface="맑은 고딕"/>
                          <a:cs typeface="맑은 고딕"/>
                        </a:rPr>
                        <a:t>CASE 4 · date</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C2410C"/>
                          </a:solidFill>
                          <a:latin typeface="맑은 고딕"/>
                          <a:ea typeface="맑은 고딕"/>
                          <a:cs typeface="맑은 고딕"/>
                        </a:rPr>
                        <a:t>결측 13 + 오기입 866 =</a:t>
                      </a:r>
                      <a:br/>
                      <a:r>
                        <a:rPr sz="1050" b="1" i="0">
                          <a:solidFill>
                            <a:srgbClr val="C2410C"/>
                          </a:solidFill>
                          <a:latin typeface="맑은 고딕"/>
                          <a:ea typeface="맑은 고딕"/>
                          <a:cs typeface="맑은 고딕"/>
                        </a:rPr>
                        <a:t>879건</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시각이 정상인 859건을 골라 선·후행 업무의 순서 구간 안에서 날짜</a:t>
                      </a:r>
                      <a:br/>
                      <a:r>
                        <a:rPr sz="1050" b="0" i="0">
                          <a:solidFill>
                            <a:srgbClr val="475569"/>
                          </a:solidFill>
                          <a:latin typeface="맑은 고딕"/>
                          <a:ea typeface="맑은 고딕"/>
                          <a:cs typeface="맑은 고딕"/>
                        </a:rPr>
                        <a:t>매핑 (단일 후보 640 + 앵커 최근접 219), 연도는 1970으로 통일</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047857"/>
                          </a:solidFill>
                          <a:latin typeface="맑은 고딕"/>
                          <a:ea typeface="맑은 고딕"/>
                          <a:cs typeface="맑은 고딕"/>
                        </a:rPr>
                        <a:t>879건 정규화</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Cell 51·53</a:t>
                      </a:r>
                    </a:p>
                  </a:txBody>
                  <a:tcPr marL="109728" marR="109728" marT="36576" marB="36576" anchor="ctr">
                    <a:lnL w="0">
                      <a:noFill/>
                    </a:lnL>
                    <a:lnR w="0">
                      <a:noFill/>
                    </a:lnR>
                    <a:lnT w="0">
                      <a:noFill/>
                    </a:lnT>
                    <a:lnB w="9525">
                      <a:solidFill>
                        <a:srgbClr val="E2E8F0"/>
                      </a:solidFill>
                    </a:lnB>
                    <a:noFill/>
                  </a:tcPr>
                </a:tc>
              </a:tr>
              <a:tr h="676656">
                <a:tc>
                  <a:txBody>
                    <a:bodyPr wrap="square"/>
                    <a:lstStyle/>
                    <a:p>
                      <a:pPr algn="l" eaLnBrk="0">
                        <a:lnSpc>
                          <a:spcPct val="100000"/>
                        </a:lnSpc>
                        <a:spcBef>
                          <a:spcPts val="0"/>
                        </a:spcBef>
                        <a:spcAft>
                          <a:spcPts val="0"/>
                        </a:spcAft>
                        <a:buNone/>
                      </a:pPr>
                      <a:r>
                        <a:rPr sz="1050" b="1" i="0">
                          <a:solidFill>
                            <a:srgbClr val="0F172A"/>
                          </a:solidFill>
                          <a:latin typeface="맑은 고딕"/>
                          <a:ea typeface="맑은 고딕"/>
                          <a:cs typeface="맑은 고딕"/>
                        </a:rPr>
                        <a:t>CASE 5 · time</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C2410C"/>
                          </a:solidFill>
                          <a:latin typeface="맑은 고딕"/>
                          <a:ea typeface="맑은 고딕"/>
                          <a:cs typeface="맑은 고딕"/>
                        </a:rPr>
                        <a:t>결측 13 + 더미 15 = 28건</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정상 자정 7건은 보존, 접수 구간 정상 표본 751건(75.1%)의 중앙값</a:t>
                      </a:r>
                      <a:br/>
                      <a:r>
                        <a:rPr sz="1050" b="0" i="0">
                          <a:solidFill>
                            <a:srgbClr val="475569"/>
                          </a:solidFill>
                          <a:latin typeface="맑은 고딕"/>
                          <a:ea typeface="맑은 고딕"/>
                          <a:cs typeface="맑은 고딕"/>
                        </a:rPr>
                        <a:t>4.0분을 앵커로 역산(21건)</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1" i="0">
                          <a:solidFill>
                            <a:srgbClr val="047857"/>
                          </a:solidFill>
                          <a:latin typeface="맑은 고딕"/>
                          <a:ea typeface="맑은 고딕"/>
                          <a:cs typeface="맑은 고딕"/>
                        </a:rPr>
                        <a:t>28건 복원 · 역전 0건</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Cell 51·77·81</a:t>
                      </a:r>
                    </a:p>
                  </a:txBody>
                  <a:tcPr marL="109728" marR="109728" marT="36576" marB="36576" anchor="ctr">
                    <a:lnL w="0">
                      <a:noFill/>
                    </a:lnL>
                    <a:lnR w="0">
                      <a:noFill/>
                    </a:lnR>
                    <a:lnT w="0">
                      <a:noFill/>
                    </a:lnT>
                    <a:lnB w="9525">
                      <a:solidFill>
                        <a:srgbClr val="E2E8F0"/>
                      </a:solidFill>
                    </a:lnB>
                    <a:noFill/>
                  </a:tcPr>
                </a:tc>
              </a:tr>
            </a:tbl>
          </a:graphicData>
        </a:graphic>
      </p:graphicFrame>
      <p:sp>
        <p:nvSpPr>
          <p:cNvPr id="7" name="RuleBanner"/>
          <p:cNvSpPr/>
          <p:nvPr/>
        </p:nvSpPr>
        <p:spPr>
          <a:xfrm>
            <a:off x="502920" y="5559552"/>
            <a:ext cx="11185855" cy="694944"/>
          </a:xfrm>
          <a:prstGeom prst="roundRect">
            <a:avLst>
              <a:gd name="adj" fmla="val 13157"/>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559552"/>
            <a:ext cx="10637215" cy="694944"/>
          </a:xfrm>
          <a:prstGeom prst="rect">
            <a:avLst/>
          </a:prstGeom>
          <a:noFill/>
        </p:spPr>
        <p:txBody>
          <a:bodyPr wrap="square" lIns="0" tIns="0" rIns="0" bIns="0" anchor="ctr"/>
          <a:lstStyle/>
          <a:p>
            <a:pPr algn="l" eaLnBrk="0">
              <a:lnSpc>
                <a:spcPct val="100000"/>
              </a:lnSpc>
              <a:spcBef>
                <a:spcPts val="0"/>
              </a:spcBef>
              <a:spcAft>
                <a:spcPts val="200"/>
              </a:spcAft>
              <a:buNone/>
            </a:pPr>
            <a:r>
              <a:rPr sz="1100" b="1" i="0">
                <a:solidFill>
                  <a:srgbClr val="065F46"/>
                </a:solidFill>
                <a:latin typeface="맑은 고딕"/>
                <a:ea typeface="맑은 고딕"/>
                <a:cs typeface="맑은 고딕"/>
              </a:rPr>
              <a:t>정상 결측(구조적 Null 86.0~93.0%, 7개 속성)은 후속 공정이 없어서 비어 있는 값이므로 임의 대체 없이 100% 보존</a:t>
            </a:r>
          </a:p>
          <a:p>
            <a:pPr algn="l" eaLnBrk="0">
              <a:lnSpc>
                <a:spcPct val="100000"/>
              </a:lnSpc>
              <a:spcBef>
                <a:spcPts val="0"/>
              </a:spcBef>
              <a:spcAft>
                <a:spcPts val="0"/>
              </a:spcAft>
              <a:buNone/>
            </a:pPr>
            <a:r>
              <a:rPr sz="1050" b="0" i="0">
                <a:solidFill>
                  <a:srgbClr val="475569"/>
                </a:solidFill>
                <a:latin typeface="맑은 고딕"/>
                <a:ea typeface="맑은 고딕"/>
                <a:cs typeface="맑은 고딕"/>
              </a:rPr>
              <a:t>결과: 임의 행 삭제 0건 · 필수 속성 결측 0건 · 시간 역전 0건(3,711개 페어 양수 검증) · 분석 코호트 927건</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54571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Appendix A-4 | 가정 · 한계 · 후속 검증</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결론의 적용 범위를 명시하고, TO-BE 효과는 파일럿으로 확정하는 것을</a:t>
            </a:r>
            <a:br/>
            <a:r>
              <a:rPr sz="2400" b="1" i="0">
                <a:solidFill>
                  <a:srgbClr val="0F172A"/>
                </a:solidFill>
                <a:latin typeface="맑은 고딕"/>
                <a:ea typeface="맑은 고딕"/>
                <a:cs typeface="맑은 고딕"/>
              </a:rPr>
              <a:t>제안한다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analysis.sql 3·5절, 노트북 Part 5·7 · 파일럿 설계는 분석 결과에 근거한 제안이며 실측 전 확정치가 아님</a:t>
            </a:r>
          </a:p>
        </p:txBody>
      </p:sp>
      <p:sp>
        <p:nvSpPr>
          <p:cNvPr id="5"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A-4</a:t>
            </a:r>
          </a:p>
        </p:txBody>
      </p:sp>
      <p:sp>
        <p:nvSpPr>
          <p:cNvPr id="6" name="Rounded Rectangle 5"/>
          <p:cNvSpPr/>
          <p:nvPr/>
        </p:nvSpPr>
        <p:spPr>
          <a:xfrm>
            <a:off x="502920" y="1627632"/>
            <a:ext cx="3576218" cy="4526280"/>
          </a:xfrm>
          <a:prstGeom prst="roundRect">
            <a:avLst>
              <a:gd name="adj" fmla="val 306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ill-데이터 한계"/>
          <p:cNvSpPr/>
          <p:nvPr/>
        </p:nvSpPr>
        <p:spPr>
          <a:xfrm>
            <a:off x="685800" y="1773936"/>
            <a:ext cx="919797"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데이터 한계</a:t>
            </a:r>
          </a:p>
        </p:txBody>
      </p:sp>
      <p:sp>
        <p:nvSpPr>
          <p:cNvPr id="8" name="TextBox 7"/>
          <p:cNvSpPr txBox="1"/>
          <p:nvPr/>
        </p:nvSpPr>
        <p:spPr>
          <a:xfrm>
            <a:off x="685800" y="2103120"/>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0F172A"/>
                </a:solidFill>
                <a:latin typeface="맑은 고딕"/>
                <a:ea typeface="맑은 고딕"/>
                <a:cs typeface="맑은 고딕"/>
              </a:rPr>
              <a:t>927건이 짧은 기간에 집중됨</a:t>
            </a:r>
          </a:p>
        </p:txBody>
      </p:sp>
      <p:sp>
        <p:nvSpPr>
          <p:cNvPr id="9" name="TextBox 8"/>
          <p:cNvSpPr txBox="1"/>
          <p:nvPr/>
        </p:nvSpPr>
        <p:spPr>
          <a:xfrm>
            <a:off x="685800" y="2450591"/>
            <a:ext cx="3210458" cy="3566160"/>
          </a:xfrm>
          <a:prstGeom prst="rect">
            <a:avLst/>
          </a:prstGeom>
          <a:noFill/>
        </p:spPr>
        <p:txBody>
          <a:bodyPr wrap="square" lIns="0" tIns="0" rIns="0" bIns="0" anchor="t"/>
          <a:lstStyle/>
          <a:p>
            <a:pPr algn="l" eaLnBrk="0" marL="155448" indent="-155448">
              <a:lnSpc>
                <a:spcPct val="100000"/>
              </a:lnSpc>
              <a:spcBef>
                <a:spcPts val="0"/>
              </a:spcBef>
              <a:spcAft>
                <a:spcPts val="900"/>
              </a:spcAft>
              <a:buClr>
                <a:srgbClr val="94A3B8"/>
              </a:buClr>
              <a:buFont typeface="Arial"/>
              <a:buChar char="•"/>
            </a:pPr>
            <a:r>
              <a:rPr sz="1200" b="0" i="0">
                <a:solidFill>
                  <a:srgbClr val="475569"/>
                </a:solidFill>
                <a:latin typeface="맑은 고딕"/>
                <a:ea typeface="맑은 고딕"/>
                <a:cs typeface="맑은 고딕"/>
              </a:rPr>
              <a:t>접수가 1/1~1/8 단 8일에 몰려 있어</a:t>
            </a:r>
            <a:br/>
            <a:r>
              <a:rPr sz="1200" b="0" i="0">
                <a:solidFill>
                  <a:srgbClr val="475569"/>
                </a:solidFill>
                <a:latin typeface="맑은 고딕"/>
                <a:ea typeface="맑은 고딕"/>
                <a:cs typeface="맑은 고딕"/>
              </a:rPr>
              <a:t>계절·요일 효과는 관측되지 않음</a:t>
            </a:r>
          </a:p>
          <a:p>
            <a:pPr algn="l" eaLnBrk="0" marL="155448" indent="-155448">
              <a:lnSpc>
                <a:spcPct val="100000"/>
              </a:lnSpc>
              <a:spcBef>
                <a:spcPts val="0"/>
              </a:spcBef>
              <a:spcAft>
                <a:spcPts val="900"/>
              </a:spcAft>
              <a:buClr>
                <a:srgbClr val="94A3B8"/>
              </a:buClr>
              <a:buFont typeface="Arial"/>
              <a:buChar char="•"/>
            </a:pPr>
            <a:r>
              <a:rPr sz="1200" b="0" i="0">
                <a:solidFill>
                  <a:srgbClr val="475569"/>
                </a:solidFill>
                <a:latin typeface="맑은 고딕"/>
                <a:ea typeface="맑은 고딕"/>
                <a:cs typeface="맑은 고딕"/>
              </a:rPr>
              <a:t>날짜를 1970년으로 정규화해 월·요일</a:t>
            </a:r>
            <a:br/>
            <a:r>
              <a:rPr sz="1200" b="0" i="0">
                <a:solidFill>
                  <a:srgbClr val="475569"/>
                </a:solidFill>
                <a:latin typeface="맑은 고딕"/>
                <a:ea typeface="맑은 고딕"/>
                <a:cs typeface="맑은 고딕"/>
              </a:rPr>
              <a:t>분석은 불가</a:t>
            </a:r>
          </a:p>
          <a:p>
            <a:pPr algn="l" eaLnBrk="0" marL="155448" indent="-155448">
              <a:lnSpc>
                <a:spcPct val="100000"/>
              </a:lnSpc>
              <a:spcBef>
                <a:spcPts val="0"/>
              </a:spcBef>
              <a:spcAft>
                <a:spcPts val="900"/>
              </a:spcAft>
              <a:buClr>
                <a:srgbClr val="94A3B8"/>
              </a:buClr>
              <a:buFont typeface="Arial"/>
              <a:buChar char="•"/>
            </a:pPr>
            <a:r>
              <a:rPr sz="1200" b="0" i="0">
                <a:solidFill>
                  <a:srgbClr val="475569"/>
                </a:solidFill>
                <a:latin typeface="맑은 고딕"/>
                <a:ea typeface="맑은 고딕"/>
                <a:cs typeface="맑은 고딕"/>
              </a:rPr>
              <a:t>단일 기관·단일 프로세스 로그라 타 기관</a:t>
            </a:r>
            <a:br/>
            <a:r>
              <a:rPr sz="1200" b="0" i="0">
                <a:solidFill>
                  <a:srgbClr val="475569"/>
                </a:solidFill>
                <a:latin typeface="맑은 고딕"/>
                <a:ea typeface="맑은 고딕"/>
                <a:cs typeface="맑은 고딕"/>
              </a:rPr>
              <a:t>일반화에는 추가 검증 필요</a:t>
            </a:r>
          </a:p>
        </p:txBody>
      </p:sp>
      <p:sp>
        <p:nvSpPr>
          <p:cNvPr id="10" name="Rounded Rectangle 9"/>
          <p:cNvSpPr/>
          <p:nvPr/>
        </p:nvSpPr>
        <p:spPr>
          <a:xfrm>
            <a:off x="4307738" y="1627632"/>
            <a:ext cx="3576218" cy="4526280"/>
          </a:xfrm>
          <a:prstGeom prst="roundRect">
            <a:avLst>
              <a:gd name="adj" fmla="val 3068"/>
            </a:avLst>
          </a:prstGeom>
          <a:solidFill>
            <a:srgbClr val="FFFFFF"/>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ill-분석 한계"/>
          <p:cNvSpPr/>
          <p:nvPr/>
        </p:nvSpPr>
        <p:spPr>
          <a:xfrm>
            <a:off x="4490618" y="1773936"/>
            <a:ext cx="799147"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분석 한계</a:t>
            </a:r>
          </a:p>
        </p:txBody>
      </p:sp>
      <p:sp>
        <p:nvSpPr>
          <p:cNvPr id="12" name="TextBox 11"/>
          <p:cNvSpPr txBox="1"/>
          <p:nvPr/>
        </p:nvSpPr>
        <p:spPr>
          <a:xfrm>
            <a:off x="4490618" y="2103120"/>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C2410C"/>
                </a:solidFill>
                <a:latin typeface="맑은 고딕"/>
                <a:ea typeface="맑은 고딕"/>
                <a:cs typeface="맑은 고딕"/>
              </a:rPr>
              <a:t>연관 분석과 정의 의존성</a:t>
            </a:r>
          </a:p>
        </p:txBody>
      </p:sp>
      <p:sp>
        <p:nvSpPr>
          <p:cNvPr id="13" name="TextBox 12"/>
          <p:cNvSpPr txBox="1"/>
          <p:nvPr/>
        </p:nvSpPr>
        <p:spPr>
          <a:xfrm>
            <a:off x="4490618" y="2450591"/>
            <a:ext cx="3210458" cy="3566160"/>
          </a:xfrm>
          <a:prstGeom prst="rect">
            <a:avLst/>
          </a:prstGeom>
          <a:noFill/>
        </p:spPr>
        <p:txBody>
          <a:bodyPr wrap="square" lIns="0" tIns="0" rIns="0" bIns="0" anchor="t"/>
          <a:lstStyle/>
          <a:p>
            <a:pPr algn="l" eaLnBrk="0" marL="155448" indent="-155448">
              <a:lnSpc>
                <a:spcPct val="100000"/>
              </a:lnSpc>
              <a:spcBef>
                <a:spcPts val="0"/>
              </a:spcBef>
              <a:spcAft>
                <a:spcPts val="900"/>
              </a:spcAft>
              <a:buClr>
                <a:srgbClr val="94A3B8"/>
              </a:buClr>
              <a:buFont typeface="Arial"/>
              <a:buChar char="•"/>
            </a:pPr>
            <a:r>
              <a:rPr sz="1200" b="0" i="0">
                <a:solidFill>
                  <a:srgbClr val="475569"/>
                </a:solidFill>
                <a:latin typeface="맑은 고딕"/>
                <a:ea typeface="맑은 고딕"/>
                <a:cs typeface="맑은 고딕"/>
              </a:rPr>
              <a:t>OLS는 관측 기반 연관이며 인과 추정이</a:t>
            </a:r>
            <a:br/>
            <a:r>
              <a:rPr sz="1200" b="0" i="0">
                <a:solidFill>
                  <a:srgbClr val="475569"/>
                </a:solidFill>
                <a:latin typeface="맑은 고딕"/>
                <a:ea typeface="맑은 고딕"/>
                <a:cs typeface="맑은 고딕"/>
              </a:rPr>
              <a:t>아님, 평균 기여는 분산 설명력이 아님</a:t>
            </a:r>
          </a:p>
          <a:p>
            <a:pPr algn="l" eaLnBrk="0" marL="155448" indent="-155448">
              <a:lnSpc>
                <a:spcPct val="100000"/>
              </a:lnSpc>
              <a:spcBef>
                <a:spcPts val="0"/>
              </a:spcBef>
              <a:spcAft>
                <a:spcPts val="900"/>
              </a:spcAft>
              <a:buClr>
                <a:srgbClr val="94A3B8"/>
              </a:buClr>
              <a:buFont typeface="Arial"/>
              <a:buChar char="•"/>
            </a:pPr>
            <a:r>
              <a:rPr sz="1200" b="0" i="0">
                <a:solidFill>
                  <a:srgbClr val="475569"/>
                </a:solidFill>
                <a:latin typeface="맑은 고딕"/>
                <a:ea typeface="맑은 고딕"/>
                <a:cs typeface="맑은 고딕"/>
              </a:rPr>
              <a:t>대기 비율은 정의에 따라 90.5% ~ 95.7%</a:t>
            </a:r>
            <a:br/>
            <a:r>
              <a:rPr sz="1200" b="0" i="0">
                <a:solidFill>
                  <a:srgbClr val="475569"/>
                </a:solidFill>
                <a:latin typeface="맑은 고딕"/>
                <a:ea typeface="맑은 고딕"/>
                <a:cs typeface="맑은 고딕"/>
              </a:rPr>
              <a:t>(본문은 가장 보수적인 값)</a:t>
            </a:r>
          </a:p>
          <a:p>
            <a:pPr algn="l" eaLnBrk="0" marL="155448" indent="-155448">
              <a:lnSpc>
                <a:spcPct val="100000"/>
              </a:lnSpc>
              <a:spcBef>
                <a:spcPts val="0"/>
              </a:spcBef>
              <a:spcAft>
                <a:spcPts val="900"/>
              </a:spcAft>
              <a:buClr>
                <a:srgbClr val="94A3B8"/>
              </a:buClr>
              <a:buFont typeface="Arial"/>
              <a:buChar char="•"/>
            </a:pPr>
            <a:r>
              <a:rPr sz="1200" b="0" i="0">
                <a:solidFill>
                  <a:srgbClr val="475569"/>
                </a:solidFill>
                <a:latin typeface="맑은 고딕"/>
                <a:ea typeface="맑은 고딕"/>
                <a:cs typeface="맑은 고딕"/>
              </a:rPr>
              <a:t>CAPA는 산출 구간에 따라 63.7~69.2건/일,</a:t>
            </a:r>
            <a:br/>
            <a:r>
              <a:rPr sz="1200" b="0" i="0">
                <a:solidFill>
                  <a:srgbClr val="475569"/>
                </a:solidFill>
                <a:latin typeface="맑은 고딕"/>
                <a:ea typeface="맑은 고딕"/>
                <a:cs typeface="맑은 고딕"/>
              </a:rPr>
              <a:t>결론(유입의 약 2배)은 동일</a:t>
            </a:r>
          </a:p>
        </p:txBody>
      </p:sp>
      <p:sp>
        <p:nvSpPr>
          <p:cNvPr id="14" name="Rounded Rectangle 13"/>
          <p:cNvSpPr/>
          <p:nvPr/>
        </p:nvSpPr>
        <p:spPr>
          <a:xfrm>
            <a:off x="8112556" y="1627632"/>
            <a:ext cx="3576218" cy="4526280"/>
          </a:xfrm>
          <a:prstGeom prst="roundRect">
            <a:avLst>
              <a:gd name="adj" fmla="val 3068"/>
            </a:avLst>
          </a:prstGeom>
          <a:solidFill>
            <a:srgbClr val="FFFFFF"/>
          </a:solidFill>
          <a:ln w="254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ill-TO-BE 가정 · 후"/>
          <p:cNvSpPr/>
          <p:nvPr/>
        </p:nvSpPr>
        <p:spPr>
          <a:xfrm>
            <a:off x="8295436" y="1773936"/>
            <a:ext cx="1554341"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TO-BE 가정 · 후속 검증</a:t>
            </a:r>
          </a:p>
        </p:txBody>
      </p:sp>
      <p:sp>
        <p:nvSpPr>
          <p:cNvPr id="16" name="TextBox 15"/>
          <p:cNvSpPr txBox="1"/>
          <p:nvPr/>
        </p:nvSpPr>
        <p:spPr>
          <a:xfrm>
            <a:off x="8295436" y="2103120"/>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047857"/>
                </a:solidFill>
                <a:latin typeface="맑은 고딕"/>
                <a:ea typeface="맑은 고딕"/>
                <a:cs typeface="맑은 고딕"/>
              </a:rPr>
              <a:t>검증된 하한 −17.2h, 목표는 가정</a:t>
            </a:r>
          </a:p>
        </p:txBody>
      </p:sp>
      <p:sp>
        <p:nvSpPr>
          <p:cNvPr id="17" name="TextBox 16"/>
          <p:cNvSpPr txBox="1"/>
          <p:nvPr/>
        </p:nvSpPr>
        <p:spPr>
          <a:xfrm>
            <a:off x="8295436" y="2450591"/>
            <a:ext cx="3210458" cy="3566160"/>
          </a:xfrm>
          <a:prstGeom prst="rect">
            <a:avLst/>
          </a:prstGeom>
          <a:noFill/>
        </p:spPr>
        <p:txBody>
          <a:bodyPr wrap="square" lIns="0" tIns="0" rIns="0" bIns="0" anchor="t"/>
          <a:lstStyle/>
          <a:p>
            <a:pPr algn="l" eaLnBrk="0" marL="155448" indent="-155448">
              <a:lnSpc>
                <a:spcPct val="100000"/>
              </a:lnSpc>
              <a:spcBef>
                <a:spcPts val="0"/>
              </a:spcBef>
              <a:spcAft>
                <a:spcPts val="900"/>
              </a:spcAft>
              <a:buClr>
                <a:srgbClr val="94A3B8"/>
              </a:buClr>
              <a:buFont typeface="Arial"/>
              <a:buChar char="•"/>
            </a:pPr>
            <a:r>
              <a:rPr sz="1200" b="0" i="0">
                <a:solidFill>
                  <a:srgbClr val="475569"/>
                </a:solidFill>
                <a:latin typeface="맑은 고딕"/>
                <a:ea typeface="맑은 고딕"/>
                <a:cs typeface="맑은 고딕"/>
              </a:rPr>
              <a:t>검증: 실사 대기 20% 단축 × OLS 1.12 =</a:t>
            </a:r>
            <a:br/>
            <a:r>
              <a:rPr sz="1200" b="0" i="0">
                <a:solidFill>
                  <a:srgbClr val="475569"/>
                </a:solidFill>
                <a:latin typeface="맑은 고딕"/>
                <a:ea typeface="맑은 고딕"/>
                <a:cs typeface="맑은 고딕"/>
              </a:rPr>
              <a:t>−17.2h (리드타임의 16.2%)</a:t>
            </a:r>
          </a:p>
          <a:p>
            <a:pPr algn="l" eaLnBrk="0" marL="155448" indent="-155448">
              <a:lnSpc>
                <a:spcPct val="100000"/>
              </a:lnSpc>
              <a:spcBef>
                <a:spcPts val="0"/>
              </a:spcBef>
              <a:spcAft>
                <a:spcPts val="900"/>
              </a:spcAft>
              <a:buClr>
                <a:srgbClr val="94A3B8"/>
              </a:buClr>
              <a:buFont typeface="Arial"/>
              <a:buChar char="•"/>
            </a:pPr>
            <a:r>
              <a:rPr sz="1200" b="0" i="0">
                <a:solidFill>
                  <a:srgbClr val="475569"/>
                </a:solidFill>
                <a:latin typeface="맑은 고딕"/>
                <a:ea typeface="맑은 고딕"/>
                <a:cs typeface="맑은 고딕"/>
              </a:rPr>
              <a:t>가정: 자재 대기·리워크 차단을 더한 통합</a:t>
            </a:r>
            <a:br/>
            <a:r>
              <a:rPr sz="1200" b="0" i="0">
                <a:solidFill>
                  <a:srgbClr val="475569"/>
                </a:solidFill>
                <a:latin typeface="맑은 고딕"/>
                <a:ea typeface="맑은 고딕"/>
                <a:cs typeface="맑은 고딕"/>
              </a:rPr>
              <a:t>목표(약 38h)는 파일럿 실측으로 확정</a:t>
            </a:r>
          </a:p>
          <a:p>
            <a:pPr algn="l" eaLnBrk="0" marL="155448" indent="-155448">
              <a:lnSpc>
                <a:spcPct val="100000"/>
              </a:lnSpc>
              <a:spcBef>
                <a:spcPts val="0"/>
              </a:spcBef>
              <a:spcAft>
                <a:spcPts val="900"/>
              </a:spcAft>
              <a:buClr>
                <a:srgbClr val="94A3B8"/>
              </a:buClr>
              <a:buFont typeface="Arial"/>
              <a:buChar char="•"/>
            </a:pPr>
            <a:r>
              <a:rPr sz="1200" b="0" i="0">
                <a:solidFill>
                  <a:srgbClr val="475569"/>
                </a:solidFill>
                <a:latin typeface="맑은 고딕"/>
                <a:ea typeface="맑은 고딕"/>
                <a:cs typeface="맑은 고딕"/>
              </a:rPr>
              <a:t>제안: E형 직행 2주 파일럿, 지표는 실사</a:t>
            </a:r>
            <a:br/>
            <a:r>
              <a:rPr sz="1200" b="0" i="0">
                <a:solidFill>
                  <a:srgbClr val="475569"/>
                </a:solidFill>
                <a:latin typeface="맑은 고딕"/>
                <a:ea typeface="맑은 고딕"/>
                <a:cs typeface="맑은 고딕"/>
              </a:rPr>
              <a:t>대기·WIP·리워크율·리드타임 (성공 기준:</a:t>
            </a:r>
            <a:br/>
            <a:r>
              <a:rPr sz="1200" b="0" i="0">
                <a:solidFill>
                  <a:srgbClr val="475569"/>
                </a:solidFill>
                <a:latin typeface="맑은 고딕"/>
                <a:ea typeface="맑은 고딕"/>
                <a:cs typeface="맑은 고딕"/>
              </a:rPr>
              <a:t>실사 대기 −15.4h 이상)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맑은 고딕"/>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맑은 고딕"/>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프로세스 마이닝 기반 공공임대주택 수리 프로세스 진단 및 운영 최적화 방안</dc:title>
  <dc:subject>퍼즐데이터 채용 과제 — 수리 프로세스 데이터 분석</dc:subject>
  <dc:creator>퍼즐데이터 채용 과제</dc:creator>
  <cp:keywords>process mining, repair process, lead time, bottleneck</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