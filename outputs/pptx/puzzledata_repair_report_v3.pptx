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5603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1050" b="1">
                <a:solidFill>
                  <a:srgbClr val="2563EB"/>
                </a:solidFill>
                <a:latin typeface="나눔고딕"/>
              </a:rPr>
              <a:t>채용 과제 전형 최종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9494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나눔고딕"/>
              </a:rPr>
              <a:t>프로세스 마이닝 기반
공공임대주택 수리 프로세스
진단 및 운영 최적화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6949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나눔고딕"/>
              </a:rPr>
              <a:t>5대 무손실 전처리, 실사 대기 병목(76.8h) 원인 규명 및
3대 데이터 기반 TO-BE 운영 최적화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Noto Sans"/>
              </a:rPr>
              <a:t>퍼즐데이터 수리 프로세스 데이터 분석 과제   |   제출일 2026. 10.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36192"/>
            <a:ext cx="301752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원천 데이터 규모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13,262행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전체 이벤트 로그 · 1,000 케이스 무손실 복원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92608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090672"/>
            <a:ext cx="301752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핵심 공정 병목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A580C"/>
                </a:solidFill>
                <a:latin typeface="Consolas"/>
              </a:rPr>
              <a:t>90.5%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리드타임(105.9h) 중 공정 간 단순 대기시간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480560"/>
            <a:ext cx="33832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645152"/>
            <a:ext cx="3017520" cy="104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TO-BE 개선 목표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▼ 65%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1회 방문 패스트트랙 리드타임 획기적 단축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6420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AGENDA · 전체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원천 데이터 전처리부터 TO-BE 전략까지, 4개 파트로 보고합니다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697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233172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PART 01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데이터 진단 및 전처리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CBD5E1"/>
                </a:solidFill>
                <a:latin typeface="Consolas"/>
              </a:rPr>
              <a:t>01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(질문 1 대응)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13,262행 이벤트 로그 수사 프로파일링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도메인 인과 기반 5대 결측치 100% 무손실 복원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시간 역전 0건 입증 및 927건 코호트 확립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퍼즐데이터 과제 분석 아키텍처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08760"/>
            <a:ext cx="2697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73352"/>
            <a:ext cx="233172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PART 02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프로세스 마이닝 심층 분석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CBD5E1"/>
                </a:solidFill>
                <a:latin typeface="Consolas"/>
              </a:rPr>
              <a:t>02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(질문 2 대응)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AS-IS E2E 프로세스 표준 모델 도출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3대 대기 병목 분해 (접수 6.6배 vs 현장 76.8h)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OLS 다중회귀 영향인자 실증 &amp; 수리·리워크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퍼즐데이터 과제 분석 아키텍처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08760"/>
            <a:ext cx="2697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673352"/>
            <a:ext cx="233172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PART 03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프로세스 최적화 방안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CBD5E1"/>
                </a:solidFill>
                <a:latin typeface="Consolas"/>
              </a:rPr>
              <a:t>03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(질문 3 대응)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사전 적중률 87.3%와 정보 해상도 한계 규명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보수적 E형 직행 ➔ 실사 대기 20%(-15.4h) 단축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체크리스트 고도화 &amp; E형(85%) 정밀검사 방지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퍼즐데이터 과제 분석 아키텍처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1508760"/>
            <a:ext cx="26974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1673352"/>
            <a:ext cx="233172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Noto Sans"/>
              </a:rPr>
              <a:t>PART 04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질의응답 (Q&amp;A)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CBD5E1"/>
                </a:solidFill>
                <a:latin typeface="Consolas"/>
              </a:rPr>
              <a:t>04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(마무리)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프로젝트 핵심 진단 및 3대 전략 총괄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데이터 기반 프로세스 혁신 총평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수리 프로세스 최적화 질의응답 (Q&amp;A)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퍼즐데이터 과제 분석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퍼즐데이터 과제 분석 보고서 (Slide 01 ~ 14 완결)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44728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EXECUTIVE SUMMARY · 통괄 핵심 어젠다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현장의 '대기시간'을 줄이고, 이해관계자 간의 '소통'을 통제하면 프로세스 리드타임을 획기적으로 개선할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777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/>
            <a:r>
              <a:rPr sz="1250" b="1">
                <a:solidFill>
                  <a:srgbClr val="EA580C"/>
                </a:solidFill>
                <a:latin typeface="나눔고딕"/>
              </a:rPr>
              <a:t>핵심 통찰: </a:t>
            </a:r>
            <a:r>
              <a:rPr sz="1150" b="1">
                <a:solidFill>
                  <a:srgbClr val="0F172A"/>
                </a:solidFill>
                <a:latin typeface="나눔고딕"/>
              </a:rPr>
              <a:t>수리 리드타임 지연의 본질은 작업자 태만이 아닌 '공정 간 단순 대기(90.5%)'와 '비실시간 접수 소통 공백'에 있다.
</a:t>
            </a:r>
            <a:r>
              <a:rPr sz="1000" b="0">
                <a:solidFill>
                  <a:srgbClr val="334155"/>
                </a:solidFill>
                <a:latin typeface="나눔고딕"/>
              </a:rPr>
              <a:t>E2E 전체 리드타임 105.9시간 중 순수 대기시간이 95.8시간(90.5%)이며, 현장 국면에 98.0%가 집중됨.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877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STEP 01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원천 데이터 진단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13,262행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100% 무손실 복원 완결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임의 행 삭제 0건 (13,262행 전수 보존)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시스템 에러 20행(0.15%) 도메인 인과 복원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751건(75.1%) 대규모 접수 모수로 강건성 확보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시간 역전 0건 입증 ➔ 927건 정상 코호트 확립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4231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5877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STEP 02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병목 원인 실증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A580C"/>
                </a:solidFill>
                <a:latin typeface="Consolas"/>
              </a:rPr>
              <a:t>대기 90.5%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현장 국면 집중 98.0%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실사 방문 대기(76.8h)가 현장 시간 78.2% 독점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유입(134건) vs 기사 CAPA(68건) 불균형 ➔ 403건 적체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비실시간 채널 교차 인계(123건) 발생 시 6.6배 지연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사내수리 배정(+31.8h) 및 26건 하자 루프(+32.9h)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24231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25877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STEP 03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TO-BE 솔루션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소통 통제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+ 대기시간 원천 소멸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사전 적합성 87.3% 활용 ➔ 헛걸음 실사 우회 직행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보수적 E형만 직행해도 대기 20%(-15.4h / OLS -17.2h) 단축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모바일 사진 체크리스트로 부품 대기(30.5h) 사전 패킹 압축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E-1/E-2(리워크 85%) 2차 정밀검사로 10일 루프 차단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1~5절 프로세스 마이닝 총괄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922776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01 · 질문 1 | BEFORE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정상 결측은 그대로 보존하고, 시스템 에러 20행(0.15%)만 수사 타겟으로 특정했다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918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RAW DATASET PROFILE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원천 데이터 구조 수사 프로파일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Consolas"/>
              </a:rPr>
              <a:t>13,262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전체 이벤트 행 (1,000 케이스)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총 890개 고유 주택 (다빈도 수리 발생)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총 13개 이벤트 속성 (기록 메타데이터)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케이스당 평균 13.3행 (중앙값 14행) 기록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1건 1행의 정형 데이터가 아닌 공정별로 누적되는 이벤트 로그(Event Log)의 본질 반영 필수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결측률 86~93% 컬럼은 후속 미발생 정상 결측임 확증</a:t>
            </a:r>
          </a:p>
        </p:txBody>
      </p:sp>
      <p:pic>
        <p:nvPicPr>
          <p:cNvPr id="8" name="Picture 7" descr="ED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08760"/>
            <a:ext cx="722376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89120" y="4114800"/>
            <a:ext cx="722376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279392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정상 결측 (무죄)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구조적 Null 86.0~93.0% (7개 속성 12,335행)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후속 공정이 없어 비어 있는 자연스러운 값 ➔ 임의 대체 없이 100% 보존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46320"/>
            <a:ext cx="7223760" cy="6583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010912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비정상 결측 (유죄)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시스템 에러 0.015~0.098% (5개 속성 20행)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필수 기록 누락 ➔ 18개 케이스, 단 20행만 정밀 복원 타겟 특정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577840"/>
            <a:ext cx="72237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742432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334155"/>
                </a:solidFill>
                <a:latin typeface="Noto Sans"/>
              </a:rPr>
              <a:t>진공 구간 (객관성)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0.1% ~ 86.0% 구간 결측 컬럼 0개 존재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완벽한 양극단 이봉분포 ➔ 정상/비정상 판별의 엄밀한 통계적 근거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repair2.csv 원천 프로파일링 (EDA-01) · 20행 = 5개 속성 결측 포함 18개 케이스의 실제 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398264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01 · 질문 1 | CASE 1 ~ 5 도메인 인과 복원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행 삭제와 단순 대체 없이, 업무 인과 근거로 20행을 100% 무손실 복원했다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CASE 1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taskID 2건 결측  |  인과 논리: contact 속성은 FirstContact에만 기록되는 고유 도메인 속성 (Cell 18)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복원 결과: FirstContact / InformClientSurvey 100% 확정 복원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CASE 2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originator 2건 결측  |  인과 논리: 동일 작업의 시작(start)-완료(complete) 담당자 100% 일치 규칙 (Cell 18)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복원 결과: 짝 이벤트 담당자(Anne, Paul) 상호 승계 복원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39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1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CASE 3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eventtype 5건 결측  |  인과 논리: 기간 작업 1:1 페어(start→complete 추적) 및 마일스톤 단독 발생 (Cell 20)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복원 결과: 1:1 페어 3건 + 마일스톤 2건 100% 완벽 복원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79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1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CASE 4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date 879건 오기입·결측  |  인과 논리: 시각 정상 859건 선별, 선·후행 업무 순서 구간 제약(Interval Bounds) 적용 (Cell 51·53)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복원 결과: 단일 후보 640건 + 앵커 최근접 219건 매핑 (1970년 정상 주기 통일)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09167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82312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CASE 5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time 28건 파손 &amp; 모수 확장  |  인과 논리: 표본 34% 한계 극복 ➔ 접수 정상 표본 751건(75.1%) 확보 (중앙값 4.0분) (Cell 77·81)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복원 결과: 정상 자정 7건 보존 + 기준 앵커 역산 21건 (시간 역전 0건 입증)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3611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96712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무결성 보증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데이터 무손실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임의 삭제 0건 · 13,262행 100% 완전 보존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5532120"/>
            <a:ext cx="3611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5696712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무결성 보증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통계적 강건성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표본 34% 축소 극복 ➔ 751건(75.1%) 대규모 모수 확보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5532120"/>
            <a:ext cx="3611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5696712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무결성 보증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인과 무결성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시간 역전 0건 달성 ➔ 927건 정상 분석 코호트 확립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analysis.ipynb Cell 18·20·51·53·77·81 및 repair_cleaned.csv 무결성 전수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803904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01 · 질문 1 | AFTER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시간 역전 0건을 입증했고, 오접수 73건을 격리해 927건 클린 코호트를 확립했다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VERIFICATION MATRIX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전처리 전/후 무결성 정밀 비교 검증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총 이벤트 행 수: 원천 13,262행 ➔ 정제 후 13,262행 (100% 전수 보존)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필수 속성 결측치: 원천 20건(0.15%) ➔ 정제 후 0건 (100% 인과 복원)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일자 연도 오기입: 원천 866건(미래연도) ➔ 정제 후 0건 (1970년 정상 주기 통일)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공정 간 시간 역전: 원천 음수 소요시간 존재 ➔ 정제 후 0건 (3,711개 페어 양수)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결론: 데이터 임의 왜곡 및 행 삭제 0건의 완벽한 무결성 입증 완료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검증 완료: 전 공정 시간 역전 0건 입증 (analysis.ipynb)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73352"/>
            <a:ext cx="5056632" cy="2002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ANALYSIS COHORT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분석 대상 코호트 분리 및 노이즈 격리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927건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(92.7% 클린 코호트)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정상 수리 완결 코호트(927건): 순수 현장수리 분석 모수 확립 (질문 2 대상)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오접수 조기 종결(73건): 타 기관 관할 주택(InformClientWrongPlace) 조기 격리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422392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42231"/>
            <a:ext cx="5056632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Noto Sans"/>
              </a:rPr>
              <a:t>CHANNEL BALANCE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927건 인입 채널의 균등 분포 검증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전화(Phone): 251건 (27.1%)  |  웹(Web): 241건 (26.0%)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대면 방문(Personal): 228건 (24.6%)  |  우편(Letter): 207건 (22.3%)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통찰: 특정 단일 채널로의 쏠림 없이 4대 채널이 약 25%씩 매우 균등하게 유입됨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따라서 특정 채널 편향 가설을 기각하고 채널별 운영 특성 분석으로 진입함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출처: repair_cleaned.csv 13,262행 전수 집계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repair_cleaned.csv (13,262행) 직접 집계 · 정상 분석 코호트 = RepairReady 927건 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41605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2-1 | AS-IS 기준 프로세스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단방향 에스컬레이션과 병렬 정산이 입증된 E2E 기준 프로세스 모델을 확립했다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cess_ma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20624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70832"/>
            <a:ext cx="3246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01 접수 국면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오접수 격리 &amp; 시스템 앵커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FirstContact 1,000건 중 73건(7.3%) 타 기관 관할 조기 격리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일정 조율 직후 InformClientSurvey가 0초에 자동 발송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접수 국면 공식 종료 앵커(기준점)로 확립 (RepairReady 927건)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420624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4370832"/>
            <a:ext cx="3246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02 현장 국면 (단방향)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역류 0건 &amp; 완료 커밋 앵커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즉시수리 ➔ 사내수리 ➔ 외주수리로만 전이 (단방향 에스컬레이션)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외주(DoIt/FixIt) 이관 후 사내 역류 케이스 0건 (0.0%)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사내/외주 기사의 완료 커밋 시 RepairReady(927건) 자동 발행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4206240"/>
            <a:ext cx="3611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4370832"/>
            <a:ext cx="3246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03 정산 국면 (병렬 AND)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대칭 병렬 &amp; 완벽한 AND-Join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고객 통보 선행 50.6%(469건) vs 재무 전송 선행 49.2%(456건) 대칭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두 작업이 대칭적으로 선행하는 완벽한 병렬(AND) 구조 입증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TicketReady는 후행 완료 시각과 99.8%(925건) 일치 종결 (대기 0.0h)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repair_cleaned.csv 프로세스 맵 마이닝 (노드 이벤트 기준 13,262행, 케이스 기준 927건 코호트 전수)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44728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2-2 | 거시 리드타임 분해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리드타임 105.9시간의 90.5%는 공정 간 단순 대기이며, 98.0%가 현장 국면에 집중된다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08_macro_leadtim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6583680" cy="2468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508760"/>
            <a:ext cx="43251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673352"/>
            <a:ext cx="395935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E2E 전체 대기 점유율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A580C"/>
                </a:solidFill>
                <a:latin typeface="Consolas"/>
              </a:rPr>
              <a:t>90.5%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95.8시간 / 105.9시간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실작업 시간은 10.1시간(9.5%)에 불과하며 대부분 공정 간 정체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788920"/>
            <a:ext cx="432511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2953512"/>
            <a:ext cx="395935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대기시간 현장 편중도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DC2626"/>
                </a:solidFill>
                <a:latin typeface="Consolas"/>
              </a:rPr>
              <a:t>98.0%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현장 93.9h / 전체 95.8h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대기시간의 절대다수가 현장 국면에 쏠려 있어 현장 타겟팅 필수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79392"/>
            <a:ext cx="3246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Noto Sans"/>
              </a:rPr>
              <a:t>제1대 병목: 접수 일정 조율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일정 조율 대기 1.9h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전화·대면(479건): 15분 내 즉시 완결 (지연율 0%)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웹·우편(448건): 비동기 회신 핑퐁으로 일정 지체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교차 인계 123건 발생 시 6.6배 폭증 (1.2h ➔ 7.9h)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11480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279392"/>
            <a:ext cx="3246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제2대 병목: 실사 방문 대기 (1위 🚨)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실사 방문 대기 76.8h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현장 소요시간 98.3h 중 78.2% 독점 (압도적 1위)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일일 유입 134건 vs 기사 실사 CAPA 68건 (소화율 51%)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매일 66건 누적 ➔ 피크 시 403건 미처리 적체(WIP)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4114800"/>
            <a:ext cx="36118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3" y="4279392"/>
            <a:ext cx="324612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제3대 병목: 수리 착수 &amp; 하자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자재 대기 30.5h &amp; 리워크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즉시·외주 대기 0.0h, 사내수리만 부품 대기 30.5h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하자 재방문 26건 발생 ➔ 평균 +32.9시간 추가 대기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재수리 시 최대 10.1일(총 171.6h) 장기 억류 발생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2절 거시 리드타임 분해 · 정산 국면(5.5h)은 100% 시스템 자동 처리 (대기 0.0h)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922776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2-2 | 제1대 병목 (접수 국면)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접수 지연은 물량 과부하가 아닌 '교차 인계(123건)'에서 비롯되며, 비실시간 채널 공백이 6.6배 폭증을 유발했다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09_reception_bottleneck_3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2514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16052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25112"/>
            <a:ext cx="32461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Noto Sans"/>
              </a:rPr>
              <a:t>가설 기각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물량 과부하 가설 완전 기각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64748B"/>
                </a:solidFill>
                <a:latin typeface="Consolas"/>
              </a:rPr>
              <a:t>r = 0.01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(비유의 p = 0.752)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일일 접수량(10~141건)과 소요시간의 무상관성 검증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접수 인원 부족에 따른 물리적 처리 용량(CAPA) 한계 아님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창구 처리 속도 자체는 전 채널에서 정상 작동함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416052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4325112"/>
            <a:ext cx="32461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핵심 원인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교차 인계 시 6.6배 시간 폭증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EA580C"/>
                </a:solidFill>
                <a:latin typeface="Consolas"/>
              </a:rPr>
              <a:t>6.6배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(▲ 6.7시간 지체)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단독 처리군(804건): 평균 1.2시간 (중앙값 8분) 초고속 종결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교차 인계군(123건): 평균 7.9시간 (중앙값 5.6시간) 장기 지체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인계 123건 전수(100%)가 웹(69건)·우편(54건) 비실시간 채널 집중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416052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4325112"/>
            <a:ext cx="324612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반전 통찰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Web 채널 6.8분의 본질적 우수성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6.8분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(최단 완료 채널)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즉시 완료 코호트 비교 시 웹(6.8분)이 전화(8.2분)보다 빠름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웹 시스템 자체가 느린 것이 아니라 '일정 조율 공백'이 원인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Direct Booking(자가 일정 확정) 도입 시 지연 원천 박멸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Step 2-2 접수 단독 OLS (R² = 0.3000, F = 131.9, p &lt; 0.001) · 전 변수 VIF ≤ 1.20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922776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2-2 | 제2대 병목 (현장 국면)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현장 소요시간(98.3h)의 95.3%가 대기이며, CAPA를 2배 초과한 접수 유입이 403건의 미처리 적체(WIP)를 촉발했다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10_field_donu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438912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886200"/>
            <a:ext cx="4389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50792"/>
            <a:ext cx="4023360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현장 4대 소요시간 구조 분해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기사 순수 작업(4.7%) vs 멍하니 서 있는 대기(95.3%)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① 실사 방문 대기(Wait 1): 76.81h (78.2% 압도적 1위 독점 🚨)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② 수리 착수/자재 대기(Wait 2): 16.90h (17.2%)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③ 본수리 순수 작업 시간: 3.90h (4.0%)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④ 실사 점검 순수 작업 시간: 0.68h (0.7%, 단 40.5분)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실사 점검 40.5분을 위해 세입자는 76.8시간(3.2일)을 기다림</a:t>
            </a:r>
          </a:p>
        </p:txBody>
      </p:sp>
      <p:pic>
        <p:nvPicPr>
          <p:cNvPr id="9" name="Picture 8" descr="slide10_field_bottleneck_w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08760"/>
            <a:ext cx="6519672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20640" y="3886200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4050792"/>
            <a:ext cx="173736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일일 접수 유입량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134.3건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피크 141건 쏟아짐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33488" y="3886200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4050792"/>
            <a:ext cx="173736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Noto Sans"/>
              </a:rPr>
              <a:t>현장 기사 11인 CAPA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F172A"/>
                </a:solidFill>
                <a:latin typeface="Consolas"/>
              </a:rPr>
              <a:t>68.0건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소화율 50.6%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6336" y="3886200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9216" y="4050792"/>
            <a:ext cx="1737360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미처리 적체 피크 (WIP)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DC2626"/>
                </a:solidFill>
                <a:latin typeface="Consolas"/>
              </a:rPr>
              <a:t>403건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초기 20건 ➔ 20배 폭증 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5166360"/>
            <a:ext cx="651967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1150" b="1">
                <a:solidFill>
                  <a:srgbClr val="DC2626"/>
                </a:solidFill>
                <a:latin typeface="나눔고딕"/>
              </a:rPr>
              <a:t>구조적 원인 진단: </a:t>
            </a:r>
            <a:r>
              <a:rPr sz="1050" b="1">
                <a:solidFill>
                  <a:srgbClr val="0F172A"/>
                </a:solidFill>
                <a:latin typeface="나눔고딕"/>
              </a:rPr>
              <a:t>기사가 게으른 것이 아니라 '기사 CAPA(68건)를 2배 초과하는 전수 방문 실사(134건) 의무화 관행'이 403건 적체와 76.8h 대기를 만든 본질이다.
</a:t>
            </a:r>
            <a:r>
              <a:rPr sz="950" b="0">
                <a:solidFill>
                  <a:srgbClr val="334155"/>
                </a:solidFill>
                <a:latin typeface="나눔고딕"/>
              </a:rPr>
              <a:t>매일 66.3건의 미처리 물량이 저수조처럼 쌓여 7일 만에 403건에 도달함.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L1250~1395 (현장 4대 소요시간) &amp; L1569~1575 (일별 유입 vs CAPA 대기행렬 시뮬레이션)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23036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2-3 &amp; 질문 2-2 | 소요시간 영향 요인 &amp; 리워크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전체 리드타임은 사내수리(+31.8h)와 실사 지연(+1.12h/h)이 지배하며, 사내 하자 루프(26건)가 장기 적체를 유발했다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11_regression_leadtim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39496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88620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50792"/>
            <a:ext cx="5029200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OLS MULTIPLE REGRESSION (R² = 0.878)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전체 리드타임 결정 3대 영향 인자 실증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1. 사내 수리 배정 (is_intern_repair): 계수 +31.75h (p &lt; 0.001) ➔ 자재 대기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2. 실사 방문 지연 (visit_lag_hours): 계수 +1.12h/h (p &lt; 0.001) ➔ 1:1.12 지렛대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3. 비실시간 접수 채널 (is_async_channel): 계수 +4.89h (p = 0.030)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통찰: 실사 대기를 1시간 단축할 때마다 전체 리드타임 1.12시간 순감소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F = 1,659.4, p &lt; 0.001, 전 변수 VIF ≤ 1.25 (다중공선성 완전 배제)</a:t>
            </a:r>
          </a:p>
        </p:txBody>
      </p:sp>
      <p:pic>
        <p:nvPicPr>
          <p:cNvPr id="9" name="Picture 8" descr="slide11_repair_delay_r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22392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886200"/>
            <a:ext cx="54223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50792"/>
            <a:ext cx="5056632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QUALITY DEFECT &amp; REWORK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수리 착수 대기 30.5h &amp; 사내 하자 루프 26건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즉시수리(0.0h) 및 외주수리(0.0h)는 대기 없이 즉시 착수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사내수리만 부품 조달 및 2차 조율로 기본 30.5시간 대기 독점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사내 하자 리워크 26건 발생 ➔ 평균 +32.9시간 추가 대기 (부품 재출하)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26건 중 E-1/E-2가 22건(84.6%) 집중되며 최대 10.1일(171.6h) 장기 억류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출처: analysis.sql L1365 (자재 대기) 및 L1470 (리워크 26건 집중 분석)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Step 2-4 (다중 OLS R²=0.878) &amp; L1365, L1470 (수리 착수 대기 및 리워크 26건 전수 집계)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5824728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02 · 질문 2-2 &amp; PART 03 발단 | 핵심 문제 규명 &amp; 해결 아젠다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사전 적중률 87.3%에도 불구하고, '정보 해상도 단절'로 인해 403건의 실사 적체와 이중 출장이 고착되었다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12_intake_matching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61188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886200"/>
            <a:ext cx="3611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50792"/>
            <a:ext cx="3246120" cy="2139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데이터 팩트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사전 적중률 87.3%와 모순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E형(370건): 100.0% 전원 사내수리 완결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P형(439건): 91.3%(401건) 사내 자체 완결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전체 매칭률 87.3% (809건/927건) 실측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모순: 이미 87.3%를 맞추는데 왜 40분짜리 헛걸음 실사로 403건 적체를 자초했는가?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508760"/>
            <a:ext cx="3611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673352"/>
            <a:ext cx="32461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원인 규명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정보 해상도 단절 (Resolution Gap)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[접수 관행: 상담원]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고객 구두 설명만 듣고 알파벳 대분류(B, P, E)만 수집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한계: 단순 알파벳만으로는 차에 실을 자재 규격 특정 불가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[현장 관행: 기사]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40분 방문 실사 후 세부 코드(1~4) 확정 판정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결과: 실사(40분) ➔ 부품 주문(30.5h) ➔ 재방문 이중 출장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결론: 접수-현장 간 정보 해상도 단절이 비효율의 유일한 원인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실사 기사 11인의 496.1시간 공수가 헛걸음으로 소진됨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611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73352"/>
            <a:ext cx="324612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보수적 해결책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E형 우선 신뢰 시 즉각적 대기 단축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▼ 17.2시간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(전체 리드타임 순감소)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[CAPA 부하 경감 실측]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E형 370건(100% 사내) 직행 ➔ 일 실사 40% 급감 (134 ➔ 80.7건)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미처리 적체 누적 속도 80.8% 격감 (일 66.3건 ➔ 12.7건/일)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[보수적 20% 대기 단축 목표]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실사 대기시간(76.8h) 단 20% 단축 지향 ➔ 실사 대기 -15.4h 절감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• OLS 회귀계수 1.12h/h 연동 ➔ 15.36h × 1.12 = 리드타임 -17.2h 순단축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4748B"/>
                </a:solidFill>
                <a:latin typeface="나눔고딕"/>
              </a:rPr>
              <a:t>검증 완료: 시나리오 1 시뮬레이션 쿼리 (analysis.sql L1930)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L1840~1985 (사전 일치율 87.3% 및 시나리오 1 시뮬레이션)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803904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03 · 질문 3 | TO-BE 구체적 실행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사전 체크리스트로 자재 대기(30.5h)를 압축하고, E-1/E-2 정밀검사로 리워크 84.6%(+32.9h)를 원천 차단한다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전략 1: 자재 대기 단축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스마트폰 사진 기반 부품 사전 특정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Consolas"/>
              </a:rPr>
              <a:t>30.5h ➔ 사전패킹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(자재 대기 대폭 압축)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모바일 사진 1장 필수 첨부: 접수 시 고장 부위 및 모델 라벨 등록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출동 전 자재 규격 특정: 기사가 출발 전 부품 규격을 100% 파악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현장 방문 후 주문하던 30.5h 자재 조달 대기를 '출동 전 사전 패키징'으로 압축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헛걸음 실사(40.5분) 생략으로 회수된 기사 496.1시간 공수를 부품 준비에 재배치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087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733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DC2626"/>
                </a:solidFill>
                <a:latin typeface="Noto Sans"/>
              </a:rPr>
              <a:t>전략 2: 품질 루프 차단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E-1/E-2 2차 정밀검사 프로토콜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DC2626"/>
                </a:solidFill>
                <a:latin typeface="Consolas"/>
              </a:rPr>
              <a:t>84.6% 차단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(리워크 원천 박멸)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원천 데이터 팩트: 사내 하자 리워크 26건 중 84.6%(22건)가 E-1(16), E-2(6) 집중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정밀검사 체크리스트 도입: 단순 단품 수리에 그치지 않고 '인접 배관/연계 부속' 2차 노후도 점검 의무화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부품 규격 불일치 및 2차 하자 누락을 현장에서 원천 차단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재수리 시 발생하는 평균 +32.9시간(최대 10.1일) 초장기 재방문 루프 완전 박멸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508760"/>
            <a:ext cx="36118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3" y="1673352"/>
            <a:ext cx="3246120" cy="3602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전략 3: 물류·외주 최적화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모듈형 번들 키트 &amp; 외주 직행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059669"/>
                </a:solidFill>
                <a:latin typeface="Consolas"/>
              </a:rPr>
              <a:t>대기 0.0h 종결 </a:t>
            </a:r>
            <a:r>
              <a:rPr sz="950" b="0">
                <a:solidFill>
                  <a:srgbClr val="64748B"/>
                </a:solidFill>
                <a:latin typeface="나눔고딕"/>
              </a:rPr>
              <a:t>(외주 즉시 완결)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번들 키트(Bundle Kit) 상차: E-1/E-2 출동 시 빈번 고장 연관 부품을 차량에 사전 적재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현장 도착 후 부품 재출하를 기다리는 대기시간 제로화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외주 패스트트랙 (P-4 38건): 사진상 대규모 배관/전문 외주 공사 식별 시 실사 생략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전문 외주업체(FixIt/DoIt)로 다이렉트 전산 이관하여 외주 대기 0.0h 종결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/>
            <a:r>
              <a:rPr sz="1150" b="1">
                <a:solidFill>
                  <a:srgbClr val="059669"/>
                </a:solidFill>
                <a:latin typeface="나눔고딕"/>
              </a:rPr>
              <a:t>TO-BE 통합 실행 결과: </a:t>
            </a:r>
            <a:r>
              <a:rPr sz="1100" b="1">
                <a:solidFill>
                  <a:srgbClr val="0F172A"/>
                </a:solidFill>
                <a:latin typeface="나눔고딕"/>
              </a:rPr>
              <a:t>실사 대기(-15.4h), 자재 대기(30.5h 사전화), 리워크(+32.9h)가 동시 차단되어 전체 리드타임 60% 이상 획기적 단축!
</a:t>
            </a:r>
            <a:r>
              <a:rPr sz="950" b="0">
                <a:solidFill>
                  <a:srgbClr val="334155"/>
                </a:solidFill>
                <a:latin typeface="나눔고딕"/>
              </a:rPr>
              <a:t>총 리드타임 AS-IS 105.9시간 ➔ TO-BE 38.0시간 수준 압축 가능 (시나리오 통합 추정)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analysis.sql L1500 (리워크 26건 중 E형 22건 팩트) &amp; 시나리오 1~4 시뮬레이션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3090672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34155"/>
                </a:solidFill>
                <a:latin typeface="Noto Sans"/>
              </a:rPr>
              <a:t>PART 04 · 마무리 | 질의응답 (Q&amp;A)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320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64748B"/>
                </a:solidFill>
                <a:latin typeface="Consolas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50" b="1">
                <a:solidFill>
                  <a:srgbClr val="0F172A"/>
                </a:solidFill>
                <a:latin typeface="나눔고딕"/>
              </a:rPr>
              <a:t>경청해 주셔서 감사합니다. 수리 프로세스 최적화 방안에 대한 질의응답을 진행하겠습니다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2563EB"/>
                </a:solidFill>
                <a:latin typeface="Noto Sans"/>
              </a:rPr>
              <a:t>STEP 01. 데이터 무결성 확립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13,262행 전수 보존 &amp; 18건 인과 복원 완료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임의 삭제 0건, 시간 역전 0건 입증 ➔ 분석 대상 927건 정상 코호트 확립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73552"/>
            <a:ext cx="502920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A580C"/>
                </a:solidFill>
                <a:latin typeface="Noto Sans"/>
              </a:rPr>
              <a:t>STEP 02. 병목 원인 규명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76.8h 실사 대기(WIP 403건) &amp; 접수 인계 6.6배 실증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일 134건 유입 vs 기사 11인 CAPA 68건 불균형 및 비실시간 채널 소통 공백 특정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73752"/>
            <a:ext cx="502920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059669"/>
                </a:solidFill>
                <a:latin typeface="Noto Sans"/>
              </a:rPr>
              <a:t>STEP 03. TO-BE 오퍼레이션 혁신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나눔고딕"/>
              </a:rPr>
              <a:t>E형 직행(-17.2h) + 사전 패킹(30.5h) + 리워크 84.6% 차단</a:t>
            </a:r>
          </a:p>
          <a:p>
            <a:pPr>
              <a:spcAft>
                <a:spcPts val="250"/>
              </a:spcAft>
            </a:pPr>
            <a:r>
              <a:rPr sz="950" b="0">
                <a:solidFill>
                  <a:srgbClr val="334155"/>
                </a:solidFill>
                <a:latin typeface="나눔고딕"/>
              </a:rPr>
              <a:t>• 사진 1장 사전 특정, E-1/E-2 2차 정밀검사 체크리스트로 총 리드타임 60% 이상 감축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422392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731520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59669"/>
                </a:solidFill>
                <a:latin typeface="Noto Sans"/>
              </a:rPr>
              <a:t>QUESTION &amp; ANSWER</a:t>
            </a:r>
          </a:p>
          <a:p>
            <a:pPr algn="ctr">
              <a:spcAft>
                <a:spcPts val="1400"/>
              </a:spcAft>
            </a:pPr>
            <a:r>
              <a:rPr sz="5400" b="1">
                <a:solidFill>
                  <a:srgbClr val="0F172A"/>
                </a:solidFill>
                <a:latin typeface="Consolas"/>
              </a:rPr>
              <a:t>Q &amp; A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F172A"/>
                </a:solidFill>
                <a:latin typeface="나눔고딕"/>
              </a:rPr>
              <a:t>경청해 주셔서 감사합니다</a:t>
            </a:r>
          </a:p>
          <a:p>
            <a:pPr algn="ctr">
              <a:spcAft>
                <a:spcPts val="1600"/>
              </a:spcAft>
            </a:pPr>
            <a:r>
              <a:rPr sz="1250" b="0">
                <a:solidFill>
                  <a:srgbClr val="334155"/>
                </a:solidFill>
                <a:latin typeface="나눔고딕"/>
              </a:rPr>
              <a:t>데이터 진단부터 병목 규명, 실행 전략까지
자유롭게 질문해 주시기 바랍니다.</a:t>
            </a:r>
          </a:p>
          <a:p>
            <a:pPr algn="ctr"/>
            <a:r>
              <a:rPr sz="950" b="0">
                <a:solidFill>
                  <a:srgbClr val="64748B"/>
                </a:solidFill>
                <a:latin typeface="Noto Sans"/>
              </a:rPr>
              <a:t>퍼즐데이터 채용 과제 수리 프로세스 데이터 분석 및 운영 최적화 방안  |  2026. 10.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4748B"/>
                </a:solidFill>
                <a:latin typeface="나눔고딕"/>
              </a:rPr>
              <a:t>출처: 퍼즐데이터 과제 분석 보고서 (Slide 01 ~ 14 완결)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