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00. 인트로" id="{5fbfab70-26cb-5f3d-e129-21c8ea4341e6}">
          <p14:sldIdLst>
            <p14:sldId id="256"/>
            <p14:sldId id="257"/>
            <p14:sldId id="258"/>
          </p14:sldIdLst>
        </p14:section>
        <p14:section name="Part 01. 질문 1 — 데이터 진단 및 전처리" id="{8bab35ce-7b12-62f7-d935-c93dc93e38e7}">
          <p14:sldIdLst>
            <p14:sldId id="259"/>
            <p14:sldId id="260"/>
            <p14:sldId id="261"/>
          </p14:sldIdLst>
        </p14:section>
        <p14:section name="Part 02. 질문 2 — 프로세스 마이닝 심층 분석" id="{f807ecd9-314c-4f20-559c-102be0a2083e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+mn-lt"/>
              </a:rPr>
              <a:t>컬럼별 결측률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결측률(%)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##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EstimatedRepairTime</c:v>
                  </c:pt>
                  <c:pt idx="1">
                    <c:v>RepairCode</c:v>
                  </c:pt>
                  <c:pt idx="2">
                    <c:v>RepairType</c:v>
                  </c:pt>
                  <c:pt idx="3">
                    <c:v>objectKey</c:v>
                  </c:pt>
                  <c:pt idx="4">
                    <c:v>RepairInternally</c:v>
                  </c:pt>
                  <c:pt idx="5">
                    <c:v>contact</c:v>
                  </c:pt>
                  <c:pt idx="6">
                    <c:v>RepairOK</c:v>
                  </c:pt>
                  <c:pt idx="7">
                    <c:v>date</c:v>
                  </c:pt>
                  <c:pt idx="8">
                    <c:v>time</c:v>
                  </c:pt>
                  <c:pt idx="9">
                    <c:v>eventtype</c:v>
                  </c:pt>
                  <c:pt idx="10">
                    <c:v>originator</c:v>
                  </c:pt>
                  <c:pt idx="11">
                    <c:v>taskID</c:v>
                  </c:pt>
                  <c:pt idx="12">
                    <c:v>caseID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93</c:v>
                </c:pt>
                <c:pt idx="1">
                  <c:v>93</c:v>
                </c:pt>
                <c:pt idx="2">
                  <c:v>93</c:v>
                </c:pt>
                <c:pt idx="3">
                  <c:v>93</c:v>
                </c:pt>
                <c:pt idx="4">
                  <c:v>93</c:v>
                </c:pt>
                <c:pt idx="5">
                  <c:v>92.5</c:v>
                </c:pt>
                <c:pt idx="6">
                  <c:v>86</c:v>
                </c:pt>
                <c:pt idx="7">
                  <c:v>0.098</c:v>
                </c:pt>
                <c:pt idx="8">
                  <c:v>0.098</c:v>
                </c:pt>
                <c:pt idx="9">
                  <c:v>0.038</c:v>
                </c:pt>
                <c:pt idx="10">
                  <c:v>0.015</c:v>
                </c:pt>
                <c:pt idx="11">
                  <c:v>0.015</c:v>
                </c:pt>
                <c:pt idx="12">
                  <c:v>0</c:v>
                </c:pt>
              </c:numCache>
            </c:numRef>
          </c:val>
        </c:ser>
        <c:dLbls>
          <c:numFmt formatCode="0.0##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코호트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94A3B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정상 수리 완결</c:v>
                </c:pt>
                <c:pt idx="1">
                  <c:v>오접수 조기 종결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927</c:v>
                </c:pt>
                <c:pt idx="1">
                  <c:v>73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실작업 / 시스템 처리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[&lt;5]&quot;&quot;;0.0&quot;h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01 접수 2.1h (실작업 0.2h)</c:v>
                  </c:pt>
                  <c:pt idx="1">
                    <c:v>02 현장 98.3h (실작업 4.4h)</c:v>
                  </c:pt>
                  <c:pt idx="2">
                    <c:v>03 정산 5.5h (자동 처리)</c:v>
                  </c:pt>
                  <c:pt idx="3">
                    <c:v>E2E 전체 105.9h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4.4</c:v>
                </c:pt>
                <c:pt idx="2">
                  <c:v>5.5</c:v>
                </c:pt>
                <c:pt idx="3">
                  <c:v>10.1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공정 간 단순 대기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[&lt;5]&quot;&quot;;0.0&quot;h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01 접수 2.1h (실작업 0.2h)</c:v>
                  </c:pt>
                  <c:pt idx="1">
                    <c:v>02 현장 98.3h (실작업 4.4h)</c:v>
                  </c:pt>
                  <c:pt idx="2">
                    <c:v>03 정산 5.5h (자동 처리)</c:v>
                  </c:pt>
                  <c:pt idx="3">
                    <c:v>E2E 전체 105.9h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1.9</c:v>
                </c:pt>
                <c:pt idx="1">
                  <c:v>93.9</c:v>
                </c:pt>
                <c:pt idx="2">
                  <c:v>0</c:v>
                </c:pt>
                <c:pt idx="3">
                  <c:v>95.8</c:v>
                </c:pt>
              </c:numCache>
            </c:numRef>
          </c:val>
        </c:ser>
        <c:dLbls>
          <c:numFmt formatCode="[&lt;5]&quot;&quot;;0.0&quot;h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안녕하십니까, 퍼즐데이터 수리 프로세스 데이터 분석 결과 발표를 맡은 지원자입니다. 본 보고서는 네덜란드 공공임대주택 1,000건의 수리 로그를 바탕으로, 단순 통계를 넘어 프로세스 마이닝 관점에서 대기시간 약 90%의 구조적 원인을 밝히고 실질적 개선안을 제시합니다.
[수치 기준 주석] 리드타임(105.9h) 중 대기 95.8h = 90.5%가 E2E 기준입니다. 94.4%는 현장 국면(98.3h) 내 Wait1+Wait2 비중(analysis.sql 2-3절)으로 분모가 달라 표지에는 쓰지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발표는 4개 파트로 진행됩니다. 질문 1의 데이터 무손실 전처리를 거쳐, 질문 2의 프로세스 병목과 원인을 규명하고, 질문 3에서 실질적 개선안과 정량적 ROI를 제시하며 마무리하겠습니다.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분석을 관통하는 핵심 가설은 명확합니다. 수리가 늦어지는 것은 현장 기사가 느려서가 아니라, 공정 사이의 단순 대기와 접수 단계의 비동기 소통 지연 때문입니다. 이 두 가지를 통제하여 전체 프로세스를 획기적으로 개선하는 여정을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데이터를 열어보았을 때 가장 먼저 확인한 것은 구조였습니다. 본 데이터는 공정마다 행이 쌓이는 이벤트 로그로, 90% 안팎의 결측치는 후속 수리가 발생하지 않아 생긴 자연스러운 정상 결측입니다. 반면 필수 속성임에도 비어 있는 값은 13,262행 중 단 20행에 불과했습니다. 이 20행만을 정밀 복원 타겟으로 특정했습니다.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복원 시 단 한 행도 버리지 않았습니다. 시작-완료 담당자의 100% 일치성, 태스크 고유 속성을 활용했고, 일시는 표본 34% 축소 한계를 극복하여 확보한 751건 정상 모수의 대표값을 앵커로부터 역산 적용했습니다. 덕분에 시간 역전 0건의 완벽한 데이터셋을 완성했습니다.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5대 전처리를 완료한 결과, 단 한 건의 결측과 시간 역전도 없는 완전무결한 13,262행 정제 데이터셋이 완성되었습니다.
정제된 데이터를 프로파일링하여 타 기관 관할 오접수 73건을 격리하고, 실제 현장 수리가 이루어진 '927건의 클린 분석 코호트'를 확립했습니다.
접수 채널은 Phone 27.1%, Web 26.0%, Personal 24.6%, Letter 22.3%로 고르게 유입되고, 시스템 정산은 자동화되어 있습니다. 그렇다면 대체 왜 전체 프로세스는 평균 4.4일(105.9시간)이나 걸릴까요?
정상화된 927건의 클린 로그를 바탕으로, 대기가 집중된 현장의 진짜 병목을 파헤치는 질문 2, 프로세스 마이닝 심층 분석으로 넘어가겠습니다.
[수치 주석] 스토리보드 원문의 채널 비율(Phone 25.1 / Web 25.0 / Personal 24.9 / Letter 25.0, '완벽한 25% 균등')은 repair_cleaned.csv 실측과 달라 실측값으로 교체했습니다. 원문의 '지연의 94.4%가 현장에 집중'도 분모 혼선이 있어 '대기가 집중된 현장'으로 바꿨습니다.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병목 분석에 앞서, 모든 분석의 기준선이 될 'E2E 기준 프로세스 모델'입니다. 이 모델은 데이터의 3가지 명확한 실측 근거를 바탕으로 도출되었습니다.
첫째, 접수 단계는 1,000건 중 관할 외 73건의 조기 이탈과 시스템 자동 알림 앵커로 경계가 확립되었습니다.
둘째, 현장 수리 흐름은 철저한 단방향 에스컬레이션입니다. 사내 기사는 물론 외주 기사(DoIt, FixIt) 역시 수리를 마친 뒤 완료 커밋을 하면 시스템이 RepairReady를 발송합니다. 외주로 넘어간 후 사내로 되돌아온 역류 케이스는 단 0건입니다.
셋째, 정산 공정은 고객 통보와 재무 처리가 50.6% 대 49.2%로 대칭 선행하는 병렬(AND) 구조이며, 최종 티켓 마감은 두 작업 중 늦게 끝난 시각과 99.8% 일치합니다.
이처럼 검증된 기준 지도를 토대로, 다음 장부터 90.5%의 대기시간이 어디서 발생하는지 거시적 분해로 들어가겠습니다.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수리 프로세스가 지연되는 진짜 원인은 무엇일까요? 기사가 작업을 느리게 해서일까요? 데이터를 쪼개보니 완전히 달랐습니다.
전체 105.9시간(약 4.4일) 중 실작업 시간은 10.1시간(9.5%)에 불과하며, 나머지 95.8시간(90.5%)은 공정 사이에서 멈춰 서 있는 단순 대기시간이었습니다. 특히 정산 국면은 인간 개입 없이 시스템이 100% 자동 처리(5.5h)하므로 대기가 0시간이며, 대기 95.8시간의 98.0%가 '현장 국면'에 집중되어 있었습니다.
이 대기시간의 발원지를 '3대 병목'으로 정리했습니다. 첫째, 웹·우편의 비동기 소통 부재로 일정이 늘어지는 '일정 조율 병목(1.9h)'. 둘째, 현장 국면의 78%가 쏠려 있는 압도적 1위의 '실사 방문 대기 병목(76.8h)'. 셋째, 사내 수리 시 자재 조달과 재작업으로 인한 '수리 준비 대기(30.5h) 및 하자 루프(최대 10일)'입니다.
그렇다면 프로세스의 첫 관문인 접수 국면에서 왜 6.6배의 시간 폭증이 일어났는지, 다음 장에서 살펴보겠습니다.
[수치 주석] (1) 스토리보드의 '전체 대기의 78.2%'는 분모가 현장 국면 리드타임(98.3h)입니다(76.8/98.3, analysis.sql L1396). 전체 대기(95.8h) 대비로는 80.2%라 '현장 국면의 78.2%'로 표기했습니다. (2) 94.4%는 현장 국면 내 Wait1+Wait2 비중입니다(analysis.sql L1380). E2E 기준은 90.5%입니다. (3) CAPA는 analysis.sql L1620 기준(69건/일, 인입 대비 51.1%, 일 66건 적체)으로 통일했습니다. 스토리보드의 63.7건/일은 지속 CAPA(L1766)로 66건 적체와 산술이 맞지 않습니다(135−63.7=71.3).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916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69080"/>
            <a:ext cx="69494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eaLnBrk="0"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85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채용 과제 전형 최종 보고서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6916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프로세스 마이닝 기반</a:t>
            </a:r>
            <a:endParaRPr lang="en-US" sz="3600" dirty="0"/>
          </a:p>
          <a:p>
            <a:pPr eaLnBrk="0"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공공임대주택 수리 프로세스</a:t>
            </a:r>
            <a:endParaRPr lang="en-US" sz="3600" dirty="0"/>
          </a:p>
          <a:p>
            <a:pPr eaLnBrk="0"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진단 및 운영 최적화 방안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40690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5대 무손실 전처리, 실사 대기 병목(76.8h) 원인 규명 및</a:t>
            </a:r>
            <a:endParaRPr lang="en-US" sz="1800" dirty="0"/>
          </a:p>
          <a:p>
            <a:pPr eaLnBrk="0"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3대 데이터 기반 TO-BE 전략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89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퍼즐데이터 수리 프로세스 데이터 분석 과제   |   제출일 2026. 10. 27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141732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58200" y="1554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13,262행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2212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이벤트 로그 · 1,000 케이스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2514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#ProcessMining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06324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5820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90.5%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리드타임 중 공정 간 단순 대기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#LeadTime_90.5%_Wait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470916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600" b="1" dirty="0">
                <a:solidFill>
                  <a:srgbClr val="34D399"/>
                </a:solidFill>
              </a:rPr>
              <a:t>65%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5504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TO-BE 리드타임 단축 목표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5806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#TO-BE_ROI_65%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원천 데이터 전처리부터 TO-BE 전략까지, 4개 파트로 보고합니다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51760" cy="41148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데이터 진단</a:t>
            </a:r>
            <a:endParaRPr lang="en-US" sz="1800" dirty="0"/>
          </a:p>
          <a:p>
            <a:pPr eaLnBrk="0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및 전처리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611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질문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로그 프로파일링</a:t>
            </a:r>
            <a:endParaRPr 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5대 인과 복원</a:t>
            </a:r>
            <a:endParaRPr 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927건 클린 코호트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2378" y="1691640"/>
            <a:ext cx="2651760" cy="41148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06698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606698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프로세스 마이닝</a:t>
            </a:r>
            <a:endParaRPr lang="en-US" sz="1800" dirty="0"/>
          </a:p>
          <a:p>
            <a:pPr eaLnBrk="0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심층 분석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06698" y="361188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06698" y="3611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질문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06698" y="41148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E2E 프로세스 흐름</a:t>
            </a:r>
            <a:endParaRPr 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3대 대기 병목</a:t>
            </a:r>
            <a:endParaRPr 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재작업 루프</a:t>
            </a:r>
            <a:endParaRPr 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영향 요인 회귀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7557" y="1691640"/>
            <a:ext cx="2651760" cy="41148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81877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03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481877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프로세스</a:t>
            </a:r>
            <a:endParaRPr lang="en-US" sz="1800" dirty="0"/>
          </a:p>
          <a:p>
            <a:pPr eaLnBrk="0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최적화 방안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81877" y="361188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1877" y="3611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질문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81877" y="41148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소통 통제</a:t>
            </a:r>
            <a:endParaRPr 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대기 단축</a:t>
            </a:r>
            <a:endParaRPr 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정량적 ROI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82735" y="1691640"/>
            <a:ext cx="2651760" cy="41148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57055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04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9357055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엔지니어링</a:t>
            </a:r>
            <a:endParaRPr lang="en-US" sz="1800" dirty="0"/>
          </a:p>
          <a:p>
            <a:pPr eaLnBrk="0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신뢰성 보증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357055" y="361188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57055" y="3611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검증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357055" y="41148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파이프라인 검증</a:t>
            </a:r>
            <a:endParaRPr 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Q&amp;A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현장의 '대기시간'을 줄이고, 이해관계자 간의 '소통'을 통제하면</a:t>
            </a:r>
            <a:endParaRPr lang="en-US" sz="2400" dirty="0"/>
          </a:p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프로세스 리드타임을 획기적으로 개선할 수 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원천 진단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13,262행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100% 무손실 복원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062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2원화 전처리로 단 한 행도 삭제 없이 비정상 결측을 복원했다.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89908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4609948" y="2103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0994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95748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병목 가설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09948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공정 간 대기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4609948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+ 비동기 소통 지연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09948" y="42062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리드타임 지연의 본질은 작업자 속도가 아니라 공정 사이의 단순 대기와 접수 단계의 비동기 소통 지연에 있다.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2615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2655" y="2103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42655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128455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개선 방향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442655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소통 통제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8442655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+ 대기 단축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42655" y="42062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'Web 자가 예약 기반 소통 통제'와 '패스트트랙 기반 대기시간 단축'을 핵심 레버로 도출한다.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01 · 질문 1  |  Before Profiling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정상 결측은 그대로 보존하고,</a:t>
            </a:r>
            <a:endParaRPr lang="en-US" sz="2400" dirty="0"/>
          </a:p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시스템 에러 20행(0.15%)만 복원 대상으로 특정했다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13,262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이벤트 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1,000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케이스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233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17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속성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212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1건 1행의 정형 데이터가 아니라 세부 작업 단위로 쌓이는 이벤트 로그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251960" y="1554480"/>
          <a:ext cx="7479792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251960" y="4553712"/>
            <a:ext cx="7479792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4370832" y="464515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70832" y="46451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정상 결측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459943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구조적 Null 86.0~93.0% · 7개 속성(12,335행)</a:t>
            </a:r>
            <a:endParaRPr lang="en-US" sz="1100" dirty="0"/>
          </a:p>
          <a:p>
            <a:pPr eaLnBrk="0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후속 공정이 없어 비어 있는 값 → 무죄. 임의 대체 없이 100% 보존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51960" y="5138928"/>
            <a:ext cx="7479792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4370832" y="5230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70832" y="52303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비정상 결측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51846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0.015~0.098% · 5개 속성(taskID·originator·eventtype·date·time)</a:t>
            </a:r>
            <a:endParaRPr lang="en-US" sz="1100" dirty="0"/>
          </a:p>
          <a:p>
            <a:pPr eaLnBrk="0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필수 값의 시스템 에러 → 유죄. 18개 케이스, 단 20행을 복원 대상으로 특정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51960" y="5724144"/>
            <a:ext cx="7479792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4370832" y="581558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370832" y="58155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진공 구간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57698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0.1~86.0% 구간에 걸치는 컬럼 0개</a:t>
            </a:r>
            <a:endParaRPr lang="en-US" sz="1100" dirty="0"/>
          </a:p>
          <a:p>
            <a:pPr eaLnBrk="0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완벽한 양극단 이봉분포 → 정상/비정상 판별의 객관성 입증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출처: repair_cleaned.csv 원천 프로파일링 (EDA-01) · 20행 = 5개 속성에 걸친 결측이 몰린 18개 케이스의 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01 · 질문 1  |  CASE 1 ~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행 삭제와 단순 대체 없이, 업무 인과 근거로 20행을 100% 무손실 복원했다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결측 속성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463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현장 단서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복원 판정 (5개 속성 모두 누락 0건)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7729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CASE 1  </a:t>
            </a:r>
            <a:pPr eaLnBrk="0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taskID</a:t>
            </a:r>
            <a:endParaRPr lang="en-US" sz="1400" dirty="0"/>
          </a:p>
          <a:p>
            <a:pPr eaLnBrk="0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결측 2건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737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contact는 FirstContact에만 기록되는 고유 속성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7373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7373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FirstContact · InformClientSurvey 확정 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1127729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542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CASE 2  </a:t>
            </a:r>
            <a:pPr eaLnBrk="0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originator</a:t>
            </a:r>
            <a:endParaRPr lang="en-US" sz="1400" dirty="0"/>
          </a:p>
          <a:p>
            <a:pPr eaLnBrk="0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결측 2건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542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같은 작업의 start·complete 담당자 100.0% 일치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542032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254203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짝 이벤트 담당자(Anne, Paul) 승계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1127729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CASE 3  </a:t>
            </a:r>
            <a:pPr eaLnBrk="0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eventtype</a:t>
            </a:r>
            <a:endParaRPr lang="en-US" sz="1400" dirty="0"/>
          </a:p>
          <a:p>
            <a:pPr eaLnBrk="0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결측 5건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34670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기간 작업은 start→complete 1:1 짝, 마일스톤은 단독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346704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34670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1:1 페어 3건 + 마일스톤 2건 복원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51376"/>
            <a:ext cx="1127729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1513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CASE 4  </a:t>
            </a:r>
            <a:pPr eaLnBrk="0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date</a:t>
            </a:r>
            <a:endParaRPr lang="en-US" sz="1400" dirty="0"/>
          </a:p>
          <a:p>
            <a:pPr eaLnBrk="0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총 879건 · 결측 13 + 오기입 866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415137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1905년 리셋·2020~22년 오기입. 시각이 정상인 859건에 선·후행 순서 구간 제약 적용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4151376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15137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단일 후보 640건 + 앵커 최근접 219건 매핑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1127729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9560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CASE 5  </a:t>
            </a:r>
            <a:pPr eaLnBrk="0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</a:t>
            </a:r>
            <a:endParaRPr lang="en-US" sz="1400" dirty="0"/>
          </a:p>
          <a:p>
            <a:pPr eaLnBrk="0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총 28건 · 결측 13 + 더미 15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49560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완전무결 기준 시 표본 34%로 축소 → 접수 구간 정상 표본 751건(75.1%) 확보, 중앙값 4.0분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4956048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49560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정상 자정 7건 보존 + 앵커 역산 21건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806440"/>
            <a:ext cx="361188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806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데이터 무손실</a:t>
            </a:r>
            <a:endParaRPr lang="en-US" sz="1400" dirty="0"/>
          </a:p>
          <a:p>
            <a:pPr eaLnBrk="0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임의 삭제 0건 · 13,262행(100.0%) 보존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89908" y="5806440"/>
            <a:ext cx="361188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72788" y="5806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통계적 강건성</a:t>
            </a:r>
            <a:endParaRPr lang="en-US" sz="1400" dirty="0"/>
          </a:p>
          <a:p>
            <a:pPr eaLnBrk="0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표본 34% 한계 → 정상 표본 751건 활용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22615" y="5806440"/>
            <a:ext cx="361188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05495" y="5806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인과 무결성</a:t>
            </a:r>
            <a:endParaRPr lang="en-US" sz="1400" dirty="0"/>
          </a:p>
          <a:p>
            <a:pPr eaLnBrk="0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시간 역전 0건 · 927건 클린 코호트 확립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출처: analysis.ipynb Cell 18·20·51·53·77·81, analysis.sql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01 · 질문 1  |  After Profiling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시간 역전 0건을 입증했고, 오접수 73건을 격리해 927건 클린 코호트를 확립했다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2194560"/>
              </a:tblGrid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검증 항목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Before (원천)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After (정제)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총 이벤트 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13,262행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13,262행 (100% 보존)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필수 속성 결측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20건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0건 (100% 복원)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일자 연도 오기입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866건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0건 (1970년 주기 통일)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시간 역전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음수 소요시간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0건 (3,711 페어 양수)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8640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486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전처리 전 구간 결과: 결측 20건 → 0건, 임의 행 삭제 0건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37960" y="1645920"/>
            <a:ext cx="119626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37960" y="1737360"/>
            <a:ext cx="1196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1,000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212848"/>
            <a:ext cx="1196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케이스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71384" y="1645920"/>
            <a:ext cx="119626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71384" y="1737360"/>
            <a:ext cx="1196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890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871384" y="2212848"/>
            <a:ext cx="1196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고유 주택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204808" y="1645920"/>
            <a:ext cx="119626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204808" y="1737360"/>
            <a:ext cx="1196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204808" y="2212848"/>
            <a:ext cx="1196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속성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538231" y="1645920"/>
            <a:ext cx="119626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38231" y="1737360"/>
            <a:ext cx="1196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14행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0538231" y="2212848"/>
            <a:ext cx="1196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케이스당 중앙값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537960" y="2743200"/>
          <a:ext cx="24688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7315200" y="3611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1,000</a:t>
            </a:r>
            <a:endParaRPr lang="en-US" sz="1400" dirty="0"/>
          </a:p>
          <a:p>
            <a:pPr eaLnBrk="0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케이스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9235440" y="324612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50976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정상 수리 완결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927건 (92.7%)</a:t>
            </a:r>
            <a:endParaRPr lang="en-US" sz="1300" dirty="0"/>
          </a:p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순수 분석 모수 → 질문 2 코호트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9235440" y="4251960"/>
            <a:ext cx="182880" cy="1828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9509760" y="4114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오접수 조기 종결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73건 (7.3%)</a:t>
            </a:r>
            <a:endParaRPr lang="en-US" sz="1300" dirty="0"/>
          </a:p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타 기관 관할 → 노이즈 격리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5349240"/>
            <a:ext cx="5196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927건 코호트의 접수 채널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37960" y="5623560"/>
            <a:ext cx="1196264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537960" y="5669280"/>
            <a:ext cx="119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Phone</a:t>
            </a:r>
            <a:endParaRPr lang="en-US" sz="1400" dirty="0"/>
          </a:p>
          <a:p>
            <a:pPr eaLnBrk="0"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251건 · 27.1%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7871384" y="5623560"/>
            <a:ext cx="1196264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71384" y="5669280"/>
            <a:ext cx="119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Web</a:t>
            </a:r>
            <a:endParaRPr lang="en-US" sz="1400" dirty="0"/>
          </a:p>
          <a:p>
            <a:pPr eaLnBrk="0"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241건 · 26.0%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9204808" y="5623560"/>
            <a:ext cx="1196264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9204808" y="5669280"/>
            <a:ext cx="119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Personal</a:t>
            </a:r>
            <a:endParaRPr lang="en-US" sz="1400" dirty="0"/>
          </a:p>
          <a:p>
            <a:pPr eaLnBrk="0"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228건 · 24.6%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10538231" y="5623560"/>
            <a:ext cx="1196264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10538231" y="5669280"/>
            <a:ext cx="119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Letter</a:t>
            </a:r>
            <a:endParaRPr lang="en-US" sz="1400" dirty="0"/>
          </a:p>
          <a:p>
            <a:pPr eaLnBrk="0"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207건 · 22.3%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출처: repair_cleaned.csv (13,262행) 직접 집계 · 코호트 = RepairReady 927건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02 · 질문 2-1  |  AS-IS 기준 프로세스 모델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단방향 에스컬레이션과 병렬 정산이 입증된 E2E 기준 프로세스 모델</a:t>
            </a:r>
            <a:endParaRPr lang="en-US" sz="2400" dirty="0"/>
          </a:p>
        </p:txBody>
      </p:sp>
      <p:pic>
        <p:nvPicPr>
          <p:cNvPr id="4" name="Image 0" descr="접수·현장·정산 3개 국면의 E2E 수리 프로세스 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11277295" cy="345727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103193"/>
            <a:ext cx="3611880" cy="1251887"/>
          </a:xfrm>
          <a:prstGeom prst="roundRect">
            <a:avLst>
              <a:gd name="adj" fmla="val 584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5212921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01 접수 국면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514673"/>
            <a:ext cx="3246120" cy="79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FirstContact 1,000건 중 73건(7.3%)이 InformClientWrongPlace로 조기 이탈. 일정 조율 직후 InformClientSurvey가 0초에 자동 발송되어 국면 종료 앵커로 작동.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89908" y="5103193"/>
            <a:ext cx="3611880" cy="1251887"/>
          </a:xfrm>
          <a:prstGeom prst="roundRect">
            <a:avLst>
              <a:gd name="adj" fmla="val 584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472788" y="5212921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 현장 국면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472788" y="5514673"/>
            <a:ext cx="3246120" cy="79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수리는 즉시 → 사내 → 외주로만 전이, 외주 후 사내로의 역류 0건(0.0%). 수리 완료 시 시스템이 RepairReady(927건)를 자동 발행.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22615" y="5103193"/>
            <a:ext cx="3611880" cy="1251887"/>
          </a:xfrm>
          <a:prstGeom prst="roundRect">
            <a:avLst>
              <a:gd name="adj" fmla="val 584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05495" y="5212921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03 정산 국면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305495" y="5514673"/>
            <a:ext cx="3246120" cy="79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고객통보 선행 50.6%(469건) vs 재무전송 선행 49.2%(456건)의 대칭 병렬. TicketReady는 후행 완료와 99.8%(925건) 일치 → AND-Join.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출처: repair_cleaned.csv 프로세스 맵 (노드 수치는 이벤트 기준, 국면 머리말은 케이스 기준)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02 · 질문 2-2  |  거시 리드타임 분해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리드타임 105.9시간의 90.5%는 공정 간 단순 대기이고,</a:t>
            </a:r>
            <a:endParaRPr lang="en-US" sz="2400" dirty="0"/>
          </a:p>
          <a:p>
            <a:pPr eaLnBrk="0"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그 98.0%가 현장 국면에 집중된다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7223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508760"/>
            <a:ext cx="37792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61848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90.5%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1618488"/>
            <a:ext cx="163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공정 간 단순 대기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37744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95.8h / 105.9h (실작업 9.5%)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3017520"/>
            <a:ext cx="37792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0" y="312724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98.0%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3127248"/>
            <a:ext cx="163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현장 국면 집중도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88620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대기 93.9h / 95.8h · 정산 대기 0.0h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572000"/>
            <a:ext cx="36118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46817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01 접수 · 일정 조율 병목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9743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비동기 소통 대기 1.9h (접수의 90.4%)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321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전화·대면 479건: 지연 없음</a:t>
            </a:r>
            <a:endParaRPr lang="en-US" sz="120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웹·우편 448건: 비동기 회신 지체</a:t>
            </a:r>
            <a:endParaRPr lang="en-US" sz="120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교차 인계 123건 → 6.6배 (1.2h→7.9h)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89908" y="4572000"/>
            <a:ext cx="36118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72788" y="46817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02 현장 · 실사 방문 대기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472788" y="49743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76.8h = 현장 국면의 78.2% (압도적 1위)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472788" y="5321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일 135건 인입 vs 실사 69건 (51.1%)</a:t>
            </a:r>
            <a:endParaRPr lang="en-US" sz="120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매일 약 66건 적체</a:t>
            </a:r>
            <a:endParaRPr lang="en-US" sz="120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피크 시점 403건 대기열(WIP)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22615" y="4572000"/>
            <a:ext cx="36118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305495" y="46817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03 현장 · 수리 준비·하자 루프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05495" y="49743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착수 대기 15.9h (사내수리 30.5h)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305495" y="5321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즉시·외주 대기 0h, 사내수리만 지연</a:t>
            </a:r>
            <a:endParaRPr lang="en-US" sz="120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원인: 부품 조달·2차 일정 조율</a:t>
            </a:r>
            <a:endParaRPr lang="en-US" sz="120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하자 재방문 26건, 최대 10.1일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출처: analysis.sql 2절, slide08_macro_leadtime_breakdown · 정산 5.5h는 100% 시스템 자동 처리 (실작업·시스템 처리 합산)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zzleData Repair">
  <a:themeElements>
    <a:clrScheme name="PuzzleData Repair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EA580C"/>
      </a:accent1>
      <a:accent2>
        <a:srgbClr val="059669"/>
      </a:accent2>
      <a:accent3>
        <a:srgbClr val="DC2626"/>
      </a:accent3>
      <a:accent4>
        <a:srgbClr val="2563EB"/>
      </a:accent4>
      <a:accent5>
        <a:srgbClr val="64748B"/>
      </a:accent5>
      <a:accent6>
        <a:srgbClr val="94A3B8"/>
      </a:accent6>
      <a:hlink>
        <a:srgbClr val="2563EB"/>
      </a:hlink>
      <a:folHlink>
        <a:srgbClr val="64748B"/>
      </a:folHlink>
    </a:clrScheme>
    <a:fontScheme name="PuzzleData Repa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프로세스 진단 보고서 (Slide 01-08)</dc:title>
  <dc:subject>PptxGenJS Presentation</dc:subject>
  <dc:creator>PptxGenJS</dc:creator>
  <cp:lastModifiedBy>PptxGenJS</cp:lastModifiedBy>
  <cp:revision>1</cp:revision>
  <dcterms:created xsi:type="dcterms:W3CDTF">2026-10-26T02:43:09Z</dcterms:created>
  <dcterms:modified xsi:type="dcterms:W3CDTF">2026-10-26T02:43:09Z</dcterms:modified>
</cp:coreProperties>
</file>