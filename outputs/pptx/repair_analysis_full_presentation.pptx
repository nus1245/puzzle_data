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2926080" cy="4114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채용 과제 전형 최종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132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맑은 고딕"/>
              </a:rPr>
              <a:t>프로세스 마이닝 기반
공공임대주택 수리 프로세스
진단 및 운영 최적화 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BD5E1"/>
                </a:solidFill>
                <a:latin typeface="맑은 고딕"/>
              </a:rPr>
              <a:t>5대 무손실 전처리, 실사 대기 병목(76.8h) 원인 규명 및
3대 데이터 기반 TO-BE 전략 수립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맑은 고딕"/>
              </a:rPr>
              <a:t>퍼즐데이터 채용 전형   |   16:9 Widescreen Analysis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2004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481328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맑은 고딕"/>
              </a:rPr>
              <a:t>13,262행</a:t>
            </a:r>
          </a:p>
          <a:p>
            <a:r>
              <a:rPr sz="1300" b="1">
                <a:solidFill>
                  <a:srgbClr val="FFFFFF"/>
                </a:solidFill>
                <a:latin typeface="맑은 고딕"/>
              </a:rPr>
              <a:t>이벤트 로그 원천 무손실 보존</a:t>
            </a:r>
          </a:p>
          <a:p>
            <a:r>
              <a:rPr sz="1100" b="0">
                <a:solidFill>
                  <a:srgbClr val="94A3B8"/>
                </a:solidFill>
                <a:latin typeface="맑은 고딕"/>
              </a:rPr>
              <a:t>100% 무결성 복원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017520"/>
            <a:ext cx="32004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3127248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A580C"/>
                </a:solidFill>
                <a:latin typeface="맑은 고딕"/>
              </a:rPr>
              <a:t>90.5%</a:t>
            </a:r>
          </a:p>
          <a:p>
            <a:r>
              <a:rPr sz="1300" b="1">
                <a:solidFill>
                  <a:srgbClr val="FFFFFF"/>
                </a:solidFill>
                <a:latin typeface="맑은 고딕"/>
              </a:rPr>
              <a:t>리드타임 중 공정 간 단순 대기</a:t>
            </a:r>
          </a:p>
          <a:p>
            <a:r>
              <a:rPr sz="1100" b="0">
                <a:solidFill>
                  <a:srgbClr val="94A3B8"/>
                </a:solidFill>
                <a:latin typeface="맑은 고딕"/>
              </a:rPr>
              <a:t>현장 국면 집중 98.0%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663440"/>
            <a:ext cx="320040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4773168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4D399"/>
                </a:solidFill>
                <a:latin typeface="맑은 고딕"/>
              </a:rPr>
              <a:t>▼ 65.1%</a:t>
            </a:r>
          </a:p>
          <a:p>
            <a:r>
              <a:rPr sz="1300" b="1">
                <a:solidFill>
                  <a:srgbClr val="FFFFFF"/>
                </a:solidFill>
                <a:latin typeface="맑은 고딕"/>
              </a:rPr>
              <a:t>TO-BE 리드타임 획기적 단축</a:t>
            </a:r>
          </a:p>
          <a:p>
            <a:r>
              <a:rPr sz="1100" b="0">
                <a:solidFill>
                  <a:srgbClr val="94A3B8"/>
                </a:solidFill>
                <a:latin typeface="맑은 고딕"/>
              </a:rPr>
              <a:t>4.4일 ➔ 1.5일 (36.0h)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원천 데이터 전처리부터 심층 프로세스 분석, 실현 가능한 TO-BE 전략까지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00. 인트로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60604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맑은 고딕"/>
              </a:rPr>
              <a:t>PART 01</a:t>
            </a:r>
          </a:p>
          <a:p>
            <a:r>
              <a:rPr sz="1600" b="1">
                <a:solidFill>
                  <a:srgbClr val="0F172A"/>
                </a:solidFill>
                <a:latin typeface="맑은 고딕"/>
              </a:rPr>
              <a:t>데이터 진단
및 전처리</a:t>
            </a:r>
          </a:p>
          <a:p>
            <a:r>
              <a:rPr sz="1100" b="1">
                <a:solidFill>
                  <a:srgbClr val="64748B"/>
                </a:solidFill>
                <a:latin typeface="맑은 고딕"/>
              </a:rPr>
              <a:t>[질문 1 대응]</a:t>
            </a:r>
          </a:p>
          <a:p>
            <a:r>
              <a:rPr sz="1250" b="0">
                <a:solidFill>
                  <a:srgbClr val="334155"/>
                </a:solidFill>
                <a:latin typeface="맑은 고딕"/>
              </a:rPr>
              <a:t>•  이벤트 로그 구조 프로파일링</a:t>
            </a:r>
          </a:p>
          <a:p>
            <a:r>
              <a:rPr sz="1250" b="0">
                <a:solidFill>
                  <a:srgbClr val="334155"/>
                </a:solidFill>
                <a:latin typeface="맑은 고딕"/>
              </a:rPr>
              <a:t>•  5대 비정상 결측치 인과 복원</a:t>
            </a:r>
          </a:p>
          <a:p>
            <a:r>
              <a:rPr sz="1250" b="0">
                <a:solidFill>
                  <a:srgbClr val="334155"/>
                </a:solidFill>
                <a:latin typeface="맑은 고딕"/>
              </a:rPr>
              <a:t>•  100% 무손실 927건 코호트 확립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4136" y="1600200"/>
            <a:ext cx="260604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2736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A580C"/>
                </a:solidFill>
                <a:latin typeface="맑은 고딕"/>
              </a:rPr>
              <a:t>PART 02</a:t>
            </a:r>
          </a:p>
          <a:p>
            <a:r>
              <a:rPr sz="1600" b="1">
                <a:solidFill>
                  <a:srgbClr val="0F172A"/>
                </a:solidFill>
                <a:latin typeface="맑은 고딕"/>
              </a:rPr>
              <a:t>프로세스 마이닝
심층 분석</a:t>
            </a:r>
          </a:p>
          <a:p>
            <a:r>
              <a:rPr sz="1100" b="1">
                <a:solidFill>
                  <a:srgbClr val="64748B"/>
                </a:solidFill>
                <a:latin typeface="맑은 고딕"/>
              </a:rPr>
              <a:t>[질문 2 대응]</a:t>
            </a:r>
          </a:p>
          <a:p>
            <a:r>
              <a:rPr sz="1250" b="0">
                <a:solidFill>
                  <a:srgbClr val="334155"/>
                </a:solidFill>
                <a:latin typeface="맑은 고딕"/>
              </a:rPr>
              <a:t>•  E2E 기준 프로세스 모델 도출</a:t>
            </a:r>
          </a:p>
          <a:p>
            <a:r>
              <a:rPr sz="1250" b="0">
                <a:solidFill>
                  <a:srgbClr val="334155"/>
                </a:solidFill>
                <a:latin typeface="맑은 고딕"/>
              </a:rPr>
              <a:t>•  거시 리드타임 대기 90.5% 분해</a:t>
            </a:r>
          </a:p>
          <a:p>
            <a:r>
              <a:rPr sz="1250" b="0">
                <a:solidFill>
                  <a:srgbClr val="334155"/>
                </a:solidFill>
                <a:latin typeface="맑은 고딕"/>
              </a:rPr>
              <a:t>•  3대 병목(접수·현장·품질) 규명</a:t>
            </a:r>
          </a:p>
          <a:p>
            <a:r>
              <a:rPr sz="1250" b="0">
                <a:solidFill>
                  <a:srgbClr val="334155"/>
                </a:solidFill>
                <a:latin typeface="맑은 고딕"/>
              </a:rPr>
              <a:t>•  다중 OLS 회귀 영향 요인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600200"/>
            <a:ext cx="260604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59669"/>
                </a:solidFill>
                <a:latin typeface="맑은 고딕"/>
              </a:rPr>
              <a:t>PART 03</a:t>
            </a:r>
          </a:p>
          <a:p>
            <a:r>
              <a:rPr sz="1600" b="1">
                <a:solidFill>
                  <a:srgbClr val="0F172A"/>
                </a:solidFill>
                <a:latin typeface="맑은 고딕"/>
              </a:rPr>
              <a:t>프로세스
최적화 방안</a:t>
            </a:r>
          </a:p>
          <a:p>
            <a:r>
              <a:rPr sz="1100" b="1">
                <a:solidFill>
                  <a:srgbClr val="64748B"/>
                </a:solidFill>
                <a:latin typeface="맑은 고딕"/>
              </a:rPr>
              <a:t>[질문 3 대응]</a:t>
            </a:r>
          </a:p>
          <a:p>
            <a:r>
              <a:rPr sz="1250" b="0">
                <a:solidFill>
                  <a:srgbClr val="334155"/>
                </a:solidFill>
                <a:latin typeface="맑은 고딕"/>
              </a:rPr>
              <a:t>•  소통 통제: Web 자가 예약 체계</a:t>
            </a:r>
          </a:p>
          <a:p>
            <a:r>
              <a:rPr sz="1250" b="0">
                <a:solidFill>
                  <a:srgbClr val="334155"/>
                </a:solidFill>
                <a:latin typeface="맑은 고딕"/>
              </a:rPr>
              <a:t>•  대기 단축: 1회 방문 원샷 직행</a:t>
            </a:r>
          </a:p>
          <a:p>
            <a:r>
              <a:rPr sz="1250" b="0">
                <a:solidFill>
                  <a:srgbClr val="334155"/>
                </a:solidFill>
                <a:latin typeface="맑은 고딕"/>
              </a:rPr>
              <a:t>•  정량적 ROI: 리드타임 65% 감축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8" y="1600200"/>
            <a:ext cx="260604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53728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34155"/>
                </a:solidFill>
                <a:latin typeface="맑은 고딕"/>
              </a:rPr>
              <a:t>PART 04</a:t>
            </a:r>
          </a:p>
          <a:p>
            <a:r>
              <a:rPr sz="1600" b="1">
                <a:solidFill>
                  <a:srgbClr val="0F172A"/>
                </a:solidFill>
                <a:latin typeface="맑은 고딕"/>
              </a:rPr>
              <a:t>엔지니어링
신뢰성 보증</a:t>
            </a:r>
          </a:p>
          <a:p>
            <a:r>
              <a:rPr sz="1100" b="1">
                <a:solidFill>
                  <a:srgbClr val="64748B"/>
                </a:solidFill>
                <a:latin typeface="맑은 고딕"/>
              </a:rPr>
              <a:t>[품질 검증]</a:t>
            </a:r>
          </a:p>
          <a:p>
            <a:r>
              <a:rPr sz="1250" b="0">
                <a:solidFill>
                  <a:srgbClr val="334155"/>
                </a:solidFill>
                <a:latin typeface="맑은 고딕"/>
              </a:rPr>
              <a:t>•  MySQL 마스터 뷰 무결성 검증</a:t>
            </a:r>
          </a:p>
          <a:p>
            <a:r>
              <a:rPr sz="1250" b="0">
                <a:solidFill>
                  <a:srgbClr val="334155"/>
                </a:solidFill>
                <a:latin typeface="맑은 고딕"/>
              </a:rPr>
              <a:t>•  파이썬 통계 파이프라인 재현성</a:t>
            </a:r>
          </a:p>
          <a:p>
            <a:r>
              <a:rPr sz="1250" b="0">
                <a:solidFill>
                  <a:srgbClr val="334155"/>
                </a:solidFill>
                <a:latin typeface="맑은 고딕"/>
              </a:rPr>
              <a:t>•  질의응답 (Q&amp;A Defense)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보고서 구성 안내: 질문 1 (Slide 04~06) ➔ 질문 2 (Slide 07~13) ➔ 질문 3 (Slide 14~15) ➔ 신뢰성 (Slide 16)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현장의 '대기시간'을 줄이고, 이해관계자 간 '소통'을 통제하면 프로세스가 혁신된다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00. 인트로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1091672" cy="822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맑은 고딕"/>
              </a:rPr>
              <a:t>🎯 핵심 발견: 수리가 지연되는 근본 원인은 기사의 작업 속도가 아니라, 공정 간 '단순 대기(90.5%)'와 비실시간 접수의 '소통 공백(6.6배 지연)'이다.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3520440" cy="3794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3520440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154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맑은 고딕"/>
              </a:rPr>
              <a:t>01. 원천 진단  |  100% 무손실 복원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맑은 고딕"/>
              </a:rPr>
              <a:t>■  이벤트 로그 특성 반영
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    90% 결측은 후속 미발생 정상치 (무죄)
</a:t>
            </a:r>
          </a:p>
          <a:p>
            <a:r>
              <a:rPr sz="1250" b="1">
                <a:solidFill>
                  <a:srgbClr val="0F172A"/>
                </a:solidFill>
                <a:latin typeface="맑은 고딕"/>
              </a:rPr>
              <a:t>■  시스템 에러 특정
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    단 20행(0.15%)을 도메인 인과로 복원
</a:t>
            </a:r>
          </a:p>
          <a:p>
            <a:r>
              <a:rPr sz="1250" b="1">
                <a:solidFill>
                  <a:srgbClr val="0F172A"/>
                </a:solidFill>
                <a:latin typeface="맑은 고딕"/>
              </a:rPr>
              <a:t>■  분석 모수 확립
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    시간 역전 0건 &amp; 927건 클린 코호트 확립
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5" y="2514600"/>
            <a:ext cx="3520440" cy="3794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4255" y="2514600"/>
            <a:ext cx="3520440" cy="6858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5" y="2560320"/>
            <a:ext cx="3154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맑은 고딕"/>
              </a:rPr>
              <a:t>02. 병목 규명  |  대기 90.5% + 소통 지연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5" y="33375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맑은 고딕"/>
              </a:rPr>
              <a:t>■  접수 국면 소통 병목
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    Web/우편의 비동기 조율 지연 ➔ 6.6배 폭증
</a:t>
            </a:r>
          </a:p>
          <a:p>
            <a:r>
              <a:rPr sz="1250" b="1">
                <a:solidFill>
                  <a:srgbClr val="0F172A"/>
                </a:solidFill>
                <a:latin typeface="맑은 고딕"/>
              </a:rPr>
              <a:t>■  현장 국면 실사 적체
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    기사 CAPA(69건/일) 초과 ➔ 76.8h 대기
</a:t>
            </a:r>
          </a:p>
          <a:p>
            <a:r>
              <a:rPr sz="1250" b="1">
                <a:solidFill>
                  <a:srgbClr val="0F172A"/>
                </a:solidFill>
                <a:latin typeface="맑은 고딕"/>
              </a:rPr>
              <a:t>■  사내 수리 착수 지연
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    부품 조달 대기 30.5h + 하자 루프 10.1일
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1" y="2514600"/>
            <a:ext cx="3520440" cy="3794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9871" y="2514600"/>
            <a:ext cx="3520440" cy="6858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1" y="2560320"/>
            <a:ext cx="3154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맑은 고딕"/>
              </a:rPr>
              <a:t>03. 처방 및 효과  |  리드타임 ▼ 65% 감축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33375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맑은 고딕"/>
              </a:rPr>
              <a:t>■  Web 자가 일정 예약
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    비동기 핑퐁 차단 ➔ 교차 인계 0건화
</a:t>
            </a:r>
          </a:p>
          <a:p>
            <a:r>
              <a:rPr sz="1250" b="1">
                <a:solidFill>
                  <a:srgbClr val="0F172A"/>
                </a:solidFill>
                <a:latin typeface="맑은 고딕"/>
              </a:rPr>
              <a:t>■  1회 방문 원샷 직행
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    87.3% 사전 키팅 직행 ➔ 546시간 회수
</a:t>
            </a:r>
          </a:p>
          <a:p>
            <a:r>
              <a:rPr sz="1250" b="1">
                <a:solidFill>
                  <a:srgbClr val="0F172A"/>
                </a:solidFill>
                <a:latin typeface="맑은 고딕"/>
              </a:rPr>
              <a:t>■  외주 패스트트랙
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    1차 실패 시 즉시 이관 ➔ 1.5일로 단축
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통괄 요약: 분석 전체를 관통하는 핵심 메커니즘 도식화 (E2E Lead Time 105.9h ➔ 36.0h)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PART 01 · 질문 1  |  BEFORE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정상 결측은 100% 보존하고, 시스템 에러 20행(0.15%)만 복원 타겟으로 특정했다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01. 질문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383280" cy="4800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172A"/>
                </a:solidFill>
                <a:latin typeface="맑은 고딕"/>
              </a:rPr>
              <a:t>13,262행
</a:t>
            </a:r>
            <a:r>
              <a:rPr sz="1300" b="0">
                <a:solidFill>
                  <a:srgbClr val="64748B"/>
                </a:solidFill>
                <a:latin typeface="맑은 고딕"/>
              </a:rPr>
              <a:t>총 이벤트 로그 레코드
</a:t>
            </a:r>
            <a:r>
              <a:rPr sz="2200" b="1">
                <a:solidFill>
                  <a:srgbClr val="334155"/>
                </a:solidFill>
                <a:latin typeface="맑은 고딕"/>
              </a:rPr>
              <a:t>1,000건  ·  13개 속성
</a:t>
            </a:r>
            <a:r>
              <a:rPr sz="1300" b="0">
                <a:solidFill>
                  <a:srgbClr val="64748B"/>
                </a:solidFill>
                <a:latin typeface="맑은 고딕"/>
              </a:rPr>
              <a:t>수리 의뢰 케이스 및 데이터 컬럼
</a:t>
            </a:r>
            <a:r>
              <a:rPr sz="1300" b="1">
                <a:solidFill>
                  <a:srgbClr val="EA580C"/>
                </a:solidFill>
                <a:latin typeface="맑은 고딕"/>
              </a:rPr>
              <a:t>📌 이벤트 로그의 본질
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1건 1행의 정형 데이터가 아닌, 수리 진행 단계마다 타임스탬프와 함께 적재되는 동적 트랜잭션 로그 구조임.</a:t>
            </a:r>
          </a:p>
        </p:txBody>
      </p:sp>
      <p:pic>
        <p:nvPicPr>
          <p:cNvPr id="7" name="Picture 6" descr="EDA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508760"/>
            <a:ext cx="7479792" cy="31227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4572000"/>
            <a:ext cx="7479792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4663440"/>
            <a:ext cx="71140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59669"/>
                </a:solidFill>
                <a:latin typeface="맑은 고딕"/>
              </a:rPr>
              <a:t>🟩 정상 결측 (구조적 Null, 86.0% ~ 93.0%): </a:t>
            </a:r>
            <a:r>
              <a:rPr sz="1100" b="0">
                <a:solidFill>
                  <a:srgbClr val="334155"/>
                </a:solidFill>
                <a:latin typeface="맑은 고딕"/>
              </a:rPr>
              <a:t>RepairCode, EstimatedRepairTime 등 7개 속성 (12,335건) ➔ [무죄] 후속 수리 미발생 자연 결측으로 100% 보존
</a:t>
            </a:r>
          </a:p>
          <a:p>
            <a:r>
              <a:rPr sz="1150" b="1">
                <a:solidFill>
                  <a:srgbClr val="DC2626"/>
                </a:solidFill>
                <a:latin typeface="맑은 고딕"/>
              </a:rPr>
              <a:t>🟥 비정상 결측 (시스템 에러, 0.015% ~ 0.098%): </a:t>
            </a:r>
            <a:r>
              <a:rPr sz="1100" b="0">
                <a:solidFill>
                  <a:srgbClr val="334155"/>
                </a:solidFill>
                <a:latin typeface="맑은 고딕"/>
              </a:rPr>
              <a:t>taskID(2건), originator(2건), eventtype(5건), date/time(13건) ➔ [유죄] 18개 케이스, 단 20행만 정밀 복원 타겟 특정
</a:t>
            </a:r>
          </a:p>
          <a:p>
            <a:r>
              <a:rPr sz="1150" b="1">
                <a:solidFill>
                  <a:srgbClr val="64748B"/>
                </a:solidFill>
                <a:latin typeface="맑은 고딕"/>
              </a:rPr>
              <a:t>⬜ 진공 구간 (0.1% ~ 86.0%): </a:t>
            </a:r>
            <a:r>
              <a:rPr sz="1100" b="0">
                <a:solidFill>
                  <a:srgbClr val="334155"/>
                </a:solidFill>
                <a:latin typeface="맑은 고딕"/>
              </a:rPr>
              <a:t>결측 비율이 중간 구간에 위치한 컬럼 0개 ➔ 완벽한 양극단 이봉분포로 정상/비정상 기준의 객관성 입증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출처: repair2.csv 원천 프로파일링 (EDA-01) · 13개 속성 전수 결측률 조사 결과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PART 01 · 질문 1  |  CASE 1 ~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행 삭제나 단순 대체 없이, 도메인 인과 규칙으로 20행을 100% 무손실 복원했다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01. 질문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1091672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274320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CASE 1  </a:t>
            </a:r>
            <a:r>
              <a:rPr sz="1300" b="1">
                <a:solidFill>
                  <a:srgbClr val="0F172A"/>
                </a:solidFill>
                <a:latin typeface="맑은 고딕"/>
              </a:rPr>
              <a:t>taskID (작업명)
</a:t>
            </a:r>
            <a:r>
              <a:rPr sz="1050" b="1">
                <a:solidFill>
                  <a:srgbClr val="DC2626"/>
                </a:solidFill>
                <a:latin typeface="맑은 고딕"/>
              </a:rPr>
              <a:t>결측 2건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581912"/>
            <a:ext cx="3931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34155"/>
                </a:solidFill>
                <a:latin typeface="맑은 고딕"/>
              </a:rPr>
              <a:t>🔍 도메인 단서: </a:t>
            </a:r>
            <a:r>
              <a:rPr sz="1100" b="0">
                <a:solidFill>
                  <a:srgbClr val="334155"/>
                </a:solidFill>
                <a:latin typeface="맑은 고딕"/>
              </a:rPr>
              <a:t>contact 속성은 FirstContact에만 기록되는 고유 속성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581912"/>
            <a:ext cx="3931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59669"/>
                </a:solidFill>
                <a:latin typeface="맑은 고딕"/>
              </a:rPr>
              <a:t>➔ 복원 판정: </a:t>
            </a:r>
            <a:r>
              <a:rPr sz="1100" b="1">
                <a:solidFill>
                  <a:srgbClr val="0F172A"/>
                </a:solidFill>
                <a:latin typeface="맑은 고딕"/>
              </a:rPr>
              <a:t>FirstContact · InformClientSurvey 확정 복원 ➔ 누락 0건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11091672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04872"/>
            <a:ext cx="274320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CASE 2  </a:t>
            </a:r>
            <a:r>
              <a:rPr sz="1300" b="1">
                <a:solidFill>
                  <a:srgbClr val="0F172A"/>
                </a:solidFill>
                <a:latin typeface="맑은 고딕"/>
              </a:rPr>
              <a:t>originator (담당자)
</a:t>
            </a:r>
            <a:r>
              <a:rPr sz="1050" b="1">
                <a:solidFill>
                  <a:srgbClr val="DC2626"/>
                </a:solidFill>
                <a:latin typeface="맑은 고딕"/>
              </a:rPr>
              <a:t>결측 2건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04872"/>
            <a:ext cx="3931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34155"/>
                </a:solidFill>
                <a:latin typeface="맑은 고딕"/>
              </a:rPr>
              <a:t>🔍 도메인 단서: </a:t>
            </a:r>
            <a:r>
              <a:rPr sz="1100" b="0">
                <a:solidFill>
                  <a:srgbClr val="334155"/>
                </a:solidFill>
                <a:latin typeface="맑은 고딕"/>
              </a:rPr>
              <a:t>동일 작업의 시작(start)-완료(complete) 담당자 100% 일치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404872"/>
            <a:ext cx="3931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59669"/>
                </a:solidFill>
                <a:latin typeface="맑은 고딕"/>
              </a:rPr>
              <a:t>➔ 복원 판정: </a:t>
            </a:r>
            <a:r>
              <a:rPr sz="1100" b="1">
                <a:solidFill>
                  <a:srgbClr val="0F172A"/>
                </a:solidFill>
                <a:latin typeface="맑은 고딕"/>
              </a:rPr>
              <a:t>짝 이벤트 담당자(Anne, Paul) 상호 승계 복원 ➔ 누락 0건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54679"/>
            <a:ext cx="11091672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27831"/>
            <a:ext cx="274320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CASE 3  </a:t>
            </a:r>
            <a:r>
              <a:rPr sz="1300" b="1">
                <a:solidFill>
                  <a:srgbClr val="0F172A"/>
                </a:solidFill>
                <a:latin typeface="맑은 고딕"/>
              </a:rPr>
              <a:t>eventtype (상태)
</a:t>
            </a:r>
            <a:r>
              <a:rPr sz="1050" b="1">
                <a:solidFill>
                  <a:srgbClr val="DC2626"/>
                </a:solidFill>
                <a:latin typeface="맑은 고딕"/>
              </a:rPr>
              <a:t>결측 5건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27831"/>
            <a:ext cx="3931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34155"/>
                </a:solidFill>
                <a:latin typeface="맑은 고딕"/>
              </a:rPr>
              <a:t>🔍 도메인 단서: </a:t>
            </a:r>
            <a:r>
              <a:rPr sz="1100" b="0">
                <a:solidFill>
                  <a:srgbClr val="334155"/>
                </a:solidFill>
                <a:latin typeface="맑은 고딕"/>
              </a:rPr>
              <a:t>기간 작업은 start➔complete 1:1 짝, 마일스톤은 complete 단독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227831"/>
            <a:ext cx="3931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59669"/>
                </a:solidFill>
                <a:latin typeface="맑은 고딕"/>
              </a:rPr>
              <a:t>➔ 복원 판정: </a:t>
            </a:r>
            <a:r>
              <a:rPr sz="1100" b="1">
                <a:solidFill>
                  <a:srgbClr val="0F172A"/>
                </a:solidFill>
                <a:latin typeface="맑은 고딕"/>
              </a:rPr>
              <a:t>1:1 페어(3건) 및 마일스톤(2건) 100% 복원 ➔ 누락 0건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77639"/>
            <a:ext cx="11091672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50791"/>
            <a:ext cx="274320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CASE 4  </a:t>
            </a:r>
            <a:r>
              <a:rPr sz="1300" b="1">
                <a:solidFill>
                  <a:srgbClr val="0F172A"/>
                </a:solidFill>
                <a:latin typeface="맑은 고딕"/>
              </a:rPr>
              <a:t>date (일자 이상치)
</a:t>
            </a:r>
            <a:r>
              <a:rPr sz="1050" b="1">
                <a:solidFill>
                  <a:srgbClr val="DC2626"/>
                </a:solidFill>
                <a:latin typeface="맑은 고딕"/>
              </a:rPr>
              <a:t>총 879건 (결측13+오기866)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050791"/>
            <a:ext cx="3931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34155"/>
                </a:solidFill>
                <a:latin typeface="맑은 고딕"/>
              </a:rPr>
              <a:t>🔍 도메인 단서: </a:t>
            </a:r>
            <a:r>
              <a:rPr sz="1100" b="0">
                <a:solidFill>
                  <a:srgbClr val="334155"/>
                </a:solidFill>
                <a:latin typeface="맑은 고딕"/>
              </a:rPr>
              <a:t>1905년 리셋 및 2020~2022년 미래 연도 오기입. 선후행 순서 구간 제약 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050791"/>
            <a:ext cx="3931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59669"/>
                </a:solidFill>
                <a:latin typeface="맑은 고딕"/>
              </a:rPr>
              <a:t>➔ 복원 판정: </a:t>
            </a:r>
            <a:r>
              <a:rPr sz="1100" b="1">
                <a:solidFill>
                  <a:srgbClr val="0F172A"/>
                </a:solidFill>
                <a:latin typeface="맑은 고딕"/>
              </a:rPr>
              <a:t>단일 후보 640건 확정 + 앵커 최근접 219건 매핑 ➔ 1970년 통일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00600"/>
            <a:ext cx="11091672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73752"/>
            <a:ext cx="274320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CASE 5  </a:t>
            </a:r>
            <a:r>
              <a:rPr sz="1300" b="1">
                <a:solidFill>
                  <a:srgbClr val="0F172A"/>
                </a:solidFill>
                <a:latin typeface="맑은 고딕"/>
              </a:rPr>
              <a:t>time (시각 결측·더미)
</a:t>
            </a:r>
            <a:r>
              <a:rPr sz="1050" b="1">
                <a:solidFill>
                  <a:srgbClr val="DC2626"/>
                </a:solidFill>
                <a:latin typeface="맑은 고딕"/>
              </a:rPr>
              <a:t>총 28건 (결측13+더미15)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873752"/>
            <a:ext cx="3931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34155"/>
                </a:solidFill>
                <a:latin typeface="맑은 고딕"/>
              </a:rPr>
              <a:t>🔍 도메인 단서: </a:t>
            </a:r>
            <a:r>
              <a:rPr sz="1100" b="0">
                <a:solidFill>
                  <a:srgbClr val="334155"/>
                </a:solidFill>
                <a:latin typeface="맑은 고딕"/>
              </a:rPr>
              <a:t>표본 34% 축소 한계 극복 ➔ 접수 구간 정상 모수 751건(75.1%) 확보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873752"/>
            <a:ext cx="3931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59669"/>
                </a:solidFill>
                <a:latin typeface="맑은 고딕"/>
              </a:rPr>
              <a:t>➔ 복원 판정: </a:t>
            </a:r>
            <a:r>
              <a:rPr sz="1100" b="1">
                <a:solidFill>
                  <a:srgbClr val="0F172A"/>
                </a:solidFill>
                <a:latin typeface="맑은 고딕"/>
              </a:rPr>
              <a:t>자정 7건 보존 + 대표값(중앙값 4.0분) 앵커 역산 ➔ 시간 역전 0건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715000"/>
            <a:ext cx="3520440" cy="62179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742432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59669"/>
                </a:solidFill>
                <a:latin typeface="맑은 고딕"/>
              </a:rPr>
              <a:t>✓ 데이터 100% 무손실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임의 행 삭제 0건 (13,262행 전수 보존)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4255" y="5715000"/>
            <a:ext cx="3520440" cy="62179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1415" y="5742432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59669"/>
                </a:solidFill>
                <a:latin typeface="맑은 고딕"/>
              </a:rPr>
              <a:t>✓ 통계적 강건성 입증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표본 34% 축소 한계 극복 (751건 정상 모수 활용)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1" y="5715000"/>
            <a:ext cx="3520440" cy="62179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1" y="5742432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59669"/>
                </a:solidFill>
                <a:latin typeface="맑은 고딕"/>
              </a:rPr>
              <a:t>✓ 인과 무결성 보증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공정 간 시간 역전 0건 달성 &amp; 927건 코호트 확립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출처: analysis.ipynb Cell 18, 20, 51, 53, 77, 81 복원 파이프라인 무결성 검증 결과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PART 01 · 질문 1  |  AFTER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시간 역전 0건을 입증했고, 오접수 73건을 격리해 927건 클린 코호트를 확립했다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01. 질문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4864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맑은 고딕"/>
              </a:rPr>
              <a:t>📊 Before vs After 데이터 무결성 검증표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57400"/>
          <a:ext cx="51206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201168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검증 항목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Before (원천)</a:t>
                      </a:r>
                    </a:p>
                  </a:txBody>
                  <a:tcPr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After (정제)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맑은 고딕"/>
                        </a:rPr>
                        <a:t>총 이벤트 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4155"/>
                          </a:solidFill>
                          <a:latin typeface="맑은 고딕"/>
                        </a:rPr>
                        <a:t>13,262행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59669"/>
                          </a:solidFill>
                          <a:latin typeface="맑은 고딕"/>
                        </a:rPr>
                        <a:t>13,262행 (100% 보존)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맑은 고딕"/>
                        </a:rPr>
                        <a:t>필수 속성 결측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C2626"/>
                          </a:solidFill>
                          <a:latin typeface="맑은 고딕"/>
                        </a:rPr>
                        <a:t>20건 누락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59669"/>
                          </a:solidFill>
                          <a:latin typeface="맑은 고딕"/>
                        </a:rPr>
                        <a:t>0건 (100% 복원)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맑은 고딕"/>
                        </a:rPr>
                        <a:t>일자 연도 이상치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C2626"/>
                          </a:solidFill>
                          <a:latin typeface="맑은 고딕"/>
                        </a:rPr>
                        <a:t>866건 오기입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59669"/>
                          </a:solidFill>
                          <a:latin typeface="맑은 고딕"/>
                        </a:rPr>
                        <a:t>0건 (1970년 통일)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맑은 고딕"/>
                        </a:rPr>
                        <a:t>프로세스 시간 역전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C2626"/>
                          </a:solidFill>
                          <a:latin typeface="맑은 고딕"/>
                        </a:rPr>
                        <a:t>음수 소요시간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59669"/>
                          </a:solidFill>
                          <a:latin typeface="맑은 고딕"/>
                        </a:rPr>
                        <a:t>0건 (3,711 페어 양수)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532120"/>
            <a:ext cx="512064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59669"/>
                </a:solidFill>
                <a:latin typeface="맑은 고딕"/>
              </a:rPr>
              <a:t>✓ 전처리 결과: 필수 결측 20건 ➔ 0건, 임의 행 삭제 0건 (완전 무결)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422392" cy="4800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691640"/>
            <a:ext cx="11887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1188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맑은 고딕"/>
              </a:rPr>
              <a:t>1,000건
</a:t>
            </a:r>
            <a:r>
              <a:rPr sz="1000" b="0">
                <a:solidFill>
                  <a:srgbClr val="64748B"/>
                </a:solidFill>
                <a:latin typeface="맑은 고딕"/>
              </a:rPr>
              <a:t>수리 케이스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44383" y="1691640"/>
            <a:ext cx="11887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4383" y="1737360"/>
            <a:ext cx="1188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맑은 고딕"/>
              </a:rPr>
              <a:t>890채
</a:t>
            </a:r>
            <a:r>
              <a:rPr sz="1000" b="0">
                <a:solidFill>
                  <a:srgbClr val="64748B"/>
                </a:solidFill>
                <a:latin typeface="맑은 고딕"/>
              </a:rPr>
              <a:t>고유 주택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87968" y="1691640"/>
            <a:ext cx="11887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7968" y="1737360"/>
            <a:ext cx="1188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맑은 고딕"/>
              </a:rPr>
              <a:t>13개
</a:t>
            </a:r>
            <a:r>
              <a:rPr sz="1000" b="0">
                <a:solidFill>
                  <a:srgbClr val="64748B"/>
                </a:solidFill>
                <a:latin typeface="맑은 고딕"/>
              </a:rPr>
              <a:t>데이터 속성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31552" y="1691640"/>
            <a:ext cx="11887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31552" y="1737360"/>
            <a:ext cx="1188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맑은 고딕"/>
              </a:rPr>
              <a:t>14행
</a:t>
            </a:r>
            <a:r>
              <a:rPr sz="1000" b="0">
                <a:solidFill>
                  <a:srgbClr val="64748B"/>
                </a:solidFill>
                <a:latin typeface="맑은 고딕"/>
              </a:rPr>
              <a:t>케이스당 중앙값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651760"/>
            <a:ext cx="505663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69748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맑은 고딕"/>
              </a:rPr>
              <a:t>🟩 정상 수리 완결 코호트: 927건 (92.7%)
</a:t>
            </a:r>
            <a:r>
              <a:rPr sz="1150" b="0">
                <a:solidFill>
                  <a:srgbClr val="334155"/>
                </a:solidFill>
                <a:latin typeface="맑은 고딕"/>
              </a:rPr>
              <a:t>현장 실사 및 수리가 정상 완결된 순수 분석 모수 ➔ [질문 2 프로세스 분석 대상]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886200"/>
            <a:ext cx="50566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319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64748B"/>
                </a:solidFill>
                <a:latin typeface="맑은 고딕"/>
              </a:rPr>
              <a:t>⬜ 오접수 조기 종결: 73건 (7.3%)
</a:t>
            </a:r>
            <a:r>
              <a:rPr sz="1100" b="0">
                <a:solidFill>
                  <a:srgbClr val="334155"/>
                </a:solidFill>
                <a:latin typeface="맑은 고딕"/>
              </a:rPr>
              <a:t>타 기관 관할 주택(InformClientWrongPlace) ➔ 분석 왜곡 방지를 위해 격리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83480"/>
            <a:ext cx="50566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34155"/>
                </a:solidFill>
                <a:latin typeface="맑은 고딕"/>
              </a:rPr>
              <a:t>📌 927건 코호트의 접수 채널 분포 (실측치)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303520"/>
            <a:ext cx="121615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349240"/>
            <a:ext cx="1216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맑은 고딕"/>
              </a:rPr>
              <a:t>Phone
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251건 (27.1%)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71816" y="5303520"/>
            <a:ext cx="121615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71816" y="5349240"/>
            <a:ext cx="1216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맑은 고딕"/>
              </a:rPr>
              <a:t>Web
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241건 (26.0%)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42832" y="5303520"/>
            <a:ext cx="121615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2832" y="5349240"/>
            <a:ext cx="1216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맑은 고딕"/>
              </a:rPr>
              <a:t>Personal
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228건 (24.6%)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13848" y="5303520"/>
            <a:ext cx="121615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13848" y="5349240"/>
            <a:ext cx="1216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맑은 고딕"/>
              </a:rPr>
              <a:t>Letter
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207건 (22.3%)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출처: repair_cleaned.csv (13,262행) 직접 프로파일링 결과 · 순수 분석 코호트 927건 확립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PART 02 · 질문 2-1  |  AS-IS 기준 프로세스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단방향 에스컬레이션과 병렬 정산이 입증된 E2E 기준 프로세스 모델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02. 질문 2</a:t>
            </a:r>
          </a:p>
        </p:txBody>
      </p:sp>
      <p:pic>
        <p:nvPicPr>
          <p:cNvPr id="5" name="Picture 4" descr="repair_proces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091672" cy="3017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663440"/>
            <a:ext cx="3520440" cy="1691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맑은 고딕"/>
              </a:rPr>
              <a:t>01 접수 국면 추출 근거
</a:t>
            </a:r>
          </a:p>
          <a:p>
            <a:r>
              <a:rPr sz="1050" b="1">
                <a:solidFill>
                  <a:srgbClr val="0F172A"/>
                </a:solidFill>
                <a:latin typeface="맑은 고딕"/>
              </a:rPr>
              <a:t>• 조기 이탈 분기: 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FirstContact 1,000건 중 73건(7.3%)이 InformClientWrongPlace로 즉시 종결</a:t>
            </a:r>
          </a:p>
          <a:p>
            <a:r>
              <a:rPr sz="1050" b="1">
                <a:solidFill>
                  <a:srgbClr val="0F172A"/>
                </a:solidFill>
                <a:latin typeface="맑은 고딕"/>
              </a:rPr>
              <a:t>• 접수 종료 앵커: 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일정 조율 직후 InformClientSurvey(System)가 0초에 자동 발송되어 국면 확정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5" y="4663440"/>
            <a:ext cx="3520440" cy="1691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5" y="475488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EA580C"/>
                </a:solidFill>
                <a:latin typeface="맑은 고딕"/>
              </a:rPr>
              <a:t>02 현장 국면 추출 근거 (단방향)
</a:t>
            </a:r>
          </a:p>
          <a:p>
            <a:r>
              <a:rPr sz="1050" b="1">
                <a:solidFill>
                  <a:srgbClr val="0F172A"/>
                </a:solidFill>
                <a:latin typeface="맑은 고딕"/>
              </a:rPr>
              <a:t>• 단방향 에스컬레이션: 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수리는 즉시 ➔ 사내 ➔ 외주로만 전이되며, 외주 후 사내 역류는 0건 (0.0%)</a:t>
            </a:r>
          </a:p>
          <a:p>
            <a:r>
              <a:rPr sz="1050" b="1">
                <a:solidFill>
                  <a:srgbClr val="0F172A"/>
                </a:solidFill>
                <a:latin typeface="맑은 고딕"/>
              </a:rPr>
              <a:t>• 수리 완료 앵커: 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기사의 완료 커밋 즉시 시스템이 RepairReady(927건)를 자동 발행하여 정산 전환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1" y="4663440"/>
            <a:ext cx="3520440" cy="1691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1" y="475488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59669"/>
                </a:solidFill>
                <a:latin typeface="맑은 고딕"/>
              </a:rPr>
              <a:t>03 정산 국면 추출 근거 (AND-Join)
</a:t>
            </a:r>
          </a:p>
          <a:p>
            <a:r>
              <a:rPr sz="1050" b="1">
                <a:solidFill>
                  <a:srgbClr val="0F172A"/>
                </a:solidFill>
                <a:latin typeface="맑은 고딕"/>
              </a:rPr>
              <a:t>• 대칭 병렬 선행비: 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고객통보 선행 50.6%(469건) vs 재무전송 선행 49.2%(456건)로 완벽한 50:50 대칭</a:t>
            </a:r>
          </a:p>
          <a:p>
            <a:r>
              <a:rPr sz="1050" b="1">
                <a:solidFill>
                  <a:srgbClr val="0F172A"/>
                </a:solidFill>
                <a:latin typeface="맑은 고딕"/>
              </a:rPr>
              <a:t>• 자동 마감 일치율: 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TicketReady는 두 작업 선행 0건, 후행 작업 완료 시각과 99.8%(925건) 일치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출처: repair_cleaned.csv 프로세스 마이닝 모델 (노드 수치: 이벤트 발생 건수, 엣지: 전이 건수)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PART 02 · 질문 2-2  |  거시 리드타임 분해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리드타임 105.9시간의 90.5%는 공정 간 단순 대기이며, 98.0%가 현장 국면에 집중된다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02. 질문 2</a:t>
            </a:r>
          </a:p>
        </p:txBody>
      </p:sp>
      <p:pic>
        <p:nvPicPr>
          <p:cNvPr id="5" name="Picture 4" descr="slide08_macro_leadtim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7132320" cy="3017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508760"/>
            <a:ext cx="3776472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618488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A580C"/>
                </a:solidFill>
                <a:latin typeface="맑은 고딕"/>
              </a:rPr>
              <a:t>90.5%  </a:t>
            </a:r>
            <a:r>
              <a:rPr sz="1400" b="1">
                <a:solidFill>
                  <a:srgbClr val="0F172A"/>
                </a:solidFill>
                <a:latin typeface="맑은 고딕"/>
              </a:rPr>
              <a:t>공정 간 단순 대기
</a:t>
            </a:r>
          </a:p>
          <a:p>
            <a:r>
              <a:rPr sz="1150" b="0">
                <a:solidFill>
                  <a:srgbClr val="334155"/>
                </a:solidFill>
                <a:latin typeface="맑은 고딕"/>
              </a:rPr>
              <a:t>95.8시간 / 총 105.9시간 (실작업 9.5%)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063239"/>
            <a:ext cx="3776472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3172967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C2626"/>
                </a:solidFill>
                <a:latin typeface="맑은 고딕"/>
              </a:rPr>
              <a:t>98.0%  </a:t>
            </a:r>
            <a:r>
              <a:rPr sz="1400" b="1">
                <a:solidFill>
                  <a:srgbClr val="0F172A"/>
                </a:solidFill>
                <a:latin typeface="맑은 고딕"/>
              </a:rPr>
              <a:t>대기의 현장 국면 집중도
</a:t>
            </a:r>
          </a:p>
          <a:p>
            <a:r>
              <a:rPr sz="1150" b="0">
                <a:solidFill>
                  <a:srgbClr val="334155"/>
                </a:solidFill>
                <a:latin typeface="맑은 고딕"/>
              </a:rPr>
              <a:t>현장 대기 93.9h / 전체 대기 95.8h (정산 대기 0h)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709160"/>
            <a:ext cx="3520440" cy="1691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맑은 고딕"/>
              </a:rPr>
              <a:t>01 접수 국면 일정 조율 병목
</a:t>
            </a:r>
            <a:r>
              <a:rPr sz="1100" b="1">
                <a:solidFill>
                  <a:srgbClr val="0F172A"/>
                </a:solidFill>
                <a:latin typeface="맑은 고딕"/>
              </a:rPr>
              <a:t>• 비동기 소통 대기 1.9h (접수의 90.4%)
</a:t>
            </a:r>
          </a:p>
          <a:p>
            <a:r>
              <a:rPr sz="1050" b="0">
                <a:solidFill>
                  <a:srgbClr val="334155"/>
                </a:solidFill>
                <a:latin typeface="맑은 고딕"/>
              </a:rPr>
              <a:t>- 전화·대면(479건): 지연율 0%</a:t>
            </a:r>
          </a:p>
          <a:p>
            <a:r>
              <a:rPr sz="1050" b="0">
                <a:solidFill>
                  <a:srgbClr val="334155"/>
                </a:solidFill>
                <a:latin typeface="맑은 고딕"/>
              </a:rPr>
              <a:t>- 웹·우편(448건): 비동기 핑퐁 발생</a:t>
            </a:r>
          </a:p>
          <a:p>
            <a:r>
              <a:rPr sz="1050" b="0">
                <a:solidFill>
                  <a:srgbClr val="334155"/>
                </a:solidFill>
                <a:latin typeface="맑은 고딕"/>
              </a:rPr>
              <a:t>- 교차 인계 123건 ➔ 6.6배 폭증 (Slide 09)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5" y="4709160"/>
            <a:ext cx="3520440" cy="1691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5" y="475488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맑은 고딕"/>
              </a:rPr>
              <a:t>02 현장 국면 실사 방문 대기 (1위)
</a:t>
            </a:r>
            <a:r>
              <a:rPr sz="1100" b="1">
                <a:solidFill>
                  <a:srgbClr val="EA580C"/>
                </a:solidFill>
                <a:latin typeface="맑은 고딕"/>
              </a:rPr>
              <a:t>• 76.8h = 현장 국면의 78.2% 독점 🚨
</a:t>
            </a:r>
          </a:p>
          <a:p>
            <a:r>
              <a:rPr sz="1050" b="0">
                <a:solidFill>
                  <a:srgbClr val="334155"/>
                </a:solidFill>
                <a:latin typeface="맑은 고딕"/>
              </a:rPr>
              <a:t>- 일 135건 인입 vs 기사 실사 69건 (51.1%)</a:t>
            </a:r>
          </a:p>
          <a:p>
            <a:r>
              <a:rPr sz="1050" b="0">
                <a:solidFill>
                  <a:srgbClr val="334155"/>
                </a:solidFill>
                <a:latin typeface="맑은 고딕"/>
              </a:rPr>
              <a:t>- 매일 약 66건 적체 누적</a:t>
            </a:r>
          </a:p>
          <a:p>
            <a:r>
              <a:rPr sz="1050" b="0">
                <a:solidFill>
                  <a:srgbClr val="334155"/>
                </a:solidFill>
                <a:latin typeface="맑은 고딕"/>
              </a:rPr>
              <a:t>- 피크 시점 403건 대기열(WIP) 폭증 (Slide 10)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1" y="4709160"/>
            <a:ext cx="3520440" cy="1691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1" y="4754880"/>
            <a:ext cx="3154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맑은 고딕"/>
              </a:rPr>
              <a:t>03 현장 국면 수리 착수·하자 루프
</a:t>
            </a:r>
            <a:r>
              <a:rPr sz="1100" b="1">
                <a:solidFill>
                  <a:srgbClr val="DC2626"/>
                </a:solidFill>
                <a:latin typeface="맑은 고딕"/>
              </a:rPr>
              <a:t>• 착수 대기 15.9h (사내수리 30.5h)
</a:t>
            </a:r>
          </a:p>
          <a:p>
            <a:r>
              <a:rPr sz="1050" b="0">
                <a:solidFill>
                  <a:srgbClr val="334155"/>
                </a:solidFill>
                <a:latin typeface="맑은 고딕"/>
              </a:rPr>
              <a:t>- 즉시·외주는 대기 0h, 사내수리만 지연</a:t>
            </a:r>
          </a:p>
          <a:p>
            <a:r>
              <a:rPr sz="1050" b="0">
                <a:solidFill>
                  <a:srgbClr val="334155"/>
                </a:solidFill>
                <a:latin typeface="맑은 고딕"/>
              </a:rPr>
              <a:t>- 원인: 부품 조달 및 재방문 공백</a:t>
            </a:r>
          </a:p>
          <a:p>
            <a:r>
              <a:rPr sz="1050" b="0">
                <a:solidFill>
                  <a:srgbClr val="334155"/>
                </a:solidFill>
                <a:latin typeface="맑은 고딕"/>
              </a:rPr>
              <a:t>- 하자 재방문 루프 26건, 최대 10.1일 (Slide 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출처: analysis.sql 2절 리드타임 분해 집계표 · E2E Total 105.9h (실작업 10.1h, 단순 대기 95.8h)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PART 02 · 질문 2-2  |  제1대 병목: 접수 국면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접수 지연은 일감 과부하가 아닌 '교차 인계(123건)'에서 기인하며, 소요시간을 6.6배 폭증시킨다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02. 질문 2</a:t>
            </a:r>
          </a:p>
        </p:txBody>
      </p:sp>
      <p:pic>
        <p:nvPicPr>
          <p:cNvPr id="5" name="Picture 4" descr="slide09_reception_bottleneck_3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91672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754880"/>
            <a:ext cx="352044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006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맑은 고딕"/>
              </a:rPr>
              <a:t>가설 기각: 물량 부하 무관
</a:t>
            </a:r>
            <a:r>
              <a:rPr sz="1100" b="1">
                <a:solidFill>
                  <a:srgbClr val="64748B"/>
                </a:solidFill>
                <a:latin typeface="맑은 고딕"/>
              </a:rPr>
              <a:t>• r ≈ 0.08 상관 없음
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일별 접수 인입량(일 10~40건)과 접수 소요시간의 상관계수는 0.08로 거의 무관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접수 창구의 물리적 처리 용량(CAPA) 부족 가설 완전 기각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5" y="4754880"/>
            <a:ext cx="352044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5" y="48006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맑은 고딕"/>
              </a:rPr>
              <a:t>핵심 동인: 교차 인계 패널티
</a:t>
            </a:r>
            <a:r>
              <a:rPr sz="1100" b="1">
                <a:solidFill>
                  <a:srgbClr val="DC2626"/>
                </a:solidFill>
                <a:latin typeface="맑은 고딕"/>
              </a:rPr>
              <a:t>• 1.2h ➔ 7.9h (6.6배 지연 🚨)
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단독 처리군 (804건, 86.7%): 평균 1.20시간 (중앙값 8.0분) 즉시 완료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교차 인계군 (123건, 13.3%): 평균 7.87시간 (중앙값 5.6시간)으로 6.6배 폭증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상담원 교체 시 컨텍스트 전환 및 이력 재확인 비용 발생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1" y="4754880"/>
            <a:ext cx="352044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1" y="48006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맑은 고딕"/>
              </a:rPr>
              <a:t>반전 통찰: Web 채널의 잠재력
</a:t>
            </a:r>
            <a:r>
              <a:rPr sz="1100" b="1">
                <a:solidFill>
                  <a:srgbClr val="059669"/>
                </a:solidFill>
                <a:latin typeface="맑은 고딕"/>
              </a:rPr>
              <a:t>• Web 즉시완료 시 6.8분 최속 ⭐
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실시간 채널(전화/대면): 15분 이내 완료율 100% (인계 0건)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인계 123건 전수(100%)가 비실시간 채널(Web·Letter)에서만 발생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그러나 서류 완비 시 Web 채널은 6.8분으로 전화(8.2분)보다 오히려 최속!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출처: slide09_reception_bottleneck_3panel · 927건 접수 트랜잭션 및 인계 전수 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PART 02 · 질문 2-2  |  제2대 병목: 현장 국면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대기시간의 78.2%가 쏠린 '실사 대기(76.8h)'는 기사 CAPA 한계로 누적된 403건의 대기열(WIP)이 원인이다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02. 질문 2</a:t>
            </a:r>
          </a:p>
        </p:txBody>
      </p:sp>
      <p:pic>
        <p:nvPicPr>
          <p:cNvPr id="5" name="Picture 4" descr="slide10_field_bottleneck_w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91672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754880"/>
            <a:ext cx="352044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006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맑은 고딕"/>
              </a:rPr>
              <a:t>일일 파이프라인 불균형
</a:t>
            </a:r>
            <a:r>
              <a:rPr sz="1100" b="1">
                <a:solidFill>
                  <a:srgbClr val="EA580C"/>
                </a:solidFill>
                <a:latin typeface="맑은 고딕"/>
              </a:rPr>
              <a:t>• 소화율 51.1% (일 66건 적체)
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일일 접수 이관량: 일평균 135건 (120~141건)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현장 기사 11인의 실사 처리량: 일평균 69.2건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공급 능력이 수요의 51%에 불과하여 매일 약 66건씩 미처리 적체 누적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5" y="4754880"/>
            <a:ext cx="352044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5" y="48006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맑은 고딕"/>
              </a:rPr>
              <a:t>대기열(WIP) 20배 폭증
</a:t>
            </a:r>
            <a:r>
              <a:rPr sz="1100" b="1">
                <a:solidFill>
                  <a:srgbClr val="DC2626"/>
                </a:solidFill>
                <a:latin typeface="맑은 고딕"/>
              </a:rPr>
              <a:t>• 피크 시점 403건 적체 🚨
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- 1월 1일: 20건 적체 (실사 대기시간 10.7시간)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- 1월 7일: 403건 적체 피크 도달 (대기열 20배 폭증)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- 1월 4~6일 유입 건의 평균 실사 대기시간 93.6시간(약 4일) 기록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1" y="4754880"/>
            <a:ext cx="352044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1" y="48006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맑은 고딕"/>
              </a:rPr>
              <a:t>기사 1인당 물리적 한계
</a:t>
            </a:r>
            <a:r>
              <a:rPr sz="1100" b="1">
                <a:solidFill>
                  <a:srgbClr val="0F172A"/>
                </a:solidFill>
                <a:latin typeface="맑은 고딕"/>
              </a:rPr>
              <a:t>• 일평균 6.3건 실사 한계
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기사 1인당 일일 6.0~7.1건(순수 실사 4.1~4.8시간) 소화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가구 간 이동 시간 및 1차 즉시수리 병행으로 물리적 CAPA 한계 도달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해법: 헛걸음 실사 생략 및 1회 방문 직행 필수 (Slide 14)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출처: slide10_field_bottleneck_wip · analysis.sql L1345, L1583 실사 대기열 동역학 분석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PART 02 · 질문 2-3 &amp; 2-2  |  소요시간 영향 요인 및 수리·리워크 병목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리드타임의 87.8%를 결정하는 3대 병목 요인과 현장 수리 리워크(26건)의 지연 충격을 실증했다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02. 질문 2</a:t>
            </a:r>
          </a:p>
        </p:txBody>
      </p:sp>
      <p:pic>
        <p:nvPicPr>
          <p:cNvPr id="5" name="Picture 4" descr="slide11_regression_leadtime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5394960" cy="3017520"/>
          </a:xfrm>
          <a:prstGeom prst="rect">
            <a:avLst/>
          </a:prstGeom>
        </p:spPr>
      </p:pic>
      <p:pic>
        <p:nvPicPr>
          <p:cNvPr id="6" name="Picture 5" descr="slide11_repair_delay_r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394960" cy="3017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663440"/>
            <a:ext cx="539496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맑은 고딕"/>
              </a:rPr>
              <a:t>소요시간 3대 병목 요인 (다중 OLS, R² = 0.878)  </a:t>
            </a:r>
            <a:r>
              <a:rPr sz="1050" b="1">
                <a:solidFill>
                  <a:srgbClr val="EA580C"/>
                </a:solidFill>
                <a:latin typeface="맑은 고딕"/>
              </a:rPr>
              <a:t>[거시 지연 인자]
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• 사내 수리 방식 (is_intern): 계수 +31.75h (p &lt; 0.001) ➔ 자재 대기로 총 소요시간 +31.8h 증가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• 실사 방문 대기 (visit_lag): 계수 +1.12h/h (p &lt; 0.001) ➔ 실사 1시간 지연당 총 시간 1.12h 선형 증가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• 비실시간 접수 (is_async): 계수 +4.89h (p = 0.030) ➔ Web·Letter 접수 시 소통 및 인계로 +4.9h 지연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663440"/>
            <a:ext cx="539496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70916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맑은 고딕"/>
              </a:rPr>
              <a:t>현장 수리 품질 및 재수리(리워크) 문제  </a:t>
            </a:r>
            <a:r>
              <a:rPr sz="1050" b="1">
                <a:solidFill>
                  <a:srgbClr val="DC2626"/>
                </a:solidFill>
                <a:latin typeface="맑은 고딕"/>
              </a:rPr>
              <a:t>[미시 리워크 충격]
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• 1차 착수 지연 격차: 즉시/외주는 0.0h 종결, 사내수리만 부품 준비로 30.5h 대기 독점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• 재(再) 사내수리 루프 (26건): 1차 실패 후 재방문 시 부품 재출하로 +32.9h 추가 대기 누적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• 극단적 장기 지연: 최대 10.1일(241.6h) 대기, 총 리드타임 171.6h에 달하는 최악의 세입자 경험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출처: slide11_regression &amp; slide11_repair_delay · analysis.sql Step 2-4 OLS 및 수리 착수/재작업 집계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PART 02 · 질문 2-2 &amp; 질문 3 발단  |  핵심 문제 규명 및 해결 아젠다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현장 실사의 CAPA 적체 부담을 덜어내고, 수리 품목 준비 기간을 줄여야 병목이 근본적으로 사라진다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02. 질문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5204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맑은 고딕"/>
              </a:rPr>
              <a:t>사전 적중률 87.3%와 모순
</a:t>
            </a:r>
            <a:r>
              <a:rPr sz="1050" b="1">
                <a:solidFill>
                  <a:srgbClr val="EA580C"/>
                </a:solidFill>
                <a:latin typeface="맑은 고딕"/>
              </a:rPr>
              <a:t>• 방향은 맞췄으나 이중 출장 고수</a:t>
            </a:r>
          </a:p>
        </p:txBody>
      </p:sp>
      <p:pic>
        <p:nvPicPr>
          <p:cNvPr id="7" name="Picture 6" descr="slide12_intake_matching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40280"/>
            <a:ext cx="3154680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2628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4155"/>
                </a:solidFill>
                <a:latin typeface="맑은 고딕"/>
              </a:rPr>
              <a:t>• E형 (370건): 100.0% 전원 사내수리 완결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• P형 (439건): 91.3%(401건) 사내 자체 완결</a:t>
            </a:r>
          </a:p>
          <a:p>
            <a:r>
              <a:rPr sz="1000" b="1">
                <a:solidFill>
                  <a:srgbClr val="DC2626"/>
                </a:solidFill>
                <a:latin typeface="맑은 고딕"/>
              </a:rPr>
              <a:t>• 모순: 이미 87%나 방향을 맞추면서 왜 927건 전원에게 40분 실사를 보내 403건 적체를 자초했는가?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508760"/>
            <a:ext cx="35204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600200"/>
            <a:ext cx="3154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맑은 고딕"/>
              </a:rPr>
              <a:t>정보 해상도의 한계
</a:t>
            </a:r>
            <a:r>
              <a:rPr sz="1050" b="1">
                <a:solidFill>
                  <a:srgbClr val="DC2626"/>
                </a:solidFill>
                <a:latin typeface="맑은 고딕"/>
              </a:rPr>
              <a:t>• 현행 관행의 정보 단절 딜레마
</a:t>
            </a:r>
          </a:p>
          <a:p>
            <a:r>
              <a:rPr sz="1050" b="1">
                <a:solidFill>
                  <a:srgbClr val="0F172A"/>
                </a:solidFill>
                <a:latin typeface="맑은 고딕"/>
              </a:rPr>
              <a:t>[현행 접수부 관행]
</a:t>
            </a:r>
          </a:p>
          <a:p>
            <a:r>
              <a:rPr sz="950" b="0">
                <a:solidFill>
                  <a:srgbClr val="334155"/>
                </a:solidFill>
                <a:latin typeface="맑은 고딕"/>
              </a:rPr>
              <a:t>• 접수 상담원은 단순 알파벳 대분류(B, P, E)만 수집</a:t>
            </a:r>
          </a:p>
          <a:p>
            <a:r>
              <a:rPr sz="950" b="0">
                <a:solidFill>
                  <a:srgbClr val="334155"/>
                </a:solidFill>
                <a:latin typeface="맑은 고딕"/>
              </a:rPr>
              <a:t>• 세입자의 구체적 고장 부품이나 규격 정보 파악 불가</a:t>
            </a:r>
          </a:p>
          <a:p>
            <a:r>
              <a:t/>
            </a:r>
          </a:p>
          <a:p>
            <a:r>
              <a:rPr sz="1050" b="1">
                <a:solidFill>
                  <a:srgbClr val="0F172A"/>
                </a:solidFill>
                <a:latin typeface="맑은 고딕"/>
              </a:rPr>
              <a:t>[현행 현장조사부 관행]
</a:t>
            </a:r>
          </a:p>
          <a:p>
            <a:r>
              <a:rPr sz="950" b="0">
                <a:solidFill>
                  <a:srgbClr val="334155"/>
                </a:solidFill>
                <a:latin typeface="맑은 고딕"/>
              </a:rPr>
              <a:t>• 현장 기술자가 40분간 방문 실사 후 1, 2, 3, 4 세부 코드 판정</a:t>
            </a:r>
          </a:p>
          <a:p>
            <a:r>
              <a:rPr sz="950" b="0">
                <a:solidFill>
                  <a:srgbClr val="334155"/>
                </a:solidFill>
                <a:latin typeface="맑은 고딕"/>
              </a:rPr>
              <a:t>• 현장에 도착해서 눈으로 보고서야 필요 자재를 비로소 확인</a:t>
            </a:r>
          </a:p>
          <a:p>
            <a:r>
              <a:t/>
            </a:r>
          </a:p>
          <a:p>
            <a:r>
              <a:rPr sz="1050" b="1">
                <a:solidFill>
                  <a:srgbClr val="0F172A"/>
                </a:solidFill>
                <a:latin typeface="맑은 고딕"/>
              </a:rPr>
              <a:t>[정보 단절(Resolution Gap)의 대가]
</a:t>
            </a:r>
          </a:p>
          <a:p>
            <a:r>
              <a:rPr sz="950" b="0">
                <a:solidFill>
                  <a:srgbClr val="334155"/>
                </a:solidFill>
                <a:latin typeface="맑은 고딕"/>
              </a:rPr>
              <a:t>• 단순 알파벳(E/P)만으로는 차에 실어갈 부품을 특정할 수 없음</a:t>
            </a:r>
          </a:p>
          <a:p>
            <a:r>
              <a:rPr sz="950" b="0">
                <a:solidFill>
                  <a:srgbClr val="334155"/>
                </a:solidFill>
                <a:latin typeface="맑은 고딕"/>
              </a:rPr>
              <a:t>• 결국 '실사(40분) ➔ 부품 주문(30.5h) ➔ 재방문 수리'라는 비효율적 이중 출장 관행이 고착화됨</a:t>
            </a:r>
          </a:p>
          <a:p>
            <a: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508760"/>
            <a:ext cx="35204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600200"/>
            <a:ext cx="3154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맑은 고딕"/>
              </a:rPr>
              <a:t>2대 핵심 해결 과제 도출
</a:t>
            </a:r>
            <a:r>
              <a:rPr sz="1050" b="1">
                <a:solidFill>
                  <a:srgbClr val="059669"/>
                </a:solidFill>
                <a:latin typeface="맑은 고딕"/>
              </a:rPr>
              <a:t>• Part 03을 관통하는 TO-BE 아젠다
</a:t>
            </a:r>
          </a:p>
          <a:p>
            <a:r>
              <a:rPr sz="1100" b="1">
                <a:solidFill>
                  <a:srgbClr val="2563EB"/>
                </a:solidFill>
                <a:latin typeface="맑은 고딕"/>
              </a:rPr>
              <a:t>[1. 실사 CAPA 적체 부담 제거]
</a:t>
            </a:r>
          </a:p>
          <a:p>
            <a:r>
              <a:rPr sz="950" b="1">
                <a:solidFill>
                  <a:srgbClr val="0F172A"/>
                </a:solidFill>
                <a:latin typeface="맑은 고딕"/>
              </a:rPr>
              <a:t>• 목표: 현장 실사 대기시간(76.8h) 원천 소멸</a:t>
            </a:r>
          </a:p>
          <a:p>
            <a:r>
              <a:rPr sz="950" b="0">
                <a:solidFill>
                  <a:srgbClr val="334155"/>
                </a:solidFill>
                <a:latin typeface="맑은 고딕"/>
              </a:rPr>
              <a:t>• 방안: 접수 체크리스트 고도화로 높은 적중률(87.3%)을 살려 실사 대기열 우회(Bypass)</a:t>
            </a:r>
          </a:p>
          <a:p>
            <a:r>
              <a:rPr sz="950" b="0">
                <a:solidFill>
                  <a:srgbClr val="334155"/>
                </a:solidFill>
                <a:latin typeface="맑은 고딕"/>
              </a:rPr>
              <a:t>• 효과: 1회 방문 수리 직행으로 일일 실사 유입 135건 ➔ 15건으로 급감 (기사 CAPA 68건 내 진입)</a:t>
            </a:r>
          </a:p>
          <a:p>
            <a:r>
              <a:t/>
            </a:r>
          </a:p>
          <a:p>
            <a:r>
              <a:rPr sz="1100" b="1">
                <a:solidFill>
                  <a:srgbClr val="EA580C"/>
                </a:solidFill>
                <a:latin typeface="맑은 고딕"/>
              </a:rPr>
              <a:t>[2. 수리 품목 준비 기간 단축]
</a:t>
            </a:r>
          </a:p>
          <a:p>
            <a:r>
              <a:rPr sz="950" b="1">
                <a:solidFill>
                  <a:srgbClr val="0F172A"/>
                </a:solidFill>
                <a:latin typeface="맑은 고딕"/>
              </a:rPr>
              <a:t>• 목표: 사내수리 자재 대기(30.5h) 단축 &amp; 리워크 차단</a:t>
            </a:r>
          </a:p>
          <a:p>
            <a:r>
              <a:rPr sz="950" b="0">
                <a:solidFill>
                  <a:srgbClr val="334155"/>
                </a:solidFill>
                <a:latin typeface="맑은 고딕"/>
              </a:rPr>
              <a:t>• 방안: 고장 부품 사전 특정화로 출동 전 모듈형 패키징 키트 지참 출고</a:t>
            </a:r>
          </a:p>
          <a:p>
            <a:r>
              <a:rPr sz="950" b="1">
                <a:solidFill>
                  <a:srgbClr val="334155"/>
                </a:solidFill>
                <a:latin typeface="맑은 고딕"/>
              </a:rPr>
              <a:t>• 품질 대책: 리워크 84.6%를 차지하는 E-1 / E-2 계열에 정밀검사 도입 ➔ 추가 대기(+32.9h) 원천 차단</a:t>
            </a:r>
          </a:p>
          <a:p>
            <a: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출처: slide12_intake_matching_donut · analysis.sql L1840~1878 접수-현장 정합도 및 TO-BE 가설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PART 02 · 질문 2-3  |  리소스 생산성 심층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상담원 2인은 업무를 완벽히 균등 분담하며, 기사 11인 중 최상위 기사(Anne)가 프로세스를 견인한다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02. 질문 2</a:t>
            </a:r>
          </a:p>
        </p:txBody>
      </p:sp>
      <p:pic>
        <p:nvPicPr>
          <p:cNvPr id="5" name="Picture 4" descr="slide13_resource_produ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91672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754880"/>
            <a:ext cx="352044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006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맑은 고딕"/>
              </a:rPr>
              <a:t>접수 상담원 2인: 완벽한 균등성
</a:t>
            </a:r>
            <a:r>
              <a:rPr sz="1100" b="1">
                <a:solidFill>
                  <a:srgbClr val="0F172A"/>
                </a:solidFill>
                <a:latin typeface="맑은 고딕"/>
              </a:rPr>
              <a:t>• 개인 역량 차이 0건 입증
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Monica: 490건 (52.9%) / 인계율 13.5% (66건) / 평균 접수 2.1h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Dian: 437건 (47.1%) / 인계율 13.1% (57건) / 평균 접수 2.0h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결론: 개인의 태만이나 역량 부족이 아니며 단일 룰에 의해 균등 작동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5" y="4754880"/>
            <a:ext cx="352044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5" y="48006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맑은 고딕"/>
              </a:rPr>
              <a:t>핵심 에이스 기사: Anne
</a:t>
            </a:r>
            <a:r>
              <a:rPr sz="1100" b="1">
                <a:solidFill>
                  <a:srgbClr val="059669"/>
                </a:solidFill>
                <a:latin typeface="맑은 고딕"/>
              </a:rPr>
              <a:t>• 즉시수리 370건 (96.6%) 단독 완결 ⭐
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실사 218건(23.5%) 및 1차 수리 204건(22.0%) 전담 수행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특히 현장 40분 원샷 즉시수리(ImmediateRepair)의 96.6%를 완결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숙련 기사의 현장 즉시 완결 능력이 병목 해소의 핵심 레버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1" y="4754880"/>
            <a:ext cx="352044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1" y="48006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맑은 고딕"/>
              </a:rPr>
              <a:t>사내수리 전담 기사 및 외주 배분
</a:t>
            </a:r>
            <a:r>
              <a:rPr sz="1100" b="1">
                <a:solidFill>
                  <a:srgbClr val="EA580C"/>
                </a:solidFill>
                <a:latin typeface="맑은 고딕"/>
              </a:rPr>
              <a:t>• 사내수리 200건 전담 &amp; 외주 50:50
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Paul 기사: 사내수리 200건(41.2%), 실사 188건 전담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외주 전문업체: DoIt(30건) vs FixIt(29건)으로 50:50 완벽 균등 배분</a:t>
            </a:r>
          </a:p>
          <a:p>
            <a:r>
              <a:rPr sz="1000" b="0">
                <a:solidFill>
                  <a:srgbClr val="334155"/>
                </a:solidFill>
                <a:latin typeface="맑은 고딕"/>
              </a:rPr>
              <a:t>- 인력 간 전문성 편차에 따른 표준 매뉴얼화 및 키팅 도입 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출처: slide13_resource_productivity · analysis.sql L1190, L1590 리소스 생산성 교차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PART 03 · 질문 3  |  TO-BE 프로세스 최적화 전략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접수 소통 통제와 1회 방문 직행(87.3%)으로 546시간의 기사 공수를 회수한다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03. 질문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394960" cy="4800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C2626"/>
                </a:solidFill>
                <a:latin typeface="맑은 고딕"/>
              </a:rPr>
              <a:t>🔴 AS-IS: 비동기 소통 공백 &amp; 전수 실사 의무화
</a:t>
            </a:r>
          </a:p>
          <a:p>
            <a:r>
              <a:rPr sz="1150" b="1">
                <a:solidFill>
                  <a:srgbClr val="0F172A"/>
                </a:solidFill>
                <a:latin typeface="맑은 고딕"/>
              </a:rPr>
              <a:t>▼ 비실시간 접수 핑퐁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Web/우편 신청 후 유선 일정 조율 ➔ 123건 교차 인계 발생 (6.6배 지연)
</a:t>
            </a:r>
          </a:p>
          <a:p>
            <a:r>
              <a:rPr sz="1150" b="1">
                <a:solidFill>
                  <a:srgbClr val="0F172A"/>
                </a:solidFill>
                <a:latin typeface="맑은 고딕"/>
              </a:rPr>
              <a:t>▼ 전수 100% 방문 실사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모든 건에 대해 기사가 현장 방문(40분)하여 눈으로만 확인 (일 135건 유입)
</a:t>
            </a:r>
          </a:p>
          <a:p>
            <a:r>
              <a:rPr sz="1150" b="1">
                <a:solidFill>
                  <a:srgbClr val="0F172A"/>
                </a:solidFill>
                <a:latin typeface="맑은 고딕"/>
              </a:rPr>
              <a:t>▼ WIP 대기열 403건 적체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기사 실사 CAPA(69건/일) 초과 ➔ 실사 전 대기시간 76.8시간 (3.2일) 발생
</a:t>
            </a:r>
          </a:p>
          <a:p>
            <a:r>
              <a:rPr sz="1150" b="1">
                <a:solidFill>
                  <a:srgbClr val="0F172A"/>
                </a:solidFill>
                <a:latin typeface="맑은 고딕"/>
              </a:rPr>
              <a:t>▼ 2차 방문 시 부품 조달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실사 후 돌아와 부품 신청 ➔ 사내수리 착수 대기 30.5시간 추가 누적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422392" cy="4800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59669"/>
                </a:solidFill>
                <a:latin typeface="맑은 고딕"/>
              </a:rPr>
              <a:t>🟢 TO-BE: 소통 통제(자가예약) &amp; 87.3% 1회 방문 직행
</a:t>
            </a:r>
          </a:p>
          <a:p>
            <a:r>
              <a:rPr sz="1150" b="1">
                <a:solidFill>
                  <a:srgbClr val="059669"/>
                </a:solidFill>
                <a:latin typeface="맑은 고딕"/>
              </a:rPr>
              <a:t>★ 전략 1. Web 디지털 자가 예약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사진 2장 필수 첨부 + 세입자 캘린더 직접 확정 ➔ 인계율 0% &amp; 소통공백 소멸
</a:t>
            </a:r>
          </a:p>
          <a:p>
            <a:r>
              <a:rPr sz="1150" b="1">
                <a:solidFill>
                  <a:srgbClr val="059669"/>
                </a:solidFill>
                <a:latin typeface="맑은 고딕"/>
              </a:rPr>
              <a:t>★ 전략 2. E·P형 1회 방문 원샷 직행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유형 정합도 87.3% 기반: 부품 사전 상차 후 실사 없이 즉시 수리 출동
</a:t>
            </a:r>
          </a:p>
          <a:p>
            <a:r>
              <a:rPr sz="1150" b="1">
                <a:solidFill>
                  <a:srgbClr val="059669"/>
                </a:solidFill>
                <a:latin typeface="맑은 고딕"/>
              </a:rPr>
              <a:t>★ E형 규격품 (370건, 100%)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사전 키팅(Pre-kitting) 후 원샷 출동 ➔ 실사 40분 + 자재대기 38.7h 동시 제거
</a:t>
            </a:r>
          </a:p>
          <a:p>
            <a:r>
              <a:rPr sz="1150" b="1">
                <a:solidFill>
                  <a:srgbClr val="059669"/>
                </a:solidFill>
                <a:latin typeface="맑은 고딕"/>
              </a:rPr>
              <a:t>★ P형 경미하자 (365건, 91.3%)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범용 소모품 차량 원샷 직행 출동 ➔ 당일 현장 수리 완결
</a:t>
            </a:r>
          </a:p>
          <a:p>
            <a:r>
              <a:rPr sz="1150" b="1">
                <a:solidFill>
                  <a:srgbClr val="059669"/>
                </a:solidFill>
                <a:latin typeface="맑은 고딕"/>
              </a:rPr>
              <a:t>★ 정량 효과: 546시간 기사 공수 회수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실사 유입 927건 ➔ 118건으로 87.3% 급감 ➔ 실사 대기(76.8h) 완전 소멸!
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출처: 질문 3 프로세스 혁신 방안 · 접수 유형 정합도 87.3% 및 헛걸음 실사(40.5분) 제거 공수 산출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PART 03 · 질문 3  |  TO-BE 전략 3 &amp; 정량적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외주 패스트트랙과 3대 전략 결합으로 총 리드타임을 4.4일에서 1.5일로 65.1% 감축한다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03. 질문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4663440" cy="4800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맑은 고딕"/>
              </a:rPr>
              <a:t>⚡ 전략 3: 외주 패스트트랙 가동
</a:t>
            </a:r>
            <a:r>
              <a:rPr sz="1100" b="0">
                <a:solidFill>
                  <a:srgbClr val="334155"/>
                </a:solidFill>
                <a:latin typeface="맑은 고딕"/>
              </a:rPr>
              <a:t>• 사내 수리 1차 미완결 시 재방문(26건, 10.1일 지연)을 전면 금지하고 전문 외주업체로 즉시 전산 이관.
• 외주 이관 대기는 0.0시간이므로 최대 10일의 하자 지연 루프를 원천 차단.
</a:t>
            </a:r>
          </a:p>
          <a:p>
            <a:r>
              <a:rPr sz="1300" b="1">
                <a:solidFill>
                  <a:srgbClr val="059669"/>
                </a:solidFill>
                <a:latin typeface="맑은 고딕"/>
              </a:rPr>
              <a:t>📊 3대 전략 결합 정량 ROI 성과표
</a:t>
            </a:r>
          </a:p>
          <a:p>
            <a:r>
              <a:rPr sz="1050" b="1">
                <a:solidFill>
                  <a:srgbClr val="0F172A"/>
                </a:solidFill>
                <a:latin typeface="맑은 고딕"/>
              </a:rPr>
              <a:t>• 총 리드타임: 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105.9h (4.4일) ➔ 36.0h (1.5일) </a:t>
            </a:r>
            <a:r>
              <a:rPr sz="1000" b="1">
                <a:solidFill>
                  <a:srgbClr val="059669"/>
                </a:solidFill>
                <a:latin typeface="맑은 고딕"/>
              </a:rPr>
              <a:t>(▼ 65.1% 감축 ⭐)
</a:t>
            </a:r>
          </a:p>
          <a:p>
            <a:r>
              <a:rPr sz="1050" b="1">
                <a:solidFill>
                  <a:srgbClr val="0F172A"/>
                </a:solidFill>
                <a:latin typeface="맑은 고딕"/>
              </a:rPr>
              <a:t>• 실사 방문 대기: 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76.8시간 ➔ 4.0시간 이내 </a:t>
            </a:r>
            <a:r>
              <a:rPr sz="1000" b="1">
                <a:solidFill>
                  <a:srgbClr val="059669"/>
                </a:solidFill>
                <a:latin typeface="맑은 고딕"/>
              </a:rPr>
              <a:t>(▼ 94.8% 절감)
</a:t>
            </a:r>
          </a:p>
          <a:p>
            <a:r>
              <a:rPr sz="1050" b="1">
                <a:solidFill>
                  <a:srgbClr val="0F172A"/>
                </a:solidFill>
                <a:latin typeface="맑은 고딕"/>
              </a:rPr>
              <a:t>• 수리 착수 대기: 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15.9시간 ➔ 12.0시간 </a:t>
            </a:r>
            <a:r>
              <a:rPr sz="1000" b="1">
                <a:solidFill>
                  <a:srgbClr val="EA580C"/>
                </a:solidFill>
                <a:latin typeface="맑은 고딕"/>
              </a:rPr>
              <a:t>(사전 상차 단축)
</a:t>
            </a:r>
          </a:p>
          <a:p>
            <a:r>
              <a:rPr sz="1050" b="1">
                <a:solidFill>
                  <a:srgbClr val="0F172A"/>
                </a:solidFill>
                <a:latin typeface="맑은 고딕"/>
              </a:rPr>
              <a:t>• 접수 처리 시간: 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2.1시간 ➔ 0.5시간 </a:t>
            </a:r>
            <a:r>
              <a:rPr sz="1000" b="1">
                <a:solidFill>
                  <a:srgbClr val="EA580C"/>
                </a:solidFill>
                <a:latin typeface="맑은 고딕"/>
              </a:rPr>
              <a:t>(30분 이내 확정)
</a:t>
            </a:r>
          </a:p>
          <a:p>
            <a:r>
              <a:rPr sz="1050" b="1">
                <a:solidFill>
                  <a:srgbClr val="0F172A"/>
                </a:solidFill>
                <a:latin typeface="맑은 고딕"/>
              </a:rPr>
              <a:t>• 교차 인계율: 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13.3% (123건) ➔ 0.0% </a:t>
            </a:r>
            <a:r>
              <a:rPr sz="1000" b="1">
                <a:solidFill>
                  <a:srgbClr val="059669"/>
                </a:solidFill>
                <a:latin typeface="맑은 고딕"/>
              </a:rPr>
              <a:t>(원천 소멸)
</a:t>
            </a:r>
          </a:p>
          <a:p>
            <a:r>
              <a:rPr sz="1050" b="1">
                <a:solidFill>
                  <a:srgbClr val="0F172A"/>
                </a:solidFill>
                <a:latin typeface="맑은 고딕"/>
              </a:rPr>
              <a:t>• 회수된 기사 공수: </a:t>
            </a:r>
            <a:r>
              <a:rPr sz="1000" b="0">
                <a:solidFill>
                  <a:srgbClr val="334155"/>
                </a:solidFill>
                <a:latin typeface="맑은 고딕"/>
              </a:rPr>
              <a:t>0시간 ➔ 546.3시간 </a:t>
            </a:r>
            <a:r>
              <a:rPr sz="1000" b="1">
                <a:solidFill>
                  <a:srgbClr val="EA580C"/>
                </a:solidFill>
                <a:latin typeface="맑은 고딕"/>
              </a:rPr>
              <a:t>(본수리 역량 재배치)
</a:t>
            </a:r>
          </a:p>
        </p:txBody>
      </p:sp>
      <p:pic>
        <p:nvPicPr>
          <p:cNvPr id="7" name="Picture 6" descr="slide15_roi_leadtime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508760"/>
            <a:ext cx="6199632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출처: slide15_roi_leadtime_reduction · analysis.sql Step 3 TO-BE 시뮬레이션 및 정량 ROI 산출 모델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PART 04 · 마무리  |  엔지니어링 신뢰성 보증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1,878행의 SQL 마스터 뷰와 무결성 파이프라인으로 100% 재현성을 보증합니다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04. 마무리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943600" cy="4800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맑은 고딕"/>
              </a:rPr>
              <a:t>🛡️ 4대 엔지니어링 파이프라인 무결성 검증
</a:t>
            </a:r>
          </a:p>
          <a:p>
            <a:r>
              <a:rPr sz="1150" b="1">
                <a:solidFill>
                  <a:srgbClr val="059669"/>
                </a:solidFill>
                <a:latin typeface="맑은 고딕"/>
              </a:rPr>
              <a:t>✓ 1. 무손실 전처리 파이프라인 (repair_cleaned.csv)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 • 13,262행 전수 100% 보존 (임의 행 삭제 0건)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 • 18개 케이스 비정상 결측 인과 복원 완료 &amp; 시간 역전 0건 입증
</a:t>
            </a:r>
          </a:p>
          <a:p>
            <a:r>
              <a:rPr sz="1150" b="1">
                <a:solidFill>
                  <a:srgbClr val="059669"/>
                </a:solidFill>
                <a:latin typeface="맑은 고딕"/>
              </a:rPr>
              <a:t>✓ 2. SQL 프로세스 마이닝 모델 (analysis.sql)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 • 1,878행의 MySQL 마스터 뷰(case_master_view) 기반 설계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 • 리드타임, 대기시간, WIP 동역학, OLS 회귀 공식 산출 쿼리 완비
</a:t>
            </a:r>
          </a:p>
          <a:p>
            <a:r>
              <a:rPr sz="1150" b="1">
                <a:solidFill>
                  <a:srgbClr val="059669"/>
                </a:solidFill>
                <a:latin typeface="맑은 고딕"/>
              </a:rPr>
              <a:t>✓ 3. 가설 검정 및 고해상도 시각화 파이프라인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 • hypothesis_testing_and_visualization.ipynb 전수 무오류 실행 통과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 • 모든 분석 수치와 시각화 차트 100% 일치
</a:t>
            </a:r>
          </a:p>
          <a:p>
            <a:r>
              <a:rPr sz="1150" b="1">
                <a:solidFill>
                  <a:srgbClr val="059669"/>
                </a:solidFill>
                <a:latin typeface="맑은 고딕"/>
              </a:rPr>
              <a:t>✓ 4. 에셋 및 문서 규격화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 • outputs/figures/ 11종 정밀 차트 에셋 및 스토리보드 완벽 동기화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 • 실무 시스템 즉시 이식 가능한 재현성 확보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508760"/>
            <a:ext cx="4873752" cy="4800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21031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Q &amp; A
</a:t>
            </a:r>
          </a:p>
          <a:p>
            <a:pPr algn="ctr"/>
            <a:r>
              <a:rPr sz="1400" b="0">
                <a:solidFill>
                  <a:srgbClr val="CBD5E1"/>
                </a:solidFill>
                <a:latin typeface="맑은 고딕"/>
              </a:rPr>
              <a:t>"현장의 대기시간을 줄이고,
이해관계자 간 소통을 통제하여
리드타임 65% 감축을 달성하겠습니다."
경청해 주셔서 대단히 감사합니다.
질문해 주시면 성심껏 답변드리겠습니다.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엔지니어링 보증: MySQL analysis.sql (1,878 lines), Python hypothesis_testing_and_visualization.ipynb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PART 05 · 부록 1  |  APPENDIX 1: 전처리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도메인 1:1 짝 추적과 접수 표본 분리(751건 모수 확보)로 100% 무손실 복원을 달성했다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05. 부록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109167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A580C"/>
                </a:solidFill>
                <a:latin typeface="맑은 고딕"/>
              </a:rPr>
              <a:t>CASE 1. taskID (2건)  |  </a:t>
            </a:r>
            <a:r>
              <a:rPr sz="1100" b="0">
                <a:solidFill>
                  <a:srgbClr val="334155"/>
                </a:solidFill>
                <a:latin typeface="맑은 고딕"/>
              </a:rPr>
              <a:t>7124행(contact:Web, MakeTicket 직전) ➔ FirstContact 확정 / 7785행(ArrangeSurvey 직후) ➔ InformClientSurvey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39"/>
            <a:ext cx="1109167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68879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A580C"/>
                </a:solidFill>
                <a:latin typeface="맑은 고딕"/>
              </a:rPr>
              <a:t>CASE 2. originator (2건)  |  </a:t>
            </a:r>
            <a:r>
              <a:rPr sz="1100" b="0">
                <a:solidFill>
                  <a:srgbClr val="334155"/>
                </a:solidFill>
                <a:latin typeface="맑은 고딕"/>
              </a:rPr>
              <a:t>시작-종료 담당자 100% 일치 실측 ➔ 8217행(Survey) Anne 승계 / 12880행(InternRepair) Paul 승계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1109167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A580C"/>
                </a:solidFill>
                <a:latin typeface="맑은 고딕"/>
              </a:rPr>
              <a:t>CASE 3. eventtype (5건)  |  </a:t>
            </a:r>
            <a:r>
              <a:rPr sz="1100" b="0">
                <a:solidFill>
                  <a:srgbClr val="334155"/>
                </a:solidFill>
                <a:latin typeface="맑은 고딕"/>
              </a:rPr>
              <a:t>1:1 페어(6953 ArrangeSurvey, 8217 Survey, 9843 Immediate) + 마일스톤(8144 Survey, 13159 TicketReady)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1109167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A580C"/>
                </a:solidFill>
                <a:latin typeface="맑은 고딕"/>
              </a:rPr>
              <a:t>CASE 4. date 이상치 (879건)  |  </a:t>
            </a:r>
            <a:r>
              <a:rPr sz="1100" b="0">
                <a:solidFill>
                  <a:srgbClr val="334155"/>
                </a:solidFill>
                <a:latin typeface="맑은 고딕"/>
              </a:rPr>
              <a:t>1905년 리셋(6건)+미래 연도(860건) ➔ 선후행 구간 제약 ➔ 단일 후보 640건 즉시 확정 + 앵커 219건 매핑 (1970년 통일)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20640"/>
            <a:ext cx="11091672" cy="11887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1208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59669"/>
                </a:solidFill>
                <a:latin typeface="맑은 고딕"/>
              </a:rPr>
              <a:t>★ CASE 5. time 파손 복원 및 표본 모수 확장 전략 (34% 한계 ➔ 75.1% 확보)
</a:t>
            </a:r>
            <a:r>
              <a:rPr sz="1100" b="0">
                <a:solidFill>
                  <a:srgbClr val="334155"/>
                </a:solidFill>
                <a:latin typeface="맑은 고딕"/>
              </a:rPr>
              <a:t>• 전 공정 완전무결 기준 시 표본 34~39%(398건) 축소 한계 ➔ 접수 구간 정상 표본 분리 전략으로 75.1%(751건) 대규모 모수 확보.
• 751건 실측 대표값(소요시간 중앙값 4.0분) 도출 ➔ 정상 자정 7건 보존 + 기준 앵커로부터 4.0분 역산 추정 21건 적용 ➔ 시간 역전 0건 달성!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출처: analysis.ipynb Cell 18, 20, 51, 53, 77, 81 / repair2.csv 전처리 알고리즘 명세서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PART 05 · 부록 2  |  APPENDIX 2: 다중 회귀분석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교차인계(β=+6.67h)와 비실시간 채널(β=+3.82h)이 접수 지연을 통계적으로 결정한다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05. 부록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621792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0F172A"/>
                </a:solidFill>
                <a:latin typeface="맑은 고딕"/>
              </a:rPr>
              <a:t>📋 접수 소요시간(Receipt Duration) 회귀 결과표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148840"/>
          <a:ext cx="5760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097280"/>
                <a:gridCol w="118872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독립 변수 (Variable)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회귀계수 (β)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t-value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p-value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DC2626"/>
                          </a:solidFill>
                          <a:latin typeface="맑은 고딕"/>
                        </a:rPr>
                        <a:t>교차 인계 발생 (is_handover)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C2626"/>
                          </a:solidFill>
                          <a:latin typeface="맑은 고딕"/>
                        </a:rPr>
                        <a:t>+6.67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18.42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C2626"/>
                          </a:solidFill>
                          <a:latin typeface="맑은 고딕"/>
                        </a:rPr>
                        <a:t>&lt; 0.001 ***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  <a:latin typeface="맑은 고딕"/>
                        </a:rPr>
                        <a:t>우편 접수 (Letter_Channel)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A580C"/>
                          </a:solidFill>
                          <a:latin typeface="맑은 고딕"/>
                        </a:rPr>
                        <a:t>+4.15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11.23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A580C"/>
                          </a:solidFill>
                          <a:latin typeface="맑은 고딕"/>
                        </a:rPr>
                        <a:t>&lt; 0.001 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  <a:latin typeface="맑은 고딕"/>
                        </a:rPr>
                        <a:t>웹 접수 (Web_Channel)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A580C"/>
                          </a:solidFill>
                          <a:latin typeface="맑은 고딕"/>
                        </a:rPr>
                        <a:t>+3.82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10.54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A580C"/>
                          </a:solidFill>
                          <a:latin typeface="맑은 고딕"/>
                        </a:rPr>
                        <a:t>&lt; 0.001 ***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야간 접수 여부 (night_contact)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+1.24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2.04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0.042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맑은 고딕"/>
                        </a:rPr>
                        <a:t>상담원 개인 더미 (Monica/Dian)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64748B"/>
                          </a:solidFill>
                          <a:latin typeface="맑은 고딕"/>
                        </a:rPr>
                        <a:t>-0.12 ~ +0.15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64748B"/>
                          </a:solidFill>
                          <a:latin typeface="맑은 고딕"/>
                        </a:rPr>
                        <a:t>0.42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B"/>
                          </a:solidFill>
                          <a:latin typeface="맑은 고딕"/>
                        </a:rPr>
                        <a:t>0.672 (무의미)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303520"/>
            <a:ext cx="576072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349240"/>
            <a:ext cx="5577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334155"/>
                </a:solidFill>
                <a:latin typeface="맑은 고딕"/>
              </a:rPr>
              <a:t>• 모델 통계량: F(4, 922) = 184.2 (p &lt; 0.0001), R² = 0.428 (Adj R² = 0.425)
• 상담원 개인 편차는 p &gt; 0.35로 통계적 유의성이 전혀 없음 (시스템 구조 문제)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1508760"/>
            <a:ext cx="4645152" cy="4800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691640"/>
            <a:ext cx="41879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  <a:latin typeface="맑은 고딕"/>
              </a:rPr>
              <a:t>💡 다중 회귀분석의 3대 핵심 함의
</a:t>
            </a:r>
          </a:p>
          <a:p>
            <a:r>
              <a:rPr sz="1150" b="1">
                <a:solidFill>
                  <a:srgbClr val="EA580C"/>
                </a:solidFill>
                <a:latin typeface="맑은 고딕"/>
              </a:rPr>
              <a:t>■ 인계 패널티의 압도성 (β = +6.67h)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 상담원 간 인계가 발생하는 순간 평균 6.7시간의 순지연이 추가 발생함. 단일 요인 중 가장 강력한 지연 트리거.
</a:t>
            </a:r>
          </a:p>
          <a:p>
            <a:r>
              <a:rPr sz="1150" b="1">
                <a:solidFill>
                  <a:srgbClr val="EA580C"/>
                </a:solidFill>
                <a:latin typeface="맑은 고딕"/>
              </a:rPr>
              <a:t>■ 비실시간 채널의 소통 공백 (β = +3.8h ~ 4.2h)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 웹과 우편은 접수 후 고객 회신을 기다리는 비동기 핑퐁 구조로 인해 기본 4시간 안팎의 추가 지연을 야기.
</a:t>
            </a:r>
          </a:p>
          <a:p>
            <a:r>
              <a:rPr sz="1150" b="1">
                <a:solidFill>
                  <a:srgbClr val="EA580C"/>
                </a:solidFill>
                <a:latin typeface="맑은 고딕"/>
              </a:rPr>
              <a:t>■ 인력 탓 배제: 프로세스 개선 필요
</a:t>
            </a:r>
            <a:r>
              <a:rPr sz="1050" b="0">
                <a:solidFill>
                  <a:srgbClr val="334155"/>
                </a:solidFill>
                <a:latin typeface="맑은 고딕"/>
              </a:rPr>
              <a:t>   상담원 개인 더미는 모두 통계적으로 유의하지 않음. 사람을 바꿀 것이 아니라 '자가 예약 시스템'으로 소통을 통제해야 함.
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출처: analysis.sql 라인 1076~1298 다중 OLS 회귀분석 쿼리 및 case_master_view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A580C"/>
                </a:solidFill>
                <a:latin typeface="맑은 고딕"/>
              </a:rPr>
              <a:t>PART 05 · 부록 3  |  APPENDIX 3: 리소스 크로스탭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맑은 고딕"/>
              </a:rPr>
              <a:t>상담원 4인과 현장 기사는 단일 가용 풀(Shared Pool)로 건전하게 운영되고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737360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Part 05. 부록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109167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맑은 고딕"/>
              </a:rPr>
              <a:t>👥 상담원 4인 접수 운영 매트릭스 (처리량 및 인계율)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011680"/>
          <a:ext cx="106070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2121408"/>
                <a:gridCol w="2121408"/>
                <a:gridCol w="2121408"/>
                <a:gridCol w="2121408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상담원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총 처리 건수 (비중)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평균 접수 소요시간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교차 인계 발생 건수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인계 발생률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172A"/>
                          </a:solidFill>
                          <a:latin typeface="맑은 고딕"/>
                        </a:rPr>
                        <a:t>Anne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248건 (26.8%)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1.9시간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34건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맑은 고딕"/>
                        </a:rPr>
                        <a:t>13.7%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172A"/>
                          </a:solidFill>
                          <a:latin typeface="맑은 고딕"/>
                        </a:rPr>
                        <a:t>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235건 (25.3%)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2.1시간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31건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맑은 고딕"/>
                        </a:rPr>
                        <a:t>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172A"/>
                          </a:solidFill>
                          <a:latin typeface="맑은 고딕"/>
                        </a:rPr>
                        <a:t>Monica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228건 (24.6%)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2.0시간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29건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맑은 고딕"/>
                        </a:rPr>
                        <a:t>12.7%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172A"/>
                          </a:solidFill>
                          <a:latin typeface="맑은 고딕"/>
                        </a:rPr>
                        <a:t>Paul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216건 (23.3%)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2.2시간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30건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맑은 고딕"/>
                        </a:rPr>
                        <a:t>13.9%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931920"/>
            <a:ext cx="1109167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맑은 고딕"/>
              </a:rPr>
              <a:t>🔧 수리 주체별 운영 성과 및 품질 리스크 대조표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4434840"/>
          <a:ext cx="1060704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2121408"/>
                <a:gridCol w="2121408"/>
                <a:gridCol w="2121408"/>
                <a:gridCol w="2121408"/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수리 방식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수행 건수 (비중)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착수 대기시간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순수 작업시간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2차 하자 재작업률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맑은 고딕"/>
                        </a:rPr>
                        <a:t>즉시 수리 (Immediate)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383건 (41.3%)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맑은 고딕"/>
                        </a:rPr>
                        <a:t>0.0시간 (즉시)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2.8시간 (당일 완결)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맑은 고딕"/>
                        </a:rPr>
                        <a:t>0.0% (루프 없음)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563EB"/>
                          </a:solidFill>
                          <a:latin typeface="맑은 고딕"/>
                        </a:rPr>
                        <a:t>외주 수리 (Extern)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132건 (14.2%)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563EB"/>
                          </a:solidFill>
                          <a:latin typeface="맑은 고딕"/>
                        </a:rPr>
                        <a:t>0.0시간 (전산 이관)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외주 전문업체 전담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맑은 고딕"/>
                        </a:rPr>
                        <a:t>0.0% (전문업체)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C2626"/>
                          </a:solidFill>
                          <a:latin typeface="맑은 고딕"/>
                        </a:rPr>
                        <a:t>사내 수리 (Intern)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412건 (44.5%)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C2626"/>
                          </a:solidFill>
                          <a:latin typeface="맑은 고딕"/>
                        </a:rPr>
                        <a:t>30.5시간 (자재 대기)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맑은 고딕"/>
                        </a:rPr>
                        <a:t>3.5시간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C2626"/>
                          </a:solidFill>
                          <a:latin typeface="맑은 고딕"/>
                        </a:rPr>
                        <a:t>11.9% (49건 하자 루프)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473952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맑은 고딕"/>
              </a:rPr>
              <a:t>출처: analysis.sql 및 case_pivot_table.csv · 상담원 4인 운영 및 수리 방식별 교차 크로스탭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